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42655be9745f3" /><Relationship Type="http://schemas.openxmlformats.org/officeDocument/2006/relationships/extended-properties" Target="/docProps/app.xml" Id="Rfcb330037770405b" /><Relationship Type="http://schemas.openxmlformats.org/officeDocument/2006/relationships/officeDocument" Target="/ppt/presentation.xml" Id="R2d4f627cbf904f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afff1202ad4626"/>
  </p:sldMasterIdLst>
  <p:notesMasterIdLst>
    <p:notesMasterId xmlns:r="http://schemas.openxmlformats.org/officeDocument/2006/relationships" r:id="Rb9b5e7ff24ae4c7b"/>
  </p:notesMasterIdLst>
  <p:sldIdLst>
    <p:sldId xmlns:r="http://schemas.openxmlformats.org/officeDocument/2006/relationships" id="256" r:id="R251a577035d8427e"/>
    <p:sldId xmlns:r="http://schemas.openxmlformats.org/officeDocument/2006/relationships" id="257" r:id="Rf132d6de655d4558"/>
    <p:sldId xmlns:r="http://schemas.openxmlformats.org/officeDocument/2006/relationships" id="258" r:id="R8278666aa77a4428"/>
    <p:sldId xmlns:r="http://schemas.openxmlformats.org/officeDocument/2006/relationships" id="259" r:id="Ra8a482dccdb04aea"/>
    <p:sldId xmlns:r="http://schemas.openxmlformats.org/officeDocument/2006/relationships" id="260" r:id="R309460f991414132"/>
    <p:sldId xmlns:r="http://schemas.openxmlformats.org/officeDocument/2006/relationships" id="261" r:id="Rb2958eb04a664656"/>
    <p:sldId xmlns:r="http://schemas.openxmlformats.org/officeDocument/2006/relationships" id="262" r:id="Rca820b425d2549a9"/>
    <p:sldId xmlns:r="http://schemas.openxmlformats.org/officeDocument/2006/relationships" id="263" r:id="R98c69397b5534c60"/>
    <p:sldId xmlns:r="http://schemas.openxmlformats.org/officeDocument/2006/relationships" id="264" r:id="Rcc184affc92c4df5"/>
    <p:sldId xmlns:r="http://schemas.openxmlformats.org/officeDocument/2006/relationships" id="265" r:id="R61e795ef7aaa4271"/>
    <p:sldId xmlns:r="http://schemas.openxmlformats.org/officeDocument/2006/relationships" id="266" r:id="Rbf923263509b41e7"/>
    <p:sldId xmlns:r="http://schemas.openxmlformats.org/officeDocument/2006/relationships" id="267" r:id="R27624265a7fa4168"/>
    <p:sldId xmlns:r="http://schemas.openxmlformats.org/officeDocument/2006/relationships" id="268" r:id="R828c6cc6dd974e19"/>
    <p:sldId xmlns:r="http://schemas.openxmlformats.org/officeDocument/2006/relationships" id="269" r:id="R156473db6b58403e"/>
    <p:sldId xmlns:r="http://schemas.openxmlformats.org/officeDocument/2006/relationships" id="270" r:id="R82e22aed8d734ccd"/>
    <p:sldId xmlns:r="http://schemas.openxmlformats.org/officeDocument/2006/relationships" id="271" r:id="R4dd85bdd2aaf415f"/>
    <p:sldId xmlns:r="http://schemas.openxmlformats.org/officeDocument/2006/relationships" id="272" r:id="R5bfb6096eb8c4741"/>
    <p:sldId xmlns:r="http://schemas.openxmlformats.org/officeDocument/2006/relationships" id="273" r:id="Rece92edf506845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dee028e6348e0" /><Relationship Type="http://schemas.openxmlformats.org/officeDocument/2006/relationships/slideMaster" Target="/ppt/slideMasters/slideMaster1.xml" Id="R36afff1202ad4626" /><Relationship Type="http://schemas.openxmlformats.org/officeDocument/2006/relationships/notesMaster" Target="/ppt/notesMasters/notesMaster1.xml" Id="Rb9b5e7ff24ae4c7b" /><Relationship Type="http://schemas.openxmlformats.org/officeDocument/2006/relationships/presProps" Target="/ppt/presProps.xml" Id="R0114c1b98bc544cc" /><Relationship Type="http://schemas.openxmlformats.org/officeDocument/2006/relationships/viewProps" Target="/ppt/viewProps.xml" Id="R158cf52bfbd14d46" /><Relationship Type="http://schemas.openxmlformats.org/officeDocument/2006/relationships/tableStyles" Target="/ppt/tableStyles.xml" Id="R77252944e3844dc3" /><Relationship Type="http://schemas.openxmlformats.org/officeDocument/2006/relationships/slide" Target="/ppt/slides/slide1.xml" Id="R251a577035d8427e" /><Relationship Type="http://schemas.openxmlformats.org/officeDocument/2006/relationships/slide" Target="/ppt/slides/slide2.xml" Id="Rf132d6de655d4558" /><Relationship Type="http://schemas.openxmlformats.org/officeDocument/2006/relationships/slide" Target="/ppt/slides/slide3.xml" Id="R8278666aa77a4428" /><Relationship Type="http://schemas.openxmlformats.org/officeDocument/2006/relationships/slide" Target="/ppt/slides/slide4.xml" Id="Ra8a482dccdb04aea" /><Relationship Type="http://schemas.openxmlformats.org/officeDocument/2006/relationships/slide" Target="/ppt/slides/slide5.xml" Id="R309460f991414132" /><Relationship Type="http://schemas.openxmlformats.org/officeDocument/2006/relationships/slide" Target="/ppt/slides/slide6.xml" Id="Rb2958eb04a664656" /><Relationship Type="http://schemas.openxmlformats.org/officeDocument/2006/relationships/slide" Target="/ppt/slides/slide7.xml" Id="Rca820b425d2549a9" /><Relationship Type="http://schemas.openxmlformats.org/officeDocument/2006/relationships/slide" Target="/ppt/slides/slide8.xml" Id="R98c69397b5534c60" /><Relationship Type="http://schemas.openxmlformats.org/officeDocument/2006/relationships/slide" Target="/ppt/slides/slide9.xml" Id="Rcc184affc92c4df5" /><Relationship Type="http://schemas.openxmlformats.org/officeDocument/2006/relationships/slide" Target="/ppt/slides/slide10.xml" Id="R61e795ef7aaa4271" /><Relationship Type="http://schemas.openxmlformats.org/officeDocument/2006/relationships/slide" Target="/ppt/slides/slide11.xml" Id="Rbf923263509b41e7" /><Relationship Type="http://schemas.openxmlformats.org/officeDocument/2006/relationships/slide" Target="/ppt/slides/slide12.xml" Id="R27624265a7fa4168" /><Relationship Type="http://schemas.openxmlformats.org/officeDocument/2006/relationships/slide" Target="/ppt/slides/slide13.xml" Id="R828c6cc6dd974e19" /><Relationship Type="http://schemas.openxmlformats.org/officeDocument/2006/relationships/slide" Target="/ppt/slides/slide14.xml" Id="R156473db6b58403e" /><Relationship Type="http://schemas.openxmlformats.org/officeDocument/2006/relationships/slide" Target="/ppt/slides/slide15.xml" Id="R82e22aed8d734ccd" /><Relationship Type="http://schemas.openxmlformats.org/officeDocument/2006/relationships/slide" Target="/ppt/slides/slide16.xml" Id="R4dd85bdd2aaf415f" /><Relationship Type="http://schemas.openxmlformats.org/officeDocument/2006/relationships/slide" Target="/ppt/slides/slide17.xml" Id="R5bfb6096eb8c4741" /><Relationship Type="http://schemas.openxmlformats.org/officeDocument/2006/relationships/slide" Target="/ppt/slides/slide18.xml" Id="Rece92edf506845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7e59ff866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e57a6452347af" /><Relationship Type="http://schemas.openxmlformats.org/officeDocument/2006/relationships/notesMaster" Target="/ppt/notesMasters/notesMaster1.xml" Id="R599a78ab29b848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2f893448a43cc" /><Relationship Type="http://schemas.openxmlformats.org/officeDocument/2006/relationships/notesMaster" Target="/ppt/notesMasters/notesMaster1.xml" Id="R50c926aceff44c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9c1753b1ad4f45" /><Relationship Type="http://schemas.openxmlformats.org/officeDocument/2006/relationships/notesMaster" Target="/ppt/notesMasters/notesMaster1.xml" Id="Ra54040e31074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76e71d52b4ea6" /><Relationship Type="http://schemas.openxmlformats.org/officeDocument/2006/relationships/notesMaster" Target="/ppt/notesMasters/notesMaster1.xml" Id="R25b2898de551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30292d807b4cf8" /><Relationship Type="http://schemas.openxmlformats.org/officeDocument/2006/relationships/notesMaster" Target="/ppt/notesMasters/notesMaster1.xml" Id="Rb8a48d6d9594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5758c476134fbf" /><Relationship Type="http://schemas.openxmlformats.org/officeDocument/2006/relationships/notesMaster" Target="/ppt/notesMasters/notesMaster1.xml" Id="R254b283528e5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21a0b8765d418a" /><Relationship Type="http://schemas.openxmlformats.org/officeDocument/2006/relationships/notesMaster" Target="/ppt/notesMasters/notesMaster1.xml" Id="Rb48ec277bb0d41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fff3e3d23e4923" /><Relationship Type="http://schemas.openxmlformats.org/officeDocument/2006/relationships/notesMaster" Target="/ppt/notesMasters/notesMaster1.xml" Id="Re6be578b000241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e92a6f9a104205" /><Relationship Type="http://schemas.openxmlformats.org/officeDocument/2006/relationships/notesMaster" Target="/ppt/notesMasters/notesMaster1.xml" Id="R80b499b571594b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bd49262c274360" /><Relationship Type="http://schemas.openxmlformats.org/officeDocument/2006/relationships/notesMaster" Target="/ppt/notesMasters/notesMaster1.xml" Id="Rfd9eda5731e448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91c1a6bd4d4148" /><Relationship Type="http://schemas.openxmlformats.org/officeDocument/2006/relationships/notesMaster" Target="/ppt/notesMasters/notesMaster1.xml" Id="R1d6891c33fbb49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d88b37233a4a6a" /><Relationship Type="http://schemas.openxmlformats.org/officeDocument/2006/relationships/notesMaster" Target="/ppt/notesMasters/notesMaster1.xml" Id="R392d6569d9254f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02c78f0acc45aa" /><Relationship Type="http://schemas.openxmlformats.org/officeDocument/2006/relationships/notesMaster" Target="/ppt/notesMasters/notesMaster1.xml" Id="R66eb0476795943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b06b4b600d4fa1" /><Relationship Type="http://schemas.openxmlformats.org/officeDocument/2006/relationships/notesMaster" Target="/ppt/notesMasters/notesMaster1.xml" Id="R9967ab4d72fc4f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c6fbe06d2442e2" /><Relationship Type="http://schemas.openxmlformats.org/officeDocument/2006/relationships/notesMaster" Target="/ppt/notesMasters/notesMaster1.xml" Id="Raba6e55dafbb4b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d4cc9c106842ca" /><Relationship Type="http://schemas.openxmlformats.org/officeDocument/2006/relationships/notesMaster" Target="/ppt/notesMasters/notesMaster1.xml" Id="Ra8e4131db66847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26b126eab44746" /><Relationship Type="http://schemas.openxmlformats.org/officeDocument/2006/relationships/notesMaster" Target="/ppt/notesMasters/notesMaster1.xml" Id="Rd2e5880e5e7d49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f9972e6ff04cd7" /><Relationship Type="http://schemas.openxmlformats.org/officeDocument/2006/relationships/notesMaster" Target="/ppt/notesMasters/notesMaster1.xml" Id="R6602c907aeb2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7b8f8aa4642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328db6501a4ba5" /><Relationship Type="http://schemas.openxmlformats.org/officeDocument/2006/relationships/slideLayout" Target="/ppt/slideLayouts/slideLayout1.xml" Id="Rd05ac82fd38e41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ac82fd38e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71e048bb141bf" /><Relationship Type="http://schemas.openxmlformats.org/officeDocument/2006/relationships/notesSlide" Target="/ppt/notesSlides/notesSlide1.xml" Id="R7f7f44b7ff7c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053f47ded49ca" /><Relationship Type="http://schemas.openxmlformats.org/officeDocument/2006/relationships/notesSlide" Target="/ppt/notesSlides/notesSlide2.xml" Id="R86e0c8c9f90d4e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45435f21a4aa9" /><Relationship Type="http://schemas.openxmlformats.org/officeDocument/2006/relationships/notesSlide" Target="/ppt/notesSlides/notesSlide3.xml" Id="R8722219b04b245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85b3a9d2c4763" /><Relationship Type="http://schemas.openxmlformats.org/officeDocument/2006/relationships/notesSlide" Target="/ppt/notesSlides/notesSlide4.xml" Id="R48b62cda20a94e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647180edc404a" /><Relationship Type="http://schemas.openxmlformats.org/officeDocument/2006/relationships/notesSlide" Target="/ppt/notesSlides/notesSlide5.xml" Id="R50563bfc60d24a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8f714a791467b" /><Relationship Type="http://schemas.openxmlformats.org/officeDocument/2006/relationships/notesSlide" Target="/ppt/notesSlides/notesSlide6.xml" Id="R5371068a90bd46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c6039821d4881" /><Relationship Type="http://schemas.openxmlformats.org/officeDocument/2006/relationships/notesSlide" Target="/ppt/notesSlides/notesSlide7.xml" Id="R6974412e5f14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0f0767874763" /><Relationship Type="http://schemas.openxmlformats.org/officeDocument/2006/relationships/notesSlide" Target="/ppt/notesSlides/notesSlide8.xml" Id="R18e0944f9ee0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98d189d284fdb" /><Relationship Type="http://schemas.openxmlformats.org/officeDocument/2006/relationships/notesSlide" Target="/ppt/notesSlides/notesSlide9.xml" Id="R270312931c7049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099d62a942f7" /><Relationship Type="http://schemas.openxmlformats.org/officeDocument/2006/relationships/notesSlide" Target="/ppt/notesSlides/notesSlide10.xml" Id="R488ef93e04c649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7018301149ad" /><Relationship Type="http://schemas.openxmlformats.org/officeDocument/2006/relationships/notesSlide" Target="/ppt/notesSlides/notesSlide11.xml" Id="R9523b38c617e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cc804fdc54216" /><Relationship Type="http://schemas.openxmlformats.org/officeDocument/2006/relationships/notesSlide" Target="/ppt/notesSlides/notesSlide12.xml" Id="R3d41404e9f484f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092938e69482f" /><Relationship Type="http://schemas.openxmlformats.org/officeDocument/2006/relationships/notesSlide" Target="/ppt/notesSlides/notesSlide13.xml" Id="Rb4a1a34dfed54f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7eb17aa54eb2" /><Relationship Type="http://schemas.openxmlformats.org/officeDocument/2006/relationships/notesSlide" Target="/ppt/notesSlides/notesSlide14.xml" Id="R8881bd943e8c45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0af8301814e01" /><Relationship Type="http://schemas.openxmlformats.org/officeDocument/2006/relationships/notesSlide" Target="/ppt/notesSlides/notesSlide15.xml" Id="R981f8725689041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1af16c48c4c76" /><Relationship Type="http://schemas.openxmlformats.org/officeDocument/2006/relationships/notesSlide" Target="/ppt/notesSlides/notesSlide16.xml" Id="R781bf347513441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99f0dcd4a4419" /><Relationship Type="http://schemas.openxmlformats.org/officeDocument/2006/relationships/notesSlide" Target="/ppt/notesSlides/notesSlide17.xml" Id="R10d091bd52bf41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2146c93f44a3d" /><Relationship Type="http://schemas.openxmlformats.org/officeDocument/2006/relationships/notesSlide" Target="/ppt/notesSlides/notesSlide18.xml" Id="R79d3c7ee7e434e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C6A9D0-D45E-49AE-8B36-F92FF0C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81050"/>
            <a:ext cx="75247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果仁培训产品蓝图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A3018DB-945D-446F-B6E3-4B916E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76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64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原生底座上的培训信息、过程与效果运营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64738-2FC1-4EF4-93BF-EA22B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90900"/>
            <a:ext cx="657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 Lucky 智能体为智能引擎，以资料库和知识图谱为知识底座，以空间承载培训过程，并通过解决方案、套餐、租户、证书和效果报告形成交付闭环。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60966-F492-4B27-B16D-02399CB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40114A-E347-418D-988E-57EA58F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90512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知识图谱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C3838F-7B98-4B6B-A0FB-2783514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044901-89FD-4B60-B019-17848E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724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从培训项目到能力提升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从过程数据到效果运营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632702-285F-4632-9685-D48069B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43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6FED4-C71C-4503-BD7F-ACCD0B4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041A7-3AF0-48FA-9FC7-69ED551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528DA2-0B2E-4007-8177-C906ACC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6A98F3-4650-4837-A2D8-6697E91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9FB9D9-B08E-4F46-9CCD-BC44E9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4C9826-C02F-45A0-BB64-C0E5A65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产品定位与目标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838324-C462-4C07-AFEF-6B053DE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为什么以果仁做培训平台，核心价值和目标对象。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D6D054-B7D2-4E1A-988B-259A445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DE51EE-5400-478D-9544-F243549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总体架构与子系统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58460-4286-4C5D-ABC2-AB15FA9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培训信息管理、培训过程、培训效果三大子系统。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49ED5-77DF-4F6E-995C-90EB299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57A412-D097-455D-AF31-F543180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业务闭环与数据模型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57CAC3-5AB9-4380-9E3F-25A104A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11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培训项目、班级、课程、学员、记录和报告如何贯通。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98B8A-E2EC-4F77-A818-DDF697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16CE7-9DCD-4595-A826-B98A679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AI 原生能力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087ADC-B613-4682-9DAB-F31B942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智能体、资料问答、推荐、点评、预警和报告生成。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B6C113-75E0-45DB-869F-0A7B2EC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E21889-EADA-4B47-B0BD-1BB144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交付与演进路径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092266-8FD4-4B75-9F6C-D6187A3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1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解决方案、套餐、租户、场景包和阶段路线图。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936A10-B845-45B6-A5FF-DCBFF6A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770122-8A45-46A8-912C-6D24640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BC9A485-0B3C-4A39-91A9-AFDC2A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用果仁底座把培训从一次性组织活动升级为可沉淀、可分析、可持续改进的产品体系。</a:t>
            </a:r>
          </a:p>
        </p:txBody>
      </p:sp>
    </p:spTree>
    <p:extLst>
      <p:ext uri="{BB962C8B-B14F-4D97-AF65-F5344CB8AC3E}">
        <p14:creationId xmlns:p14="http://schemas.microsoft.com/office/powerpoint/2010/main" val="181010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C67C41-E56E-4C2D-85C1-A5C5436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B5E36B-E4B1-4A8E-B782-9CFC7B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果仁培训平台不是培训工具集合，而是 AI 原生的培训运营底座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F3FDA4-E9B6-4657-9B3D-29DEF1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CA37E8-8A24-40BD-AC7C-0669E5E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00F22E-AA46-412E-B23A-92659C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核心定位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55896-F103-43E4-8FE9-6DD098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0006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不作为外挂入口存在，而是嵌入培训计划、资源建设、学习过程、作业反馈、效果评估和运营复盘全过程。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24692A-EFC7-4032-B01F-8494C78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平台目标是把企业内训、教师培训、客户培训等场景转化为可复制的项目模板、可追踪的过程数据和可运营的效果资产。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202CDFA-5BCC-4149-AC6F-38E15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8B51A2-ED9F-41D0-9713-D3E7C93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项目资产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0D820E0-674B-4AFC-A72C-E8FAC61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培训计划、课程、讲师、班级、学员和证书统一沉淀。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960F71-FD98-421B-A977-D1753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E9C11C-FE6A-4ED6-A8B4-59AF89C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AB3DC0-1B5D-4757-943D-B9B4561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空间承载学习、任务、研讨、签到、作业和互动。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4A804C-8D5F-4373-B750-E983E53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C03295F-3459-46C0-BED7-A183F6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智能辅助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869738-D6D9-45E6-9A68-B7E56A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提供问答、推荐、催办、点评和报告生成。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6CBA9F-78DB-446D-9A6E-496F99E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7DB32A-F0FB-4732-A98A-BA69779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效果闭环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D52D33-DA4A-4F9A-A136-543C4F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效果评估反哺课程、资源、能力模型和下一轮培训。</a:t>
            </a:r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B82964-40E1-4C6C-8C9E-F9F32DC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总体架构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C52530-DAD4-4C9A-97C8-A67779B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培训产品在果仁底座上形成五层协同架构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447CA5-FFB3-4109-863A-40197E9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8E5834-DFC1-4A4B-98B3-7446C3B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D29CFE-CBE0-4CFE-92C7-B590A70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面向多类培训场景，统一用项目对象串联人员、内容、过程、AI 能力、数据和交付商业化。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7A8AC0-A8B3-4E15-BA38-4DB4182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8C787D-DEAE-4E2D-BFC4-0123699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培训入口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32A70D23-71F8-4741-B21F-212737F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DA7CC1-1DFC-488D-BF72-1703439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3AEF9A-D967-4399-8912-424C3DF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业务子系统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E5DD8A2F-E467-439C-9EB7-CD39002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93F15D-48D4-4220-9B67-C1C3DAE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219FB3-A687-4897-A94A-3910454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能力层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559AD2F-73C9-4413-BD9F-D1F3E3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B25D8A-BEB5-4DD4-97EB-28812F1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CB3CDF-A8CA-4CC9-9982-537B462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果仁底座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DBD47C-829E-492D-B985-BC566CE7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1C2CE1-AD48-4553-B061-C344F4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22A5FB1-0F8B-43AB-AEB3-BDD99C7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61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沉淀课程、课件、案例、作业和培训成果，支撑检索、问答与复用。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C364131-C0FE-4506-9FFD-FA7C224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786FBBF-D10A-41E0-89B0-1D56156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43029D-95E9-4500-A5F4-B7A7A2A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6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承载班级、成员、日程、任务、研讨、问卷和过程协同。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9FD481-2416-44C6-88C8-40A0B02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D6ADBA-C21F-4280-9316-8F1C2E7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C5C385-EDAF-4EA8-9E84-C9AD3CE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05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为管理员、讲师、学员和运营人员提供智能助手矩阵。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C435B9-B585-48F9-9F05-B1F925D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底层能力一次建设，多种培训场景复用：企业内训、教师培训、客户培训、认证培训和项目制学习。</a:t>
            </a:r>
          </a:p>
        </p:txBody>
      </p:sp>
    </p:spTree>
    <p:extLst>
      <p:ext uri="{BB962C8B-B14F-4D97-AF65-F5344CB8AC3E}">
        <p14:creationId xmlns:p14="http://schemas.microsoft.com/office/powerpoint/2010/main" val="140810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29BB91-60A3-4448-8C02-02B369C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80596C-DC9F-4CF7-832A-C06B79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培训项目中心连接信息管理、过程运营和效果评估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ABCAC4-D3D3-4904-A2DD-0BAAC1D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1FF774-98D2-4343-A4EB-5B26D24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DC9512-DE58-46DF-94F8-517A02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4A8F60-06FD-47AA-91CA-7D556F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E7EF2A-23D4-40F1-A0C7-84AA90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6C8C0B-69A4-48E1-81AB-EAB90B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19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82CDB8-D738-4E72-B31F-BE24968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管理项目、班级、课程、讲师、学员、报名、排期、资源和证书规则。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BD45B9-926A-4385-AF0F-1819DD3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D56D04-1536-4CFC-A812-9F673AF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5D5886-3299-4378-9531-5CE6FB3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209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承载学习路径、课程学习、直播研讨、签到、任务作业、互动和提醒。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1A28A-1BE0-4425-9173-807BB08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培训中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565800-F3EC-4E9D-8BC3-4201FE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E7EA16-B014-490B-AB8E-BA61B01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汇总满意度、成绩、作业、能力达成、训后应用和组织成效。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61FC7B-0366-42DF-87F3-6666BC9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培训后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4D1EE6FB-7CFA-427C-BCEC-F91F88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4EF3D742-EB42-4D82-8D65-DD66A06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F2AD04-8B74-45AE-9433-E43E22F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信息进入过程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E2706E9-3B99-4417-84ED-B969649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数据反哺效果</a:t>
            </a:r>
          </a:p>
        </p:txBody>
      </p:sp>
    </p:spTree>
    <p:extLst>
      <p:ext uri="{BB962C8B-B14F-4D97-AF65-F5344CB8AC3E}">
        <p14:creationId xmlns:p14="http://schemas.microsoft.com/office/powerpoint/2010/main" val="2551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信息管理子系统把培训从临时组织变成标准化项目资产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项目管理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维护培训目标、周期、负责人、对象、交付范围和启用模块。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班级与人员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支持报名、导入、分班、讲师绑定、角色权限和组织维度管理。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课程与资源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统一管理课程目录、章节、资料、测验、作业、标签和适用对象。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规则配置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配置完成条件、证书规则、积分规则、提醒策略和数据权限。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输出统一培训台账：谁参加了什么项目、在哪个批次、学了什么、交了什么成果、获得什么证明。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985812-ADB9-456F-9ED0-35289AE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847D03-BA29-461B-BBA4-B8F098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过程子系统用空间和任务把学习交付变成可跟踪闭环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485809-83FA-4433-AACD-A0164F0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1173D4-C787-49B8-9036-EACE97B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39DDCBA-4C97-498C-95D1-CF3D907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C07029-E822-4178-B7F2-6F9ABD9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学习交付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BF1313-2677-4763-8177-C67B7F9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研习社承载课程，资料库分发内容，直播/研讨支持同步学习。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E51BB19-C19B-49CC-8229-CB8FF41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BFB76A-0AC1-4947-80C5-CDF1B8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过程协同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D08118-9794-4EF8-933F-E069800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空间组织成员、讨论、日程、签到、任务、作业和阶段成果。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250B-6C69-4F98-9FFF-A2DC2AD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8F3C82-D803-441B-9A15-360F099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运营触达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9E6718-B9E3-47AA-9108-1DD20A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消息与任务联动提醒未完成项，支持班级看板和风险名单。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72B410-3ACB-4010-B9E9-CCEDBF7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C40177-D14D-466C-838E-89B89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AI 陪伴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FDCD92-451D-407A-B00E-02017B1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学习教练答疑、推荐资料、解释任务、辅助作业和生成复盘。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89248-387C-46CC-8565-BD39643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3E798-89CD-4714-A3FF-31D2A7F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关键不是把课程放上去，而是让学习过程可参与、可催办、可记录、可沉淀。</a:t>
            </a:r>
          </a:p>
        </p:txBody>
      </p:sp>
    </p:spTree>
    <p:extLst>
      <p:ext uri="{BB962C8B-B14F-4D97-AF65-F5344CB8AC3E}">
        <p14:creationId xmlns:p14="http://schemas.microsoft.com/office/powerpoint/2010/main" val="235758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0A572-C97E-4474-93BE-08410B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F12FB-00E8-4F15-87E8-F043590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效果子系统把结果从满意度统计升级为能力与业务改进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B1B5EF-B471-47A6-BECB-FB17E66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59E75B4-EC59-4940-96CE-C90F5C6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0B3215-8BA2-44FE-ADEC-C1ACCA3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评估框架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80E0B0-0A5B-4E4F-A065-7BA8360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64481-3B98-4077-9195-DD653EB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反应层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7EAEB-B887-49E5-9377-042126C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满意度、课程评价、讲师评价、反馈问卷和问题建议。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67C1D5-F50F-414F-995D-66A5C0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DEB59B-D57C-420A-ADBE-E4176C2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BFFD77-64B1-4721-8EDD-E3B48A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测验成绩、作业质量、知识掌握、学习完成和能力达成。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0AF1D1-7CA5-44B9-8BCC-0B5945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F4B743-6602-49F4-842B-2127F4C6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行为层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B9A3DF8-0563-40FE-A33A-E5C19CF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训后任务、成果提交、岗位应用、主管评价和专家评审。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6A09B89-EF55-402B-8B13-17ECAF2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2261C7-DCE8-43B2-AEE3-F5D85B9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结果层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6607EA-33F6-4B58-BADD-DC9CBC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组织指标、业务改善、能力画像变化和投入产出分析。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362A027-79C8-4C49-BD76-67B5DDD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01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DA5CFE-5174-40C2-A00B-D2ADA05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381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53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效果评估的价值，是把培训结论转化为课程优化、补训建议、能力发展和组织决策。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8A6984-5BCC-4AC5-BE08-2683926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4 层评估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648FD11-D56F-4FE3-88E8-F91F450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从反馈到改进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4B50E2-EC9D-4F5D-9E53-BA8AFB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531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个人、班级、项目、组织四类报告</a:t>
            </a:r>
          </a:p>
        </p:txBody>
      </p:sp>
    </p:spTree>
    <p:extLst>
      <p:ext uri="{BB962C8B-B14F-4D97-AF65-F5344CB8AC3E}">
        <p14:creationId xmlns:p14="http://schemas.microsoft.com/office/powerpoint/2010/main" val="88784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E07C92-8E27-4EFC-BCB1-8C61C0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D9619A-F3A5-4A18-B9C9-74D784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培训项目从需求到改进形成一条可复制的运营链路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96ECAA-E0B8-414F-9A7F-1971FE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F3E9F8-D85E-49D0-AA62-D488DB4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DBABC2-F905-41D0-BBBD-6EAB146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4D7EC4-23DF-4FF3-956E-AD27C05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需求识别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2B267AD4-5DBE-41BD-A32E-9935AB0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003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D56656-9EC3-4FFF-B59F-41B3968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FCC81B-3318-4B13-BB94-16D23CB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95525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项目搭建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2C1961F0-568F-4BB7-A0FB-2559CAC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A7030-0D78-4222-84A7-C969626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38375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30E04D-9EF1-4415-88FF-28736BA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95525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过程交付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0DC23A62-5ACC-480E-B89D-E0F5AE4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003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1E0586-FE2C-4A46-8406-7237FC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CAC4F1-E112-4539-843A-C1558DF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95525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效果改进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E053247-5596-4BC3-95AF-5AC552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训前明确目标、对象和能力差距，建立项目、班级、课程、资源、规则和智能体配置。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E88B94F-918A-4BE1-B269-CEEB5FA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训中记录学习、互动、作业、问卷、AI 使用和运营动作；训后输出报告并沉淀资源、案例和改进项。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E76A41-9C86-46F3-A9F7-305A201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8DF815-D513-47EA-AF50-55F707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1ED7A5-8F3A-4395-B72D-085508A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62588D-DB9E-461E-B08A-531539D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班级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46CA0E8-354A-475B-A07C-B1D5E3E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C73FD-421A-4BC8-8D7A-F43FEAF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E49D92E-B869-4EBF-8DDB-FAE543A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063027-8C2B-41BF-A0D6-D4DBD03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学员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A530434-8D23-46EF-8FC2-A1902F5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2EE751-800E-4104-9FF7-5A4BB4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B952C08-9960-469E-9A30-CA7CA76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C5F8035-996F-43CB-9C09-50AE314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问卷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3C2C31F-DA14-4059-8B9E-A49A219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DC4F7B6-E1BF-458A-9474-817C7C3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证书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9047D73-7265-448E-80DE-0132584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9ABFC3-2C12-4BB9-A94B-6D0B23C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</a:t>
            </a:r>
          </a:p>
        </p:txBody>
      </p:sp>
    </p:spTree>
    <p:extLst>
      <p:ext uri="{BB962C8B-B14F-4D97-AF65-F5344CB8AC3E}">
        <p14:creationId xmlns:p14="http://schemas.microsoft.com/office/powerpoint/2010/main" val="365762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7AD117-CAB3-48C6-95A0-5C2CA79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核心对象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488235-5010-4D73-8BEA-1C8BB4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统一数据模型让三大子系统围绕同一培训项目运行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FE147A-1788-4659-9F22-448D112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828B8-B179-492A-A2FC-4F013B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5EC397-E672-419F-BB35-BBFA066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934069-DEFA-4978-B18C-0750D2B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62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Training Program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EF3A0C-490D-49C0-9EB4-ACF7A4D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培训项目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承接目标、周期、负责人、对象范围、解决方案模板和启用模块。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F66FA5-ACBA-4D64-B02F-907CF0B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982A19-0272-44EE-BF3B-51175B6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5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Training Cohort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9C8134-C8E6-4D76-B576-D4263D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班级 / 批次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承接学员、讲师、排期、空间、课程路径和过程运营。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A862E1-4849-43C2-8E79-5ECC15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F82C7D-9CCF-4A3F-847B-131FEF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Learning Record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47F38-4960-4077-A690-0B1A32A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学习与评价记录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记录进度、签到、任务、作业、测验、问卷、AI 使用和结业状态。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2C67C4C-1037-42BF-A86A-891E9B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F5F8954-C151-47EC-900A-F87A124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Effect Report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7B1E8B5-102B-4751-8CC6-5CB314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效果报告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按个人、班级、项目、组织生成结论、风险、建议和复盘材料。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45B7D-99C6-4470-B44E-8C0DBA8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对象统一，才能让信息管理、过程运营和效果评估不割裂。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E28F72-85DA-4090-81DF-B36E28E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626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232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培训项目是主对象，班级是交付单元，记录和报告是效果资产。</a:t>
            </a:r>
          </a:p>
        </p:txBody>
      </p:sp>
    </p:spTree>
    <p:extLst>
      <p:ext uri="{BB962C8B-B14F-4D97-AF65-F5344CB8AC3E}">
        <p14:creationId xmlns:p14="http://schemas.microsoft.com/office/powerpoint/2010/main" val="1337357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98CFD8-C6EA-470F-A7AD-FB7099E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原生能力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16BB9D-7ECA-4398-8617-91CF704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智能体矩阵覆盖培训前、中、后的关键工作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5A5CE-A619-4B69-9E95-CA5CBB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64EEB8-337F-4859-BA27-24761E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75843E-1B21-4D5D-9E81-A4B4884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37AA3-FBEE-48C9-8177-BC5AB34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项目搭建助手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37357F-0B13-4D9B-8083-21A1EF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生成项目方案、课程框架、任务模板、问卷模板和证书规则建议。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4A6943-9334-4EEB-B9CB-D689A27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37416D-31F4-4F61-B7C4-20A57B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学习教练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A2906F-AEA7-4557-BA78-9B46D9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基于资料库答疑、解释课程、推荐资源、提醒进度和陪伴作业。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CDB309-7B8D-47CA-9C03-B767F4A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E6F5FA2-6E78-4865-99AD-BF82037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运营助手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B43F07-F192-4634-BDE0-180C3B2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识别未完成、低活跃、高风险学员，生成催办话术和班级周报。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596EE-3583-41B3-997D-EDE1C8B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B4F22-6728-4522-9CE8-905004A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效果分析助手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70EDC53-F17B-4C23-AF33-7D808BA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汇总过程数据、问卷和成果，生成个人、班级和项目复盘报告。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D55A-B384-48F4-A8F7-2DF614A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EF3D0E-239D-4987-9A29-F9BA8C8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1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输出作为建议稿进入人工确认；关键评价、证书发放和最终结论保留人工审核。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116542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899CDD-80BF-4332-9E1B-80F55C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数据与分析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5584CE-043C-484A-9CD1-997437D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过程数据进入分析模型，最终输出可行动的培训效果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0763D6-4FA9-4D42-A46E-BB6464A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6043DA-375F-4BD8-B477-0854E9C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0403E6-143C-4CDD-B8EC-2803EB5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6893E-69D5-4FDF-8B2E-638581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数据采集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6BD117B6-183C-458E-B722-EFBA604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265274-BBBA-43AC-B535-D3BD40B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A0E22C-7383-4FC0-8049-4A99916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指标计算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48013BA5-DF49-443C-9C99-5E307D7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69E8C3-A531-4D33-8502-9B77B21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AA1ADD-83C9-440F-ABB6-3F9668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效果分析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BE25CBB-C835-42A3-BF54-B18FE85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6C392F-88ED-4785-8B68-5D51E33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DDF41F-18DA-4AAE-98CB-70AB14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改进决策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55076-5BAE-4FF7-8D99-80F40F3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学习、签到、任务、作业、问卷、测验、证书和 AI 使用记录统一归集，形成培训数据资产。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AAEE99-F6D6-4AB5-92CC-805884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D9E1E-CF55-4FC4-BDD4-3101D3E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F91180-79E5-4755-812C-78907AF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D1DC0-1794-4D1A-A4E8-B633B6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1BD375-C2CF-4D7A-89BD-4A9B05E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6AA548E-B56A-4C5C-AB66-CA752EF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班级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B01FE1C-68FA-47DF-B6A6-079E651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5A8804-BF92-4C65-9433-F9C16C3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学员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628781-27E0-4DD9-80BF-638FDE6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67FA7C-3B54-437E-8933-C5136F0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E6C09C5-44BD-4F33-B0AF-8EB84AC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704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指标覆盖参与率、完成率、活跃度、掌握度、满意度、能力达成度和训后应用度。</a:t>
            </a:r>
          </a:p>
        </p:txBody>
      </p:sp>
    </p:spTree>
    <p:extLst>
      <p:ext uri="{BB962C8B-B14F-4D97-AF65-F5344CB8AC3E}">
        <p14:creationId xmlns:p14="http://schemas.microsoft.com/office/powerpoint/2010/main" val="148202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2602DD-880E-4969-B819-9051B52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F4A11B-6CEF-48DD-A8C2-D745976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解决方案、套餐和租户把培训能力转成可交付产品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3F683C-6F34-468E-9D93-146EAE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70F9F0-1533-441B-95EE-FC63F9D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916AB-CC65-4957-BBB2-01FD799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438B06-3CE9-45DA-B46B-E1441AF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F9F9E2-F910-4FEB-B7C9-1223AF4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定义培训场景和业务价值：新员工培训、岗位提升、客户培训、教师发展、认证培训等。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E023AE-43EE-4D9B-BA94-BEDE3F6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AA3A17-F566-48AB-B6C1-CD3E40C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6BA735-0A52-4ADA-B0F4-83ED726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定义用户数、空间数、资料容量、AI 调用、问卷、证书、报表和服务等级。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8F910C-EACC-4AF0-98F1-C62EA93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9FE403-DC98-4492-BE5C-BB0D7B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B5D84-8850-469F-918B-12CFF00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承接客户主体、组织架构、数据隔离、权限边界、服务周期和客户成功运营。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47E6C4-D5BC-4C7B-BEB9-47162D6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解决方案定义“训什么”，套餐定义“按什么额度训”，租户定义“给谁交付和运营”。</a:t>
            </a:r>
          </a:p>
        </p:txBody>
      </p:sp>
    </p:spTree>
    <p:extLst>
      <p:ext uri="{BB962C8B-B14F-4D97-AF65-F5344CB8AC3E}">
        <p14:creationId xmlns:p14="http://schemas.microsoft.com/office/powerpoint/2010/main" val="80133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37F405-E560-4260-B01E-CCDA391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ECC312-ED01-45A7-843E-C04490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培训平台以场景包方式适配多类客户培训需求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71566C-5E52-4327-A64A-DB924AA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7660A1-23C5-4F58-9A91-B53934A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4C014D-1432-4E5D-ACCE-B23C3E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典型场景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1B040D-2F0D-461E-BB0F-EB68D66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231CAE-A639-4464-A06B-020E87F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企业内训 / 岗位提升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8FF9FF-DD98-4AF1-9BA1-3B5AD83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围绕岗位能力模型，承接新人上手、制度合规、管理提升和专业技能训练。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B72B89-0266-4382-9831-7850F01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00E0CE-38DA-4A3D-B749-4EFA16B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教育培训 / 教师发展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DB0A08-9FC2-49DF-A1C9-44F6A9A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围绕教师数字素养、教研共创、AI 通识学习和工作坊实训形成标准方案。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9EE8AA-44D7-423A-B7EC-2E5CB6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184E3D-2C69-43BC-8CB1-055247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5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下一步将成熟场景沉淀为“解决方案模板 + 空间模板 + 课程资源包 + 智能体配置 + 效果报告模板”。</a:t>
            </a:r>
          </a:p>
        </p:txBody>
      </p:sp>
    </p:spTree>
    <p:extLst>
      <p:ext uri="{BB962C8B-B14F-4D97-AF65-F5344CB8AC3E}">
        <p14:creationId xmlns:p14="http://schemas.microsoft.com/office/powerpoint/2010/main" val="181187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BD627-D5F6-4040-867F-D8E10C3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实施路线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71BC9A-84E2-4699-A8A5-DF808A3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从基础闭环到商业增长，分五阶段落地培训产品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0F10E7-D2D6-409D-BD1F-E7E5912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94A347-9772-4A5A-9FF3-70503AD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AECF60-953E-472E-AFB6-21A50F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路线图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C8CEB8-9C6C-47F2-8895-4C0908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1FE599-A4AE-4D70-8EA2-0E0AFE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V1 基础闭环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1218A3-DE49-4174-A5DD-304CAAB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项目、班级、课程、学员、任务、问卷、证书和台账。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0E1B55-BF39-4C49-AE05-D1ADCB3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358B7-475B-4D13-9E9B-9EE18F2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V2 AI 增强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E04C6DD-895B-49B0-A8EF-5AADC26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课程生成、资料问答、学习推荐、作业点评和运营预警。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74D9F-235D-473A-BBFB-28019D8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EE9E36-68D3-4976-9F9C-D587E9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V3 效果运营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A56C8E4-02FE-40B6-879C-34CB2D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训前/训后对比、能力画像、训后应用追踪和组织驾驶舱。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215A30-234C-4328-AC96-C9C95E6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285AAA-BF78-468C-A55C-59EC578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V4 场景复制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D2C58A1-6CDD-48A1-B405-679A009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沉淀企业内训、教师发展、客户培训、认证培训等场景包。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30BC2-970D-4EA5-97E9-35D870B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056F5C-7429-41E2-8A3B-C5118F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V5 商业化增长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59CA98E-2248-4CF6-821F-0ED736C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套餐、资源包、Token 流量、运营服务和渠道合作。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67FE7E-8104-4CE8-A589-D934BF4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37F77B2-B936-4488-A7D4-3C20FC5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实施重点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B43872B-21A1-4B96-B770-5CDC54C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243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先跑通一个标准培训项目，再把数据、智能体和模板沉淀为可复制能力。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每个阶段都保留人工审核、权限隔离、成本监控和数据归档。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056D5F7-E528-4B5E-B6B0-18C70AC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价值：让培训交付从项目制人力驱动，逐步升级为平台化、智能化、可规模复制的产品能力。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211776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AFE91-C5DB-4806-B18F-74CF969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商业化套件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239F66D-7E13-45EA-9925-9DBBC74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围绕培训场景形成“平台 + 资源 + 服务 + 算力”的组合包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42B12F-19AD-4098-ABC2-9F95C60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58A598-445F-45F7-B2D3-7E20CB2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4D457B-DCAB-4BBC-858D-BBD65D1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套件结构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6CCF7C-F039-48BB-A08E-AFB7ADD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978A75-2723-43FA-9354-84FD1E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7C8A22-2034-4C19-80E9-9A48461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8768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租户、组织、空间、资料库、研习社、任务、消息、问卷和证书等基础能力。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D1BAFD-009A-4025-B6F0-B298CED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19BBBB-F2D1-4F6E-B1F7-C645D0E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培训场景包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智能体底座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BE789E-D005-4119-BA03-324C22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768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企业内训、教师发展、客户培训、认证培训等模板，内置课程、任务、问卷、报告和智能体。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9C2C60-6AD8-4EE3-95F9-867F3D3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E856C6-343D-4FB4-9974-826910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商业化组件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7EA9D2-067D-404B-8D57-F9D7651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847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7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以解决方案、套餐、资源包、运营服务和 Token 算力组合报价，支持试用、升级和增购。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BC284-8A93-4355-83B1-A604991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442BC8-6EFA-4503-AC4D-04731F2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C7E572-B117-4B52-B1C7-B9FC131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57A9E2-A23E-49E7-A609-A2E8ED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课程资源包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DA7FCD-A8E7-4C37-ABCB-D49C21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0FB79C-2F0A-40D9-940F-4794828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智能体包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7610B1-3D6E-433E-9A8B-1146600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2A744-78F4-4A1A-82F5-3307E02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DBA1C4-0454-4335-8FFB-834B38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5BEB6B-BBE7-4AA5-BE33-483E25D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  <p:extLst>
      <p:ext uri="{BB962C8B-B14F-4D97-AF65-F5344CB8AC3E}">
        <p14:creationId xmlns:p14="http://schemas.microsoft.com/office/powerpoint/2010/main" val="1832209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治理与边界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培训产品需要同时处理权限、质量、合规和 AI 使用边界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权限隔离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按租户、项目、班级、角色和资料范围控制数据访问，避免跨项目越权。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质量审核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生成课程、点评、报告和评价建议均进入人工确认流程。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成本治理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按租户、项目、智能体和模型统计 Token 消耗，支撑预警、对账和套餐设计。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数据沉淀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学习记录、成果、证书和效果报告进入档案，支持长期追踪和复用。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治理目标：让培训平台既能快速复制，又能在数据安全、AI 质量和商业成本上可控。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69035-3F95-4EF3-AF36-FC3A12F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B5455C-532E-47E1-B5AF-F462D0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果仁培训产品最终形成“底座复用 + 培训闭环 + 效果运营”的产品体系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FC33A9-53C3-40EF-AB16-1E76BA1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66DA6A-6915-4D1C-8581-96AE328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7E214B-B2A7-4A65-B551-08C84B6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2E8ED9-13EF-437F-8A38-FDCAADA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底座复用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B46D67-E50D-4619-9827-480C8A3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复用果仁的租户、解决方案、套餐、空间、资料库、Lucky、任务、问卷、证书和统计能力。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CA60DE-F2E3-4783-A2D9-8A2BC86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1BCF2C-9067-4172-8759-2B41AA5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培训闭环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FBDB2A6-32EB-436D-BD72-2B95FF8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围绕项目对象贯通信息管理、过程运营、效果评估和成果沉淀。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88C326-7F23-4A87-8EAC-C8D09E4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9049C6C-4F6D-4317-8198-6DA2F13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C4016-F906-4A07-B4EB-3F42CE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用数据和 AI 把培训结果转化为补训建议、课程优化、能力发展和持续增购。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D0D712-E1FA-48F8-8338-F9B3E2F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F0E3D5-0688-4C6B-82EB-1DADFEC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选取一个标准培训场景做 MVP：先跑通项目、班级、课程、过程记录、证书和报告，再逐步叠加智能体和效果驾驶舱。</a:t>
            </a:r>
          </a:p>
        </p:txBody>
      </p:sp>
    </p:spTree>
    <p:extLst>
      <p:ext uri="{BB962C8B-B14F-4D97-AF65-F5344CB8AC3E}">
        <p14:creationId xmlns:p14="http://schemas.microsoft.com/office/powerpoint/2010/main" val="1821108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2026-07-27T01:36:02.1780000Z</dcterms:created>
  <dcterms:modified xsi:type="dcterms:W3CDTF">2026-07-27T01:36:02.1780000Z</dcterms:modified>
</coreProperties>
</file>