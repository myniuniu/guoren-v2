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54d2f165c174d37" /><Relationship Type="http://schemas.openxmlformats.org/officeDocument/2006/relationships/extended-properties" Target="/docProps/app.xml" Id="R2e45974f1b05449a" /><Relationship Type="http://schemas.openxmlformats.org/officeDocument/2006/relationships/officeDocument" Target="/ppt/presentation.xml" Id="R869afe9d696a4c8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6abe69cd8d7419b"/>
  </p:sldMasterIdLst>
  <p:notesMasterIdLst>
    <p:notesMasterId xmlns:r="http://schemas.openxmlformats.org/officeDocument/2006/relationships" r:id="Rae30b1aaeaee42a3"/>
  </p:notesMasterIdLst>
  <p:sldIdLst>
    <p:sldId xmlns:r="http://schemas.openxmlformats.org/officeDocument/2006/relationships" id="256" r:id="R330c9d44abf04e37"/>
    <p:sldId xmlns:r="http://schemas.openxmlformats.org/officeDocument/2006/relationships" id="257" r:id="R6808f4fa810b4828"/>
    <p:sldId xmlns:r="http://schemas.openxmlformats.org/officeDocument/2006/relationships" id="258" r:id="Rbf27f618e3784de2"/>
    <p:sldId xmlns:r="http://schemas.openxmlformats.org/officeDocument/2006/relationships" id="259" r:id="Rf206cca2c1e245e3"/>
    <p:sldId xmlns:r="http://schemas.openxmlformats.org/officeDocument/2006/relationships" id="260" r:id="R9c81db0c69d74a59"/>
    <p:sldId xmlns:r="http://schemas.openxmlformats.org/officeDocument/2006/relationships" id="261" r:id="R126c120ee9904cb8"/>
    <p:sldId xmlns:r="http://schemas.openxmlformats.org/officeDocument/2006/relationships" id="262" r:id="R71d3eff8eb384033"/>
    <p:sldId xmlns:r="http://schemas.openxmlformats.org/officeDocument/2006/relationships" id="263" r:id="Re12130988d204e49"/>
    <p:sldId xmlns:r="http://schemas.openxmlformats.org/officeDocument/2006/relationships" id="264" r:id="R99b7277559a04a92"/>
    <p:sldId xmlns:r="http://schemas.openxmlformats.org/officeDocument/2006/relationships" id="265" r:id="R680ffd29e2f345e6"/>
    <p:sldId xmlns:r="http://schemas.openxmlformats.org/officeDocument/2006/relationships" id="266" r:id="R6876f9d831744f30"/>
    <p:sldId xmlns:r="http://schemas.openxmlformats.org/officeDocument/2006/relationships" id="267" r:id="Rf303effd51fd4a2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c533debcb6d40b4" /><Relationship Type="http://schemas.openxmlformats.org/officeDocument/2006/relationships/slideMaster" Target="/ppt/slideMasters/slideMaster1.xml" Id="R06abe69cd8d7419b" /><Relationship Type="http://schemas.openxmlformats.org/officeDocument/2006/relationships/notesMaster" Target="/ppt/notesMasters/notesMaster1.xml" Id="Rae30b1aaeaee42a3" /><Relationship Type="http://schemas.openxmlformats.org/officeDocument/2006/relationships/presProps" Target="/ppt/presProps.xml" Id="Re66e51348cdf4f12" /><Relationship Type="http://schemas.openxmlformats.org/officeDocument/2006/relationships/tableStyles" Target="/ppt/tableStyles.xml" Id="Rd9548e80c58f4c53" /><Relationship Type="http://schemas.openxmlformats.org/officeDocument/2006/relationships/slide" Target="/ppt/slides/slide1.xml" Id="R330c9d44abf04e37" /><Relationship Type="http://schemas.openxmlformats.org/officeDocument/2006/relationships/slide" Target="/ppt/slides/slide2.xml" Id="R6808f4fa810b4828" /><Relationship Type="http://schemas.openxmlformats.org/officeDocument/2006/relationships/slide" Target="/ppt/slides/slide3.xml" Id="Rbf27f618e3784de2" /><Relationship Type="http://schemas.openxmlformats.org/officeDocument/2006/relationships/slide" Target="/ppt/slides/slide4.xml" Id="Rf206cca2c1e245e3" /><Relationship Type="http://schemas.openxmlformats.org/officeDocument/2006/relationships/slide" Target="/ppt/slides/slide5.xml" Id="R9c81db0c69d74a59" /><Relationship Type="http://schemas.openxmlformats.org/officeDocument/2006/relationships/slide" Target="/ppt/slides/slide6.xml" Id="R126c120ee9904cb8" /><Relationship Type="http://schemas.openxmlformats.org/officeDocument/2006/relationships/slide" Target="/ppt/slides/slide7.xml" Id="R71d3eff8eb384033" /><Relationship Type="http://schemas.openxmlformats.org/officeDocument/2006/relationships/slide" Target="/ppt/slides/slide8.xml" Id="Re12130988d204e49" /><Relationship Type="http://schemas.openxmlformats.org/officeDocument/2006/relationships/slide" Target="/ppt/slides/slide9.xml" Id="R99b7277559a04a92" /><Relationship Type="http://schemas.openxmlformats.org/officeDocument/2006/relationships/slide" Target="/ppt/slides/slide10.xml" Id="R680ffd29e2f345e6" /><Relationship Type="http://schemas.openxmlformats.org/officeDocument/2006/relationships/slide" Target="/ppt/slides/slide11.xml" Id="R6876f9d831744f30" /><Relationship Type="http://schemas.openxmlformats.org/officeDocument/2006/relationships/slide" Target="/ppt/slides/slide12.xml" Id="Rf303effd51fd4a2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2945e786082402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b5c6dbf4c2e4360" /><Relationship Type="http://schemas.openxmlformats.org/officeDocument/2006/relationships/notesMaster" Target="/ppt/notesMasters/notesMaster1.xml" Id="Rfb5c48423be04a8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50a7e30a3534696" /><Relationship Type="http://schemas.openxmlformats.org/officeDocument/2006/relationships/notesMaster" Target="/ppt/notesMasters/notesMaster1.xml" Id="R56b258b89c5d480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abcec0cdc094b1e" /><Relationship Type="http://schemas.openxmlformats.org/officeDocument/2006/relationships/notesMaster" Target="/ppt/notesMasters/notesMaster1.xml" Id="R773f2e635ed8472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aec291375f041fc" /><Relationship Type="http://schemas.openxmlformats.org/officeDocument/2006/relationships/notesMaster" Target="/ppt/notesMasters/notesMaster1.xml" Id="Rffb68728f1bf484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31c530d23324a98" /><Relationship Type="http://schemas.openxmlformats.org/officeDocument/2006/relationships/notesMaster" Target="/ppt/notesMasters/notesMaster1.xml" Id="Rcacb5e92237e4fd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f5b8be449bb4ede" /><Relationship Type="http://schemas.openxmlformats.org/officeDocument/2006/relationships/notesMaster" Target="/ppt/notesMasters/notesMaster1.xml" Id="Ra76820ba8608490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4f1595adaa64592" /><Relationship Type="http://schemas.openxmlformats.org/officeDocument/2006/relationships/notesMaster" Target="/ppt/notesMasters/notesMaster1.xml" Id="Rd986d152aa26460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36820e95a8d4eab" /><Relationship Type="http://schemas.openxmlformats.org/officeDocument/2006/relationships/notesMaster" Target="/ppt/notesMasters/notesMaster1.xml" Id="R2955e54a1ac84f9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5388a99d1e7434c" /><Relationship Type="http://schemas.openxmlformats.org/officeDocument/2006/relationships/notesMaster" Target="/ppt/notesMasters/notesMaster1.xml" Id="Rf594abc9e8664a6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f600d773ff54cb5" /><Relationship Type="http://schemas.openxmlformats.org/officeDocument/2006/relationships/notesMaster" Target="/ppt/notesMasters/notesMaster1.xml" Id="R4b9bacef5cd7416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0fd1d37123f4d7c" /><Relationship Type="http://schemas.openxmlformats.org/officeDocument/2006/relationships/notesMaster" Target="/ppt/notesMasters/notesMaster1.xml" Id="Rac2a9d3c9ef34f9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2f0555572e742e3" /><Relationship Type="http://schemas.openxmlformats.org/officeDocument/2006/relationships/notesMaster" Target="/ppt/notesMasters/notesMaster1.xml" Id="R86855c8414844bd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9492f7925f4dd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4e9bd89b3944847" /><Relationship Type="http://schemas.openxmlformats.org/officeDocument/2006/relationships/slideLayout" Target="/ppt/slideLayouts/slideLayout1.xml" Id="R1bf91aa11146488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bf91aa11146488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29d0531a6a49af" /><Relationship Type="http://schemas.openxmlformats.org/officeDocument/2006/relationships/notesSlide" Target="/ppt/notesSlides/notesSlide1.xml" Id="Rf500aeb04638490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769441c2484597" /><Relationship Type="http://schemas.openxmlformats.org/officeDocument/2006/relationships/notesSlide" Target="/ppt/notesSlides/notesSlide2.xml" Id="R310c686cdfd143c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4f8a1216d947b7" /><Relationship Type="http://schemas.openxmlformats.org/officeDocument/2006/relationships/notesSlide" Target="/ppt/notesSlides/notesSlide3.xml" Id="R1020c867e12140c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a0deff72364c9e" /><Relationship Type="http://schemas.openxmlformats.org/officeDocument/2006/relationships/notesSlide" Target="/ppt/notesSlides/notesSlide4.xml" Id="Rcff73c560bb6458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61183f56cd442b" /><Relationship Type="http://schemas.openxmlformats.org/officeDocument/2006/relationships/notesSlide" Target="/ppt/notesSlides/notesSlide5.xml" Id="R8baae81b6706412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d8de7933fd4924" /><Relationship Type="http://schemas.openxmlformats.org/officeDocument/2006/relationships/notesSlide" Target="/ppt/notesSlides/notesSlide6.xml" Id="R5a426ff04729456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aee9c29a544e63" /><Relationship Type="http://schemas.openxmlformats.org/officeDocument/2006/relationships/notesSlide" Target="/ppt/notesSlides/notesSlide7.xml" Id="Ra2f36ff9358a424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a802634af04eb8" /><Relationship Type="http://schemas.openxmlformats.org/officeDocument/2006/relationships/notesSlide" Target="/ppt/notesSlides/notesSlide8.xml" Id="Rfb0ffa1efd7641f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2ce13f18a64c55" /><Relationship Type="http://schemas.openxmlformats.org/officeDocument/2006/relationships/notesSlide" Target="/ppt/notesSlides/notesSlide9.xml" Id="R991cb6bb87dd44b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c75fd8e8bc4414" /><Relationship Type="http://schemas.openxmlformats.org/officeDocument/2006/relationships/notesSlide" Target="/ppt/notesSlides/notesSlide10.xml" Id="R0288021396624e2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9940df29ea4fff" /><Relationship Type="http://schemas.openxmlformats.org/officeDocument/2006/relationships/notesSlide" Target="/ppt/notesSlides/notesSlide11.xml" Id="R63e58d210d554b0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e087084d224e4f" /><Relationship Type="http://schemas.openxmlformats.org/officeDocument/2006/relationships/notesSlide" Target="/ppt/notesSlides/notesSlide12.xml" Id="R7172822078e04c7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ver-title">
            <a:extLst xmlns:a="http://schemas.openxmlformats.org/drawingml/2006/main">
              <a:ext uri="{FF2B5EF4-FFF2-40B4-BE49-F238E27FC236}">
                <a16:creationId xmlns:a16="http://schemas.microsoft.com/office/drawing/2014/main" id="{FCB22A06-2EFF-4F2B-9C4B-5C8888D16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68580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43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果仁 AI 原生底座</a:t>
            </a:r>
          </a:p>
          <a:p xmlns:a="http://schemas.openxmlformats.org/drawingml/2006/main">
            <a:pPr algn="l">
              <a:buNone/>
              <a:defRPr sz="43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43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赋能培训平台建设方案</a:t>
            </a:r>
          </a:p>
        </p:txBody>
      </p:sp>
      <p:sp>
        <p:nvSpPr>
          <p:cNvPr id="2" name="cover-sub">
            <a:extLst xmlns:a="http://schemas.openxmlformats.org/drawingml/2006/main">
              <a:ext uri="{FF2B5EF4-FFF2-40B4-BE49-F238E27FC236}">
                <a16:creationId xmlns:a16="http://schemas.microsoft.com/office/drawing/2014/main" id="{B4E58471-3358-4521-B1D5-FD4267E25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05125"/>
            <a:ext cx="685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以 Lucky 智能体、资料库、空间、场景模板和 Token 统计为底座，让培训业务天然具备智能能力</a:t>
            </a:r>
          </a:p>
        </p:txBody>
      </p:sp>
      <p:sp>
        <p:nvSpPr>
          <p:cNvPr id="3" name="black-rail">
            <a:extLst xmlns:a="http://schemas.openxmlformats.org/drawingml/2006/main">
              <a:ext uri="{FF2B5EF4-FFF2-40B4-BE49-F238E27FC236}">
                <a16:creationId xmlns:a16="http://schemas.microsoft.com/office/drawing/2014/main" id="{A15979E9-C414-42D7-B3BC-00EEA07E1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781050"/>
            <a:ext cx="3562350" cy="477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ail-core">
            <a:extLst xmlns:a="http://schemas.openxmlformats.org/drawingml/2006/main">
              <a:ext uri="{FF2B5EF4-FFF2-40B4-BE49-F238E27FC236}">
                <a16:creationId xmlns:a16="http://schemas.microsoft.com/office/drawing/2014/main" id="{3F1E7D0E-12DC-4650-BB6B-F6FF89613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219200"/>
            <a:ext cx="289560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Lucky</a:t>
            </a:r>
          </a:p>
          <a:p xmlns:a="http://schemas.openxmlformats.org/drawingml/2006/main">
            <a:pPr algn="l">
              <a:buNone/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资料库</a:t>
            </a:r>
          </a:p>
          <a:p xmlns:a="http://schemas.openxmlformats.org/drawingml/2006/main">
            <a:pPr algn="l">
              <a:buNone/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空间</a:t>
            </a:r>
          </a:p>
          <a:p xmlns:a="http://schemas.openxmlformats.org/drawingml/2006/main">
            <a:pPr algn="l">
              <a:buNone/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场景模板</a:t>
            </a:r>
          </a:p>
        </p:txBody>
      </p:sp>
      <p:sp>
        <p:nvSpPr>
          <p:cNvPr id="5" name="rail-line">
            <a:extLst xmlns:a="http://schemas.openxmlformats.org/drawingml/2006/main">
              <a:ext uri="{FF2B5EF4-FFF2-40B4-BE49-F238E27FC236}">
                <a16:creationId xmlns:a16="http://schemas.microsoft.com/office/drawing/2014/main" id="{87D1CFBE-F5CA-414C-8D9F-196FD549D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95725"/>
            <a:ext cx="2724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il-foot">
            <a:extLst xmlns:a="http://schemas.openxmlformats.org/drawingml/2006/main">
              <a:ext uri="{FF2B5EF4-FFF2-40B4-BE49-F238E27FC236}">
                <a16:creationId xmlns:a16="http://schemas.microsoft.com/office/drawing/2014/main" id="{DC1B31B6-F9CE-4AE6-9D9F-F1792FA7A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05300"/>
            <a:ext cx="2895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从 AI 能力到培训场景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从算力消耗到业务价值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FFAB6C9A-4EA7-4880-AD3F-F1043978A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956858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35015ACC-29EE-486F-AAE2-10A33B389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基于 AI 原生底座的培训平台建设方案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BF2B956-BCD8-4666-8269-4521E1374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核心判断：培训平台不是传统系统加 AI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CD983F13-ED05-48AF-904E-17931B3EB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11391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hesis">
            <a:extLst xmlns:a="http://schemas.openxmlformats.org/drawingml/2006/main">
              <a:ext uri="{FF2B5EF4-FFF2-40B4-BE49-F238E27FC236}">
                <a16:creationId xmlns:a16="http://schemas.microsoft.com/office/drawing/2014/main" id="{9F7E21D6-BFE8-40B6-9105-620A1CF0B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76450"/>
            <a:ext cx="1085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8853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AI 不作为外挂工具存在，而是嵌入资料沉淀、空间协作、角色赋能、流程推进、内容生成、评价分析和推荐服务全过程。</a:t>
            </a:r>
          </a:p>
        </p:txBody>
      </p:sp>
      <p:sp>
        <p:nvSpPr>
          <p:cNvPr id="5" name="card-传统建设方式">
            <a:extLst xmlns:a="http://schemas.openxmlformats.org/drawingml/2006/main">
              <a:ext uri="{FF2B5EF4-FFF2-40B4-BE49-F238E27FC236}">
                <a16:creationId xmlns:a16="http://schemas.microsoft.com/office/drawing/2014/main" id="{06495D3D-286F-45FA-B1DC-73A4E8A6B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62350"/>
            <a:ext cx="4762500" cy="1600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badge-旧">
            <a:extLst xmlns:a="http://schemas.openxmlformats.org/drawingml/2006/main">
              <a:ext uri="{FF2B5EF4-FFF2-40B4-BE49-F238E27FC236}">
                <a16:creationId xmlns:a16="http://schemas.microsoft.com/office/drawing/2014/main" id="{C865C28A-81A0-4555-B607-23E7FE306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528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adge-text-旧">
            <a:extLst xmlns:a="http://schemas.openxmlformats.org/drawingml/2006/main">
              <a:ext uri="{FF2B5EF4-FFF2-40B4-BE49-F238E27FC236}">
                <a16:creationId xmlns:a16="http://schemas.microsoft.com/office/drawing/2014/main" id="{75E0821F-9448-4E2A-9835-59BA294CD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0047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旧</a:t>
            </a:r>
          </a:p>
        </p:txBody>
      </p:sp>
      <p:sp>
        <p:nvSpPr>
          <p:cNvPr id="8" name="card-head-传统建设方式">
            <a:extLst xmlns:a="http://schemas.openxmlformats.org/drawingml/2006/main">
              <a:ext uri="{FF2B5EF4-FFF2-40B4-BE49-F238E27FC236}">
                <a16:creationId xmlns:a16="http://schemas.microsoft.com/office/drawing/2014/main" id="{098A7457-B301-4058-8130-EFCAE05B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71900"/>
            <a:ext cx="3886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传统建设方式</a:t>
            </a:r>
          </a:p>
        </p:txBody>
      </p:sp>
      <p:sp>
        <p:nvSpPr>
          <p:cNvPr id="9" name="card-body-传统建设方式">
            <a:extLst xmlns:a="http://schemas.openxmlformats.org/drawingml/2006/main">
              <a:ext uri="{FF2B5EF4-FFF2-40B4-BE49-F238E27FC236}">
                <a16:creationId xmlns:a16="http://schemas.microsoft.com/office/drawing/2014/main" id="{E0E54CF3-AB18-403C-8874-1AFD9177B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91000"/>
            <a:ext cx="3886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先搭培训管理系统，再零散接入问答、生成、推荐等 AI 功能。AI 与业务流程割裂，数据难沉淀，能力难复用。</a:t>
            </a:r>
          </a:p>
        </p:txBody>
      </p:sp>
      <p:sp>
        <p:nvSpPr>
          <p:cNvPr id="10" name="card-AI 原生建设方式">
            <a:extLst xmlns:a="http://schemas.openxmlformats.org/drawingml/2006/main">
              <a:ext uri="{FF2B5EF4-FFF2-40B4-BE49-F238E27FC236}">
                <a16:creationId xmlns:a16="http://schemas.microsoft.com/office/drawing/2014/main" id="{AD20E187-21BA-4814-BB35-5EF8842E3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62350"/>
            <a:ext cx="4762500" cy="1600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2F83FF"/>
            </a:solidFill>
            <a:prstDash val="solid"/>
          </a:ln>
        </p:spPr>
      </p:sp>
      <p:sp>
        <p:nvSpPr>
          <p:cNvPr id="11" name="badge-新">
            <a:extLst xmlns:a="http://schemas.openxmlformats.org/drawingml/2006/main">
              <a:ext uri="{FF2B5EF4-FFF2-40B4-BE49-F238E27FC236}">
                <a16:creationId xmlns:a16="http://schemas.microsoft.com/office/drawing/2014/main" id="{70E4BEBB-0EB5-4E01-A22A-D1570E541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7528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adge-text-新">
            <a:extLst xmlns:a="http://schemas.openxmlformats.org/drawingml/2006/main">
              <a:ext uri="{FF2B5EF4-FFF2-40B4-BE49-F238E27FC236}">
                <a16:creationId xmlns:a16="http://schemas.microsoft.com/office/drawing/2014/main" id="{40853452-F370-46B4-8A5A-3699A6EA5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80047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新</a:t>
            </a:r>
          </a:p>
        </p:txBody>
      </p:sp>
      <p:sp>
        <p:nvSpPr>
          <p:cNvPr id="13" name="card-head-AI 原生建设方式">
            <a:extLst xmlns:a="http://schemas.openxmlformats.org/drawingml/2006/main">
              <a:ext uri="{FF2B5EF4-FFF2-40B4-BE49-F238E27FC236}">
                <a16:creationId xmlns:a16="http://schemas.microsoft.com/office/drawing/2014/main" id="{E4D16464-A34F-4B42-BCBC-E0C44E8DE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771900"/>
            <a:ext cx="3886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AI 原生建设方式</a:t>
            </a:r>
          </a:p>
        </p:txBody>
      </p:sp>
      <p:sp>
        <p:nvSpPr>
          <p:cNvPr id="14" name="card-body-AI 原生建设方式">
            <a:extLst xmlns:a="http://schemas.openxmlformats.org/drawingml/2006/main">
              <a:ext uri="{FF2B5EF4-FFF2-40B4-BE49-F238E27FC236}">
                <a16:creationId xmlns:a16="http://schemas.microsoft.com/office/drawing/2014/main" id="{FB757A01-DABA-4279-A105-183F9B778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191000"/>
            <a:ext cx="3886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以资料库、空间、智能体和场景模板作为底座，培训业务一开始就可沉淀、可协同、可评价、可推荐。</a:t>
            </a:r>
          </a:p>
        </p:txBody>
      </p:sp>
      <p:sp>
        <p:nvSpPr>
          <p:cNvPr id="15" name="page">
            <a:extLst xmlns:a="http://schemas.openxmlformats.org/drawingml/2006/main">
              <a:ext uri="{FF2B5EF4-FFF2-40B4-BE49-F238E27FC236}">
                <a16:creationId xmlns:a16="http://schemas.microsoft.com/office/drawing/2014/main" id="{775A9781-0ECA-4B48-B834-F86B45AE9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810356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eyebrow">
            <a:extLst xmlns:a="http://schemas.openxmlformats.org/drawingml/2006/main">
              <a:ext uri="{FF2B5EF4-FFF2-40B4-BE49-F238E27FC236}">
                <a16:creationId xmlns:a16="http://schemas.microsoft.com/office/drawing/2014/main" id="{A925C2B5-A8FB-49AA-BFE5-DB9F0472A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基于 AI 原生底座的培训平台建设方案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607F436-63E1-40ED-B02D-5DA22CCD4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AI 原生底座由六类平台能力组成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8E0DB33C-5A16-4E33-8D9E-51B0A769B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11391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ard-Lucky 智能体">
            <a:extLst xmlns:a="http://schemas.openxmlformats.org/drawingml/2006/main">
              <a:ext uri="{FF2B5EF4-FFF2-40B4-BE49-F238E27FC236}">
                <a16:creationId xmlns:a16="http://schemas.microsoft.com/office/drawing/2014/main" id="{0397CDBF-2440-4506-85BF-F8C2735A6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38350"/>
            <a:ext cx="333375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2F83FF"/>
            </a:solidFill>
            <a:prstDash val="solid"/>
          </a:ln>
        </p:spPr>
      </p:sp>
      <p:sp>
        <p:nvSpPr>
          <p:cNvPr id="5" name="badge-01">
            <a:extLst xmlns:a="http://schemas.openxmlformats.org/drawingml/2006/main">
              <a:ext uri="{FF2B5EF4-FFF2-40B4-BE49-F238E27FC236}">
                <a16:creationId xmlns:a16="http://schemas.microsoft.com/office/drawing/2014/main" id="{8EFEF7CA-D263-4306-ABA5-452B05F76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adge-text-01">
            <a:extLst xmlns:a="http://schemas.openxmlformats.org/drawingml/2006/main">
              <a:ext uri="{FF2B5EF4-FFF2-40B4-BE49-F238E27FC236}">
                <a16:creationId xmlns:a16="http://schemas.microsoft.com/office/drawing/2014/main" id="{85C010CE-97C2-43A9-A552-341F7682F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7647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ard-head-Lucky 智能体">
            <a:extLst xmlns:a="http://schemas.openxmlformats.org/drawingml/2006/main">
              <a:ext uri="{FF2B5EF4-FFF2-40B4-BE49-F238E27FC236}">
                <a16:creationId xmlns:a16="http://schemas.microsoft.com/office/drawing/2014/main" id="{33806082-16F5-48D4-BA6E-D0BFDF2DB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47900"/>
            <a:ext cx="245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Lucky 智能体</a:t>
            </a:r>
          </a:p>
        </p:txBody>
      </p:sp>
      <p:sp>
        <p:nvSpPr>
          <p:cNvPr id="8" name="card-body-Lucky 智能体">
            <a:extLst xmlns:a="http://schemas.openxmlformats.org/drawingml/2006/main">
              <a:ext uri="{FF2B5EF4-FFF2-40B4-BE49-F238E27FC236}">
                <a16:creationId xmlns:a16="http://schemas.microsoft.com/office/drawing/2014/main" id="{EE3076F7-975E-4480-B829-77DC702DB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67000"/>
            <a:ext cx="24574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6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面向不同角色提供问答、生成、分析、任务辅助和流程推进能力。</a:t>
            </a:r>
          </a:p>
        </p:txBody>
      </p:sp>
      <p:sp>
        <p:nvSpPr>
          <p:cNvPr id="9" name="card-资料库">
            <a:extLst xmlns:a="http://schemas.openxmlformats.org/drawingml/2006/main">
              <a:ext uri="{FF2B5EF4-FFF2-40B4-BE49-F238E27FC236}">
                <a16:creationId xmlns:a16="http://schemas.microsoft.com/office/drawing/2014/main" id="{9BD48242-C31C-4FF5-B6F5-F6A1AC413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038350"/>
            <a:ext cx="333375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badge-02">
            <a:extLst xmlns:a="http://schemas.openxmlformats.org/drawingml/2006/main">
              <a:ext uri="{FF2B5EF4-FFF2-40B4-BE49-F238E27FC236}">
                <a16:creationId xmlns:a16="http://schemas.microsoft.com/office/drawing/2014/main" id="{49500556-FEC9-4F30-88EA-E5B77AC6A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2288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adge-text-02">
            <a:extLst xmlns:a="http://schemas.openxmlformats.org/drawingml/2006/main">
              <a:ext uri="{FF2B5EF4-FFF2-40B4-BE49-F238E27FC236}">
                <a16:creationId xmlns:a16="http://schemas.microsoft.com/office/drawing/2014/main" id="{5F51801A-375F-4BF2-8D34-0C6D83C87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27647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2" name="card-head-资料库">
            <a:extLst xmlns:a="http://schemas.openxmlformats.org/drawingml/2006/main">
              <a:ext uri="{FF2B5EF4-FFF2-40B4-BE49-F238E27FC236}">
                <a16:creationId xmlns:a16="http://schemas.microsoft.com/office/drawing/2014/main" id="{21AAD501-FE25-44D6-A39D-651D65235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247900"/>
            <a:ext cx="245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资料库</a:t>
            </a:r>
          </a:p>
        </p:txBody>
      </p:sp>
      <p:sp>
        <p:nvSpPr>
          <p:cNvPr id="13" name="card-body-资料库">
            <a:extLst xmlns:a="http://schemas.openxmlformats.org/drawingml/2006/main">
              <a:ext uri="{FF2B5EF4-FFF2-40B4-BE49-F238E27FC236}">
                <a16:creationId xmlns:a16="http://schemas.microsoft.com/office/drawing/2014/main" id="{801CCC3C-DF5D-46A3-9998-07B8375CD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667000"/>
            <a:ext cx="24574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6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沉淀课程、案例、制度、成果、评价材料，形成可检索、可问答、可生成的知识资产。</a:t>
            </a:r>
          </a:p>
        </p:txBody>
      </p:sp>
      <p:sp>
        <p:nvSpPr>
          <p:cNvPr id="14" name="card-空间">
            <a:extLst xmlns:a="http://schemas.openxmlformats.org/drawingml/2006/main">
              <a:ext uri="{FF2B5EF4-FFF2-40B4-BE49-F238E27FC236}">
                <a16:creationId xmlns:a16="http://schemas.microsoft.com/office/drawing/2014/main" id="{4910B3E9-15B2-4A46-98CB-D5A5ADC46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38350"/>
            <a:ext cx="333375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2F83FF"/>
            </a:solidFill>
            <a:prstDash val="solid"/>
          </a:ln>
        </p:spPr>
      </p:sp>
      <p:sp>
        <p:nvSpPr>
          <p:cNvPr id="15" name="badge-03">
            <a:extLst xmlns:a="http://schemas.openxmlformats.org/drawingml/2006/main">
              <a:ext uri="{FF2B5EF4-FFF2-40B4-BE49-F238E27FC236}">
                <a16:creationId xmlns:a16="http://schemas.microsoft.com/office/drawing/2014/main" id="{0246136A-0CA1-4251-9A49-5ECFD1E47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288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adge-text-03">
            <a:extLst xmlns:a="http://schemas.openxmlformats.org/drawingml/2006/main">
              <a:ext uri="{FF2B5EF4-FFF2-40B4-BE49-F238E27FC236}">
                <a16:creationId xmlns:a16="http://schemas.microsoft.com/office/drawing/2014/main" id="{9C688C6C-FACE-4363-AE13-AC98C6D5F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7647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7" name="card-head-空间">
            <a:extLst xmlns:a="http://schemas.openxmlformats.org/drawingml/2006/main">
              <a:ext uri="{FF2B5EF4-FFF2-40B4-BE49-F238E27FC236}">
                <a16:creationId xmlns:a16="http://schemas.microsoft.com/office/drawing/2014/main" id="{013A8529-03BB-4D86-939B-996F7EA87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47900"/>
            <a:ext cx="245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空间</a:t>
            </a:r>
          </a:p>
        </p:txBody>
      </p:sp>
      <p:sp>
        <p:nvSpPr>
          <p:cNvPr id="18" name="card-body-空间">
            <a:extLst xmlns:a="http://schemas.openxmlformats.org/drawingml/2006/main">
              <a:ext uri="{FF2B5EF4-FFF2-40B4-BE49-F238E27FC236}">
                <a16:creationId xmlns:a16="http://schemas.microsoft.com/office/drawing/2014/main" id="{EADACC2B-0CE6-4C2D-9490-FB9B63A17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67000"/>
            <a:ext cx="24574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6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承载成员、权限、任务、流程、协同、工具和成果，是培训业务过程的统一载体。</a:t>
            </a:r>
          </a:p>
        </p:txBody>
      </p:sp>
      <p:sp>
        <p:nvSpPr>
          <p:cNvPr id="19" name="card-场景模板">
            <a:extLst xmlns:a="http://schemas.openxmlformats.org/drawingml/2006/main">
              <a:ext uri="{FF2B5EF4-FFF2-40B4-BE49-F238E27FC236}">
                <a16:creationId xmlns:a16="http://schemas.microsoft.com/office/drawing/2014/main" id="{F205E65E-A7AB-4D31-A17E-DDA25FD75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29050"/>
            <a:ext cx="333375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2F83FF"/>
            </a:solidFill>
            <a:prstDash val="solid"/>
          </a:ln>
        </p:spPr>
      </p:sp>
      <p:sp>
        <p:nvSpPr>
          <p:cNvPr id="20" name="badge-04">
            <a:extLst xmlns:a="http://schemas.openxmlformats.org/drawingml/2006/main">
              <a:ext uri="{FF2B5EF4-FFF2-40B4-BE49-F238E27FC236}">
                <a16:creationId xmlns:a16="http://schemas.microsoft.com/office/drawing/2014/main" id="{FE4A75F3-6DF8-402D-970E-CD35EEA14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19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adge-text-04">
            <a:extLst xmlns:a="http://schemas.openxmlformats.org/drawingml/2006/main">
              <a:ext uri="{FF2B5EF4-FFF2-40B4-BE49-F238E27FC236}">
                <a16:creationId xmlns:a16="http://schemas.microsoft.com/office/drawing/2014/main" id="{095FAD51-74DD-4CBE-92FA-67766FD93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6717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2" name="card-head-场景模板">
            <a:extLst xmlns:a="http://schemas.openxmlformats.org/drawingml/2006/main">
              <a:ext uri="{FF2B5EF4-FFF2-40B4-BE49-F238E27FC236}">
                <a16:creationId xmlns:a16="http://schemas.microsoft.com/office/drawing/2014/main" id="{65C6169E-4DDB-4613-A04A-799140928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38600"/>
            <a:ext cx="245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场景模板</a:t>
            </a:r>
          </a:p>
        </p:txBody>
      </p:sp>
      <p:sp>
        <p:nvSpPr>
          <p:cNvPr id="23" name="card-body-场景模板">
            <a:extLst xmlns:a="http://schemas.openxmlformats.org/drawingml/2006/main">
              <a:ext uri="{FF2B5EF4-FFF2-40B4-BE49-F238E27FC236}">
                <a16:creationId xmlns:a16="http://schemas.microsoft.com/office/drawing/2014/main" id="{0BFADD15-8D03-4227-9446-2C9E65A4A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57700"/>
            <a:ext cx="24574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579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把培训项目、工作坊、校本研修、AI 通识教学等场景预配置为可复制空间。</a:t>
            </a:r>
          </a:p>
        </p:txBody>
      </p:sp>
      <p:sp>
        <p:nvSpPr>
          <p:cNvPr id="24" name="card-模型与 Token 统计">
            <a:extLst xmlns:a="http://schemas.openxmlformats.org/drawingml/2006/main">
              <a:ext uri="{FF2B5EF4-FFF2-40B4-BE49-F238E27FC236}">
                <a16:creationId xmlns:a16="http://schemas.microsoft.com/office/drawing/2014/main" id="{B57F8053-8977-4C75-9C05-23DC11C8A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829050"/>
            <a:ext cx="333375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badge-05">
            <a:extLst xmlns:a="http://schemas.openxmlformats.org/drawingml/2006/main">
              <a:ext uri="{FF2B5EF4-FFF2-40B4-BE49-F238E27FC236}">
                <a16:creationId xmlns:a16="http://schemas.microsoft.com/office/drawing/2014/main" id="{0DBE11C6-EBF1-4AC1-8E9A-AB59FAA5F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019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badge-text-05">
            <a:extLst xmlns:a="http://schemas.openxmlformats.org/drawingml/2006/main">
              <a:ext uri="{FF2B5EF4-FFF2-40B4-BE49-F238E27FC236}">
                <a16:creationId xmlns:a16="http://schemas.microsoft.com/office/drawing/2014/main" id="{05F93148-A614-4887-8AEB-F4002C049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06717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27" name="card-head-模型与 Token 统计">
            <a:extLst xmlns:a="http://schemas.openxmlformats.org/drawingml/2006/main">
              <a:ext uri="{FF2B5EF4-FFF2-40B4-BE49-F238E27FC236}">
                <a16:creationId xmlns:a16="http://schemas.microsoft.com/office/drawing/2014/main" id="{979CEA37-6DB3-4290-BF9F-6230F1AD1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4038600"/>
            <a:ext cx="245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模型与 Token 统计</a:t>
            </a:r>
          </a:p>
        </p:txBody>
      </p:sp>
      <p:sp>
        <p:nvSpPr>
          <p:cNvPr id="28" name="card-body-模型与 Token 统计">
            <a:extLst xmlns:a="http://schemas.openxmlformats.org/drawingml/2006/main">
              <a:ext uri="{FF2B5EF4-FFF2-40B4-BE49-F238E27FC236}">
                <a16:creationId xmlns:a16="http://schemas.microsoft.com/office/drawing/2014/main" id="{D6EBC689-6629-4D85-B9DC-AD725AF52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4457700"/>
            <a:ext cx="24574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6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计量 AI 调用、Token 消耗和业务归属，支撑成本核算、用量预警和套餐设计。</a:t>
            </a:r>
          </a:p>
        </p:txBody>
      </p:sp>
      <p:sp>
        <p:nvSpPr>
          <p:cNvPr id="29" name="card-租户与套餐">
            <a:extLst xmlns:a="http://schemas.openxmlformats.org/drawingml/2006/main">
              <a:ext uri="{FF2B5EF4-FFF2-40B4-BE49-F238E27FC236}">
                <a16:creationId xmlns:a16="http://schemas.microsoft.com/office/drawing/2014/main" id="{A4299ED1-2001-41BD-82AA-C1F7B57F4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829050"/>
            <a:ext cx="333375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badge-06">
            <a:extLst xmlns:a="http://schemas.openxmlformats.org/drawingml/2006/main">
              <a:ext uri="{FF2B5EF4-FFF2-40B4-BE49-F238E27FC236}">
                <a16:creationId xmlns:a16="http://schemas.microsoft.com/office/drawing/2014/main" id="{D2587A81-8B33-48E5-9823-3BB6F9157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019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badge-text-06">
            <a:extLst xmlns:a="http://schemas.openxmlformats.org/drawingml/2006/main">
              <a:ext uri="{FF2B5EF4-FFF2-40B4-BE49-F238E27FC236}">
                <a16:creationId xmlns:a16="http://schemas.microsoft.com/office/drawing/2014/main" id="{9627A411-5C12-4444-97CE-613979B8D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06717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32" name="card-head-租户与套餐">
            <a:extLst xmlns:a="http://schemas.openxmlformats.org/drawingml/2006/main">
              <a:ext uri="{FF2B5EF4-FFF2-40B4-BE49-F238E27FC236}">
                <a16:creationId xmlns:a16="http://schemas.microsoft.com/office/drawing/2014/main" id="{D390F758-7192-4DB5-89D4-7178D2A1C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038600"/>
            <a:ext cx="245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租户与套餐</a:t>
            </a:r>
          </a:p>
        </p:txBody>
      </p:sp>
      <p:sp>
        <p:nvSpPr>
          <p:cNvPr id="33" name="card-body-租户与套餐">
            <a:extLst xmlns:a="http://schemas.openxmlformats.org/drawingml/2006/main">
              <a:ext uri="{FF2B5EF4-FFF2-40B4-BE49-F238E27FC236}">
                <a16:creationId xmlns:a16="http://schemas.microsoft.com/office/drawing/2014/main" id="{EB4E8BB4-D4F1-4C9C-9EEB-C84A24BE8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457700"/>
            <a:ext cx="24574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6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支持教育局、学校、培训机构独立运营，按方案、资源、服务和算力组合交付。</a:t>
            </a:r>
          </a:p>
        </p:txBody>
      </p:sp>
      <p:sp>
        <p:nvSpPr>
          <p:cNvPr id="34" name="page">
            <a:extLst xmlns:a="http://schemas.openxmlformats.org/drawingml/2006/main">
              <a:ext uri="{FF2B5EF4-FFF2-40B4-BE49-F238E27FC236}">
                <a16:creationId xmlns:a16="http://schemas.microsoft.com/office/drawing/2014/main" id="{144EA9DB-9308-4B85-8A79-B2BB98593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485748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eyebrow">
            <a:extLst xmlns:a="http://schemas.openxmlformats.org/drawingml/2006/main">
              <a:ext uri="{FF2B5EF4-FFF2-40B4-BE49-F238E27FC236}">
                <a16:creationId xmlns:a16="http://schemas.microsoft.com/office/drawing/2014/main" id="{4CDF5C65-0190-4F0F-96C1-9B612F34E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基于 AI 原生底座的培训平台建设方案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7B1E4C6-A77E-496F-9641-D339542BF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总体架构：AI 原生底座横向赋能全部培训子系统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AEBD2334-D91C-40AD-B266-F11449343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11391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ub-0">
            <a:extLst xmlns:a="http://schemas.openxmlformats.org/drawingml/2006/main">
              <a:ext uri="{FF2B5EF4-FFF2-40B4-BE49-F238E27FC236}">
                <a16:creationId xmlns:a16="http://schemas.microsoft.com/office/drawing/2014/main" id="{3FED57C7-6A63-4F02-99B9-DBF667EA4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19300"/>
            <a:ext cx="1771650" cy="1000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sub-text-0">
            <a:extLst xmlns:a="http://schemas.openxmlformats.org/drawingml/2006/main">
              <a:ext uri="{FF2B5EF4-FFF2-40B4-BE49-F238E27FC236}">
                <a16:creationId xmlns:a16="http://schemas.microsoft.com/office/drawing/2014/main" id="{EEFE3F47-B34B-49E8-BB93-6E8DD1320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0505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培训信息管理</a:t>
            </a:r>
          </a:p>
        </p:txBody>
      </p:sp>
      <p:sp>
        <p:nvSpPr>
          <p:cNvPr id="6" name="sub-1">
            <a:extLst xmlns:a="http://schemas.openxmlformats.org/drawingml/2006/main">
              <a:ext uri="{FF2B5EF4-FFF2-40B4-BE49-F238E27FC236}">
                <a16:creationId xmlns:a16="http://schemas.microsoft.com/office/drawing/2014/main" id="{004BDB2E-1F6F-4ABE-A99C-112575C06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19300"/>
            <a:ext cx="1771650" cy="1000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sub-text-1">
            <a:extLst xmlns:a="http://schemas.openxmlformats.org/drawingml/2006/main">
              <a:ext uri="{FF2B5EF4-FFF2-40B4-BE49-F238E27FC236}">
                <a16:creationId xmlns:a16="http://schemas.microsoft.com/office/drawing/2014/main" id="{943F724A-BF76-49E2-A42A-1A8226615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30505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研修活动</a:t>
            </a:r>
          </a:p>
        </p:txBody>
      </p:sp>
      <p:sp>
        <p:nvSpPr>
          <p:cNvPr id="8" name="sub-2">
            <a:extLst xmlns:a="http://schemas.openxmlformats.org/drawingml/2006/main">
              <a:ext uri="{FF2B5EF4-FFF2-40B4-BE49-F238E27FC236}">
                <a16:creationId xmlns:a16="http://schemas.microsoft.com/office/drawing/2014/main" id="{4EA9871C-1EFB-4504-AD52-F93B797FC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019300"/>
            <a:ext cx="1771650" cy="1000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2F83FF"/>
            </a:solidFill>
            <a:prstDash val="solid"/>
          </a:ln>
        </p:spPr>
      </p:sp>
      <p:sp>
        <p:nvSpPr>
          <p:cNvPr id="9" name="sub-text-2">
            <a:extLst xmlns:a="http://schemas.openxmlformats.org/drawingml/2006/main">
              <a:ext uri="{FF2B5EF4-FFF2-40B4-BE49-F238E27FC236}">
                <a16:creationId xmlns:a16="http://schemas.microsoft.com/office/drawing/2014/main" id="{C635A2AA-5E24-481C-AFAD-04037D6EF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30505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培训评估</a:t>
            </a:r>
          </a:p>
        </p:txBody>
      </p:sp>
      <p:sp>
        <p:nvSpPr>
          <p:cNvPr id="10" name="sub-3">
            <a:extLst xmlns:a="http://schemas.openxmlformats.org/drawingml/2006/main">
              <a:ext uri="{FF2B5EF4-FFF2-40B4-BE49-F238E27FC236}">
                <a16:creationId xmlns:a16="http://schemas.microsoft.com/office/drawing/2014/main" id="{335AB777-385C-47CD-BF6B-034F4FB8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019300"/>
            <a:ext cx="1771650" cy="1000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sub-text-3">
            <a:extLst xmlns:a="http://schemas.openxmlformats.org/drawingml/2006/main">
              <a:ext uri="{FF2B5EF4-FFF2-40B4-BE49-F238E27FC236}">
                <a16:creationId xmlns:a16="http://schemas.microsoft.com/office/drawing/2014/main" id="{906380D6-FAEA-4CE8-B1DB-0FAB4EC42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30505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教师档案</a:t>
            </a:r>
          </a:p>
        </p:txBody>
      </p:sp>
      <p:sp>
        <p:nvSpPr>
          <p:cNvPr id="12" name="sub-4">
            <a:extLst xmlns:a="http://schemas.openxmlformats.org/drawingml/2006/main">
              <a:ext uri="{FF2B5EF4-FFF2-40B4-BE49-F238E27FC236}">
                <a16:creationId xmlns:a16="http://schemas.microsoft.com/office/drawing/2014/main" id="{52F9AB7F-F27B-4860-9CB6-ADDD9F059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019300"/>
            <a:ext cx="1771650" cy="1000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sub-text-4">
            <a:extLst xmlns:a="http://schemas.openxmlformats.org/drawingml/2006/main">
              <a:ext uri="{FF2B5EF4-FFF2-40B4-BE49-F238E27FC236}">
                <a16:creationId xmlns:a16="http://schemas.microsoft.com/office/drawing/2014/main" id="{E1DC0963-271F-4B8E-8DA0-51DFDE41F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用户推荐</a:t>
            </a:r>
          </a:p>
        </p:txBody>
      </p:sp>
      <p:sp>
        <p:nvSpPr>
          <p:cNvPr id="14" name="ai-base">
            <a:extLst xmlns:a="http://schemas.openxmlformats.org/drawingml/2006/main">
              <a:ext uri="{FF2B5EF4-FFF2-40B4-BE49-F238E27FC236}">
                <a16:creationId xmlns:a16="http://schemas.microsoft.com/office/drawing/2014/main" id="{35ED9AED-699F-4BFB-AE83-03A3F71B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1057275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5" name="base-title">
            <a:extLst xmlns:a="http://schemas.openxmlformats.org/drawingml/2006/main">
              <a:ext uri="{FF2B5EF4-FFF2-40B4-BE49-F238E27FC236}">
                <a16:creationId xmlns:a16="http://schemas.microsoft.com/office/drawing/2014/main" id="{8050DCA5-F022-49DE-AD3D-34CD9CAF5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481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果仁 AI 原生底座</a:t>
            </a:r>
          </a:p>
        </p:txBody>
      </p:sp>
      <p:sp>
        <p:nvSpPr>
          <p:cNvPr id="16" name="pill-Lucky 智能体">
            <a:extLst xmlns:a="http://schemas.openxmlformats.org/drawingml/2006/main">
              <a:ext uri="{FF2B5EF4-FFF2-40B4-BE49-F238E27FC236}">
                <a16:creationId xmlns:a16="http://schemas.microsoft.com/office/drawing/2014/main" id="{AEF6C16B-AE19-4BB0-9864-0FC618D60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257675"/>
            <a:ext cx="104775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971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ill-text-Lucky 智能体">
            <a:extLst xmlns:a="http://schemas.openxmlformats.org/drawingml/2006/main">
              <a:ext uri="{FF2B5EF4-FFF2-40B4-BE49-F238E27FC236}">
                <a16:creationId xmlns:a16="http://schemas.microsoft.com/office/drawing/2014/main" id="{D5802044-EB62-4D48-9DB7-0F27D12DB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314825"/>
            <a:ext cx="895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231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Lucky 智能体</a:t>
            </a:r>
          </a:p>
        </p:txBody>
      </p:sp>
      <p:sp>
        <p:nvSpPr>
          <p:cNvPr id="18" name="pill-资料库">
            <a:extLst xmlns:a="http://schemas.openxmlformats.org/drawingml/2006/main">
              <a:ext uri="{FF2B5EF4-FFF2-40B4-BE49-F238E27FC236}">
                <a16:creationId xmlns:a16="http://schemas.microsoft.com/office/drawing/2014/main" id="{D4F50722-8723-4FBE-AD3A-42FA9B4F0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257675"/>
            <a:ext cx="104775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ill-text-资料库">
            <a:extLst xmlns:a="http://schemas.openxmlformats.org/drawingml/2006/main">
              <a:ext uri="{FF2B5EF4-FFF2-40B4-BE49-F238E27FC236}">
                <a16:creationId xmlns:a16="http://schemas.microsoft.com/office/drawing/2014/main" id="{8E84C53B-384B-4DD0-991B-41DEF5127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314825"/>
            <a:ext cx="895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资料库</a:t>
            </a:r>
          </a:p>
        </p:txBody>
      </p:sp>
      <p:sp>
        <p:nvSpPr>
          <p:cNvPr id="20" name="pill-空间">
            <a:extLst xmlns:a="http://schemas.openxmlformats.org/drawingml/2006/main">
              <a:ext uri="{FF2B5EF4-FFF2-40B4-BE49-F238E27FC236}">
                <a16:creationId xmlns:a16="http://schemas.microsoft.com/office/drawing/2014/main" id="{89719BE3-5E01-4DE3-9FC3-2755C1420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257675"/>
            <a:ext cx="104775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ill-text-空间">
            <a:extLst xmlns:a="http://schemas.openxmlformats.org/drawingml/2006/main">
              <a:ext uri="{FF2B5EF4-FFF2-40B4-BE49-F238E27FC236}">
                <a16:creationId xmlns:a16="http://schemas.microsoft.com/office/drawing/2014/main" id="{170A81A1-4859-4DD7-B556-FBC04D22D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314825"/>
            <a:ext cx="895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空间</a:t>
            </a:r>
          </a:p>
        </p:txBody>
      </p:sp>
      <p:sp>
        <p:nvSpPr>
          <p:cNvPr id="22" name="pill-场景模板">
            <a:extLst xmlns:a="http://schemas.openxmlformats.org/drawingml/2006/main">
              <a:ext uri="{FF2B5EF4-FFF2-40B4-BE49-F238E27FC236}">
                <a16:creationId xmlns:a16="http://schemas.microsoft.com/office/drawing/2014/main" id="{3AC5B454-C6A6-4599-9CAF-A012DFC87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57675"/>
            <a:ext cx="104775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ill-text-场景模板">
            <a:extLst xmlns:a="http://schemas.openxmlformats.org/drawingml/2006/main">
              <a:ext uri="{FF2B5EF4-FFF2-40B4-BE49-F238E27FC236}">
                <a16:creationId xmlns:a16="http://schemas.microsoft.com/office/drawing/2014/main" id="{A794C32F-4977-4D9E-AF14-CF5170695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314825"/>
            <a:ext cx="895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场景模板</a:t>
            </a:r>
          </a:p>
        </p:txBody>
      </p:sp>
      <p:sp>
        <p:nvSpPr>
          <p:cNvPr id="24" name="pill-模型统计">
            <a:extLst xmlns:a="http://schemas.openxmlformats.org/drawingml/2006/main">
              <a:ext uri="{FF2B5EF4-FFF2-40B4-BE49-F238E27FC236}">
                <a16:creationId xmlns:a16="http://schemas.microsoft.com/office/drawing/2014/main" id="{5F77B7BE-B45C-4209-AEBF-E4A398B86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257675"/>
            <a:ext cx="104775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ill-text-模型统计">
            <a:extLst xmlns:a="http://schemas.openxmlformats.org/drawingml/2006/main">
              <a:ext uri="{FF2B5EF4-FFF2-40B4-BE49-F238E27FC236}">
                <a16:creationId xmlns:a16="http://schemas.microsoft.com/office/drawing/2014/main" id="{307628D5-BB7C-4E52-A9E7-6CC1DBE22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314825"/>
            <a:ext cx="895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模型统计</a:t>
            </a:r>
          </a:p>
        </p:txBody>
      </p:sp>
      <p:sp>
        <p:nvSpPr>
          <p:cNvPr id="26" name="pill-租户/套餐">
            <a:extLst xmlns:a="http://schemas.openxmlformats.org/drawingml/2006/main">
              <a:ext uri="{FF2B5EF4-FFF2-40B4-BE49-F238E27FC236}">
                <a16:creationId xmlns:a16="http://schemas.microsoft.com/office/drawing/2014/main" id="{DD1C419B-2F01-46E9-A8FE-CD9B0568B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257675"/>
            <a:ext cx="104775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ill-text-租户/套餐">
            <a:extLst xmlns:a="http://schemas.openxmlformats.org/drawingml/2006/main">
              <a:ext uri="{FF2B5EF4-FFF2-40B4-BE49-F238E27FC236}">
                <a16:creationId xmlns:a16="http://schemas.microsoft.com/office/drawing/2014/main" id="{95A9BE10-98D5-4ECA-AB1C-7FF07CE47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314825"/>
            <a:ext cx="895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租户/套餐</a:t>
            </a:r>
          </a:p>
        </p:txBody>
      </p:sp>
      <p:sp>
        <p:nvSpPr>
          <p:cNvPr id="28" name="base-note">
            <a:extLst xmlns:a="http://schemas.openxmlformats.org/drawingml/2006/main">
              <a:ext uri="{FF2B5EF4-FFF2-40B4-BE49-F238E27FC236}">
                <a16:creationId xmlns:a16="http://schemas.microsoft.com/office/drawing/2014/main" id="{128FB4A4-0A8C-4ACB-9CF0-15822235B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768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E5E7EB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E5E7EB"/>
                </a:solidFill>
                <a:latin typeface="PingFang SC"/>
                <a:ea typeface="PingFang SC"/>
                <a:cs typeface="PingFang SC"/>
              </a:rPr>
              <a:t>底座能力不是单点功能，而是为每个培训业务模块提供默认智能能力、知识资产能力和数据运营能力。</a:t>
            </a:r>
          </a:p>
        </p:txBody>
      </p:sp>
      <p:sp>
        <p:nvSpPr>
          <p:cNvPr id="29" name="line">
            <a:extLst xmlns:a="http://schemas.openxmlformats.org/drawingml/2006/main">
              <a:ext uri="{FF2B5EF4-FFF2-40B4-BE49-F238E27FC236}">
                <a16:creationId xmlns:a16="http://schemas.microsoft.com/office/drawing/2014/main" id="{93FAFDA8-B93F-42C2-AB47-5C2049089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3133725"/>
            <a:ext cx="19050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arrow">
            <a:extLst xmlns:a="http://schemas.openxmlformats.org/drawingml/2006/main">
              <a:ext uri="{FF2B5EF4-FFF2-40B4-BE49-F238E27FC236}">
                <a16:creationId xmlns:a16="http://schemas.microsoft.com/office/drawing/2014/main" id="{C4681D6D-A5CF-4682-BFFF-94200DB95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067050"/>
            <a:ext cx="1714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F83FF"/>
          </a:solidFill>
          <a:ln xmlns:a="http://schemas.openxmlformats.org/drawingml/2006/main" w="9525">
            <a:solidFill>
              <a:srgbClr val="2F83FF"/>
            </a:solidFill>
            <a:prstDash val="solid"/>
          </a:ln>
        </p:spPr>
      </p:sp>
      <p:sp>
        <p:nvSpPr>
          <p:cNvPr id="31" name="line">
            <a:extLst xmlns:a="http://schemas.openxmlformats.org/drawingml/2006/main">
              <a:ext uri="{FF2B5EF4-FFF2-40B4-BE49-F238E27FC236}">
                <a16:creationId xmlns:a16="http://schemas.microsoft.com/office/drawing/2014/main" id="{E0372CE0-F5D6-417C-8D89-5B7E32504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3133725"/>
            <a:ext cx="19050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arrow">
            <a:extLst xmlns:a="http://schemas.openxmlformats.org/drawingml/2006/main">
              <a:ext uri="{FF2B5EF4-FFF2-40B4-BE49-F238E27FC236}">
                <a16:creationId xmlns:a16="http://schemas.microsoft.com/office/drawing/2014/main" id="{ABA8BDC0-65DC-43A9-9B8F-82C701153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067050"/>
            <a:ext cx="1714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F83FF"/>
          </a:solidFill>
          <a:ln xmlns:a="http://schemas.openxmlformats.org/drawingml/2006/main" w="9525">
            <a:solidFill>
              <a:srgbClr val="2F83FF"/>
            </a:solidFill>
            <a:prstDash val="solid"/>
          </a:ln>
        </p:spPr>
      </p:sp>
      <p:sp>
        <p:nvSpPr>
          <p:cNvPr id="33" name="line">
            <a:extLst xmlns:a="http://schemas.openxmlformats.org/drawingml/2006/main">
              <a:ext uri="{FF2B5EF4-FFF2-40B4-BE49-F238E27FC236}">
                <a16:creationId xmlns:a16="http://schemas.microsoft.com/office/drawing/2014/main" id="{2A20A4FF-F6A6-40CC-80BE-DA5D28A4A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133725"/>
            <a:ext cx="19050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arrow">
            <a:extLst xmlns:a="http://schemas.openxmlformats.org/drawingml/2006/main">
              <a:ext uri="{FF2B5EF4-FFF2-40B4-BE49-F238E27FC236}">
                <a16:creationId xmlns:a16="http://schemas.microsoft.com/office/drawing/2014/main" id="{594228A6-9AFA-460B-B4E0-4ADEC8C57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067050"/>
            <a:ext cx="1714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F83FF"/>
          </a:solidFill>
          <a:ln xmlns:a="http://schemas.openxmlformats.org/drawingml/2006/main" w="9525">
            <a:solidFill>
              <a:srgbClr val="2F83FF"/>
            </a:solidFill>
            <a:prstDash val="solid"/>
          </a:ln>
        </p:spPr>
      </p:sp>
      <p:sp>
        <p:nvSpPr>
          <p:cNvPr id="35" name="line">
            <a:extLst xmlns:a="http://schemas.openxmlformats.org/drawingml/2006/main">
              <a:ext uri="{FF2B5EF4-FFF2-40B4-BE49-F238E27FC236}">
                <a16:creationId xmlns:a16="http://schemas.microsoft.com/office/drawing/2014/main" id="{C9F3D53C-3431-49CD-8BBA-6D1B00417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133725"/>
            <a:ext cx="19050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arrow">
            <a:extLst xmlns:a="http://schemas.openxmlformats.org/drawingml/2006/main">
              <a:ext uri="{FF2B5EF4-FFF2-40B4-BE49-F238E27FC236}">
                <a16:creationId xmlns:a16="http://schemas.microsoft.com/office/drawing/2014/main" id="{9BB0E902-C20C-4244-841D-A75F02FF9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67050"/>
            <a:ext cx="1714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F83FF"/>
          </a:solidFill>
          <a:ln xmlns:a="http://schemas.openxmlformats.org/drawingml/2006/main" w="9525">
            <a:solidFill>
              <a:srgbClr val="2F83FF"/>
            </a:solidFill>
            <a:prstDash val="solid"/>
          </a:ln>
        </p:spPr>
      </p:sp>
      <p:sp>
        <p:nvSpPr>
          <p:cNvPr id="37" name="line">
            <a:extLst xmlns:a="http://schemas.openxmlformats.org/drawingml/2006/main">
              <a:ext uri="{FF2B5EF4-FFF2-40B4-BE49-F238E27FC236}">
                <a16:creationId xmlns:a16="http://schemas.microsoft.com/office/drawing/2014/main" id="{71121AB3-FCCB-48C5-922A-9FE71E23C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3133725"/>
            <a:ext cx="19050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arrow">
            <a:extLst xmlns:a="http://schemas.openxmlformats.org/drawingml/2006/main">
              <a:ext uri="{FF2B5EF4-FFF2-40B4-BE49-F238E27FC236}">
                <a16:creationId xmlns:a16="http://schemas.microsoft.com/office/drawing/2014/main" id="{C4BCA5B2-98B8-4E7D-B418-1C830572D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67050"/>
            <a:ext cx="1714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F83FF"/>
          </a:solidFill>
          <a:ln xmlns:a="http://schemas.openxmlformats.org/drawingml/2006/main" w="9525">
            <a:solidFill>
              <a:srgbClr val="2F83FF"/>
            </a:solidFill>
            <a:prstDash val="solid"/>
          </a:ln>
        </p:spPr>
      </p:sp>
      <p:sp>
        <p:nvSpPr>
          <p:cNvPr id="39" name="page">
            <a:extLst xmlns:a="http://schemas.openxmlformats.org/drawingml/2006/main">
              <a:ext uri="{FF2B5EF4-FFF2-40B4-BE49-F238E27FC236}">
                <a16:creationId xmlns:a16="http://schemas.microsoft.com/office/drawing/2014/main" id="{A34861B0-43B6-4907-BB10-F1C12EA97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942482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eyebrow">
            <a:extLst xmlns:a="http://schemas.openxmlformats.org/drawingml/2006/main">
              <a:ext uri="{FF2B5EF4-FFF2-40B4-BE49-F238E27FC236}">
                <a16:creationId xmlns:a16="http://schemas.microsoft.com/office/drawing/2014/main" id="{C65DF23A-4CCC-421C-A24E-6B8D37AD9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基于 AI 原生底座的培训平台建设方案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4073C71-7681-450D-B4F2-A6FA3F6A2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赋能培训信息管理：从人工编排到智能生成与治理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EF0FDADF-95FC-40FE-A376-4DF89E922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11391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ard-项目方案生成">
            <a:extLst xmlns:a="http://schemas.openxmlformats.org/drawingml/2006/main">
              <a:ext uri="{FF2B5EF4-FFF2-40B4-BE49-F238E27FC236}">
                <a16:creationId xmlns:a16="http://schemas.microsoft.com/office/drawing/2014/main" id="{BDE1F7A2-B89F-4089-BDCF-93AD623B9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14550"/>
            <a:ext cx="3333750" cy="1466850"/>
          </a:xfrm>
          <a:prstGeom xmlns:a="http://schemas.openxmlformats.org/drawingml/2006/main" prst="roundRect">
            <a:avLst>
              <a:gd name="adj" fmla="val 389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2F83FF"/>
            </a:solidFill>
            <a:prstDash val="solid"/>
          </a:ln>
        </p:spPr>
      </p:sp>
      <p:sp>
        <p:nvSpPr>
          <p:cNvPr id="5" name="badge-01">
            <a:extLst xmlns:a="http://schemas.openxmlformats.org/drawingml/2006/main">
              <a:ext uri="{FF2B5EF4-FFF2-40B4-BE49-F238E27FC236}">
                <a16:creationId xmlns:a16="http://schemas.microsoft.com/office/drawing/2014/main" id="{91D052D3-D51D-49F5-81DE-AF1D27E28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05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adge-text-01">
            <a:extLst xmlns:a="http://schemas.openxmlformats.org/drawingml/2006/main">
              <a:ext uri="{FF2B5EF4-FFF2-40B4-BE49-F238E27FC236}">
                <a16:creationId xmlns:a16="http://schemas.microsoft.com/office/drawing/2014/main" id="{389262F9-42A8-4205-9435-E261ED48C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5267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ard-head-项目方案生成">
            <a:extLst xmlns:a="http://schemas.openxmlformats.org/drawingml/2006/main">
              <a:ext uri="{FF2B5EF4-FFF2-40B4-BE49-F238E27FC236}">
                <a16:creationId xmlns:a16="http://schemas.microsoft.com/office/drawing/2014/main" id="{39BD0B99-75A0-4F04-8BB6-1FE4461DE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324100"/>
            <a:ext cx="245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项目方案生成</a:t>
            </a:r>
          </a:p>
        </p:txBody>
      </p:sp>
      <p:sp>
        <p:nvSpPr>
          <p:cNvPr id="8" name="card-body-项目方案生成">
            <a:extLst xmlns:a="http://schemas.openxmlformats.org/drawingml/2006/main">
              <a:ext uri="{FF2B5EF4-FFF2-40B4-BE49-F238E27FC236}">
                <a16:creationId xmlns:a16="http://schemas.microsoft.com/office/drawing/2014/main" id="{043C8AE7-FBF9-4DFF-9EFF-017F52F27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43200"/>
            <a:ext cx="245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基于培训目标、对象、周期和政策材料，辅助生成项目方案、课程计划、日程安排和报名说明。</a:t>
            </a:r>
          </a:p>
        </p:txBody>
      </p:sp>
      <p:sp>
        <p:nvSpPr>
          <p:cNvPr id="9" name="card-资源自动编目">
            <a:extLst xmlns:a="http://schemas.openxmlformats.org/drawingml/2006/main">
              <a:ext uri="{FF2B5EF4-FFF2-40B4-BE49-F238E27FC236}">
                <a16:creationId xmlns:a16="http://schemas.microsoft.com/office/drawing/2014/main" id="{BE66FE91-8126-4CAD-85C7-FB75CFDFC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114550"/>
            <a:ext cx="3333750" cy="1466850"/>
          </a:xfrm>
          <a:prstGeom xmlns:a="http://schemas.openxmlformats.org/drawingml/2006/main" prst="roundRect">
            <a:avLst>
              <a:gd name="adj" fmla="val 389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badge-02">
            <a:extLst xmlns:a="http://schemas.openxmlformats.org/drawingml/2006/main">
              <a:ext uri="{FF2B5EF4-FFF2-40B4-BE49-F238E27FC236}">
                <a16:creationId xmlns:a16="http://schemas.microsoft.com/office/drawing/2014/main" id="{A6F07213-AA82-4A87-BBE0-0FD2397EB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305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adge-text-02">
            <a:extLst xmlns:a="http://schemas.openxmlformats.org/drawingml/2006/main">
              <a:ext uri="{FF2B5EF4-FFF2-40B4-BE49-F238E27FC236}">
                <a16:creationId xmlns:a16="http://schemas.microsoft.com/office/drawing/2014/main" id="{11E5B88B-F486-4AEC-A434-D71A7D54D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35267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2" name="card-head-资源自动编目">
            <a:extLst xmlns:a="http://schemas.openxmlformats.org/drawingml/2006/main">
              <a:ext uri="{FF2B5EF4-FFF2-40B4-BE49-F238E27FC236}">
                <a16:creationId xmlns:a16="http://schemas.microsoft.com/office/drawing/2014/main" id="{1882CE8E-417C-4076-846E-FEEF02BEC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324100"/>
            <a:ext cx="245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资源自动编目</a:t>
            </a:r>
          </a:p>
        </p:txBody>
      </p:sp>
      <p:sp>
        <p:nvSpPr>
          <p:cNvPr id="13" name="card-body-资源自动编目">
            <a:extLst xmlns:a="http://schemas.openxmlformats.org/drawingml/2006/main">
              <a:ext uri="{FF2B5EF4-FFF2-40B4-BE49-F238E27FC236}">
                <a16:creationId xmlns:a16="http://schemas.microsoft.com/office/drawing/2014/main" id="{4EF61BA2-2C80-4C30-8971-D61C4CEB7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743200"/>
            <a:ext cx="245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把课程、案例、视频、任务单和测验材料沉淀进资料库，自动打标签、摘要和关联场景。</a:t>
            </a:r>
          </a:p>
        </p:txBody>
      </p:sp>
      <p:sp>
        <p:nvSpPr>
          <p:cNvPr id="14" name="card-运营助手">
            <a:extLst xmlns:a="http://schemas.openxmlformats.org/drawingml/2006/main">
              <a:ext uri="{FF2B5EF4-FFF2-40B4-BE49-F238E27FC236}">
                <a16:creationId xmlns:a16="http://schemas.microsoft.com/office/drawing/2014/main" id="{0392338C-4B27-42FF-AC51-5818FC90C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14550"/>
            <a:ext cx="3333750" cy="1466850"/>
          </a:xfrm>
          <a:prstGeom xmlns:a="http://schemas.openxmlformats.org/drawingml/2006/main" prst="roundRect">
            <a:avLst>
              <a:gd name="adj" fmla="val 389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badge-03">
            <a:extLst xmlns:a="http://schemas.openxmlformats.org/drawingml/2006/main">
              <a:ext uri="{FF2B5EF4-FFF2-40B4-BE49-F238E27FC236}">
                <a16:creationId xmlns:a16="http://schemas.microsoft.com/office/drawing/2014/main" id="{3D59945F-C68F-427D-9E88-DF4FA06B8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05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adge-text-03">
            <a:extLst xmlns:a="http://schemas.openxmlformats.org/drawingml/2006/main">
              <a:ext uri="{FF2B5EF4-FFF2-40B4-BE49-F238E27FC236}">
                <a16:creationId xmlns:a16="http://schemas.microsoft.com/office/drawing/2014/main" id="{4955491D-696F-45C5-8E3E-8C259B063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5267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7" name="card-head-运营助手">
            <a:extLst xmlns:a="http://schemas.openxmlformats.org/drawingml/2006/main">
              <a:ext uri="{FF2B5EF4-FFF2-40B4-BE49-F238E27FC236}">
                <a16:creationId xmlns:a16="http://schemas.microsoft.com/office/drawing/2014/main" id="{3219B3D0-7DA8-49C4-847B-CAFB0D5BE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324100"/>
            <a:ext cx="245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运营助手</a:t>
            </a:r>
          </a:p>
        </p:txBody>
      </p:sp>
      <p:sp>
        <p:nvSpPr>
          <p:cNvPr id="18" name="card-body-运营助手">
            <a:extLst xmlns:a="http://schemas.openxmlformats.org/drawingml/2006/main">
              <a:ext uri="{FF2B5EF4-FFF2-40B4-BE49-F238E27FC236}">
                <a16:creationId xmlns:a16="http://schemas.microsoft.com/office/drawing/2014/main" id="{54162978-9AEA-4AEA-A0DC-9AA4AE375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743200"/>
            <a:ext cx="245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6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Lucky 辅助生成通知、待办、报名审核意见、参训名单核对和常见问题答复。</a:t>
            </a:r>
          </a:p>
        </p:txBody>
      </p:sp>
      <p:sp>
        <p:nvSpPr>
          <p:cNvPr id="19" name="flow">
            <a:extLst xmlns:a="http://schemas.openxmlformats.org/drawingml/2006/main">
              <a:ext uri="{FF2B5EF4-FFF2-40B4-BE49-F238E27FC236}">
                <a16:creationId xmlns:a16="http://schemas.microsoft.com/office/drawing/2014/main" id="{0135A26A-170A-4394-88D0-DAEC01B0C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29150"/>
            <a:ext cx="998220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2F83FF"/>
            </a:solidFill>
            <a:prstDash val="solid"/>
          </a:ln>
        </p:spPr>
      </p:sp>
      <p:sp>
        <p:nvSpPr>
          <p:cNvPr id="20" name="flow-text">
            <a:extLst xmlns:a="http://schemas.openxmlformats.org/drawingml/2006/main">
              <a:ext uri="{FF2B5EF4-FFF2-40B4-BE49-F238E27FC236}">
                <a16:creationId xmlns:a16="http://schemas.microsoft.com/office/drawing/2014/main" id="{F28E0F84-7838-4EE1-865A-03769F5AB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29175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126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输入：培训目标 / 对象 / 资源 / 规则  →  AI 辅助编排  →  输出：项目方案 / 课程计划 / 通知材料 / 资源目录</a:t>
            </a:r>
          </a:p>
        </p:txBody>
      </p:sp>
      <p:sp>
        <p:nvSpPr>
          <p:cNvPr id="21" name="page">
            <a:extLst xmlns:a="http://schemas.openxmlformats.org/drawingml/2006/main">
              <a:ext uri="{FF2B5EF4-FFF2-40B4-BE49-F238E27FC236}">
                <a16:creationId xmlns:a16="http://schemas.microsoft.com/office/drawing/2014/main" id="{61E26979-0C44-4834-A404-5C11C5310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392669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eyebrow">
            <a:extLst xmlns:a="http://schemas.openxmlformats.org/drawingml/2006/main">
              <a:ext uri="{FF2B5EF4-FFF2-40B4-BE49-F238E27FC236}">
                <a16:creationId xmlns:a16="http://schemas.microsoft.com/office/drawing/2014/main" id="{A34B1C40-FC2A-46A8-9905-EA0A6C802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基于 AI 原生底座的培训平台建设方案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0EA53EA-7A91-44CA-94A7-5530C1E42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赋能研修活动：空间承载过程，智能体陪伴学习与实训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D790F73C-A7FB-40CB-8100-90E4B6ABD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11391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ep-0">
            <a:extLst xmlns:a="http://schemas.openxmlformats.org/drawingml/2006/main">
              <a:ext uri="{FF2B5EF4-FFF2-40B4-BE49-F238E27FC236}">
                <a16:creationId xmlns:a16="http://schemas.microsoft.com/office/drawing/2014/main" id="{B8E02B0A-6B3F-4367-9513-689DE994C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86000"/>
            <a:ext cx="2238375" cy="20002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step-num-0">
            <a:extLst xmlns:a="http://schemas.openxmlformats.org/drawingml/2006/main">
              <a:ext uri="{FF2B5EF4-FFF2-40B4-BE49-F238E27FC236}">
                <a16:creationId xmlns:a16="http://schemas.microsoft.com/office/drawing/2014/main" id="{70F6E819-B433-4E58-AC91-E7785800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step-head-0">
            <a:extLst xmlns:a="http://schemas.openxmlformats.org/drawingml/2006/main">
              <a:ext uri="{FF2B5EF4-FFF2-40B4-BE49-F238E27FC236}">
                <a16:creationId xmlns:a16="http://schemas.microsoft.com/office/drawing/2014/main" id="{96684C1D-B6CD-4094-900D-2AFC2345F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线上学习</a:t>
            </a:r>
          </a:p>
        </p:txBody>
      </p:sp>
      <p:sp>
        <p:nvSpPr>
          <p:cNvPr id="7" name="step-body-0">
            <a:extLst xmlns:a="http://schemas.openxmlformats.org/drawingml/2006/main">
              <a:ext uri="{FF2B5EF4-FFF2-40B4-BE49-F238E27FC236}">
                <a16:creationId xmlns:a16="http://schemas.microsoft.com/office/drawing/2014/main" id="{1C57EF35-8CA5-4898-BBF0-FDF18C4CB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48050"/>
            <a:ext cx="1771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资料问答、课程导学、知识点解释、学习提醒。</a:t>
            </a:r>
          </a:p>
        </p:txBody>
      </p:sp>
      <p:sp>
        <p:nvSpPr>
          <p:cNvPr id="8" name="step-1">
            <a:extLst xmlns:a="http://schemas.openxmlformats.org/drawingml/2006/main">
              <a:ext uri="{FF2B5EF4-FFF2-40B4-BE49-F238E27FC236}">
                <a16:creationId xmlns:a16="http://schemas.microsoft.com/office/drawing/2014/main" id="{C58CE2AB-834F-49EF-916E-2996E3AA6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286000"/>
            <a:ext cx="2238375" cy="20002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2F83FF"/>
            </a:solidFill>
            <a:prstDash val="solid"/>
          </a:ln>
        </p:spPr>
      </p:sp>
      <p:sp>
        <p:nvSpPr>
          <p:cNvPr id="9" name="step-num-1">
            <a:extLst xmlns:a="http://schemas.openxmlformats.org/drawingml/2006/main">
              <a:ext uri="{FF2B5EF4-FFF2-40B4-BE49-F238E27FC236}">
                <a16:creationId xmlns:a16="http://schemas.microsoft.com/office/drawing/2014/main" id="{7D8D675E-18E9-4158-AFAE-4380F22C0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476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F83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F83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step-head-1">
            <a:extLst xmlns:a="http://schemas.openxmlformats.org/drawingml/2006/main">
              <a:ext uri="{FF2B5EF4-FFF2-40B4-BE49-F238E27FC236}">
                <a16:creationId xmlns:a16="http://schemas.microsoft.com/office/drawing/2014/main" id="{0297562C-3DCE-492E-BF45-022B9D5D4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8956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线下工作坊</a:t>
            </a:r>
          </a:p>
        </p:txBody>
      </p:sp>
      <p:sp>
        <p:nvSpPr>
          <p:cNvPr id="11" name="step-body-1">
            <a:extLst xmlns:a="http://schemas.openxmlformats.org/drawingml/2006/main">
              <a:ext uri="{FF2B5EF4-FFF2-40B4-BE49-F238E27FC236}">
                <a16:creationId xmlns:a16="http://schemas.microsoft.com/office/drawing/2014/main" id="{12335896-87F2-46D9-B882-55A6B9ECC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448050"/>
            <a:ext cx="1771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任务分发、实操指导、现场问题答疑、成果点评记录。</a:t>
            </a:r>
          </a:p>
        </p:txBody>
      </p:sp>
      <p:sp>
        <p:nvSpPr>
          <p:cNvPr id="12" name="step-2">
            <a:extLst xmlns:a="http://schemas.openxmlformats.org/drawingml/2006/main">
              <a:ext uri="{FF2B5EF4-FFF2-40B4-BE49-F238E27FC236}">
                <a16:creationId xmlns:a16="http://schemas.microsoft.com/office/drawing/2014/main" id="{F4498D52-BB63-4245-8523-F1318C225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86000"/>
            <a:ext cx="2238375" cy="20002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step-num-2">
            <a:extLst xmlns:a="http://schemas.openxmlformats.org/drawingml/2006/main">
              <a:ext uri="{FF2B5EF4-FFF2-40B4-BE49-F238E27FC236}">
                <a16:creationId xmlns:a16="http://schemas.microsoft.com/office/drawing/2014/main" id="{D6464583-5E3B-4AA9-8797-620199582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476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4" name="step-head-2">
            <a:extLst xmlns:a="http://schemas.openxmlformats.org/drawingml/2006/main">
              <a:ext uri="{FF2B5EF4-FFF2-40B4-BE49-F238E27FC236}">
                <a16:creationId xmlns:a16="http://schemas.microsoft.com/office/drawing/2014/main" id="{7390B662-25E4-4C6C-9F57-3470FFB4C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8956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协同研修</a:t>
            </a:r>
          </a:p>
        </p:txBody>
      </p:sp>
      <p:sp>
        <p:nvSpPr>
          <p:cNvPr id="15" name="step-body-2">
            <a:extLst xmlns:a="http://schemas.openxmlformats.org/drawingml/2006/main">
              <a:ext uri="{FF2B5EF4-FFF2-40B4-BE49-F238E27FC236}">
                <a16:creationId xmlns:a16="http://schemas.microsoft.com/office/drawing/2014/main" id="{AD4B54CD-B8F0-40CF-A5A2-7FFCF4E41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448050"/>
            <a:ext cx="1771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小组讨论总结、案例共创、课例打磨、研究资料整理。</a:t>
            </a:r>
          </a:p>
        </p:txBody>
      </p:sp>
      <p:sp>
        <p:nvSpPr>
          <p:cNvPr id="16" name="step-3">
            <a:extLst xmlns:a="http://schemas.openxmlformats.org/drawingml/2006/main">
              <a:ext uri="{FF2B5EF4-FFF2-40B4-BE49-F238E27FC236}">
                <a16:creationId xmlns:a16="http://schemas.microsoft.com/office/drawing/2014/main" id="{CC080EB7-79B4-485A-8E84-8A26AE31C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286000"/>
            <a:ext cx="2238375" cy="20002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step-num-3">
            <a:extLst xmlns:a="http://schemas.openxmlformats.org/drawingml/2006/main">
              <a:ext uri="{FF2B5EF4-FFF2-40B4-BE49-F238E27FC236}">
                <a16:creationId xmlns:a16="http://schemas.microsoft.com/office/drawing/2014/main" id="{54CEB155-29EA-4645-9B21-6113B4C40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76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8" name="step-head-3">
            <a:extLst xmlns:a="http://schemas.openxmlformats.org/drawingml/2006/main">
              <a:ext uri="{FF2B5EF4-FFF2-40B4-BE49-F238E27FC236}">
                <a16:creationId xmlns:a16="http://schemas.microsoft.com/office/drawing/2014/main" id="{BD0F2975-35BC-4A8D-A4EC-889BF9011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8956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成果沉淀</a:t>
            </a:r>
          </a:p>
        </p:txBody>
      </p:sp>
      <p:sp>
        <p:nvSpPr>
          <p:cNvPr id="19" name="step-body-3">
            <a:extLst xmlns:a="http://schemas.openxmlformats.org/drawingml/2006/main">
              <a:ext uri="{FF2B5EF4-FFF2-40B4-BE49-F238E27FC236}">
                <a16:creationId xmlns:a16="http://schemas.microsoft.com/office/drawing/2014/main" id="{D51A6846-4CF5-4FC5-8C7C-4473690B0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448050"/>
            <a:ext cx="1771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作业摘要、成果标签、优秀案例推荐和复用。</a:t>
            </a:r>
          </a:p>
        </p:txBody>
      </p:sp>
      <p:sp>
        <p:nvSpPr>
          <p:cNvPr id="20" name="note">
            <a:extLst xmlns:a="http://schemas.openxmlformats.org/drawingml/2006/main">
              <a:ext uri="{FF2B5EF4-FFF2-40B4-BE49-F238E27FC236}">
                <a16:creationId xmlns:a16="http://schemas.microsoft.com/office/drawing/2014/main" id="{F2C5FE68-6ED1-46FD-8FDE-8C6E299BC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46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F83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F83FF"/>
                </a:solidFill>
                <a:latin typeface="PingFang SC"/>
                <a:ea typeface="PingFang SC"/>
                <a:cs typeface="PingFang SC"/>
              </a:rPr>
              <a:t>关键变化：培训空间不只是页面容器，而是成员、任务、资料、智能体、成果和评价数据的统一业务现场。</a:t>
            </a:r>
          </a:p>
        </p:txBody>
      </p:sp>
      <p:sp>
        <p:nvSpPr>
          <p:cNvPr id="21" name="page">
            <a:extLst xmlns:a="http://schemas.openxmlformats.org/drawingml/2006/main">
              <a:ext uri="{FF2B5EF4-FFF2-40B4-BE49-F238E27FC236}">
                <a16:creationId xmlns:a16="http://schemas.microsoft.com/office/drawing/2014/main" id="{BF21C794-7939-43F8-890F-CF24A2FA9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5527003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eyebrow">
            <a:extLst xmlns:a="http://schemas.openxmlformats.org/drawingml/2006/main">
              <a:ext uri="{FF2B5EF4-FFF2-40B4-BE49-F238E27FC236}">
                <a16:creationId xmlns:a16="http://schemas.microsoft.com/office/drawing/2014/main" id="{8FACC91D-7DF5-492F-8800-AAC72408C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基于 AI 原生底座的培训平台建设方案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C9F2F87-5EC6-4F1F-AF19-6C796D85A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赋能培训评估：AI 做证据整理与建议稿，结果由人工确认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76444FEC-1061-4085-BF17-D491C30E4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11391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ill-过程数据">
            <a:extLst xmlns:a="http://schemas.openxmlformats.org/drawingml/2006/main">
              <a:ext uri="{FF2B5EF4-FFF2-40B4-BE49-F238E27FC236}">
                <a16:creationId xmlns:a16="http://schemas.microsoft.com/office/drawing/2014/main" id="{9B2615CB-816B-4905-B7E8-11780A080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1714500" cy="381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pill-text-过程数据">
            <a:extLst xmlns:a="http://schemas.openxmlformats.org/drawingml/2006/main">
              <a:ext uri="{FF2B5EF4-FFF2-40B4-BE49-F238E27FC236}">
                <a16:creationId xmlns:a16="http://schemas.microsoft.com/office/drawing/2014/main" id="{2E8E99D2-DF3F-4809-A666-A68DA36AF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47900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过程数据</a:t>
            </a:r>
          </a:p>
        </p:txBody>
      </p:sp>
      <p:sp>
        <p:nvSpPr>
          <p:cNvPr id="6" name="pill-成果材料">
            <a:extLst xmlns:a="http://schemas.openxmlformats.org/drawingml/2006/main">
              <a:ext uri="{FF2B5EF4-FFF2-40B4-BE49-F238E27FC236}">
                <a16:creationId xmlns:a16="http://schemas.microsoft.com/office/drawing/2014/main" id="{52AF9D45-139D-4659-8493-DAF2B5F4E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43200"/>
            <a:ext cx="1714500" cy="381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pill-text-成果材料">
            <a:extLst xmlns:a="http://schemas.openxmlformats.org/drawingml/2006/main">
              <a:ext uri="{FF2B5EF4-FFF2-40B4-BE49-F238E27FC236}">
                <a16:creationId xmlns:a16="http://schemas.microsoft.com/office/drawing/2014/main" id="{36075EF8-0BD1-4012-9070-309EAD4D0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00350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成果材料</a:t>
            </a:r>
          </a:p>
        </p:txBody>
      </p:sp>
      <p:sp>
        <p:nvSpPr>
          <p:cNvPr id="8" name="pill-专家意见">
            <a:extLst xmlns:a="http://schemas.openxmlformats.org/drawingml/2006/main">
              <a:ext uri="{FF2B5EF4-FFF2-40B4-BE49-F238E27FC236}">
                <a16:creationId xmlns:a16="http://schemas.microsoft.com/office/drawing/2014/main" id="{EFB8E15E-29F2-4BF1-A044-336ED6BBE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95650"/>
            <a:ext cx="1714500" cy="381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pill-text-专家意见">
            <a:extLst xmlns:a="http://schemas.openxmlformats.org/drawingml/2006/main">
              <a:ext uri="{FF2B5EF4-FFF2-40B4-BE49-F238E27FC236}">
                <a16:creationId xmlns:a16="http://schemas.microsoft.com/office/drawing/2014/main" id="{742FC6D2-E4DD-490C-A43F-634D4665B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52800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专家意见</a:t>
            </a:r>
          </a:p>
        </p:txBody>
      </p:sp>
      <p:sp>
        <p:nvSpPr>
          <p:cNvPr id="10" name="pill-评价规则">
            <a:extLst xmlns:a="http://schemas.openxmlformats.org/drawingml/2006/main">
              <a:ext uri="{FF2B5EF4-FFF2-40B4-BE49-F238E27FC236}">
                <a16:creationId xmlns:a16="http://schemas.microsoft.com/office/drawing/2014/main" id="{87CB1A98-B4E3-4F03-82EE-163A1BB64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1714500" cy="381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pill-text-评价规则">
            <a:extLst xmlns:a="http://schemas.openxmlformats.org/drawingml/2006/main">
              <a:ext uri="{FF2B5EF4-FFF2-40B4-BE49-F238E27FC236}">
                <a16:creationId xmlns:a16="http://schemas.microsoft.com/office/drawing/2014/main" id="{26C5536C-7F79-4EB1-B256-5DB122E14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0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评价规则</a:t>
            </a:r>
          </a:p>
        </p:txBody>
      </p:sp>
      <p:sp>
        <p:nvSpPr>
          <p:cNvPr id="12" name="line">
            <a:extLst xmlns:a="http://schemas.openxmlformats.org/drawingml/2006/main">
              <a:ext uri="{FF2B5EF4-FFF2-40B4-BE49-F238E27FC236}">
                <a16:creationId xmlns:a16="http://schemas.microsoft.com/office/drawing/2014/main" id="{DC0DF57F-9E3D-403A-85E5-88FFF8257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143250"/>
            <a:ext cx="1371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arrow">
            <a:extLst xmlns:a="http://schemas.openxmlformats.org/drawingml/2006/main">
              <a:ext uri="{FF2B5EF4-FFF2-40B4-BE49-F238E27FC236}">
                <a16:creationId xmlns:a16="http://schemas.microsoft.com/office/drawing/2014/main" id="{CCD80132-F70D-4D4E-BB0E-ECE7E8046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028950"/>
            <a:ext cx="228600" cy="1905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ai-eval">
            <a:extLst xmlns:a="http://schemas.openxmlformats.org/drawingml/2006/main">
              <a:ext uri="{FF2B5EF4-FFF2-40B4-BE49-F238E27FC236}">
                <a16:creationId xmlns:a16="http://schemas.microsoft.com/office/drawing/2014/main" id="{8EED8C83-484C-4A5F-A247-1557B8AFB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66950"/>
            <a:ext cx="285750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2F83FF"/>
            </a:solidFill>
            <a:prstDash val="solid"/>
          </a:ln>
        </p:spPr>
      </p:sp>
      <p:sp>
        <p:nvSpPr>
          <p:cNvPr id="15" name="ai-eval-title">
            <a:extLst xmlns:a="http://schemas.openxmlformats.org/drawingml/2006/main">
              <a:ext uri="{FF2B5EF4-FFF2-40B4-BE49-F238E27FC236}">
                <a16:creationId xmlns:a16="http://schemas.microsoft.com/office/drawing/2014/main" id="{1662E34B-13CF-4637-8F83-D76FD1B38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813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AI 评估辅助</a:t>
            </a:r>
          </a:p>
        </p:txBody>
      </p:sp>
      <p:sp>
        <p:nvSpPr>
          <p:cNvPr id="16" name="ai-eval-body">
            <a:extLst xmlns:a="http://schemas.openxmlformats.org/drawingml/2006/main">
              <a:ext uri="{FF2B5EF4-FFF2-40B4-BE49-F238E27FC236}">
                <a16:creationId xmlns:a16="http://schemas.microsoft.com/office/drawing/2014/main" id="{9D337A0B-EA9E-4CFD-898A-1BC1411FE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38500"/>
            <a:ext cx="2133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证据归集 / 指标匹配 / 报告草稿 / 缺项提示</a:t>
            </a:r>
          </a:p>
        </p:txBody>
      </p:sp>
      <p:sp>
        <p:nvSpPr>
          <p:cNvPr id="17" name="line">
            <a:extLst xmlns:a="http://schemas.openxmlformats.org/drawingml/2006/main">
              <a:ext uri="{FF2B5EF4-FFF2-40B4-BE49-F238E27FC236}">
                <a16:creationId xmlns:a16="http://schemas.microsoft.com/office/drawing/2014/main" id="{BFA23183-E332-4E21-AAF4-8BA496FD5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43250"/>
            <a:ext cx="1371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arrow">
            <a:extLst xmlns:a="http://schemas.openxmlformats.org/drawingml/2006/main">
              <a:ext uri="{FF2B5EF4-FFF2-40B4-BE49-F238E27FC236}">
                <a16:creationId xmlns:a16="http://schemas.microsoft.com/office/drawing/2014/main" id="{B3FE3618-D0E3-48DE-8283-61F6CB32B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028950"/>
            <a:ext cx="228600" cy="1905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card-人工确认">
            <a:extLst xmlns:a="http://schemas.openxmlformats.org/drawingml/2006/main">
              <a:ext uri="{FF2B5EF4-FFF2-40B4-BE49-F238E27FC236}">
                <a16:creationId xmlns:a16="http://schemas.microsoft.com/office/drawing/2014/main" id="{AB74ACF2-8B9F-41E0-9660-9012694C0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305050"/>
            <a:ext cx="238125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2F83FF"/>
            </a:solidFill>
            <a:prstDash val="solid"/>
          </a:ln>
        </p:spPr>
      </p:sp>
      <p:sp>
        <p:nvSpPr>
          <p:cNvPr id="20" name="card-head-人工确认">
            <a:extLst xmlns:a="http://schemas.openxmlformats.org/drawingml/2006/main">
              <a:ext uri="{FF2B5EF4-FFF2-40B4-BE49-F238E27FC236}">
                <a16:creationId xmlns:a16="http://schemas.microsoft.com/office/drawing/2014/main" id="{35A52C22-5011-451A-916B-08E0BFB6B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51460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人工确认</a:t>
            </a:r>
          </a:p>
        </p:txBody>
      </p:sp>
      <p:sp>
        <p:nvSpPr>
          <p:cNvPr id="21" name="card-body-人工确认">
            <a:extLst xmlns:a="http://schemas.openxmlformats.org/drawingml/2006/main">
              <a:ext uri="{FF2B5EF4-FFF2-40B4-BE49-F238E27FC236}">
                <a16:creationId xmlns:a16="http://schemas.microsoft.com/office/drawing/2014/main" id="{242EA9FC-8BB5-4388-A350-ADC58652A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933700"/>
            <a:ext cx="19240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438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专家和管理员确认评分、等级、评语和最终结论。AI 只做建议，不替代正式认定。</a:t>
            </a:r>
          </a:p>
        </p:txBody>
      </p:sp>
      <p:sp>
        <p:nvSpPr>
          <p:cNvPr id="22" name="bottom">
            <a:extLst xmlns:a="http://schemas.openxmlformats.org/drawingml/2006/main">
              <a:ext uri="{FF2B5EF4-FFF2-40B4-BE49-F238E27FC236}">
                <a16:creationId xmlns:a16="http://schemas.microsoft.com/office/drawing/2014/main" id="{76B79D4A-C38C-4317-A4C2-0DB6E279D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20065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E97132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E97132"/>
                </a:solidFill>
                <a:latin typeface="PingFang SC"/>
                <a:ea typeface="PingFang SC"/>
                <a:cs typeface="PingFang SC"/>
              </a:rPr>
              <a:t>边界原则：AI 不自动给出最终认定，不绕过专家复核，不直接影响高风险评价结论。</a:t>
            </a:r>
          </a:p>
        </p:txBody>
      </p:sp>
      <p:sp>
        <p:nvSpPr>
          <p:cNvPr id="23" name="page">
            <a:extLst xmlns:a="http://schemas.openxmlformats.org/drawingml/2006/main">
              <a:ext uri="{FF2B5EF4-FFF2-40B4-BE49-F238E27FC236}">
                <a16:creationId xmlns:a16="http://schemas.microsoft.com/office/drawing/2014/main" id="{F8BBA6D3-C9BA-4AD9-92EC-955C44147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238361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eyebrow">
            <a:extLst xmlns:a="http://schemas.openxmlformats.org/drawingml/2006/main">
              <a:ext uri="{FF2B5EF4-FFF2-40B4-BE49-F238E27FC236}">
                <a16:creationId xmlns:a16="http://schemas.microsoft.com/office/drawing/2014/main" id="{BC7253CA-54DA-4BD7-89C8-FD699D187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基于 AI 原生底座的培训平台建设方案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CC969CA-A964-4C4F-8896-922FE649B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赋能教师档案与用户推荐：让培训结果进入下一轮发展服务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B364F816-F97D-43E3-8020-A93502463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11391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archive">
            <a:extLst xmlns:a="http://schemas.openxmlformats.org/drawingml/2006/main">
              <a:ext uri="{FF2B5EF4-FFF2-40B4-BE49-F238E27FC236}">
                <a16:creationId xmlns:a16="http://schemas.microsoft.com/office/drawing/2014/main" id="{869809DA-77C6-49E3-B849-14DE22559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90750"/>
            <a:ext cx="2857500" cy="2476500"/>
          </a:xfrm>
          <a:prstGeom xmlns:a="http://schemas.openxmlformats.org/drawingml/2006/main" prst="roundRect">
            <a:avLst>
              <a:gd name="adj" fmla="val 2308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archive-title">
            <a:extLst xmlns:a="http://schemas.openxmlformats.org/drawingml/2006/main">
              <a:ext uri="{FF2B5EF4-FFF2-40B4-BE49-F238E27FC236}">
                <a16:creationId xmlns:a16="http://schemas.microsoft.com/office/drawing/2014/main" id="{C9950E33-4E38-4FEA-9618-9278900CC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955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教师档案</a:t>
            </a:r>
          </a:p>
        </p:txBody>
      </p:sp>
      <p:sp>
        <p:nvSpPr>
          <p:cNvPr id="6" name="pill-培训记录">
            <a:extLst xmlns:a="http://schemas.openxmlformats.org/drawingml/2006/main">
              <a:ext uri="{FF2B5EF4-FFF2-40B4-BE49-F238E27FC236}">
                <a16:creationId xmlns:a16="http://schemas.microsoft.com/office/drawing/2014/main" id="{E2995722-6C8D-4675-8C83-E1897D4A0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86100"/>
            <a:ext cx="20002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pill-text-培训记录">
            <a:extLst xmlns:a="http://schemas.openxmlformats.org/drawingml/2006/main">
              <a:ext uri="{FF2B5EF4-FFF2-40B4-BE49-F238E27FC236}">
                <a16:creationId xmlns:a16="http://schemas.microsoft.com/office/drawing/2014/main" id="{32BF40FE-6A52-43E3-AA64-8CE1D15D2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43250"/>
            <a:ext cx="1847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培训记录</a:t>
            </a:r>
          </a:p>
        </p:txBody>
      </p:sp>
      <p:sp>
        <p:nvSpPr>
          <p:cNvPr id="8" name="pill-成果材料">
            <a:extLst xmlns:a="http://schemas.openxmlformats.org/drawingml/2006/main">
              <a:ext uri="{FF2B5EF4-FFF2-40B4-BE49-F238E27FC236}">
                <a16:creationId xmlns:a16="http://schemas.microsoft.com/office/drawing/2014/main" id="{B1D83A22-2A23-4423-9968-A9DC521CC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20002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pill-text-成果材料">
            <a:extLst xmlns:a="http://schemas.openxmlformats.org/drawingml/2006/main">
              <a:ext uri="{FF2B5EF4-FFF2-40B4-BE49-F238E27FC236}">
                <a16:creationId xmlns:a16="http://schemas.microsoft.com/office/drawing/2014/main" id="{D282C435-5985-4E5B-973F-6EEFE8A23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43300"/>
            <a:ext cx="1847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成果材料</a:t>
            </a:r>
          </a:p>
        </p:txBody>
      </p:sp>
      <p:sp>
        <p:nvSpPr>
          <p:cNvPr id="10" name="pill-评价结果">
            <a:extLst xmlns:a="http://schemas.openxmlformats.org/drawingml/2006/main">
              <a:ext uri="{FF2B5EF4-FFF2-40B4-BE49-F238E27FC236}">
                <a16:creationId xmlns:a16="http://schemas.microsoft.com/office/drawing/2014/main" id="{32FA9503-3CAD-4337-BC82-16DC9C778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86200"/>
            <a:ext cx="20002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pill-text-评价结果">
            <a:extLst xmlns:a="http://schemas.openxmlformats.org/drawingml/2006/main">
              <a:ext uri="{FF2B5EF4-FFF2-40B4-BE49-F238E27FC236}">
                <a16:creationId xmlns:a16="http://schemas.microsoft.com/office/drawing/2014/main" id="{A40EF7AB-47FE-41FD-83EA-A21A0AFD5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43350"/>
            <a:ext cx="1847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评价结果</a:t>
            </a:r>
          </a:p>
        </p:txBody>
      </p:sp>
      <p:sp>
        <p:nvSpPr>
          <p:cNvPr id="12" name="pill-成长轨迹">
            <a:extLst xmlns:a="http://schemas.openxmlformats.org/drawingml/2006/main">
              <a:ext uri="{FF2B5EF4-FFF2-40B4-BE49-F238E27FC236}">
                <a16:creationId xmlns:a16="http://schemas.microsoft.com/office/drawing/2014/main" id="{F653C662-485B-426B-816D-8027020FC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86250"/>
            <a:ext cx="20002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pill-text-成长轨迹">
            <a:extLst xmlns:a="http://schemas.openxmlformats.org/drawingml/2006/main">
              <a:ext uri="{FF2B5EF4-FFF2-40B4-BE49-F238E27FC236}">
                <a16:creationId xmlns:a16="http://schemas.microsoft.com/office/drawing/2014/main" id="{6C0D3289-0065-40E0-B571-3FC82ACF7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43400"/>
            <a:ext cx="1847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成长轨迹</a:t>
            </a:r>
          </a:p>
        </p:txBody>
      </p:sp>
      <p:sp>
        <p:nvSpPr>
          <p:cNvPr id="14" name="line">
            <a:extLst xmlns:a="http://schemas.openxmlformats.org/drawingml/2006/main">
              <a:ext uri="{FF2B5EF4-FFF2-40B4-BE49-F238E27FC236}">
                <a16:creationId xmlns:a16="http://schemas.microsoft.com/office/drawing/2014/main" id="{27B54AB5-E521-49B0-9BF6-1632BB956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429000"/>
            <a:ext cx="1219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rrow">
            <a:extLst xmlns:a="http://schemas.openxmlformats.org/drawingml/2006/main">
              <a:ext uri="{FF2B5EF4-FFF2-40B4-BE49-F238E27FC236}">
                <a16:creationId xmlns:a16="http://schemas.microsoft.com/office/drawing/2014/main" id="{4E2E3EC5-274E-4C70-84C9-0BC48FE3C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314700"/>
            <a:ext cx="228600" cy="1905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portrait">
            <a:extLst xmlns:a="http://schemas.openxmlformats.org/drawingml/2006/main">
              <a:ext uri="{FF2B5EF4-FFF2-40B4-BE49-F238E27FC236}">
                <a16:creationId xmlns:a16="http://schemas.microsoft.com/office/drawing/2014/main" id="{91FBFFBB-5294-42B6-BD22-E9785A58E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38125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2F83FF"/>
            </a:solidFill>
            <a:prstDash val="solid"/>
          </a:ln>
        </p:spPr>
      </p:sp>
      <p:sp>
        <p:nvSpPr>
          <p:cNvPr id="17" name="portrait-text">
            <a:extLst xmlns:a="http://schemas.openxmlformats.org/drawingml/2006/main">
              <a:ext uri="{FF2B5EF4-FFF2-40B4-BE49-F238E27FC236}">
                <a16:creationId xmlns:a16="http://schemas.microsoft.com/office/drawing/2014/main" id="{03E50CD9-2F8C-43FB-95B5-59AEAF4A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97180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画像与</a:t>
            </a:r>
          </a:p>
          <a:p xmlns:a="http://schemas.openxmlformats.org/drawingml/2006/main">
            <a:pPr algn="ctr">
              <a:buNone/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能力诊断</a:t>
            </a:r>
          </a:p>
        </p:txBody>
      </p:sp>
      <p:sp>
        <p:nvSpPr>
          <p:cNvPr id="18" name="line">
            <a:extLst xmlns:a="http://schemas.openxmlformats.org/drawingml/2006/main">
              <a:ext uri="{FF2B5EF4-FFF2-40B4-BE49-F238E27FC236}">
                <a16:creationId xmlns:a16="http://schemas.microsoft.com/office/drawing/2014/main" id="{92F3AA38-3E2F-47C3-956C-E75B51644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429000"/>
            <a:ext cx="1219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arrow">
            <a:extLst xmlns:a="http://schemas.openxmlformats.org/drawingml/2006/main">
              <a:ext uri="{FF2B5EF4-FFF2-40B4-BE49-F238E27FC236}">
                <a16:creationId xmlns:a16="http://schemas.microsoft.com/office/drawing/2014/main" id="{84AA7F41-BF6C-4795-80E3-99820C17D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314700"/>
            <a:ext cx="228600" cy="1905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recommend">
            <a:extLst xmlns:a="http://schemas.openxmlformats.org/drawingml/2006/main">
              <a:ext uri="{FF2B5EF4-FFF2-40B4-BE49-F238E27FC236}">
                <a16:creationId xmlns:a16="http://schemas.microsoft.com/office/drawing/2014/main" id="{5D533515-DCC5-4FD4-BC01-BFCBDF6C6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90750"/>
            <a:ext cx="2724150" cy="2476500"/>
          </a:xfrm>
          <a:prstGeom xmlns:a="http://schemas.openxmlformats.org/drawingml/2006/main" prst="roundRect">
            <a:avLst>
              <a:gd name="adj" fmla="val 2308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21" name="rec-title">
            <a:extLst xmlns:a="http://schemas.openxmlformats.org/drawingml/2006/main">
              <a:ext uri="{FF2B5EF4-FFF2-40B4-BE49-F238E27FC236}">
                <a16:creationId xmlns:a16="http://schemas.microsoft.com/office/drawing/2014/main" id="{98C9226A-C2AB-49DF-A1DF-F56F1526E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49555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推荐服务</a:t>
            </a:r>
          </a:p>
        </p:txBody>
      </p:sp>
      <p:sp>
        <p:nvSpPr>
          <p:cNvPr id="22" name="pill-课程推荐">
            <a:extLst xmlns:a="http://schemas.openxmlformats.org/drawingml/2006/main">
              <a:ext uri="{FF2B5EF4-FFF2-40B4-BE49-F238E27FC236}">
                <a16:creationId xmlns:a16="http://schemas.microsoft.com/office/drawing/2014/main" id="{CBEDD06F-4887-4501-AEA4-F9025214A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086100"/>
            <a:ext cx="19240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ill-text-课程推荐">
            <a:extLst xmlns:a="http://schemas.openxmlformats.org/drawingml/2006/main">
              <a:ext uri="{FF2B5EF4-FFF2-40B4-BE49-F238E27FC236}">
                <a16:creationId xmlns:a16="http://schemas.microsoft.com/office/drawing/2014/main" id="{965345BD-ED18-4AFB-925C-27B492F26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143250"/>
            <a:ext cx="177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课程推荐</a:t>
            </a:r>
          </a:p>
        </p:txBody>
      </p:sp>
      <p:sp>
        <p:nvSpPr>
          <p:cNvPr id="24" name="pill-活动推荐">
            <a:extLst xmlns:a="http://schemas.openxmlformats.org/drawingml/2006/main">
              <a:ext uri="{FF2B5EF4-FFF2-40B4-BE49-F238E27FC236}">
                <a16:creationId xmlns:a16="http://schemas.microsoft.com/office/drawing/2014/main" id="{3E646863-9105-4572-8344-67A18C9A9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486150"/>
            <a:ext cx="19240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ill-text-活动推荐">
            <a:extLst xmlns:a="http://schemas.openxmlformats.org/drawingml/2006/main">
              <a:ext uri="{FF2B5EF4-FFF2-40B4-BE49-F238E27FC236}">
                <a16:creationId xmlns:a16="http://schemas.microsoft.com/office/drawing/2014/main" id="{13690273-0744-45D0-BC47-CBDD91D85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543300"/>
            <a:ext cx="177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活动推荐</a:t>
            </a:r>
          </a:p>
        </p:txBody>
      </p:sp>
      <p:sp>
        <p:nvSpPr>
          <p:cNvPr id="26" name="pill-资源推荐">
            <a:extLst xmlns:a="http://schemas.openxmlformats.org/drawingml/2006/main">
              <a:ext uri="{FF2B5EF4-FFF2-40B4-BE49-F238E27FC236}">
                <a16:creationId xmlns:a16="http://schemas.microsoft.com/office/drawing/2014/main" id="{A21808C5-5D2A-49D8-9DBB-1E3E389E3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886200"/>
            <a:ext cx="19240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ill-text-资源推荐">
            <a:extLst xmlns:a="http://schemas.openxmlformats.org/drawingml/2006/main">
              <a:ext uri="{FF2B5EF4-FFF2-40B4-BE49-F238E27FC236}">
                <a16:creationId xmlns:a16="http://schemas.microsoft.com/office/drawing/2014/main" id="{44B966BC-D9A1-4463-BBA9-3D30A8F5F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943350"/>
            <a:ext cx="177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资源推荐</a:t>
            </a:r>
          </a:p>
        </p:txBody>
      </p:sp>
      <p:sp>
        <p:nvSpPr>
          <p:cNvPr id="28" name="pill-路径推荐">
            <a:extLst xmlns:a="http://schemas.openxmlformats.org/drawingml/2006/main">
              <a:ext uri="{FF2B5EF4-FFF2-40B4-BE49-F238E27FC236}">
                <a16:creationId xmlns:a16="http://schemas.microsoft.com/office/drawing/2014/main" id="{0314E35E-DE30-49DB-A41B-BAC963BE4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286250"/>
            <a:ext cx="19240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971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ill-text-路径推荐">
            <a:extLst xmlns:a="http://schemas.openxmlformats.org/drawingml/2006/main">
              <a:ext uri="{FF2B5EF4-FFF2-40B4-BE49-F238E27FC236}">
                <a16:creationId xmlns:a16="http://schemas.microsoft.com/office/drawing/2014/main" id="{08540985-AA98-4B93-B328-E8BC5E041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343400"/>
            <a:ext cx="177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路径推荐</a:t>
            </a:r>
          </a:p>
        </p:txBody>
      </p:sp>
      <p:sp>
        <p:nvSpPr>
          <p:cNvPr id="30" name="note">
            <a:extLst xmlns:a="http://schemas.openxmlformats.org/drawingml/2006/main">
              <a:ext uri="{FF2B5EF4-FFF2-40B4-BE49-F238E27FC236}">
                <a16:creationId xmlns:a16="http://schemas.microsoft.com/office/drawing/2014/main" id="{0FD7E7B6-EE49-4A45-8904-E47621092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31495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F83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F83FF"/>
                </a:solidFill>
                <a:latin typeface="PingFang SC"/>
                <a:ea typeface="PingFang SC"/>
                <a:cs typeface="PingFang SC"/>
              </a:rPr>
              <a:t>AI 原生底座把“评价发现问题”转化为“推荐推动改进”，形成持续培训闭环。</a:t>
            </a:r>
          </a:p>
        </p:txBody>
      </p:sp>
      <p:sp>
        <p:nvSpPr>
          <p:cNvPr id="31" name="page">
            <a:extLst xmlns:a="http://schemas.openxmlformats.org/drawingml/2006/main">
              <a:ext uri="{FF2B5EF4-FFF2-40B4-BE49-F238E27FC236}">
                <a16:creationId xmlns:a16="http://schemas.microsoft.com/office/drawing/2014/main" id="{BBCA4518-58DD-46D5-A356-9F785E5C0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84282127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eyebrow">
            <a:extLst xmlns:a="http://schemas.openxmlformats.org/drawingml/2006/main">
              <a:ext uri="{FF2B5EF4-FFF2-40B4-BE49-F238E27FC236}">
                <a16:creationId xmlns:a16="http://schemas.microsoft.com/office/drawing/2014/main" id="{F95670F3-2B76-45F1-9351-A407F8E92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基于 AI 原生底座的培训平台建设方案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7A7085A-7E2F-44EA-A192-CD73E149A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智能体矩阵覆盖培训平台中的关键角色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B422307B-7AE6-41B4-9DBE-A37AFB1BB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11391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ard-教师智能助理">
            <a:extLst xmlns:a="http://schemas.openxmlformats.org/drawingml/2006/main">
              <a:ext uri="{FF2B5EF4-FFF2-40B4-BE49-F238E27FC236}">
                <a16:creationId xmlns:a16="http://schemas.microsoft.com/office/drawing/2014/main" id="{82613162-C9D9-48C3-BFA7-4F1FCC6C9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924050" cy="2238375"/>
          </a:xfrm>
          <a:prstGeom xmlns:a="http://schemas.openxmlformats.org/drawingml/2006/main" prst="roundRect">
            <a:avLst>
              <a:gd name="adj" fmla="val 297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2F83FF"/>
            </a:solidFill>
            <a:prstDash val="solid"/>
          </a:ln>
        </p:spPr>
      </p:sp>
      <p:sp>
        <p:nvSpPr>
          <p:cNvPr id="5" name="badge-01">
            <a:extLst xmlns:a="http://schemas.openxmlformats.org/drawingml/2006/main">
              <a:ext uri="{FF2B5EF4-FFF2-40B4-BE49-F238E27FC236}">
                <a16:creationId xmlns:a16="http://schemas.microsoft.com/office/drawing/2014/main" id="{473FF405-5727-4DAB-965D-117653D94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384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adge-text-01">
            <a:extLst xmlns:a="http://schemas.openxmlformats.org/drawingml/2006/main">
              <a:ext uri="{FF2B5EF4-FFF2-40B4-BE49-F238E27FC236}">
                <a16:creationId xmlns:a16="http://schemas.microsoft.com/office/drawing/2014/main" id="{ACC448C5-9AAD-42D1-B071-C67DFADAD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860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ard-head-教师智能助理">
            <a:extLst xmlns:a="http://schemas.openxmlformats.org/drawingml/2006/main">
              <a:ext uri="{FF2B5EF4-FFF2-40B4-BE49-F238E27FC236}">
                <a16:creationId xmlns:a16="http://schemas.microsoft.com/office/drawing/2014/main" id="{00290C3C-86D0-4B2A-99D5-F8E10A8B6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574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514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教师智能助理</a:t>
            </a:r>
          </a:p>
        </p:txBody>
      </p:sp>
      <p:sp>
        <p:nvSpPr>
          <p:cNvPr id="8" name="card-body-教师智能助理">
            <a:extLst xmlns:a="http://schemas.openxmlformats.org/drawingml/2006/main">
              <a:ext uri="{FF2B5EF4-FFF2-40B4-BE49-F238E27FC236}">
                <a16:creationId xmlns:a16="http://schemas.microsoft.com/office/drawing/2014/main" id="{33C767B2-FAFB-4B14-8A6C-EE0AD063A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76550"/>
            <a:ext cx="1047750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课程导学、任务辅导、成果生成、成长建议。</a:t>
            </a:r>
          </a:p>
        </p:txBody>
      </p:sp>
      <p:sp>
        <p:nvSpPr>
          <p:cNvPr id="9" name="card-专家评审助理">
            <a:extLst xmlns:a="http://schemas.openxmlformats.org/drawingml/2006/main">
              <a:ext uri="{FF2B5EF4-FFF2-40B4-BE49-F238E27FC236}">
                <a16:creationId xmlns:a16="http://schemas.microsoft.com/office/drawing/2014/main" id="{C88116F0-2B3C-4A82-ABE4-C539E3A0E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47900"/>
            <a:ext cx="1924050" cy="2238375"/>
          </a:xfrm>
          <a:prstGeom xmlns:a="http://schemas.openxmlformats.org/drawingml/2006/main" prst="roundRect">
            <a:avLst>
              <a:gd name="adj" fmla="val 297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badge-02">
            <a:extLst xmlns:a="http://schemas.openxmlformats.org/drawingml/2006/main">
              <a:ext uri="{FF2B5EF4-FFF2-40B4-BE49-F238E27FC236}">
                <a16:creationId xmlns:a16="http://schemas.microsoft.com/office/drawing/2014/main" id="{48CAD68D-E5A0-40FC-9EA8-C9B307C73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4384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adge-text-02">
            <a:extLst xmlns:a="http://schemas.openxmlformats.org/drawingml/2006/main">
              <a:ext uri="{FF2B5EF4-FFF2-40B4-BE49-F238E27FC236}">
                <a16:creationId xmlns:a16="http://schemas.microsoft.com/office/drawing/2014/main" id="{1AE8A56A-2992-4168-8209-C9F2119E5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4860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2" name="card-head-专家评审助理">
            <a:extLst xmlns:a="http://schemas.openxmlformats.org/drawingml/2006/main">
              <a:ext uri="{FF2B5EF4-FFF2-40B4-BE49-F238E27FC236}">
                <a16:creationId xmlns:a16="http://schemas.microsoft.com/office/drawing/2014/main" id="{10DC7584-1D7F-48D4-9645-D79C424D0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4574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514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专家评审助理</a:t>
            </a:r>
          </a:p>
        </p:txBody>
      </p:sp>
      <p:sp>
        <p:nvSpPr>
          <p:cNvPr id="13" name="card-body-专家评审助理">
            <a:extLst xmlns:a="http://schemas.openxmlformats.org/drawingml/2006/main">
              <a:ext uri="{FF2B5EF4-FFF2-40B4-BE49-F238E27FC236}">
                <a16:creationId xmlns:a16="http://schemas.microsoft.com/office/drawing/2014/main" id="{C9A6C521-30D1-4986-B1C6-24800A8F4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876550"/>
            <a:ext cx="1047750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材料预读、证据摘要、评语草稿、复核提示。</a:t>
            </a:r>
          </a:p>
        </p:txBody>
      </p:sp>
      <p:sp>
        <p:nvSpPr>
          <p:cNvPr id="14" name="card-培训运营助理">
            <a:extLst xmlns:a="http://schemas.openxmlformats.org/drawingml/2006/main">
              <a:ext uri="{FF2B5EF4-FFF2-40B4-BE49-F238E27FC236}">
                <a16:creationId xmlns:a16="http://schemas.microsoft.com/office/drawing/2014/main" id="{ECBDDB45-A139-4752-9BC9-FE34545DD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247900"/>
            <a:ext cx="1924050" cy="2238375"/>
          </a:xfrm>
          <a:prstGeom xmlns:a="http://schemas.openxmlformats.org/drawingml/2006/main" prst="roundRect">
            <a:avLst>
              <a:gd name="adj" fmla="val 297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2F83FF"/>
            </a:solidFill>
            <a:prstDash val="solid"/>
          </a:ln>
        </p:spPr>
      </p:sp>
      <p:sp>
        <p:nvSpPr>
          <p:cNvPr id="15" name="badge-03">
            <a:extLst xmlns:a="http://schemas.openxmlformats.org/drawingml/2006/main">
              <a:ext uri="{FF2B5EF4-FFF2-40B4-BE49-F238E27FC236}">
                <a16:creationId xmlns:a16="http://schemas.microsoft.com/office/drawing/2014/main" id="{03DF3AB9-42FC-4C28-A564-03D42CA98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4384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adge-text-03">
            <a:extLst xmlns:a="http://schemas.openxmlformats.org/drawingml/2006/main">
              <a:ext uri="{FF2B5EF4-FFF2-40B4-BE49-F238E27FC236}">
                <a16:creationId xmlns:a16="http://schemas.microsoft.com/office/drawing/2014/main" id="{A9C98E6E-89BD-4CE0-8BF4-EDFFE5561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4860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7" name="card-head-培训运营助理">
            <a:extLst xmlns:a="http://schemas.openxmlformats.org/drawingml/2006/main">
              <a:ext uri="{FF2B5EF4-FFF2-40B4-BE49-F238E27FC236}">
                <a16:creationId xmlns:a16="http://schemas.microsoft.com/office/drawing/2014/main" id="{470E51C0-795D-4931-BD5D-E0AD7AE91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4574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514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培训运营助理</a:t>
            </a:r>
          </a:p>
        </p:txBody>
      </p:sp>
      <p:sp>
        <p:nvSpPr>
          <p:cNvPr id="18" name="card-body-培训运营助理">
            <a:extLst xmlns:a="http://schemas.openxmlformats.org/drawingml/2006/main">
              <a:ext uri="{FF2B5EF4-FFF2-40B4-BE49-F238E27FC236}">
                <a16:creationId xmlns:a16="http://schemas.microsoft.com/office/drawing/2014/main" id="{51257E87-6CD9-4108-85BD-EF9280737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876550"/>
            <a:ext cx="1047750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通知生成、进度提醒、数据汇总、问题答复。</a:t>
            </a:r>
          </a:p>
        </p:txBody>
      </p:sp>
      <p:sp>
        <p:nvSpPr>
          <p:cNvPr id="19" name="card-项目负责人助理">
            <a:extLst xmlns:a="http://schemas.openxmlformats.org/drawingml/2006/main">
              <a:ext uri="{FF2B5EF4-FFF2-40B4-BE49-F238E27FC236}">
                <a16:creationId xmlns:a16="http://schemas.microsoft.com/office/drawing/2014/main" id="{076DC6EB-F9EB-4931-A57B-C2670AC48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247900"/>
            <a:ext cx="1924050" cy="2238375"/>
          </a:xfrm>
          <a:prstGeom xmlns:a="http://schemas.openxmlformats.org/drawingml/2006/main" prst="roundRect">
            <a:avLst>
              <a:gd name="adj" fmla="val 297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badge-04">
            <a:extLst xmlns:a="http://schemas.openxmlformats.org/drawingml/2006/main">
              <a:ext uri="{FF2B5EF4-FFF2-40B4-BE49-F238E27FC236}">
                <a16:creationId xmlns:a16="http://schemas.microsoft.com/office/drawing/2014/main" id="{0F7F63F5-4477-4AB9-9585-32A51A7FC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4384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adge-text-04">
            <a:extLst xmlns:a="http://schemas.openxmlformats.org/drawingml/2006/main">
              <a:ext uri="{FF2B5EF4-FFF2-40B4-BE49-F238E27FC236}">
                <a16:creationId xmlns:a16="http://schemas.microsoft.com/office/drawing/2014/main" id="{64547D01-CCBF-458D-9785-269AF83DE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4860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2" name="card-head-项目负责人助理">
            <a:extLst xmlns:a="http://schemas.openxmlformats.org/drawingml/2006/main">
              <a:ext uri="{FF2B5EF4-FFF2-40B4-BE49-F238E27FC236}">
                <a16:creationId xmlns:a16="http://schemas.microsoft.com/office/drawing/2014/main" id="{94D6C5B6-CC48-4F48-9E3B-8C744E4F3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574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642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项目负责人助理</a:t>
            </a:r>
          </a:p>
        </p:txBody>
      </p:sp>
      <p:sp>
        <p:nvSpPr>
          <p:cNvPr id="23" name="card-body-项目负责人助理">
            <a:extLst xmlns:a="http://schemas.openxmlformats.org/drawingml/2006/main">
              <a:ext uri="{FF2B5EF4-FFF2-40B4-BE49-F238E27FC236}">
                <a16:creationId xmlns:a16="http://schemas.microsoft.com/office/drawing/2014/main" id="{F27A5DFA-B65A-4B9D-BE17-13F3E4EEC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76550"/>
            <a:ext cx="1047750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方案编排、活动排期、质量跟踪、报告生成。</a:t>
            </a:r>
          </a:p>
        </p:txBody>
      </p:sp>
      <p:sp>
        <p:nvSpPr>
          <p:cNvPr id="24" name="card-学校/区域管理助理">
            <a:extLst xmlns:a="http://schemas.openxmlformats.org/drawingml/2006/main">
              <a:ext uri="{FF2B5EF4-FFF2-40B4-BE49-F238E27FC236}">
                <a16:creationId xmlns:a16="http://schemas.microsoft.com/office/drawing/2014/main" id="{13D21237-53A5-483F-8AD1-D8259B8A2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247900"/>
            <a:ext cx="1924050" cy="2238375"/>
          </a:xfrm>
          <a:prstGeom xmlns:a="http://schemas.openxmlformats.org/drawingml/2006/main" prst="roundRect">
            <a:avLst>
              <a:gd name="adj" fmla="val 297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badge-05">
            <a:extLst xmlns:a="http://schemas.openxmlformats.org/drawingml/2006/main">
              <a:ext uri="{FF2B5EF4-FFF2-40B4-BE49-F238E27FC236}">
                <a16:creationId xmlns:a16="http://schemas.microsoft.com/office/drawing/2014/main" id="{F2176ADE-55AA-4127-8F41-3E8C89EEC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4384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badge-text-05">
            <a:extLst xmlns:a="http://schemas.openxmlformats.org/drawingml/2006/main">
              <a:ext uri="{FF2B5EF4-FFF2-40B4-BE49-F238E27FC236}">
                <a16:creationId xmlns:a16="http://schemas.microsoft.com/office/drawing/2014/main" id="{D3CA97A2-A62A-4B22-B161-665D8DDF6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4860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27" name="card-head-学校/区域管理助理">
            <a:extLst xmlns:a="http://schemas.openxmlformats.org/drawingml/2006/main">
              <a:ext uri="{FF2B5EF4-FFF2-40B4-BE49-F238E27FC236}">
                <a16:creationId xmlns:a16="http://schemas.microsoft.com/office/drawing/2014/main" id="{46A94169-C927-40E3-87D1-215F5C89D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4574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59028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学校/区域管理助理</a:t>
            </a:r>
          </a:p>
        </p:txBody>
      </p:sp>
      <p:sp>
        <p:nvSpPr>
          <p:cNvPr id="28" name="card-body-学校/区域管理助理">
            <a:extLst xmlns:a="http://schemas.openxmlformats.org/drawingml/2006/main">
              <a:ext uri="{FF2B5EF4-FFF2-40B4-BE49-F238E27FC236}">
                <a16:creationId xmlns:a16="http://schemas.microsoft.com/office/drawing/2014/main" id="{215CD8D1-F9C7-4137-B8A1-C244E6637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876550"/>
            <a:ext cx="1047750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项目监测、群体分析、资源调度、决策摘要。</a:t>
            </a:r>
          </a:p>
        </p:txBody>
      </p:sp>
      <p:sp>
        <p:nvSpPr>
          <p:cNvPr id="29" name="note">
            <a:extLst xmlns:a="http://schemas.openxmlformats.org/drawingml/2006/main">
              <a:ext uri="{FF2B5EF4-FFF2-40B4-BE49-F238E27FC236}">
                <a16:creationId xmlns:a16="http://schemas.microsoft.com/office/drawing/2014/main" id="{20444B72-4E9D-4F52-B753-2A7F1E26F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同一个底座，根据角色和空间上下文生成不同智能体能力，避免为每个场景重复建设 AI。</a:t>
            </a:r>
          </a:p>
        </p:txBody>
      </p:sp>
      <p:sp>
        <p:nvSpPr>
          <p:cNvPr id="30" name="page">
            <a:extLst xmlns:a="http://schemas.openxmlformats.org/drawingml/2006/main">
              <a:ext uri="{FF2B5EF4-FFF2-40B4-BE49-F238E27FC236}">
                <a16:creationId xmlns:a16="http://schemas.microsoft.com/office/drawing/2014/main" id="{856F30CC-CF58-4942-AE6F-82854431C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34170290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eyebrow">
            <a:extLst xmlns:a="http://schemas.openxmlformats.org/drawingml/2006/main">
              <a:ext uri="{FF2B5EF4-FFF2-40B4-BE49-F238E27FC236}">
                <a16:creationId xmlns:a16="http://schemas.microsoft.com/office/drawing/2014/main" id="{9AC998EF-45D9-46B7-8361-AF157CB48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基于 AI 原生底座的培训平台建设方案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B907713-4A13-42E1-B991-3E9677B53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数据与知识闭环让每次培训都沉淀为平台资产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12657261-5A2E-41C0-BCF2-113096A9C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11391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node-0">
            <a:extLst xmlns:a="http://schemas.openxmlformats.org/drawingml/2006/main">
              <a:ext uri="{FF2B5EF4-FFF2-40B4-BE49-F238E27FC236}">
                <a16:creationId xmlns:a16="http://schemas.microsoft.com/office/drawing/2014/main" id="{6A691254-5550-4C90-BC65-1E79044CD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1381125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node-text-0">
            <a:extLst xmlns:a="http://schemas.openxmlformats.org/drawingml/2006/main">
              <a:ext uri="{FF2B5EF4-FFF2-40B4-BE49-F238E27FC236}">
                <a16:creationId xmlns:a16="http://schemas.microsoft.com/office/drawing/2014/main" id="{205D49A6-2318-418C-950F-BBAF7F07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24200"/>
            <a:ext cx="1152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培训资料</a:t>
            </a:r>
          </a:p>
        </p:txBody>
      </p:sp>
      <p:sp>
        <p:nvSpPr>
          <p:cNvPr id="6" name="line">
            <a:extLst xmlns:a="http://schemas.openxmlformats.org/drawingml/2006/main">
              <a:ext uri="{FF2B5EF4-FFF2-40B4-BE49-F238E27FC236}">
                <a16:creationId xmlns:a16="http://schemas.microsoft.com/office/drawing/2014/main" id="{3F3D482C-4ABB-419A-B848-E6899083B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26707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rrow">
            <a:extLst xmlns:a="http://schemas.openxmlformats.org/drawingml/2006/main">
              <a:ext uri="{FF2B5EF4-FFF2-40B4-BE49-F238E27FC236}">
                <a16:creationId xmlns:a16="http://schemas.microsoft.com/office/drawing/2014/main" id="{0575305B-1E2E-4B69-AB1E-165F4ABFA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181350"/>
            <a:ext cx="171450" cy="1428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node-1">
            <a:extLst xmlns:a="http://schemas.openxmlformats.org/drawingml/2006/main">
              <a:ext uri="{FF2B5EF4-FFF2-40B4-BE49-F238E27FC236}">
                <a16:creationId xmlns:a16="http://schemas.microsoft.com/office/drawing/2014/main" id="{CF8C132A-9E89-4E72-97A5-E4770250D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857500"/>
            <a:ext cx="1381125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2F83FF"/>
            </a:solidFill>
            <a:prstDash val="solid"/>
          </a:ln>
        </p:spPr>
      </p:sp>
      <p:sp>
        <p:nvSpPr>
          <p:cNvPr id="9" name="node-text-1">
            <a:extLst xmlns:a="http://schemas.openxmlformats.org/drawingml/2006/main">
              <a:ext uri="{FF2B5EF4-FFF2-40B4-BE49-F238E27FC236}">
                <a16:creationId xmlns:a16="http://schemas.microsoft.com/office/drawing/2014/main" id="{9A1D300D-3D67-4F6B-96D9-6AFF23DCA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124200"/>
            <a:ext cx="1152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知识资产</a:t>
            </a:r>
          </a:p>
        </p:txBody>
      </p:sp>
      <p:sp>
        <p:nvSpPr>
          <p:cNvPr id="10" name="line">
            <a:extLst xmlns:a="http://schemas.openxmlformats.org/drawingml/2006/main">
              <a:ext uri="{FF2B5EF4-FFF2-40B4-BE49-F238E27FC236}">
                <a16:creationId xmlns:a16="http://schemas.microsoft.com/office/drawing/2014/main" id="{AFC25140-DDD8-4216-A17B-BB58CD793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6707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rrow">
            <a:extLst xmlns:a="http://schemas.openxmlformats.org/drawingml/2006/main">
              <a:ext uri="{FF2B5EF4-FFF2-40B4-BE49-F238E27FC236}">
                <a16:creationId xmlns:a16="http://schemas.microsoft.com/office/drawing/2014/main" id="{34B31A56-C149-4BF3-AD7B-99A2D2ED9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181350"/>
            <a:ext cx="171450" cy="1428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node-2">
            <a:extLst xmlns:a="http://schemas.openxmlformats.org/drawingml/2006/main">
              <a:ext uri="{FF2B5EF4-FFF2-40B4-BE49-F238E27FC236}">
                <a16:creationId xmlns:a16="http://schemas.microsoft.com/office/drawing/2014/main" id="{169474F5-6E69-48C2-9227-0E5DA3C47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857500"/>
            <a:ext cx="1381125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node-text-2">
            <a:extLst xmlns:a="http://schemas.openxmlformats.org/drawingml/2006/main">
              <a:ext uri="{FF2B5EF4-FFF2-40B4-BE49-F238E27FC236}">
                <a16:creationId xmlns:a16="http://schemas.microsoft.com/office/drawing/2014/main" id="{551B8C41-A6F2-4F2A-945D-1A6EC5956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24200"/>
            <a:ext cx="1152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空间过程</a:t>
            </a:r>
          </a:p>
        </p:txBody>
      </p:sp>
      <p:sp>
        <p:nvSpPr>
          <p:cNvPr id="14" name="line">
            <a:extLst xmlns:a="http://schemas.openxmlformats.org/drawingml/2006/main">
              <a:ext uri="{FF2B5EF4-FFF2-40B4-BE49-F238E27FC236}">
                <a16:creationId xmlns:a16="http://schemas.microsoft.com/office/drawing/2014/main" id="{9AC5F9E4-43AA-4140-A4E6-238D4176D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6707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rrow">
            <a:extLst xmlns:a="http://schemas.openxmlformats.org/drawingml/2006/main">
              <a:ext uri="{FF2B5EF4-FFF2-40B4-BE49-F238E27FC236}">
                <a16:creationId xmlns:a16="http://schemas.microsoft.com/office/drawing/2014/main" id="{577D3038-8C29-4175-AB7A-189C7A7D2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181350"/>
            <a:ext cx="171450" cy="1428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node-3">
            <a:extLst xmlns:a="http://schemas.openxmlformats.org/drawingml/2006/main">
              <a:ext uri="{FF2B5EF4-FFF2-40B4-BE49-F238E27FC236}">
                <a16:creationId xmlns:a16="http://schemas.microsoft.com/office/drawing/2014/main" id="{31AB4DE2-094E-4A6C-967C-0A46A9D8C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857500"/>
            <a:ext cx="1381125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node-text-3">
            <a:extLst xmlns:a="http://schemas.openxmlformats.org/drawingml/2006/main">
              <a:ext uri="{FF2B5EF4-FFF2-40B4-BE49-F238E27FC236}">
                <a16:creationId xmlns:a16="http://schemas.microsoft.com/office/drawing/2014/main" id="{0264587D-41C1-41FA-A060-0F161BBB0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24200"/>
            <a:ext cx="1152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评价证据</a:t>
            </a:r>
          </a:p>
        </p:txBody>
      </p:sp>
      <p:sp>
        <p:nvSpPr>
          <p:cNvPr id="18" name="line">
            <a:extLst xmlns:a="http://schemas.openxmlformats.org/drawingml/2006/main">
              <a:ext uri="{FF2B5EF4-FFF2-40B4-BE49-F238E27FC236}">
                <a16:creationId xmlns:a16="http://schemas.microsoft.com/office/drawing/2014/main" id="{1E37DD83-FC1A-4608-9754-104866FA4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6707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arrow">
            <a:extLst xmlns:a="http://schemas.openxmlformats.org/drawingml/2006/main">
              <a:ext uri="{FF2B5EF4-FFF2-40B4-BE49-F238E27FC236}">
                <a16:creationId xmlns:a16="http://schemas.microsoft.com/office/drawing/2014/main" id="{9DDB2BB8-E621-4463-8E88-C1D345046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81350"/>
            <a:ext cx="171450" cy="1428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node-4">
            <a:extLst xmlns:a="http://schemas.openxmlformats.org/drawingml/2006/main">
              <a:ext uri="{FF2B5EF4-FFF2-40B4-BE49-F238E27FC236}">
                <a16:creationId xmlns:a16="http://schemas.microsoft.com/office/drawing/2014/main" id="{7AE74962-A0E3-47FE-A2A7-D4D94A526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57500"/>
            <a:ext cx="1381125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node-text-4">
            <a:extLst xmlns:a="http://schemas.openxmlformats.org/drawingml/2006/main">
              <a:ext uri="{FF2B5EF4-FFF2-40B4-BE49-F238E27FC236}">
                <a16:creationId xmlns:a16="http://schemas.microsoft.com/office/drawing/2014/main" id="{1EF3BD38-D900-49DA-8D6C-EBC8DF767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24200"/>
            <a:ext cx="1152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教师档案</a:t>
            </a:r>
          </a:p>
        </p:txBody>
      </p:sp>
      <p:sp>
        <p:nvSpPr>
          <p:cNvPr id="22" name="line">
            <a:extLst xmlns:a="http://schemas.openxmlformats.org/drawingml/2006/main">
              <a:ext uri="{FF2B5EF4-FFF2-40B4-BE49-F238E27FC236}">
                <a16:creationId xmlns:a16="http://schemas.microsoft.com/office/drawing/2014/main" id="{FAD7140F-B640-4F51-8A90-B68952A7E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26707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arrow">
            <a:extLst xmlns:a="http://schemas.openxmlformats.org/drawingml/2006/main">
              <a:ext uri="{FF2B5EF4-FFF2-40B4-BE49-F238E27FC236}">
                <a16:creationId xmlns:a16="http://schemas.microsoft.com/office/drawing/2014/main" id="{FB59F80F-5F41-4F6D-8153-2BBF9932F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181350"/>
            <a:ext cx="171450" cy="1428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node-5">
            <a:extLst xmlns:a="http://schemas.openxmlformats.org/drawingml/2006/main">
              <a:ext uri="{FF2B5EF4-FFF2-40B4-BE49-F238E27FC236}">
                <a16:creationId xmlns:a16="http://schemas.microsoft.com/office/drawing/2014/main" id="{B6E31408-0448-46E5-BD3E-AFECF7CAB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857500"/>
            <a:ext cx="1381125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2F83FF"/>
            </a:solidFill>
            <a:prstDash val="solid"/>
          </a:ln>
        </p:spPr>
      </p:sp>
      <p:sp>
        <p:nvSpPr>
          <p:cNvPr id="25" name="node-text-5">
            <a:extLst xmlns:a="http://schemas.openxmlformats.org/drawingml/2006/main">
              <a:ext uri="{FF2B5EF4-FFF2-40B4-BE49-F238E27FC236}">
                <a16:creationId xmlns:a16="http://schemas.microsoft.com/office/drawing/2014/main" id="{778C71A1-05F0-4971-B57F-88D0024E6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124200"/>
            <a:ext cx="1152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智能推荐</a:t>
            </a:r>
          </a:p>
        </p:txBody>
      </p:sp>
      <p:sp>
        <p:nvSpPr>
          <p:cNvPr id="26" name="loop-bottom">
            <a:extLst xmlns:a="http://schemas.openxmlformats.org/drawingml/2006/main">
              <a:ext uri="{FF2B5EF4-FFF2-40B4-BE49-F238E27FC236}">
                <a16:creationId xmlns:a16="http://schemas.microsoft.com/office/drawing/2014/main" id="{2FF11912-AB69-44D3-A393-BE50E74B8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705350"/>
            <a:ext cx="800100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27" name="loop-text">
            <a:extLst xmlns:a="http://schemas.openxmlformats.org/drawingml/2006/main">
              <a:ext uri="{FF2B5EF4-FFF2-40B4-BE49-F238E27FC236}">
                <a16:creationId xmlns:a16="http://schemas.microsoft.com/office/drawing/2014/main" id="{D9ABB185-1A5F-4704-8907-350EB8B5A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905375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50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下一轮培训复用资料、空间模板、评价模型和教师画像，平台越用越懂业务。</a:t>
            </a:r>
          </a:p>
        </p:txBody>
      </p:sp>
      <p:sp>
        <p:nvSpPr>
          <p:cNvPr id="28" name="top-note">
            <a:extLst xmlns:a="http://schemas.openxmlformats.org/drawingml/2006/main">
              <a:ext uri="{FF2B5EF4-FFF2-40B4-BE49-F238E27FC236}">
                <a16:creationId xmlns:a16="http://schemas.microsoft.com/office/drawing/2014/main" id="{154D67D6-0A08-42D9-88E9-ABAEC08B0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57400"/>
            <a:ext cx="10172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89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核心机制：业务资料进入资料库，活动过程进入空间，评价结果进入档案，推荐结果回到新一轮培训。</a:t>
            </a:r>
          </a:p>
        </p:txBody>
      </p:sp>
      <p:sp>
        <p:nvSpPr>
          <p:cNvPr id="29" name="page">
            <a:extLst xmlns:a="http://schemas.openxmlformats.org/drawingml/2006/main">
              <a:ext uri="{FF2B5EF4-FFF2-40B4-BE49-F238E27FC236}">
                <a16:creationId xmlns:a16="http://schemas.microsoft.com/office/drawing/2014/main" id="{1DC408B5-79CD-42F8-9B37-ECE7ADB1D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530311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eyebrow">
            <a:extLst xmlns:a="http://schemas.openxmlformats.org/drawingml/2006/main">
              <a:ext uri="{FF2B5EF4-FFF2-40B4-BE49-F238E27FC236}">
                <a16:creationId xmlns:a16="http://schemas.microsoft.com/office/drawing/2014/main" id="{1126BDC8-CDFF-458D-ADA5-E75661A2D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基于 AI 原生底座的培训平台建设方案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6D3ABCD-3F51-4718-9867-05EAA49B4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建设路线：先建底座，再做培训场景闭环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6F9D95C4-5B1A-413F-80C8-AAFBC23FE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11391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line">
            <a:extLst xmlns:a="http://schemas.openxmlformats.org/drawingml/2006/main">
              <a:ext uri="{FF2B5EF4-FFF2-40B4-BE49-F238E27FC236}">
                <a16:creationId xmlns:a16="http://schemas.microsoft.com/office/drawing/2014/main" id="{674FB043-8E96-444E-B4C0-FD59DE0AD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2514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dot-0">
            <a:extLst xmlns:a="http://schemas.openxmlformats.org/drawingml/2006/main">
              <a:ext uri="{FF2B5EF4-FFF2-40B4-BE49-F238E27FC236}">
                <a16:creationId xmlns:a16="http://schemas.microsoft.com/office/drawing/2014/main" id="{5D3FB8E5-5E1C-433E-A40D-4FEBB80FB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71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hase-label-0">
            <a:extLst xmlns:a="http://schemas.openxmlformats.org/drawingml/2006/main">
              <a:ext uri="{FF2B5EF4-FFF2-40B4-BE49-F238E27FC236}">
                <a16:creationId xmlns:a16="http://schemas.microsoft.com/office/drawing/2014/main" id="{6C7A9A1C-5550-49D7-9534-8DA421871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第一阶段</a:t>
            </a:r>
          </a:p>
        </p:txBody>
      </p:sp>
      <p:sp>
        <p:nvSpPr>
          <p:cNvPr id="7" name="phase-head-0">
            <a:extLst xmlns:a="http://schemas.openxmlformats.org/drawingml/2006/main">
              <a:ext uri="{FF2B5EF4-FFF2-40B4-BE49-F238E27FC236}">
                <a16:creationId xmlns:a16="http://schemas.microsoft.com/office/drawing/2014/main" id="{410F8C8A-DE96-40B5-BBE1-35B64140C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5200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AI 原生底座接入</a:t>
            </a:r>
          </a:p>
        </p:txBody>
      </p:sp>
      <p:sp>
        <p:nvSpPr>
          <p:cNvPr id="8" name="phase-body-0">
            <a:extLst xmlns:a="http://schemas.openxmlformats.org/drawingml/2006/main">
              <a:ext uri="{FF2B5EF4-FFF2-40B4-BE49-F238E27FC236}">
                <a16:creationId xmlns:a16="http://schemas.microsoft.com/office/drawing/2014/main" id="{69327A84-292E-46E9-A927-6605CB415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2238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接入 Lucky、资料库、空间、租户、模型统计和基础权限。</a:t>
            </a:r>
          </a:p>
        </p:txBody>
      </p:sp>
      <p:sp>
        <p:nvSpPr>
          <p:cNvPr id="9" name="line">
            <a:extLst xmlns:a="http://schemas.openxmlformats.org/drawingml/2006/main">
              <a:ext uri="{FF2B5EF4-FFF2-40B4-BE49-F238E27FC236}">
                <a16:creationId xmlns:a16="http://schemas.microsoft.com/office/drawing/2014/main" id="{A0185985-92F3-47FF-B690-0510AC85A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143250"/>
            <a:ext cx="2514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dot-1">
            <a:extLst xmlns:a="http://schemas.openxmlformats.org/drawingml/2006/main">
              <a:ext uri="{FF2B5EF4-FFF2-40B4-BE49-F238E27FC236}">
                <a16:creationId xmlns:a16="http://schemas.microsoft.com/office/drawing/2014/main" id="{99C23B3A-FF24-4D3E-AE1B-D95FCB350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0480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hase-label-1">
            <a:extLst xmlns:a="http://schemas.openxmlformats.org/drawingml/2006/main">
              <a:ext uri="{FF2B5EF4-FFF2-40B4-BE49-F238E27FC236}">
                <a16:creationId xmlns:a16="http://schemas.microsoft.com/office/drawing/2014/main" id="{51A34A12-F517-4696-8340-34B7FB30B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5527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第二阶段</a:t>
            </a:r>
          </a:p>
        </p:txBody>
      </p:sp>
      <p:sp>
        <p:nvSpPr>
          <p:cNvPr id="12" name="phase-head-1">
            <a:extLst xmlns:a="http://schemas.openxmlformats.org/drawingml/2006/main">
              <a:ext uri="{FF2B5EF4-FFF2-40B4-BE49-F238E27FC236}">
                <a16:creationId xmlns:a16="http://schemas.microsoft.com/office/drawing/2014/main" id="{DD75B38F-DCF2-4F5B-9587-99D25F38C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505200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培训场景模板</a:t>
            </a:r>
          </a:p>
        </p:txBody>
      </p:sp>
      <p:sp>
        <p:nvSpPr>
          <p:cNvPr id="13" name="phase-body-1">
            <a:extLst xmlns:a="http://schemas.openxmlformats.org/drawingml/2006/main">
              <a:ext uri="{FF2B5EF4-FFF2-40B4-BE49-F238E27FC236}">
                <a16:creationId xmlns:a16="http://schemas.microsoft.com/office/drawing/2014/main" id="{E5C00D41-8752-49C1-8E6C-CEF6550DB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943350"/>
            <a:ext cx="2238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沉淀培训项目、工作坊、网络研修、AI 实训等标准空间模板。</a:t>
            </a:r>
          </a:p>
        </p:txBody>
      </p:sp>
      <p:sp>
        <p:nvSpPr>
          <p:cNvPr id="14" name="line">
            <a:extLst xmlns:a="http://schemas.openxmlformats.org/drawingml/2006/main">
              <a:ext uri="{FF2B5EF4-FFF2-40B4-BE49-F238E27FC236}">
                <a16:creationId xmlns:a16="http://schemas.microsoft.com/office/drawing/2014/main" id="{93619552-37A8-4BB0-9DC6-2E1DEDD05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43250"/>
            <a:ext cx="2514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dot-2">
            <a:extLst xmlns:a="http://schemas.openxmlformats.org/drawingml/2006/main">
              <a:ext uri="{FF2B5EF4-FFF2-40B4-BE49-F238E27FC236}">
                <a16:creationId xmlns:a16="http://schemas.microsoft.com/office/drawing/2014/main" id="{A61B864D-20A2-42A0-A0F8-A4E4E8A15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480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hase-label-2">
            <a:extLst xmlns:a="http://schemas.openxmlformats.org/drawingml/2006/main">
              <a:ext uri="{FF2B5EF4-FFF2-40B4-BE49-F238E27FC236}">
                <a16:creationId xmlns:a16="http://schemas.microsoft.com/office/drawing/2014/main" id="{90B1F6E6-33B0-44B9-A270-85E14CE1C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527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第三阶段</a:t>
            </a:r>
          </a:p>
        </p:txBody>
      </p:sp>
      <p:sp>
        <p:nvSpPr>
          <p:cNvPr id="17" name="phase-head-2">
            <a:extLst xmlns:a="http://schemas.openxmlformats.org/drawingml/2006/main">
              <a:ext uri="{FF2B5EF4-FFF2-40B4-BE49-F238E27FC236}">
                <a16:creationId xmlns:a16="http://schemas.microsoft.com/office/drawing/2014/main" id="{329BAB00-A84F-455D-ACF4-26D129E2E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05200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评估与档案闭环</a:t>
            </a:r>
          </a:p>
        </p:txBody>
      </p:sp>
      <p:sp>
        <p:nvSpPr>
          <p:cNvPr id="18" name="phase-body-2">
            <a:extLst xmlns:a="http://schemas.openxmlformats.org/drawingml/2006/main">
              <a:ext uri="{FF2B5EF4-FFF2-40B4-BE49-F238E27FC236}">
                <a16:creationId xmlns:a16="http://schemas.microsoft.com/office/drawing/2014/main" id="{4A6725C6-53FF-4849-88A5-6107C5F4D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943350"/>
            <a:ext cx="2238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完成数据归集、评价模型、报告生成、档案沉淀和画像更新。</a:t>
            </a:r>
          </a:p>
        </p:txBody>
      </p:sp>
      <p:sp>
        <p:nvSpPr>
          <p:cNvPr id="19" name="line">
            <a:extLst xmlns:a="http://schemas.openxmlformats.org/drawingml/2006/main">
              <a:ext uri="{FF2B5EF4-FFF2-40B4-BE49-F238E27FC236}">
                <a16:creationId xmlns:a16="http://schemas.microsoft.com/office/drawing/2014/main" id="{73279631-4B1A-45FC-9942-FE7A42658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143250"/>
            <a:ext cx="2514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dot-3">
            <a:extLst xmlns:a="http://schemas.openxmlformats.org/drawingml/2006/main">
              <a:ext uri="{FF2B5EF4-FFF2-40B4-BE49-F238E27FC236}">
                <a16:creationId xmlns:a16="http://schemas.microsoft.com/office/drawing/2014/main" id="{EF54EF44-A113-4019-8C37-C2DDAD0AC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0480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hase-label-3">
            <a:extLst xmlns:a="http://schemas.openxmlformats.org/drawingml/2006/main">
              <a:ext uri="{FF2B5EF4-FFF2-40B4-BE49-F238E27FC236}">
                <a16:creationId xmlns:a16="http://schemas.microsoft.com/office/drawing/2014/main" id="{09151736-AFF3-4C91-87F4-B09587F0D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5527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第四阶段</a:t>
            </a:r>
          </a:p>
        </p:txBody>
      </p:sp>
      <p:sp>
        <p:nvSpPr>
          <p:cNvPr id="22" name="phase-head-3">
            <a:extLst xmlns:a="http://schemas.openxmlformats.org/drawingml/2006/main">
              <a:ext uri="{FF2B5EF4-FFF2-40B4-BE49-F238E27FC236}">
                <a16:creationId xmlns:a16="http://schemas.microsoft.com/office/drawing/2014/main" id="{DEEE6520-11D2-41B7-8F4C-E21025FE5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05200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推荐与运营服务</a:t>
            </a:r>
          </a:p>
        </p:txBody>
      </p:sp>
      <p:sp>
        <p:nvSpPr>
          <p:cNvPr id="23" name="phase-body-3">
            <a:extLst xmlns:a="http://schemas.openxmlformats.org/drawingml/2006/main">
              <a:ext uri="{FF2B5EF4-FFF2-40B4-BE49-F238E27FC236}">
                <a16:creationId xmlns:a16="http://schemas.microsoft.com/office/drawing/2014/main" id="{BC6C9B8E-3A38-4028-85A2-F1A83C9D8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943350"/>
            <a:ext cx="2238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上线课程、活动、资源、路径推荐，并形成运营看板和触达机制。</a:t>
            </a:r>
          </a:p>
        </p:txBody>
      </p:sp>
      <p:sp>
        <p:nvSpPr>
          <p:cNvPr id="24" name="bottom">
            <a:extLst xmlns:a="http://schemas.openxmlformats.org/drawingml/2006/main">
              <a:ext uri="{FF2B5EF4-FFF2-40B4-BE49-F238E27FC236}">
                <a16:creationId xmlns:a16="http://schemas.microsoft.com/office/drawing/2014/main" id="{B8E56DB2-91D1-4AF6-8E0D-F00501E20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14950"/>
            <a:ext cx="1028700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2F83FF"/>
            </a:solidFill>
            <a:prstDash val="solid"/>
          </a:ln>
        </p:spPr>
      </p:sp>
      <p:sp>
        <p:nvSpPr>
          <p:cNvPr id="25" name="bottom-text">
            <a:extLst xmlns:a="http://schemas.openxmlformats.org/drawingml/2006/main">
              <a:ext uri="{FF2B5EF4-FFF2-40B4-BE49-F238E27FC236}">
                <a16:creationId xmlns:a16="http://schemas.microsoft.com/office/drawing/2014/main" id="{89616926-BA62-43E8-8AA2-AAD7A0AEA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86400"/>
            <a:ext cx="971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建设原则：培训业务先跑通，AI 能力逐步嵌入；先形成可用闭环，再沉淀可复制模板。</a:t>
            </a:r>
          </a:p>
        </p:txBody>
      </p:sp>
      <p:sp>
        <p:nvSpPr>
          <p:cNvPr id="26" name="page">
            <a:extLst xmlns:a="http://schemas.openxmlformats.org/drawingml/2006/main">
              <a:ext uri="{FF2B5EF4-FFF2-40B4-BE49-F238E27FC236}">
                <a16:creationId xmlns:a16="http://schemas.microsoft.com/office/drawing/2014/main" id="{F072A617-E6BF-4B30-89C8-46A96CB68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45105882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eyebrow">
            <a:extLst xmlns:a="http://schemas.openxmlformats.org/drawingml/2006/main">
              <a:ext uri="{FF2B5EF4-FFF2-40B4-BE49-F238E27FC236}">
                <a16:creationId xmlns:a16="http://schemas.microsoft.com/office/drawing/2014/main" id="{CA5541D7-0B55-4892-A7BC-CE6C26FC6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基于 AI 原生底座的培训平台建设方案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218D1A9-2F63-4336-8D3F-539F50BC7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交付形态：方案、资源、服务和算力共同形成平台价值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5AD5C572-89D4-4121-861A-BF27986CA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11391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ard-解决方案">
            <a:extLst xmlns:a="http://schemas.openxmlformats.org/drawingml/2006/main">
              <a:ext uri="{FF2B5EF4-FFF2-40B4-BE49-F238E27FC236}">
                <a16:creationId xmlns:a16="http://schemas.microsoft.com/office/drawing/2014/main" id="{7E0E00BC-6ACF-462B-A91E-7315C3F55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33600"/>
            <a:ext cx="2190750" cy="2190750"/>
          </a:xfrm>
          <a:prstGeom xmlns:a="http://schemas.openxmlformats.org/drawingml/2006/main" prst="roundRect">
            <a:avLst>
              <a:gd name="adj" fmla="val 297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badge-01">
            <a:extLst xmlns:a="http://schemas.openxmlformats.org/drawingml/2006/main">
              <a:ext uri="{FF2B5EF4-FFF2-40B4-BE49-F238E27FC236}">
                <a16:creationId xmlns:a16="http://schemas.microsoft.com/office/drawing/2014/main" id="{2DBDBBCE-339A-47B7-B8C8-EB435F18D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24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adge-text-01">
            <a:extLst xmlns:a="http://schemas.openxmlformats.org/drawingml/2006/main">
              <a:ext uri="{FF2B5EF4-FFF2-40B4-BE49-F238E27FC236}">
                <a16:creationId xmlns:a16="http://schemas.microsoft.com/office/drawing/2014/main" id="{2BFE9BDF-D296-46B1-8C73-F12043D1A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717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ard-head-解决方案">
            <a:extLst xmlns:a="http://schemas.openxmlformats.org/drawingml/2006/main">
              <a:ext uri="{FF2B5EF4-FFF2-40B4-BE49-F238E27FC236}">
                <a16:creationId xmlns:a16="http://schemas.microsoft.com/office/drawing/2014/main" id="{E9C009BB-8DEF-45D1-B1AB-C8678C48D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43150"/>
            <a:ext cx="1257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解决方案</a:t>
            </a:r>
          </a:p>
        </p:txBody>
      </p:sp>
      <p:sp>
        <p:nvSpPr>
          <p:cNvPr id="8" name="card-body-解决方案">
            <a:extLst xmlns:a="http://schemas.openxmlformats.org/drawingml/2006/main">
              <a:ext uri="{FF2B5EF4-FFF2-40B4-BE49-F238E27FC236}">
                <a16:creationId xmlns:a16="http://schemas.microsoft.com/office/drawing/2014/main" id="{6ED8B3BF-41B2-4861-BC46-A7739A539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95600"/>
            <a:ext cx="17716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对应产品线，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如人工智能教学平台、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智能体平台、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教师干部培训平台，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形成平台解决方案。</a:t>
            </a:r>
          </a:p>
        </p:txBody>
      </p:sp>
      <p:sp>
        <p:nvSpPr>
          <p:cNvPr id="14" name="card-资源包">
            <a:extLst xmlns:a="http://schemas.openxmlformats.org/drawingml/2006/main">
              <a:ext uri="{FF2B5EF4-FFF2-40B4-BE49-F238E27FC236}">
                <a16:creationId xmlns:a16="http://schemas.microsoft.com/office/drawing/2014/main" id="{04B84A18-EB11-4249-8C10-5191EEC04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33600"/>
            <a:ext cx="2190750" cy="2190750"/>
          </a:xfrm>
          <a:prstGeom xmlns:a="http://schemas.openxmlformats.org/drawingml/2006/main" prst="roundRect">
            <a:avLst>
              <a:gd name="adj" fmla="val 297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badge-03">
            <a:extLst xmlns:a="http://schemas.openxmlformats.org/drawingml/2006/main">
              <a:ext uri="{FF2B5EF4-FFF2-40B4-BE49-F238E27FC236}">
                <a16:creationId xmlns:a16="http://schemas.microsoft.com/office/drawing/2014/main" id="{7AC68617-67E7-4FE1-9EA5-EF129EBD6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324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adge-text-03">
            <a:extLst xmlns:a="http://schemas.openxmlformats.org/drawingml/2006/main">
              <a:ext uri="{FF2B5EF4-FFF2-40B4-BE49-F238E27FC236}">
                <a16:creationId xmlns:a16="http://schemas.microsoft.com/office/drawing/2014/main" id="{CA50131E-C5BD-41BD-BAFA-43D48512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3717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7" name="card-head-资源包">
            <a:extLst xmlns:a="http://schemas.openxmlformats.org/drawingml/2006/main">
              <a:ext uri="{FF2B5EF4-FFF2-40B4-BE49-F238E27FC236}">
                <a16:creationId xmlns:a16="http://schemas.microsoft.com/office/drawing/2014/main" id="{2F8400E5-D304-45AC-BE6A-75465E5B9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343150"/>
            <a:ext cx="1257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资源包</a:t>
            </a:r>
          </a:p>
        </p:txBody>
      </p:sp>
      <p:sp>
        <p:nvSpPr>
          <p:cNvPr id="18" name="card-body-资源包">
            <a:extLst xmlns:a="http://schemas.openxmlformats.org/drawingml/2006/main">
              <a:ext uri="{FF2B5EF4-FFF2-40B4-BE49-F238E27FC236}">
                <a16:creationId xmlns:a16="http://schemas.microsoft.com/office/drawing/2014/main" id="{88C532BB-23CA-4069-A88C-625602F9B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895600"/>
            <a:ext cx="17716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沉淀课程、案例、任务单、测验、成果模板和优秀案例。</a:t>
            </a:r>
          </a:p>
        </p:txBody>
      </p:sp>
      <p:sp>
        <p:nvSpPr>
          <p:cNvPr id="19" name="card-运营服务">
            <a:extLst xmlns:a="http://schemas.openxmlformats.org/drawingml/2006/main">
              <a:ext uri="{FF2B5EF4-FFF2-40B4-BE49-F238E27FC236}">
                <a16:creationId xmlns:a16="http://schemas.microsoft.com/office/drawing/2014/main" id="{10CC9877-09AF-45FA-8E1F-494424C5A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33600"/>
            <a:ext cx="2190750" cy="2190750"/>
          </a:xfrm>
          <a:prstGeom xmlns:a="http://schemas.openxmlformats.org/drawingml/2006/main" prst="roundRect">
            <a:avLst>
              <a:gd name="adj" fmla="val 297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badge-04">
            <a:extLst xmlns:a="http://schemas.openxmlformats.org/drawingml/2006/main">
              <a:ext uri="{FF2B5EF4-FFF2-40B4-BE49-F238E27FC236}">
                <a16:creationId xmlns:a16="http://schemas.microsoft.com/office/drawing/2014/main" id="{49424B7B-93FF-4726-B0EC-B5371D73F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24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adge-text-04">
            <a:extLst xmlns:a="http://schemas.openxmlformats.org/drawingml/2006/main">
              <a:ext uri="{FF2B5EF4-FFF2-40B4-BE49-F238E27FC236}">
                <a16:creationId xmlns:a16="http://schemas.microsoft.com/office/drawing/2014/main" id="{BEBC6828-0FD2-4604-8415-7D1F46588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717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22" name="card-head-运营服务">
            <a:extLst xmlns:a="http://schemas.openxmlformats.org/drawingml/2006/main">
              <a:ext uri="{FF2B5EF4-FFF2-40B4-BE49-F238E27FC236}">
                <a16:creationId xmlns:a16="http://schemas.microsoft.com/office/drawing/2014/main" id="{B0257E84-3FE6-4C2B-AE67-90E01AC14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343150"/>
            <a:ext cx="1257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运营服务</a:t>
            </a:r>
          </a:p>
        </p:txBody>
      </p:sp>
      <p:sp>
        <p:nvSpPr>
          <p:cNvPr id="23" name="card-body-运营服务">
            <a:extLst xmlns:a="http://schemas.openxmlformats.org/drawingml/2006/main">
              <a:ext uri="{FF2B5EF4-FFF2-40B4-BE49-F238E27FC236}">
                <a16:creationId xmlns:a16="http://schemas.microsoft.com/office/drawing/2014/main" id="{44163B48-98F8-4774-A7EB-F6ED73484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95600"/>
            <a:ext cx="17716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提供场景配置、培训辅导、数据分析、报告输出和持续优化。</a:t>
            </a:r>
          </a:p>
        </p:txBody>
      </p:sp>
      <p:sp>
        <p:nvSpPr>
          <p:cNvPr id="24" name="card-Token 算力">
            <a:extLst xmlns:a="http://schemas.openxmlformats.org/drawingml/2006/main">
              <a:ext uri="{FF2B5EF4-FFF2-40B4-BE49-F238E27FC236}">
                <a16:creationId xmlns:a16="http://schemas.microsoft.com/office/drawing/2014/main" id="{06CA26CB-B958-4D30-B45E-88EF9E340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33600"/>
            <a:ext cx="2190750" cy="2190750"/>
          </a:xfrm>
          <a:prstGeom xmlns:a="http://schemas.openxmlformats.org/drawingml/2006/main" prst="roundRect">
            <a:avLst>
              <a:gd name="adj" fmla="val 297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2F83FF"/>
            </a:solidFill>
            <a:prstDash val="solid"/>
          </a:ln>
        </p:spPr>
      </p:sp>
      <p:sp>
        <p:nvSpPr>
          <p:cNvPr id="25" name="badge-05">
            <a:extLst xmlns:a="http://schemas.openxmlformats.org/drawingml/2006/main">
              <a:ext uri="{FF2B5EF4-FFF2-40B4-BE49-F238E27FC236}">
                <a16:creationId xmlns:a16="http://schemas.microsoft.com/office/drawing/2014/main" id="{A37E1AB5-A382-4380-9B7B-491CC8CFD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324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badge-text-05">
            <a:extLst xmlns:a="http://schemas.openxmlformats.org/drawingml/2006/main">
              <a:ext uri="{FF2B5EF4-FFF2-40B4-BE49-F238E27FC236}">
                <a16:creationId xmlns:a16="http://schemas.microsoft.com/office/drawing/2014/main" id="{C2B11A5F-5CB1-4D4C-AFC2-6778E48AA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3717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7" name="card-head-Token 算力">
            <a:extLst xmlns:a="http://schemas.openxmlformats.org/drawingml/2006/main">
              <a:ext uri="{FF2B5EF4-FFF2-40B4-BE49-F238E27FC236}">
                <a16:creationId xmlns:a16="http://schemas.microsoft.com/office/drawing/2014/main" id="{4782DE7C-8D89-4C2F-AD2E-6C6232E1B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343150"/>
            <a:ext cx="1257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Token 算力</a:t>
            </a:r>
          </a:p>
        </p:txBody>
      </p:sp>
      <p:sp>
        <p:nvSpPr>
          <p:cNvPr id="28" name="card-body-Token 算力">
            <a:extLst xmlns:a="http://schemas.openxmlformats.org/drawingml/2006/main">
              <a:ext uri="{FF2B5EF4-FFF2-40B4-BE49-F238E27FC236}">
                <a16:creationId xmlns:a16="http://schemas.microsoft.com/office/drawing/2014/main" id="{7BB32B63-2A65-4D0A-8C90-CC8A8E180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95600"/>
            <a:ext cx="17716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以模型统计计量 AI 调用和算力消耗，支撑套餐、预警和结算。</a:t>
            </a:r>
          </a:p>
        </p:txBody>
      </p:sp>
      <p:sp>
        <p:nvSpPr>
          <p:cNvPr id="29" name="outcome">
            <a:extLst xmlns:a="http://schemas.openxmlformats.org/drawingml/2006/main">
              <a:ext uri="{FF2B5EF4-FFF2-40B4-BE49-F238E27FC236}">
                <a16:creationId xmlns:a16="http://schemas.microsoft.com/office/drawing/2014/main" id="{CB064E99-9471-43AB-B8DD-F99702C84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19700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713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2F83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2F83FF"/>
                </a:solidFill>
                <a:latin typeface="PingFang SC"/>
                <a:ea typeface="PingFang SC"/>
                <a:cs typeface="PingFang SC"/>
              </a:rPr>
              <a:t>预期成效：培训组织更高效、过程数据更完整、评估更可追溯、档案更连续、推荐更精准、商业交付更可运营。</a:t>
            </a:r>
          </a:p>
        </p:txBody>
      </p:sp>
      <p:sp>
        <p:nvSpPr>
          <p:cNvPr id="30" name="page">
            <a:extLst xmlns:a="http://schemas.openxmlformats.org/drawingml/2006/main">
              <a:ext uri="{FF2B5EF4-FFF2-40B4-BE49-F238E27FC236}">
                <a16:creationId xmlns:a16="http://schemas.microsoft.com/office/drawing/2014/main" id="{A750086C-8FA1-4E4B-9CAE-70A8216C3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1289342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2026-07-28T02:32:08.8530000Z</dcterms:created>
  <dcterms:modified xsi:type="dcterms:W3CDTF">2026-07-28T02:32:08.8530000Z</dcterms:modified>
</coreProperties>
</file>