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389ef0233642ac" /><Relationship Type="http://schemas.openxmlformats.org/officeDocument/2006/relationships/extended-properties" Target="/docProps/app.xml" Id="R5859634936da42a0" /><Relationship Type="http://schemas.openxmlformats.org/officeDocument/2006/relationships/officeDocument" Target="/ppt/presentation.xml" Id="Re8b2a63e29d64c45" /></Relationships>
</file>

<file path=ppt/presentation.xml><?xml version="1.0" encoding="utf-8"?>
<p:presentation xmlns:p="http://schemas.openxmlformats.org/presentationml/2006/main">
  <p:sldMasterIdLst>
    <p:sldMasterId xmlns:r="http://schemas.openxmlformats.org/officeDocument/2006/relationships" id="2147483648" r:id="Re29244bc71d14d59"/>
  </p:sldMasterIdLst>
  <p:notesMasterIdLst>
    <p:notesMasterId xmlns:r="http://schemas.openxmlformats.org/officeDocument/2006/relationships" r:id="Rb26b43604163416a"/>
  </p:notesMasterIdLst>
  <p:sldIdLst>
    <p:sldId xmlns:r="http://schemas.openxmlformats.org/officeDocument/2006/relationships" id="256" r:id="Ra5f82c10d443475b"/>
    <p:sldId xmlns:r="http://schemas.openxmlformats.org/officeDocument/2006/relationships" id="257" r:id="Readf034019684399"/>
    <p:sldId xmlns:r="http://schemas.openxmlformats.org/officeDocument/2006/relationships" id="258" r:id="R9e923f3608284508"/>
    <p:sldId xmlns:r="http://schemas.openxmlformats.org/officeDocument/2006/relationships" id="259" r:id="Rcfc24edc03764381"/>
    <p:sldId xmlns:r="http://schemas.openxmlformats.org/officeDocument/2006/relationships" id="260" r:id="R1193afb6416f43b6"/>
    <p:sldId xmlns:r="http://schemas.openxmlformats.org/officeDocument/2006/relationships" id="261" r:id="R32246af950c747f0"/>
    <p:sldId xmlns:r="http://schemas.openxmlformats.org/officeDocument/2006/relationships" id="262" r:id="Rfc59265c1a054bfb"/>
    <p:sldId xmlns:r="http://schemas.openxmlformats.org/officeDocument/2006/relationships" id="263" r:id="R7b42430aab7b4d55"/>
    <p:sldId xmlns:r="http://schemas.openxmlformats.org/officeDocument/2006/relationships" id="264" r:id="R5f89826fc7944ad0"/>
    <p:sldId xmlns:r="http://schemas.openxmlformats.org/officeDocument/2006/relationships" id="265" r:id="Rc765028ec3c44024"/>
    <p:sldId xmlns:r="http://schemas.openxmlformats.org/officeDocument/2006/relationships" id="266" r:id="Rcac2f73a727643f7"/>
    <p:sldId xmlns:r="http://schemas.openxmlformats.org/officeDocument/2006/relationships" id="267" r:id="R7272594732974334"/>
    <p:sldId xmlns:r="http://schemas.openxmlformats.org/officeDocument/2006/relationships" id="268" r:id="Rb34c8c7aa0954e0e"/>
    <p:sldId xmlns:r="http://schemas.openxmlformats.org/officeDocument/2006/relationships" id="269" r:id="R7e72e24bc210494b"/>
    <p:sldId xmlns:r="http://schemas.openxmlformats.org/officeDocument/2006/relationships" id="270" r:id="R8315772f7eb3472e"/>
    <p:sldId xmlns:r="http://schemas.openxmlformats.org/officeDocument/2006/relationships" id="271" r:id="R69e89897be4e4f62"/>
    <p:sldId xmlns:r="http://schemas.openxmlformats.org/officeDocument/2006/relationships" id="272" r:id="R478bdd8f1f8040ef"/>
    <p:sldId xmlns:r="http://schemas.openxmlformats.org/officeDocument/2006/relationships" id="273" r:id="Ra9e32660e28d4f6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c521d50e0dee4520" /><Relationship Type="http://schemas.openxmlformats.org/officeDocument/2006/relationships/slideMaster" Target="/ppt/slideMasters/slideMaster1.xml" Id="Re29244bc71d14d59" /><Relationship Type="http://schemas.openxmlformats.org/officeDocument/2006/relationships/notesMaster" Target="/ppt/notesMasters/notesMaster1.xml" Id="Rb26b43604163416a" /><Relationship Type="http://schemas.openxmlformats.org/officeDocument/2006/relationships/presProps" Target="/ppt/presProps.xml" Id="R69130ad3bce9425e" /><Relationship Type="http://schemas.openxmlformats.org/officeDocument/2006/relationships/viewProps" Target="/ppt/viewProps.xml" Id="Rc6ef1e5e42794114" /><Relationship Type="http://schemas.openxmlformats.org/officeDocument/2006/relationships/tableStyles" Target="/ppt/tableStyles.xml" Id="R415f7081be4642cb" /><Relationship Type="http://schemas.openxmlformats.org/officeDocument/2006/relationships/slide" Target="/ppt/slides/slide1.xml" Id="Ra5f82c10d443475b" /><Relationship Type="http://schemas.openxmlformats.org/officeDocument/2006/relationships/slide" Target="/ppt/slides/slide2.xml" Id="Readf034019684399" /><Relationship Type="http://schemas.openxmlformats.org/officeDocument/2006/relationships/slide" Target="/ppt/slides/slide3.xml" Id="R9e923f3608284508" /><Relationship Type="http://schemas.openxmlformats.org/officeDocument/2006/relationships/slide" Target="/ppt/slides/slide4.xml" Id="Rcfc24edc03764381" /><Relationship Type="http://schemas.openxmlformats.org/officeDocument/2006/relationships/slide" Target="/ppt/slides/slide5.xml" Id="R1193afb6416f43b6" /><Relationship Type="http://schemas.openxmlformats.org/officeDocument/2006/relationships/slide" Target="/ppt/slides/slide6.xml" Id="R32246af950c747f0" /><Relationship Type="http://schemas.openxmlformats.org/officeDocument/2006/relationships/slide" Target="/ppt/slides/slide7.xml" Id="Rfc59265c1a054bfb" /><Relationship Type="http://schemas.openxmlformats.org/officeDocument/2006/relationships/slide" Target="/ppt/slides/slide8.xml" Id="R7b42430aab7b4d55" /><Relationship Type="http://schemas.openxmlformats.org/officeDocument/2006/relationships/slide" Target="/ppt/slides/slide9.xml" Id="R5f89826fc7944ad0" /><Relationship Type="http://schemas.openxmlformats.org/officeDocument/2006/relationships/slide" Target="/ppt/slides/slide10.xml" Id="Rc765028ec3c44024" /><Relationship Type="http://schemas.openxmlformats.org/officeDocument/2006/relationships/slide" Target="/ppt/slides/slide11.xml" Id="Rcac2f73a727643f7" /><Relationship Type="http://schemas.openxmlformats.org/officeDocument/2006/relationships/slide" Target="/ppt/slides/slide12.xml" Id="R7272594732974334" /><Relationship Type="http://schemas.openxmlformats.org/officeDocument/2006/relationships/slide" Target="/ppt/slides/slide13.xml" Id="Rb34c8c7aa0954e0e" /><Relationship Type="http://schemas.openxmlformats.org/officeDocument/2006/relationships/slide" Target="/ppt/slides/slide14.xml" Id="R7e72e24bc210494b" /><Relationship Type="http://schemas.openxmlformats.org/officeDocument/2006/relationships/slide" Target="/ppt/slides/slide15.xml" Id="R8315772f7eb3472e" /><Relationship Type="http://schemas.openxmlformats.org/officeDocument/2006/relationships/slide" Target="/ppt/slides/slide16.xml" Id="R69e89897be4e4f62" /><Relationship Type="http://schemas.openxmlformats.org/officeDocument/2006/relationships/slide" Target="/ppt/slides/slide17.xml" Id="R478bdd8f1f8040ef" /><Relationship Type="http://schemas.openxmlformats.org/officeDocument/2006/relationships/slide" Target="/ppt/slides/slide18.xml" Id="Ra9e32660e28d4f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fd224c01ab4a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41c68e780c4f4b" /><Relationship Type="http://schemas.openxmlformats.org/officeDocument/2006/relationships/notesMaster" Target="/ppt/notesMasters/notesMaster1.xml" Id="R8e0b878d3e604a0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138eea86df4420" /><Relationship Type="http://schemas.openxmlformats.org/officeDocument/2006/relationships/notesMaster" Target="/ppt/notesMasters/notesMaster1.xml" Id="R995c557f08ef49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b0d79ac7204e2b" /><Relationship Type="http://schemas.openxmlformats.org/officeDocument/2006/relationships/notesMaster" Target="/ppt/notesMasters/notesMaster1.xml" Id="R5848d0ece7aa4e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e6ec95e0cf4141" /><Relationship Type="http://schemas.openxmlformats.org/officeDocument/2006/relationships/notesMaster" Target="/ppt/notesMasters/notesMaster1.xml" Id="R539556f35f7f44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d4ac2ba807438d" /><Relationship Type="http://schemas.openxmlformats.org/officeDocument/2006/relationships/notesMaster" Target="/ppt/notesMasters/notesMaster1.xml" Id="R09311a850beb4c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fcbcc7364d4f51" /><Relationship Type="http://schemas.openxmlformats.org/officeDocument/2006/relationships/notesMaster" Target="/ppt/notesMasters/notesMaster1.xml" Id="R2546c87e6e0241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dfd725f56c4675" /><Relationship Type="http://schemas.openxmlformats.org/officeDocument/2006/relationships/notesMaster" Target="/ppt/notesMasters/notesMaster1.xml" Id="Re57f9f1fccfd4097"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c822f886b445e3" /><Relationship Type="http://schemas.openxmlformats.org/officeDocument/2006/relationships/notesMaster" Target="/ppt/notesMasters/notesMaster1.xml" Id="Rae439eb9b10649be" /></Relationships>
</file>

<file path=ppt/notesSlides/_rels/notesSlide9.xml.rels>&#65279;<?xml version="1.0" encoding="utf-8"?><Relationships xmlns="http://schemas.openxmlformats.org/package/2006/relationships"><Relationship Type="http://schemas.openxmlformats.org/officeDocument/2006/relationships/slide" Target="/ppt/slides/slide9.xml" Id="R7cc157a549564753" /><Relationship Type="http://schemas.openxmlformats.org/officeDocument/2006/relationships/notesMaster" Target="/ppt/notesMasters/notesMaster1.xml" Id="R286511870e4949a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47477fa98c464e" /><Relationship Type="http://schemas.openxmlformats.org/officeDocument/2006/relationships/notesMaster" Target="/ppt/notesMasters/notesMaster1.xml" Id="R90fd83f42efe42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a2899cdd0a4936" /><Relationship Type="http://schemas.openxmlformats.org/officeDocument/2006/relationships/notesMaster" Target="/ppt/notesMasters/notesMaster1.xml" Id="R222b3e5a4cce426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6ce3f5bc405428e" /><Relationship Type="http://schemas.openxmlformats.org/officeDocument/2006/relationships/notesMaster" Target="/ppt/notesMasters/notesMaster1.xml" Id="R7418220a2239469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d3fee8e5f4c45fd" /><Relationship Type="http://schemas.openxmlformats.org/officeDocument/2006/relationships/notesMaster" Target="/ppt/notesMasters/notesMaster1.xml" Id="R358945bb99224b3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c74d310deed45d9" /><Relationship Type="http://schemas.openxmlformats.org/officeDocument/2006/relationships/notesMaster" Target="/ppt/notesMasters/notesMaster1.xml" Id="R8643d23b740c4b2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34f0fd7aaa0416d" /><Relationship Type="http://schemas.openxmlformats.org/officeDocument/2006/relationships/notesMaster" Target="/ppt/notesMasters/notesMaster1.xml" Id="R361c658daa43425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ccb51a4378e44af" /><Relationship Type="http://schemas.openxmlformats.org/officeDocument/2006/relationships/notesMaster" Target="/ppt/notesMasters/notesMaster1.xml" Id="Rc160b536f7a44db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d8364af917f4d8e" /><Relationship Type="http://schemas.openxmlformats.org/officeDocument/2006/relationships/notesMaster" Target="/ppt/notesMasters/notesMaster1.xml" Id="R90832ee1468b468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54d142630e7478e" /><Relationship Type="http://schemas.openxmlformats.org/officeDocument/2006/relationships/notesMaster" Target="/ppt/notesMasters/notesMaster1.xml" Id="R9e3e4861d7d34c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e3174e8f9144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bc91044b2c4486" /><Relationship Type="http://schemas.openxmlformats.org/officeDocument/2006/relationships/slideLayout" Target="/ppt/slideLayouts/slideLayout1.xml" Id="R66e9c27e5a3546b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e9c27e5a3546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86b085560594173" /><Relationship Type="http://schemas.openxmlformats.org/officeDocument/2006/relationships/notesSlide" Target="/ppt/notesSlides/notesSlide1.xml" Id="Re86bf29f4166406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81535b7702c473d" /><Relationship Type="http://schemas.openxmlformats.org/officeDocument/2006/relationships/notesSlide" Target="/ppt/notesSlides/notesSlide2.xml" Id="Rfe3420c05ae44e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ac6de0862854d88" /><Relationship Type="http://schemas.openxmlformats.org/officeDocument/2006/relationships/notesSlide" Target="/ppt/notesSlides/notesSlide3.xml" Id="R55f0b41dcb164c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1637ba58ea04c18" /><Relationship Type="http://schemas.openxmlformats.org/officeDocument/2006/relationships/notesSlide" Target="/ppt/notesSlides/notesSlide4.xml" Id="R8e00b71843174e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5d28bb2e72948ef" /><Relationship Type="http://schemas.openxmlformats.org/officeDocument/2006/relationships/notesSlide" Target="/ppt/notesSlides/notesSlide5.xml" Id="Ra1b05a58a0e4467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5013f0f516f45e3" /><Relationship Type="http://schemas.openxmlformats.org/officeDocument/2006/relationships/notesSlide" Target="/ppt/notesSlides/notesSlide6.xml" Id="R7d3aa634133d401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06816eae15642d0" /><Relationship Type="http://schemas.openxmlformats.org/officeDocument/2006/relationships/notesSlide" Target="/ppt/notesSlides/notesSlide7.xml" Id="R2db016b0626641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6480ebb57904857" /><Relationship Type="http://schemas.openxmlformats.org/officeDocument/2006/relationships/notesSlide" Target="/ppt/notesSlides/notesSlide8.xml" Id="R2ecc3263633b45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511b7a668d54513" /><Relationship Type="http://schemas.openxmlformats.org/officeDocument/2006/relationships/notesSlide" Target="/ppt/notesSlides/notesSlide9.xml" Id="Ra9e71b61571848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a27dbc4103141b1" /><Relationship Type="http://schemas.openxmlformats.org/officeDocument/2006/relationships/notesSlide" Target="/ppt/notesSlides/notesSlide10.xml" Id="R13ee9a1d59bd4d6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096ad8075ed436c" /><Relationship Type="http://schemas.openxmlformats.org/officeDocument/2006/relationships/notesSlide" Target="/ppt/notesSlides/notesSlide11.xml" Id="Rda5a7b3ae2d84b7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a39208f439e44aa" /><Relationship Type="http://schemas.openxmlformats.org/officeDocument/2006/relationships/notesSlide" Target="/ppt/notesSlides/notesSlide12.xml" Id="R63bdb597d07a405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775fe0939c84fbb" /><Relationship Type="http://schemas.openxmlformats.org/officeDocument/2006/relationships/notesSlide" Target="/ppt/notesSlides/notesSlide13.xml" Id="R01e4cb71bfee415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2a4690ed2cd4c8b" /><Relationship Type="http://schemas.openxmlformats.org/officeDocument/2006/relationships/notesSlide" Target="/ppt/notesSlides/notesSlide14.xml" Id="R4899ea7f5069435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415325afe984071" /><Relationship Type="http://schemas.openxmlformats.org/officeDocument/2006/relationships/notesSlide" Target="/ppt/notesSlides/notesSlide15.xml" Id="R84b004f0297c467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f7fbd8d2b2142b2" /><Relationship Type="http://schemas.openxmlformats.org/officeDocument/2006/relationships/notesSlide" Target="/ppt/notesSlides/notesSlide16.xml" Id="R65f149f230f9493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fabe213e39047c8" /><Relationship Type="http://schemas.openxmlformats.org/officeDocument/2006/relationships/notesSlide" Target="/ppt/notesSlides/notesSlide17.xml" Id="Re645fba342d34f6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f1072a84334456d" /><Relationship Type="http://schemas.openxmlformats.org/officeDocument/2006/relationships/notesSlide" Target="/ppt/notesSlides/notesSlide18.xml" Id="R3a365885daa34a3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45C6A9D0-D45E-49AE-8B36-F92FF0CF734E}"/>
              </a:ext>
            </a:extLst>
          </p:cNvPr>
          <p:cNvSpPr>
            <a:spLocks xmlns:a="http://schemas.openxmlformats.org/drawingml/2006/main" noGrp="1"/>
          </p:cNvSpPr>
          <p:nvPr/>
        </p:nvSpPr>
        <p:spPr>
          <a:xfrm xmlns:a="http://schemas.openxmlformats.org/drawingml/2006/main">
            <a:off x="390525" y="781050"/>
            <a:ext cx="7524750" cy="1504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4350" b="1">
                <a:solidFill>
                  <a:srgbClr val="000000"/>
                </a:solidFill>
                <a:latin typeface="PingFang SC"/>
                <a:ea typeface="PingFang SC"/>
                <a:cs typeface="PingFang SC"/>
              </a:defRPr>
            </a:pPr>
            <a:r>
              <a:t>果仁培训产品蓝图</a:t>
            </a:r>
          </a:p>
          <a:p xmlns:a="http://schemas.openxmlformats.org/drawingml/2006/main">
            <a:pPr algn="l">
              <a:buNone/>
              <a:defRPr sz="4350" b="1">
                <a:solidFill>
                  <a:srgbClr val="000000"/>
                </a:solidFill>
                <a:latin typeface="PingFang SC"/>
                <a:ea typeface="PingFang SC"/>
                <a:cs typeface="PingFang SC"/>
              </a:defRPr>
            </a:pPr>
            <a:r>
              <a:t>三大子系统架构</a:t>
            </a:r>
          </a:p>
        </p:txBody>
      </p:sp>
      <p:sp>
        <p:nvSpPr>
          <p:cNvPr id="3" name="矩形 2">
            <a:extLst xmlns:a="http://schemas.openxmlformats.org/drawingml/2006/main">
              <a:ext uri="{FF2B5EF4-FFF2-40B4-BE49-F238E27FC236}">
                <a16:creationId xmlns:a16="http://schemas.microsoft.com/office/drawing/2014/main" id="{AA3018DB-945D-446F-B6E3-4B916EC775CD}"/>
              </a:ext>
            </a:extLst>
          </p:cNvPr>
          <p:cNvSpPr>
            <a:spLocks xmlns:a="http://schemas.openxmlformats.org/drawingml/2006/main" noGrp="1"/>
          </p:cNvSpPr>
          <p:nvPr/>
        </p:nvSpPr>
        <p:spPr>
          <a:xfrm xmlns:a="http://schemas.openxmlformats.org/drawingml/2006/main">
            <a:off x="409575" y="2476500"/>
            <a:ext cx="4762500" cy="419100"/>
          </a:xfrm>
          <a:prstGeom xmlns:a="http://schemas.openxmlformats.org/drawingml/2006/main" prst="rect">
            <a:avLst/>
          </a:prstGeom>
        </p:spPr>
        <p:txBody>
          <a:bodyPr xmlns:a="http://schemas.openxmlformats.org/drawingml/2006/main" lIns="0" tIns="0" rIns="0" bIns="0" anchor="ctr">
            <a:normAutofit fontScale="86005"/>
          </a:bodyPr>
          <a:lstStyle xmlns:a="http://schemas.openxmlformats.org/drawingml/2006/main"/>
          <a:p xmlns:a="http://schemas.openxmlformats.org/drawingml/2006/main">
            <a:pPr algn="l">
              <a:buNone/>
              <a:defRPr sz="2100" b="1">
                <a:solidFill>
                  <a:srgbClr val="555555"/>
                </a:solidFill>
                <a:latin typeface="PingFang SC"/>
                <a:ea typeface="PingFang SC"/>
                <a:cs typeface="PingFang SC"/>
              </a:defRPr>
            </a:pPr>
            <a:r>
              <a:t>AI 原生底座上的内训与外训发展活动运营平台</a:t>
            </a:r>
          </a:p>
        </p:txBody>
      </p:sp>
      <p:sp>
        <p:nvSpPr>
          <p:cNvPr id="4" name="矩形 3">
            <a:extLst xmlns:a="http://schemas.openxmlformats.org/drawingml/2006/main">
              <a:ext uri="{FF2B5EF4-FFF2-40B4-BE49-F238E27FC236}">
                <a16:creationId xmlns:a16="http://schemas.microsoft.com/office/drawing/2014/main" id="{C3464738-2FC1-4EF4-93BF-EA22B9C87DC9}"/>
              </a:ext>
            </a:extLst>
          </p:cNvPr>
          <p:cNvSpPr>
            <a:spLocks xmlns:a="http://schemas.openxmlformats.org/drawingml/2006/main" noGrp="1"/>
          </p:cNvSpPr>
          <p:nvPr/>
        </p:nvSpPr>
        <p:spPr>
          <a:xfrm xmlns:a="http://schemas.openxmlformats.org/drawingml/2006/main">
            <a:off x="409575" y="3390900"/>
            <a:ext cx="6572250" cy="1257300"/>
          </a:xfrm>
          <a:prstGeom xmlns:a="http://schemas.openxmlformats.org/drawingml/2006/main" prst="rect">
            <a:avLst/>
          </a:prstGeom>
        </p:spPr>
        <p:txBody>
          <a:bodyPr xmlns:a="http://schemas.openxmlformats.org/drawingml/2006/main" lIns="0" tIns="0" rIns="0" bIns="0" anchor="t">
            <a:normAutofit fontScale="88000"/>
          </a:bodyPr>
          <a:lstStyle xmlns:a="http://schemas.openxmlformats.org/drawingml/2006/main"/>
          <a:p xmlns:a="http://schemas.openxmlformats.org/drawingml/2006/main">
            <a:pPr algn="l">
              <a:buNone/>
              <a:defRPr sz="1875" b="0">
                <a:solidFill>
                  <a:srgbClr val="000000"/>
                </a:solidFill>
                <a:latin typeface="PingFang SC"/>
                <a:ea typeface="PingFang SC"/>
                <a:cs typeface="PingFang SC"/>
              </a:defRPr>
            </a:pPr>
            <a:r>
              <a:t>以 Lucky 智能体为智能引擎，以资料库和知识图谱为知识底座，以空间承载本组织成员与外部非本组织人员参与课程、研讨、评课、工作坊、客户/伙伴培训和公开活动，并通过报名、权限、证书和效果报告形成交付闭环。</a:t>
            </a:r>
          </a:p>
        </p:txBody>
      </p:sp>
      <p:sp>
        <p:nvSpPr>
          <p:cNvPr id="5" name="矩形 4">
            <a:extLst xmlns:a="http://schemas.openxmlformats.org/drawingml/2006/main">
              <a:ext uri="{FF2B5EF4-FFF2-40B4-BE49-F238E27FC236}">
                <a16:creationId xmlns:a16="http://schemas.microsoft.com/office/drawing/2014/main" id="{98660966-F492-4B27-B16D-02399CB94256}"/>
              </a:ext>
            </a:extLst>
          </p:cNvPr>
          <p:cNvSpPr>
            <a:spLocks xmlns:a="http://schemas.openxmlformats.org/drawingml/2006/main" noGrp="1"/>
          </p:cNvSpPr>
          <p:nvPr/>
        </p:nvSpPr>
        <p:spPr>
          <a:xfrm xmlns:a="http://schemas.openxmlformats.org/drawingml/2006/main">
            <a:off x="8229600" y="781050"/>
            <a:ext cx="3562350" cy="4772025"/>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6" name="矩形 5">
            <a:extLst xmlns:a="http://schemas.openxmlformats.org/drawingml/2006/main">
              <a:ext uri="{FF2B5EF4-FFF2-40B4-BE49-F238E27FC236}">
                <a16:creationId xmlns:a16="http://schemas.microsoft.com/office/drawing/2014/main" id="{9440114A-E347-418D-988E-57EA58F7F9F7}"/>
              </a:ext>
            </a:extLst>
          </p:cNvPr>
          <p:cNvSpPr>
            <a:spLocks xmlns:a="http://schemas.openxmlformats.org/drawingml/2006/main" noGrp="1"/>
          </p:cNvSpPr>
          <p:nvPr/>
        </p:nvSpPr>
        <p:spPr>
          <a:xfrm xmlns:a="http://schemas.openxmlformats.org/drawingml/2006/main">
            <a:off x="8572500" y="1219200"/>
            <a:ext cx="2905125" cy="22669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3300" b="1">
                <a:solidFill>
                  <a:srgbClr val="FFFFFF"/>
                </a:solidFill>
                <a:latin typeface="PingFang SC"/>
                <a:ea typeface="PingFang SC"/>
                <a:cs typeface="PingFang SC"/>
              </a:defRPr>
            </a:pPr>
            <a:r>
              <a:t>内训</a:t>
            </a:r>
          </a:p>
          <a:p xmlns:a="http://schemas.openxmlformats.org/drawingml/2006/main">
            <a:pPr algn="l">
              <a:buNone/>
              <a:defRPr sz="3300" b="1">
                <a:solidFill>
                  <a:srgbClr val="FFFFFF"/>
                </a:solidFill>
                <a:latin typeface="PingFang SC"/>
                <a:ea typeface="PingFang SC"/>
                <a:cs typeface="PingFang SC"/>
              </a:defRPr>
            </a:pPr>
            <a:r>
              <a:t>外训</a:t>
            </a:r>
          </a:p>
          <a:p xmlns:a="http://schemas.openxmlformats.org/drawingml/2006/main">
            <a:pPr algn="l">
              <a:buNone/>
              <a:defRPr sz="3300" b="1">
                <a:solidFill>
                  <a:srgbClr val="FFFFFF"/>
                </a:solidFill>
                <a:latin typeface="PingFang SC"/>
                <a:ea typeface="PingFang SC"/>
                <a:cs typeface="PingFang SC"/>
              </a:defRPr>
            </a:pPr>
            <a:r>
              <a:t>空间</a:t>
            </a:r>
          </a:p>
          <a:p xmlns:a="http://schemas.openxmlformats.org/drawingml/2006/main">
            <a:pPr algn="l">
              <a:buNone/>
              <a:defRPr sz="3300" b="1">
                <a:solidFill>
                  <a:srgbClr val="FFFFFF"/>
                </a:solidFill>
                <a:latin typeface="PingFang SC"/>
                <a:ea typeface="PingFang SC"/>
                <a:cs typeface="PingFang SC"/>
              </a:defRPr>
            </a:pPr>
            <a:r>
              <a:t>资料库</a:t>
            </a:r>
          </a:p>
        </p:txBody>
      </p:sp>
      <p:sp>
        <p:nvSpPr>
          <p:cNvPr id="7" name="矩形 6">
            <a:extLst xmlns:a="http://schemas.openxmlformats.org/drawingml/2006/main">
              <a:ext uri="{FF2B5EF4-FFF2-40B4-BE49-F238E27FC236}">
                <a16:creationId xmlns:a16="http://schemas.microsoft.com/office/drawing/2014/main" id="{22C3838F-7B98-4B6B-A0FB-2783514D3B4C}"/>
              </a:ext>
            </a:extLst>
          </p:cNvPr>
          <p:cNvSpPr>
            <a:spLocks xmlns:a="http://schemas.openxmlformats.org/drawingml/2006/main" noGrp="1"/>
          </p:cNvSpPr>
          <p:nvPr/>
        </p:nvSpPr>
        <p:spPr>
          <a:xfrm xmlns:a="http://schemas.openxmlformats.org/drawingml/2006/main">
            <a:off x="8572500" y="3895725"/>
            <a:ext cx="272415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8" name="矩形 7">
            <a:extLst xmlns:a="http://schemas.openxmlformats.org/drawingml/2006/main">
              <a:ext uri="{FF2B5EF4-FFF2-40B4-BE49-F238E27FC236}">
                <a16:creationId xmlns:a16="http://schemas.microsoft.com/office/drawing/2014/main" id="{90044901-89FD-4B60-B019-17848E6F392F}"/>
              </a:ext>
            </a:extLst>
          </p:cNvPr>
          <p:cNvSpPr>
            <a:spLocks xmlns:a="http://schemas.openxmlformats.org/drawingml/2006/main" noGrp="1"/>
          </p:cNvSpPr>
          <p:nvPr/>
        </p:nvSpPr>
        <p:spPr>
          <a:xfrm xmlns:a="http://schemas.openxmlformats.org/drawingml/2006/main">
            <a:off x="8572500" y="4210050"/>
            <a:ext cx="2724150" cy="819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a:solidFill>
                  <a:srgbClr val="FFFFFF"/>
                </a:solidFill>
                <a:latin typeface="PingFang SC"/>
                <a:ea typeface="PingFang SC"/>
                <a:cs typeface="PingFang SC"/>
              </a:defRPr>
            </a:pPr>
            <a:r>
              <a:t>从内部发展到外部赋能</a:t>
            </a:r>
          </a:p>
          <a:p xmlns:a="http://schemas.openxmlformats.org/drawingml/2006/main">
            <a:pPr algn="l">
              <a:buNone/>
              <a:defRPr sz="1800" b="0">
                <a:solidFill>
                  <a:srgbClr val="FFFFFF"/>
                </a:solidFill>
                <a:latin typeface="PingFang SC"/>
                <a:ea typeface="PingFang SC"/>
                <a:cs typeface="PingFang SC"/>
              </a:defRPr>
            </a:pPr>
            <a:r>
              <a:t>从过程数据到组织报告</a:t>
            </a:r>
          </a:p>
        </p:txBody>
      </p:sp>
      <p:sp>
        <p:nvSpPr>
          <p:cNvPr id="9" name="矩形 8">
            <a:extLst xmlns:a="http://schemas.openxmlformats.org/drawingml/2006/main">
              <a:ext uri="{FF2B5EF4-FFF2-40B4-BE49-F238E27FC236}">
                <a16:creationId xmlns:a16="http://schemas.microsoft.com/office/drawing/2014/main" id="{6A632702-285F-4632-9685-D48069B049BB}"/>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01</a:t>
            </a:r>
          </a:p>
        </p:txBody>
      </p:sp>
    </p:spTree>
    <p:extLst>
      <p:ext uri="{BB962C8B-B14F-4D97-AF65-F5344CB8AC3E}">
        <p14:creationId xmlns:p14="http://schemas.microsoft.com/office/powerpoint/2010/main" val="16443546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矩形 2">
            <a:extLst xmlns:a="http://schemas.openxmlformats.org/drawingml/2006/main">
              <a:ext uri="{FF2B5EF4-FFF2-40B4-BE49-F238E27FC236}">
                <a16:creationId xmlns:a16="http://schemas.microsoft.com/office/drawing/2014/main" id="{22E6FED4-C71C-4503-BD7F-ACCD0B495CEA}"/>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300" b="1">
                <a:solidFill>
                  <a:srgbClr val="000000"/>
                </a:solidFill>
                <a:latin typeface="PingFang SC"/>
                <a:ea typeface="PingFang SC"/>
                <a:cs typeface="PingFang SC"/>
              </a:defRPr>
            </a:pPr>
            <a:r>
              <a:t>目录</a:t>
            </a:r>
          </a:p>
        </p:txBody>
      </p:sp>
      <p:sp>
        <p:nvSpPr>
          <p:cNvPr id="4" name="矩形 3">
            <a:extLst xmlns:a="http://schemas.openxmlformats.org/drawingml/2006/main">
              <a:ext uri="{FF2B5EF4-FFF2-40B4-BE49-F238E27FC236}">
                <a16:creationId xmlns:a16="http://schemas.microsoft.com/office/drawing/2014/main" id="{2D2041A7-3AF0-48FA-9FC7-69ED55123ACB}"/>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F7528DA2-0B2E-4007-8177-C906ACC8F521}"/>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02</a:t>
            </a:r>
          </a:p>
        </p:txBody>
      </p:sp>
      <p:sp>
        <p:nvSpPr>
          <p:cNvPr id="6" name="矩形 5">
            <a:extLst xmlns:a="http://schemas.openxmlformats.org/drawingml/2006/main">
              <a:ext uri="{FF2B5EF4-FFF2-40B4-BE49-F238E27FC236}">
                <a16:creationId xmlns:a16="http://schemas.microsoft.com/office/drawing/2014/main" id="{966A98F3-4650-4837-A2D8-6697E9134533}"/>
              </a:ext>
            </a:extLst>
          </p:cNvPr>
          <p:cNvSpPr>
            <a:spLocks xmlns:a="http://schemas.openxmlformats.org/drawingml/2006/main" noGrp="1"/>
          </p:cNvSpPr>
          <p:nvPr/>
        </p:nvSpPr>
        <p:spPr>
          <a:xfrm xmlns:a="http://schemas.openxmlformats.org/drawingml/2006/main">
            <a:off x="390525" y="1885950"/>
            <a:ext cx="1714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555555"/>
                </a:solidFill>
                <a:latin typeface="PingFang SC"/>
                <a:ea typeface="PingFang SC"/>
                <a:cs typeface="PingFang SC"/>
              </a:defRPr>
            </a:pPr>
            <a:r>
              <a:t>汇报结构</a:t>
            </a:r>
          </a:p>
        </p:txBody>
      </p:sp>
      <p:sp>
        <p:nvSpPr>
          <p:cNvPr id="7" name="矩形 6">
            <a:extLst xmlns:a="http://schemas.openxmlformats.org/drawingml/2006/main">
              <a:ext uri="{FF2B5EF4-FFF2-40B4-BE49-F238E27FC236}">
                <a16:creationId xmlns:a16="http://schemas.microsoft.com/office/drawing/2014/main" id="{C09FB9D9-B08E-4F46-9CCD-BC44E919BF68}"/>
              </a:ext>
            </a:extLst>
          </p:cNvPr>
          <p:cNvSpPr>
            <a:spLocks xmlns:a="http://schemas.openxmlformats.org/drawingml/2006/main" noGrp="1"/>
          </p:cNvSpPr>
          <p:nvPr/>
        </p:nvSpPr>
        <p:spPr>
          <a:xfrm xmlns:a="http://schemas.openxmlformats.org/drawingml/2006/main">
            <a:off x="390525" y="2343150"/>
            <a:ext cx="3429000" cy="1162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8" name="矩形 7">
            <a:extLst xmlns:a="http://schemas.openxmlformats.org/drawingml/2006/main">
              <a:ext uri="{FF2B5EF4-FFF2-40B4-BE49-F238E27FC236}">
                <a16:creationId xmlns:a16="http://schemas.microsoft.com/office/drawing/2014/main" id="{2F4C9826-C02F-45A0-BB64-C0E5A65DD392}"/>
              </a:ext>
            </a:extLst>
          </p:cNvPr>
          <p:cNvSpPr>
            <a:spLocks xmlns:a="http://schemas.openxmlformats.org/drawingml/2006/main" noGrp="1"/>
          </p:cNvSpPr>
          <p:nvPr/>
        </p:nvSpPr>
        <p:spPr>
          <a:xfrm xmlns:a="http://schemas.openxmlformats.org/drawingml/2006/main">
            <a:off x="619125" y="2571750"/>
            <a:ext cx="2971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950" b="1">
                <a:solidFill>
                  <a:srgbClr val="000000"/>
                </a:solidFill>
                <a:latin typeface="PingFang SC"/>
                <a:ea typeface="PingFang SC"/>
                <a:cs typeface="PingFang SC"/>
              </a:defRPr>
            </a:pPr>
            <a:r>
              <a:t>01  产品定位与目标</a:t>
            </a:r>
          </a:p>
        </p:txBody>
      </p:sp>
      <p:sp>
        <p:nvSpPr>
          <p:cNvPr id="9" name="矩形 8">
            <a:extLst xmlns:a="http://schemas.openxmlformats.org/drawingml/2006/main">
              <a:ext uri="{FF2B5EF4-FFF2-40B4-BE49-F238E27FC236}">
                <a16:creationId xmlns:a16="http://schemas.microsoft.com/office/drawing/2014/main" id="{EF838324-C462-4C07-AFEF-6B053DE9AC0C}"/>
              </a:ext>
            </a:extLst>
          </p:cNvPr>
          <p:cNvSpPr>
            <a:spLocks xmlns:a="http://schemas.openxmlformats.org/drawingml/2006/main" noGrp="1"/>
          </p:cNvSpPr>
          <p:nvPr/>
        </p:nvSpPr>
        <p:spPr>
          <a:xfrm xmlns:a="http://schemas.openxmlformats.org/drawingml/2006/main">
            <a:off x="619125" y="3028950"/>
            <a:ext cx="2971800" cy="285750"/>
          </a:xfrm>
          <a:prstGeom xmlns:a="http://schemas.openxmlformats.org/drawingml/2006/main" prst="rect">
            <a:avLst/>
          </a:prstGeom>
        </p:spPr>
        <p:txBody>
          <a:bodyPr xmlns:a="http://schemas.openxmlformats.org/drawingml/2006/main" lIns="0" tIns="0" rIns="0" bIns="0" anchor="t">
            <a:normAutofit fontScale="71186"/>
          </a:bodyPr>
          <a:lstStyle xmlns:a="http://schemas.openxmlformats.org/drawingml/2006/main"/>
          <a:p xmlns:a="http://schemas.openxmlformats.org/drawingml/2006/main">
            <a:pPr algn="l">
              <a:buNone/>
              <a:defRPr sz="1350" b="0">
                <a:solidFill>
                  <a:srgbClr val="000000"/>
                </a:solidFill>
                <a:latin typeface="PingFang SC"/>
                <a:ea typeface="PingFang SC"/>
                <a:cs typeface="PingFang SC"/>
              </a:defRPr>
            </a:pPr>
            <a:r>
              <a:t>为什么以果仁承载内训与外训，核心价值和目标对象。</a:t>
            </a:r>
          </a:p>
        </p:txBody>
      </p:sp>
      <p:sp>
        <p:nvSpPr>
          <p:cNvPr id="10" name="矩形 9">
            <a:extLst xmlns:a="http://schemas.openxmlformats.org/drawingml/2006/main">
              <a:ext uri="{FF2B5EF4-FFF2-40B4-BE49-F238E27FC236}">
                <a16:creationId xmlns:a16="http://schemas.microsoft.com/office/drawing/2014/main" id="{1ED6D054-B7D2-4E1A-988B-259A445EFA93}"/>
              </a:ext>
            </a:extLst>
          </p:cNvPr>
          <p:cNvSpPr>
            <a:spLocks xmlns:a="http://schemas.openxmlformats.org/drawingml/2006/main" noGrp="1"/>
          </p:cNvSpPr>
          <p:nvPr/>
        </p:nvSpPr>
        <p:spPr>
          <a:xfrm xmlns:a="http://schemas.openxmlformats.org/drawingml/2006/main">
            <a:off x="4381500" y="2343150"/>
            <a:ext cx="3429000" cy="1162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1" name="矩形 10">
            <a:extLst xmlns:a="http://schemas.openxmlformats.org/drawingml/2006/main">
              <a:ext uri="{FF2B5EF4-FFF2-40B4-BE49-F238E27FC236}">
                <a16:creationId xmlns:a16="http://schemas.microsoft.com/office/drawing/2014/main" id="{12DE51EE-5400-478D-9544-F243549A4B59}"/>
              </a:ext>
            </a:extLst>
          </p:cNvPr>
          <p:cNvSpPr>
            <a:spLocks xmlns:a="http://schemas.openxmlformats.org/drawingml/2006/main" noGrp="1"/>
          </p:cNvSpPr>
          <p:nvPr/>
        </p:nvSpPr>
        <p:spPr>
          <a:xfrm xmlns:a="http://schemas.openxmlformats.org/drawingml/2006/main">
            <a:off x="4610100" y="2571750"/>
            <a:ext cx="2971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950" b="1">
                <a:solidFill>
                  <a:srgbClr val="000000"/>
                </a:solidFill>
                <a:latin typeface="PingFang SC"/>
                <a:ea typeface="PingFang SC"/>
                <a:cs typeface="PingFang SC"/>
              </a:defRPr>
            </a:pPr>
            <a:r>
              <a:t>02  总体架构与子系统</a:t>
            </a:r>
          </a:p>
        </p:txBody>
      </p:sp>
      <p:sp>
        <p:nvSpPr>
          <p:cNvPr id="12" name="矩形 11">
            <a:extLst xmlns:a="http://schemas.openxmlformats.org/drawingml/2006/main">
              <a:ext uri="{FF2B5EF4-FFF2-40B4-BE49-F238E27FC236}">
                <a16:creationId xmlns:a16="http://schemas.microsoft.com/office/drawing/2014/main" id="{E7058460-4286-4C5D-ABC2-AB15FA92A557}"/>
              </a:ext>
            </a:extLst>
          </p:cNvPr>
          <p:cNvSpPr>
            <a:spLocks xmlns:a="http://schemas.openxmlformats.org/drawingml/2006/main" noGrp="1"/>
          </p:cNvSpPr>
          <p:nvPr/>
        </p:nvSpPr>
        <p:spPr>
          <a:xfrm xmlns:a="http://schemas.openxmlformats.org/drawingml/2006/main">
            <a:off x="4610100" y="3028950"/>
            <a:ext cx="2971800" cy="285750"/>
          </a:xfrm>
          <a:prstGeom xmlns:a="http://schemas.openxmlformats.org/drawingml/2006/main" prst="rect">
            <a:avLst/>
          </a:prstGeom>
        </p:spPr>
        <p:txBody>
          <a:bodyPr xmlns:a="http://schemas.openxmlformats.org/drawingml/2006/main" lIns="0" tIns="0" rIns="0" bIns="0" anchor="t">
            <a:normAutofit fontScale="69444"/>
          </a:bodyPr>
          <a:lstStyle xmlns:a="http://schemas.openxmlformats.org/drawingml/2006/main"/>
          <a:p xmlns:a="http://schemas.openxmlformats.org/drawingml/2006/main">
            <a:pPr algn="l">
              <a:buNone/>
              <a:defRPr sz="1350" b="0">
                <a:solidFill>
                  <a:srgbClr val="000000"/>
                </a:solidFill>
                <a:latin typeface="PingFang SC"/>
                <a:ea typeface="PingFang SC"/>
                <a:cs typeface="PingFang SC"/>
              </a:defRPr>
            </a:pPr>
            <a:r>
              <a:t>培训信息管理、培训过程运营、培训效果评估三大子系统。</a:t>
            </a:r>
          </a:p>
        </p:txBody>
      </p:sp>
      <p:sp>
        <p:nvSpPr>
          <p:cNvPr id="13" name="矩形 12">
            <a:extLst xmlns:a="http://schemas.openxmlformats.org/drawingml/2006/main">
              <a:ext uri="{FF2B5EF4-FFF2-40B4-BE49-F238E27FC236}">
                <a16:creationId xmlns:a16="http://schemas.microsoft.com/office/drawing/2014/main" id="{CF249ED5-77DF-4F6E-995C-90EB2995FAA6}"/>
              </a:ext>
            </a:extLst>
          </p:cNvPr>
          <p:cNvSpPr>
            <a:spLocks xmlns:a="http://schemas.openxmlformats.org/drawingml/2006/main" noGrp="1"/>
          </p:cNvSpPr>
          <p:nvPr/>
        </p:nvSpPr>
        <p:spPr>
          <a:xfrm xmlns:a="http://schemas.openxmlformats.org/drawingml/2006/main">
            <a:off x="8372475" y="2343150"/>
            <a:ext cx="3429000" cy="1162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4" name="矩形 13">
            <a:extLst xmlns:a="http://schemas.openxmlformats.org/drawingml/2006/main">
              <a:ext uri="{FF2B5EF4-FFF2-40B4-BE49-F238E27FC236}">
                <a16:creationId xmlns:a16="http://schemas.microsoft.com/office/drawing/2014/main" id="{A057A412-D097-455D-AF31-F543180DA0C0}"/>
              </a:ext>
            </a:extLst>
          </p:cNvPr>
          <p:cNvSpPr>
            <a:spLocks xmlns:a="http://schemas.openxmlformats.org/drawingml/2006/main" noGrp="1"/>
          </p:cNvSpPr>
          <p:nvPr/>
        </p:nvSpPr>
        <p:spPr>
          <a:xfrm xmlns:a="http://schemas.openxmlformats.org/drawingml/2006/main">
            <a:off x="8601075" y="2571750"/>
            <a:ext cx="2971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950" b="1">
                <a:solidFill>
                  <a:srgbClr val="000000"/>
                </a:solidFill>
                <a:latin typeface="PingFang SC"/>
                <a:ea typeface="PingFang SC"/>
                <a:cs typeface="PingFang SC"/>
              </a:defRPr>
            </a:pPr>
            <a:r>
              <a:t>03  业务闭环与数据模型</a:t>
            </a:r>
          </a:p>
        </p:txBody>
      </p:sp>
      <p:sp>
        <p:nvSpPr>
          <p:cNvPr id="15" name="矩形 14">
            <a:extLst xmlns:a="http://schemas.openxmlformats.org/drawingml/2006/main">
              <a:ext uri="{FF2B5EF4-FFF2-40B4-BE49-F238E27FC236}">
                <a16:creationId xmlns:a16="http://schemas.microsoft.com/office/drawing/2014/main" id="{1757CAC3-5AB9-4380-9E3F-25A104A26CC1}"/>
              </a:ext>
            </a:extLst>
          </p:cNvPr>
          <p:cNvSpPr>
            <a:spLocks xmlns:a="http://schemas.openxmlformats.org/drawingml/2006/main" noGrp="1"/>
          </p:cNvSpPr>
          <p:nvPr/>
        </p:nvSpPr>
        <p:spPr>
          <a:xfrm xmlns:a="http://schemas.openxmlformats.org/drawingml/2006/main">
            <a:off x="8601075" y="3028950"/>
            <a:ext cx="2971800" cy="285750"/>
          </a:xfrm>
          <a:prstGeom xmlns:a="http://schemas.openxmlformats.org/drawingml/2006/main" prst="rect">
            <a:avLst/>
          </a:prstGeom>
        </p:spPr>
        <p:txBody>
          <a:bodyPr xmlns:a="http://schemas.openxmlformats.org/drawingml/2006/main" lIns="0" tIns="0" rIns="0" bIns="0" anchor="t">
            <a:normAutofit fontScale="69444"/>
          </a:bodyPr>
          <a:lstStyle xmlns:a="http://schemas.openxmlformats.org/drawingml/2006/main"/>
          <a:p xmlns:a="http://schemas.openxmlformats.org/drawingml/2006/main">
            <a:pPr algn="l">
              <a:buNone/>
              <a:defRPr sz="1350" b="0">
                <a:solidFill>
                  <a:srgbClr val="000000"/>
                </a:solidFill>
                <a:latin typeface="PingFang SC"/>
                <a:ea typeface="PingFang SC"/>
                <a:cs typeface="PingFang SC"/>
              </a:defRPr>
            </a:pPr>
            <a:r>
              <a:t>发展项目、活动、内部成员、外部参与者、记录和报告如何贯通。</a:t>
            </a:r>
          </a:p>
        </p:txBody>
      </p:sp>
      <p:sp>
        <p:nvSpPr>
          <p:cNvPr id="16" name="矩形 15">
            <a:extLst xmlns:a="http://schemas.openxmlformats.org/drawingml/2006/main">
              <a:ext uri="{FF2B5EF4-FFF2-40B4-BE49-F238E27FC236}">
                <a16:creationId xmlns:a16="http://schemas.microsoft.com/office/drawing/2014/main" id="{60998B8A-E2EC-4F77-A818-DDF69759C7D1}"/>
              </a:ext>
            </a:extLst>
          </p:cNvPr>
          <p:cNvSpPr>
            <a:spLocks xmlns:a="http://schemas.openxmlformats.org/drawingml/2006/main" noGrp="1"/>
          </p:cNvSpPr>
          <p:nvPr/>
        </p:nvSpPr>
        <p:spPr>
          <a:xfrm xmlns:a="http://schemas.openxmlformats.org/drawingml/2006/main">
            <a:off x="390525" y="4114800"/>
            <a:ext cx="3429000" cy="1162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7" name="矩形 16">
            <a:extLst xmlns:a="http://schemas.openxmlformats.org/drawingml/2006/main">
              <a:ext uri="{FF2B5EF4-FFF2-40B4-BE49-F238E27FC236}">
                <a16:creationId xmlns:a16="http://schemas.microsoft.com/office/drawing/2014/main" id="{F2516CE7-9DCD-4595-A826-B98A679A290C}"/>
              </a:ext>
            </a:extLst>
          </p:cNvPr>
          <p:cNvSpPr>
            <a:spLocks xmlns:a="http://schemas.openxmlformats.org/drawingml/2006/main" noGrp="1"/>
          </p:cNvSpPr>
          <p:nvPr/>
        </p:nvSpPr>
        <p:spPr>
          <a:xfrm xmlns:a="http://schemas.openxmlformats.org/drawingml/2006/main">
            <a:off x="619125" y="4343400"/>
            <a:ext cx="2971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950" b="1">
                <a:solidFill>
                  <a:srgbClr val="000000"/>
                </a:solidFill>
                <a:latin typeface="PingFang SC"/>
                <a:ea typeface="PingFang SC"/>
                <a:cs typeface="PingFang SC"/>
              </a:defRPr>
            </a:pPr>
            <a:r>
              <a:t>04  AI 原生能力</a:t>
            </a:r>
          </a:p>
        </p:txBody>
      </p:sp>
      <p:sp>
        <p:nvSpPr>
          <p:cNvPr id="18" name="矩形 17">
            <a:extLst xmlns:a="http://schemas.openxmlformats.org/drawingml/2006/main">
              <a:ext uri="{FF2B5EF4-FFF2-40B4-BE49-F238E27FC236}">
                <a16:creationId xmlns:a16="http://schemas.microsoft.com/office/drawing/2014/main" id="{A2087ADC-B613-4682-9DAB-F31B942A0096}"/>
              </a:ext>
            </a:extLst>
          </p:cNvPr>
          <p:cNvSpPr>
            <a:spLocks xmlns:a="http://schemas.openxmlformats.org/drawingml/2006/main" noGrp="1"/>
          </p:cNvSpPr>
          <p:nvPr/>
        </p:nvSpPr>
        <p:spPr>
          <a:xfrm xmlns:a="http://schemas.openxmlformats.org/drawingml/2006/main">
            <a:off x="619125" y="4800600"/>
            <a:ext cx="2971800" cy="285750"/>
          </a:xfrm>
          <a:prstGeom xmlns:a="http://schemas.openxmlformats.org/drawingml/2006/main" prst="rect">
            <a:avLst/>
          </a:prstGeom>
        </p:spPr>
        <p:txBody>
          <a:bodyPr xmlns:a="http://schemas.openxmlformats.org/drawingml/2006/main" lIns="0" tIns="0" rIns="0" bIns="0" anchor="t">
            <a:normAutofit fontScale="69444"/>
          </a:bodyPr>
          <a:lstStyle xmlns:a="http://schemas.openxmlformats.org/drawingml/2006/main"/>
          <a:p xmlns:a="http://schemas.openxmlformats.org/drawingml/2006/main">
            <a:pPr algn="l">
              <a:buNone/>
              <a:defRPr sz="1350" b="0">
                <a:solidFill>
                  <a:srgbClr val="000000"/>
                </a:solidFill>
                <a:latin typeface="PingFang SC"/>
                <a:ea typeface="PingFang SC"/>
                <a:cs typeface="PingFang SC"/>
              </a:defRPr>
            </a:pPr>
            <a:r>
              <a:t>外训方案、报名问答、研讨纪要、评课分析和客户报告。</a:t>
            </a:r>
          </a:p>
        </p:txBody>
      </p:sp>
      <p:sp>
        <p:nvSpPr>
          <p:cNvPr id="19" name="矩形 18">
            <a:extLst xmlns:a="http://schemas.openxmlformats.org/drawingml/2006/main">
              <a:ext uri="{FF2B5EF4-FFF2-40B4-BE49-F238E27FC236}">
                <a16:creationId xmlns:a16="http://schemas.microsoft.com/office/drawing/2014/main" id="{5FB6C113-75E0-45DB-869F-0A7B2EC76431}"/>
              </a:ext>
            </a:extLst>
          </p:cNvPr>
          <p:cNvSpPr>
            <a:spLocks xmlns:a="http://schemas.openxmlformats.org/drawingml/2006/main" noGrp="1"/>
          </p:cNvSpPr>
          <p:nvPr/>
        </p:nvSpPr>
        <p:spPr>
          <a:xfrm xmlns:a="http://schemas.openxmlformats.org/drawingml/2006/main">
            <a:off x="4381500" y="4114800"/>
            <a:ext cx="3429000" cy="1162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20" name="矩形 19">
            <a:extLst xmlns:a="http://schemas.openxmlformats.org/drawingml/2006/main">
              <a:ext uri="{FF2B5EF4-FFF2-40B4-BE49-F238E27FC236}">
                <a16:creationId xmlns:a16="http://schemas.microsoft.com/office/drawing/2014/main" id="{0AE21889-EADA-4B47-B0BD-1BB14458A983}"/>
              </a:ext>
            </a:extLst>
          </p:cNvPr>
          <p:cNvSpPr>
            <a:spLocks xmlns:a="http://schemas.openxmlformats.org/drawingml/2006/main" noGrp="1"/>
          </p:cNvSpPr>
          <p:nvPr/>
        </p:nvSpPr>
        <p:spPr>
          <a:xfrm xmlns:a="http://schemas.openxmlformats.org/drawingml/2006/main">
            <a:off x="4610100" y="4343400"/>
            <a:ext cx="2971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950" b="1">
                <a:solidFill>
                  <a:srgbClr val="000000"/>
                </a:solidFill>
                <a:latin typeface="PingFang SC"/>
                <a:ea typeface="PingFang SC"/>
                <a:cs typeface="PingFang SC"/>
              </a:defRPr>
            </a:pPr>
            <a:r>
              <a:t>05  交付与演进路径</a:t>
            </a:r>
          </a:p>
        </p:txBody>
      </p:sp>
      <p:sp>
        <p:nvSpPr>
          <p:cNvPr id="21" name="矩形 20">
            <a:extLst xmlns:a="http://schemas.openxmlformats.org/drawingml/2006/main">
              <a:ext uri="{FF2B5EF4-FFF2-40B4-BE49-F238E27FC236}">
                <a16:creationId xmlns:a16="http://schemas.microsoft.com/office/drawing/2014/main" id="{6D092266-8FD4-4B75-9F6C-D6187A3A83A7}"/>
              </a:ext>
            </a:extLst>
          </p:cNvPr>
          <p:cNvSpPr>
            <a:spLocks xmlns:a="http://schemas.openxmlformats.org/drawingml/2006/main" noGrp="1"/>
          </p:cNvSpPr>
          <p:nvPr/>
        </p:nvSpPr>
        <p:spPr>
          <a:xfrm xmlns:a="http://schemas.openxmlformats.org/drawingml/2006/main">
            <a:off x="4610100" y="4800600"/>
            <a:ext cx="2971800" cy="285750"/>
          </a:xfrm>
          <a:prstGeom xmlns:a="http://schemas.openxmlformats.org/drawingml/2006/main" prst="rect">
            <a:avLst/>
          </a:prstGeom>
        </p:spPr>
        <p:txBody>
          <a:bodyPr xmlns:a="http://schemas.openxmlformats.org/drawingml/2006/main" lIns="0" tIns="0" rIns="0" bIns="0" anchor="t">
            <a:normAutofit fontScale="73903"/>
          </a:bodyPr>
          <a:lstStyle xmlns:a="http://schemas.openxmlformats.org/drawingml/2006/main"/>
          <a:p xmlns:a="http://schemas.openxmlformats.org/drawingml/2006/main">
            <a:pPr algn="l">
              <a:buNone/>
              <a:defRPr sz="1350" b="0">
                <a:solidFill>
                  <a:srgbClr val="000000"/>
                </a:solidFill>
                <a:latin typeface="PingFang SC"/>
                <a:ea typeface="PingFang SC"/>
                <a:cs typeface="PingFang SC"/>
              </a:defRPr>
            </a:pPr>
            <a:r>
              <a:t>解决方案、套餐、租户、外训场景包和阶段路线图。</a:t>
            </a:r>
          </a:p>
        </p:txBody>
      </p:sp>
      <p:sp>
        <p:nvSpPr>
          <p:cNvPr id="22" name="矩形 21">
            <a:extLst xmlns:a="http://schemas.openxmlformats.org/drawingml/2006/main">
              <a:ext uri="{FF2B5EF4-FFF2-40B4-BE49-F238E27FC236}">
                <a16:creationId xmlns:a16="http://schemas.microsoft.com/office/drawing/2014/main" id="{61936A10-B845-45B6-A5FF-DCBFF6A08496}"/>
              </a:ext>
            </a:extLst>
          </p:cNvPr>
          <p:cNvSpPr>
            <a:spLocks xmlns:a="http://schemas.openxmlformats.org/drawingml/2006/main" noGrp="1"/>
          </p:cNvSpPr>
          <p:nvPr/>
        </p:nvSpPr>
        <p:spPr>
          <a:xfrm xmlns:a="http://schemas.openxmlformats.org/drawingml/2006/main">
            <a:off x="8372475" y="4114800"/>
            <a:ext cx="3429000" cy="1162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23" name="矩形 22">
            <a:extLst xmlns:a="http://schemas.openxmlformats.org/drawingml/2006/main">
              <a:ext uri="{FF2B5EF4-FFF2-40B4-BE49-F238E27FC236}">
                <a16:creationId xmlns:a16="http://schemas.microsoft.com/office/drawing/2014/main" id="{28770122-8A45-46A8-912C-6D246401D3D4}"/>
              </a:ext>
            </a:extLst>
          </p:cNvPr>
          <p:cNvSpPr>
            <a:spLocks xmlns:a="http://schemas.openxmlformats.org/drawingml/2006/main" noGrp="1"/>
          </p:cNvSpPr>
          <p:nvPr/>
        </p:nvSpPr>
        <p:spPr>
          <a:xfrm xmlns:a="http://schemas.openxmlformats.org/drawingml/2006/main">
            <a:off x="8601075" y="4343400"/>
            <a:ext cx="2971800" cy="3048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950" b="1">
                <a:solidFill>
                  <a:srgbClr val="FF6B35"/>
                </a:solidFill>
                <a:latin typeface="PingFang SC"/>
                <a:ea typeface="PingFang SC"/>
                <a:cs typeface="PingFang SC"/>
              </a:defRPr>
            </a:pPr>
            <a:r>
              <a:t>主线</a:t>
            </a:r>
          </a:p>
        </p:txBody>
      </p:sp>
      <p:sp>
        <p:nvSpPr>
          <p:cNvPr id="24" name="矩形 23">
            <a:extLst xmlns:a="http://schemas.openxmlformats.org/drawingml/2006/main">
              <a:ext uri="{FF2B5EF4-FFF2-40B4-BE49-F238E27FC236}">
                <a16:creationId xmlns:a16="http://schemas.microsoft.com/office/drawing/2014/main" id="{5BC9A485-0B3C-4A39-91A9-AFDC2A14E387}"/>
              </a:ext>
            </a:extLst>
          </p:cNvPr>
          <p:cNvSpPr>
            <a:spLocks xmlns:a="http://schemas.openxmlformats.org/drawingml/2006/main" noGrp="1"/>
          </p:cNvSpPr>
          <p:nvPr/>
        </p:nvSpPr>
        <p:spPr>
          <a:xfrm xmlns:a="http://schemas.openxmlformats.org/drawingml/2006/main">
            <a:off x="8601075" y="4800600"/>
            <a:ext cx="2971800" cy="34290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buNone/>
              <a:defRPr sz="1350" b="0">
                <a:solidFill>
                  <a:srgbClr val="FFFFFF"/>
                </a:solidFill>
                <a:latin typeface="PingFang SC"/>
                <a:ea typeface="PingFang SC"/>
                <a:cs typeface="PingFang SC"/>
              </a:defRPr>
            </a:pPr>
            <a:r>
              <a:t>用果仁底座把培训从组织内部课程交付升级为面向内外部参与者的发展活动运营体系。</a:t>
            </a:r>
          </a:p>
        </p:txBody>
      </p:sp>
    </p:spTree>
    <p:extLst>
      <p:ext uri="{BB962C8B-B14F-4D97-AF65-F5344CB8AC3E}">
        <p14:creationId xmlns:p14="http://schemas.microsoft.com/office/powerpoint/2010/main" val="18101001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5DC67C41-E56E-4C2D-85C1-A5C54367DCBA}"/>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产品定位</a:t>
            </a:r>
          </a:p>
        </p:txBody>
      </p:sp>
      <p:sp>
        <p:nvSpPr>
          <p:cNvPr id="3" name="矩形 2">
            <a:extLst xmlns:a="http://schemas.openxmlformats.org/drawingml/2006/main">
              <a:ext uri="{FF2B5EF4-FFF2-40B4-BE49-F238E27FC236}">
                <a16:creationId xmlns:a16="http://schemas.microsoft.com/office/drawing/2014/main" id="{F1B5E36B-E4B1-4A8E-B782-9CFC7BEAF216}"/>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25" b="1">
                <a:solidFill>
                  <a:srgbClr val="000000"/>
                </a:solidFill>
                <a:latin typeface="PingFang SC"/>
                <a:ea typeface="PingFang SC"/>
                <a:cs typeface="PingFang SC"/>
              </a:defRPr>
            </a:pPr>
            <a:r>
              <a:t>果仁培训平台重新定义培训：内训与外训都可进入发展活动闭环</a:t>
            </a:r>
          </a:p>
        </p:txBody>
      </p:sp>
      <p:sp>
        <p:nvSpPr>
          <p:cNvPr id="4" name="矩形 3">
            <a:extLst xmlns:a="http://schemas.openxmlformats.org/drawingml/2006/main">
              <a:ext uri="{FF2B5EF4-FFF2-40B4-BE49-F238E27FC236}">
                <a16:creationId xmlns:a16="http://schemas.microsoft.com/office/drawing/2014/main" id="{E4F3FDA4-E9B6-4657-9B3D-29DEF124DAB0}"/>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BBCA37E8-8A24-40BD-AC7C-0669E5E3B5F6}"/>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03</a:t>
            </a:r>
          </a:p>
        </p:txBody>
      </p:sp>
      <p:sp>
        <p:nvSpPr>
          <p:cNvPr id="6" name="矩形 5">
            <a:extLst xmlns:a="http://schemas.openxmlformats.org/drawingml/2006/main">
              <a:ext uri="{FF2B5EF4-FFF2-40B4-BE49-F238E27FC236}">
                <a16:creationId xmlns:a16="http://schemas.microsoft.com/office/drawing/2014/main" id="{8800F22E-AA46-412E-B23A-92659C136B79}"/>
              </a:ext>
            </a:extLst>
          </p:cNvPr>
          <p:cNvSpPr>
            <a:spLocks xmlns:a="http://schemas.openxmlformats.org/drawingml/2006/main" noGrp="1"/>
          </p:cNvSpPr>
          <p:nvPr/>
        </p:nvSpPr>
        <p:spPr>
          <a:xfrm xmlns:a="http://schemas.openxmlformats.org/drawingml/2006/main">
            <a:off x="390525" y="1943100"/>
            <a:ext cx="20955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555555"/>
                </a:solidFill>
                <a:latin typeface="PingFang SC"/>
                <a:ea typeface="PingFang SC"/>
                <a:cs typeface="PingFang SC"/>
              </a:defRPr>
            </a:pPr>
            <a:r>
              <a:t>培训外延</a:t>
            </a:r>
          </a:p>
        </p:txBody>
      </p:sp>
      <p:sp>
        <p:nvSpPr>
          <p:cNvPr id="7" name="矩形 6">
            <a:extLst xmlns:a="http://schemas.openxmlformats.org/drawingml/2006/main">
              <a:ext uri="{FF2B5EF4-FFF2-40B4-BE49-F238E27FC236}">
                <a16:creationId xmlns:a16="http://schemas.microsoft.com/office/drawing/2014/main" id="{F7155896-F103-43E4-8FE9-6DD098420876}"/>
              </a:ext>
            </a:extLst>
          </p:cNvPr>
          <p:cNvSpPr>
            <a:spLocks xmlns:a="http://schemas.openxmlformats.org/drawingml/2006/main" noGrp="1"/>
          </p:cNvSpPr>
          <p:nvPr/>
        </p:nvSpPr>
        <p:spPr>
          <a:xfrm xmlns:a="http://schemas.openxmlformats.org/drawingml/2006/main">
            <a:off x="390525" y="2381250"/>
            <a:ext cx="5000625" cy="1257300"/>
          </a:xfrm>
          <a:prstGeom xmlns:a="http://schemas.openxmlformats.org/drawingml/2006/main" prst="rect">
            <a:avLst/>
          </a:prstGeom>
        </p:spPr>
        <p:txBody>
          <a:bodyPr xmlns:a="http://schemas.openxmlformats.org/drawingml/2006/main" lIns="0" tIns="0" rIns="0" bIns="0" anchor="t">
            <a:normAutofit fontScale="91667"/>
          </a:bodyPr>
          <a:lstStyle xmlns:a="http://schemas.openxmlformats.org/drawingml/2006/main"/>
          <a:p xmlns:a="http://schemas.openxmlformats.org/drawingml/2006/main">
            <a:pPr algn="l">
              <a:buNone/>
              <a:defRPr sz="2250" b="1">
                <a:solidFill>
                  <a:srgbClr val="000000"/>
                </a:solidFill>
                <a:latin typeface="PingFang SC"/>
                <a:ea typeface="PingFang SC"/>
                <a:cs typeface="PingFang SC"/>
              </a:defRPr>
            </a:pPr>
            <a:r>
              <a:t>培训外延覆盖本组织成员发展，也覆盖外部非本组织人员参训；外训在本蓝图中指客户、伙伴、学员、外校教师、专家社群等外部人员参加平台组织的发展活动。</a:t>
            </a:r>
          </a:p>
        </p:txBody>
      </p:sp>
      <p:sp>
        <p:nvSpPr>
          <p:cNvPr id="8" name="矩形 7">
            <a:extLst xmlns:a="http://schemas.openxmlformats.org/drawingml/2006/main">
              <a:ext uri="{FF2B5EF4-FFF2-40B4-BE49-F238E27FC236}">
                <a16:creationId xmlns:a16="http://schemas.microsoft.com/office/drawing/2014/main" id="{0124692A-EFC7-4032-B01F-8494C785C3D8}"/>
              </a:ext>
            </a:extLst>
          </p:cNvPr>
          <p:cNvSpPr>
            <a:spLocks xmlns:a="http://schemas.openxmlformats.org/drawingml/2006/main" noGrp="1"/>
          </p:cNvSpPr>
          <p:nvPr/>
        </p:nvSpPr>
        <p:spPr>
          <a:xfrm xmlns:a="http://schemas.openxmlformats.org/drawingml/2006/main">
            <a:off x="390525" y="4171950"/>
            <a:ext cx="5000625"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555555"/>
                </a:solidFill>
                <a:latin typeface="PingFang SC"/>
                <a:ea typeface="PingFang SC"/>
                <a:cs typeface="PingFang SC"/>
              </a:defRPr>
            </a:pPr>
            <a:r>
              <a:t>平台目标是把内外部参与者的报名、参与、互动、成果、证明和效果报告统一转化为可运营资产。</a:t>
            </a:r>
          </a:p>
        </p:txBody>
      </p:sp>
      <p:sp>
        <p:nvSpPr>
          <p:cNvPr id="9" name="矩形 8">
            <a:extLst xmlns:a="http://schemas.openxmlformats.org/drawingml/2006/main">
              <a:ext uri="{FF2B5EF4-FFF2-40B4-BE49-F238E27FC236}">
                <a16:creationId xmlns:a16="http://schemas.microsoft.com/office/drawing/2014/main" id="{E202CDFA-5BCC-4149-AC6F-38E1501FD715}"/>
              </a:ext>
            </a:extLst>
          </p:cNvPr>
          <p:cNvSpPr>
            <a:spLocks xmlns:a="http://schemas.openxmlformats.org/drawingml/2006/main" noGrp="1"/>
          </p:cNvSpPr>
          <p:nvPr/>
        </p:nvSpPr>
        <p:spPr>
          <a:xfrm xmlns:a="http://schemas.openxmlformats.org/drawingml/2006/main">
            <a:off x="6286500" y="1971675"/>
            <a:ext cx="2476500" cy="12954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矩形 9">
            <a:extLst xmlns:a="http://schemas.openxmlformats.org/drawingml/2006/main">
              <a:ext uri="{FF2B5EF4-FFF2-40B4-BE49-F238E27FC236}">
                <a16:creationId xmlns:a16="http://schemas.microsoft.com/office/drawing/2014/main" id="{E28B51A2-ED9F-41D0-9713-D3E7C936E29F}"/>
              </a:ext>
            </a:extLst>
          </p:cNvPr>
          <p:cNvSpPr>
            <a:spLocks xmlns:a="http://schemas.openxmlformats.org/drawingml/2006/main" noGrp="1"/>
          </p:cNvSpPr>
          <p:nvPr/>
        </p:nvSpPr>
        <p:spPr>
          <a:xfrm xmlns:a="http://schemas.openxmlformats.org/drawingml/2006/main">
            <a:off x="6515100" y="2200275"/>
            <a:ext cx="2019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875" b="1">
                <a:solidFill>
                  <a:srgbClr val="000000"/>
                </a:solidFill>
                <a:latin typeface="PingFang SC"/>
                <a:ea typeface="PingFang SC"/>
                <a:cs typeface="PingFang SC"/>
              </a:defRPr>
            </a:pPr>
            <a:r>
              <a:t>活动资产</a:t>
            </a:r>
          </a:p>
        </p:txBody>
      </p:sp>
      <p:sp>
        <p:nvSpPr>
          <p:cNvPr id="11" name="矩形 10">
            <a:extLst xmlns:a="http://schemas.openxmlformats.org/drawingml/2006/main">
              <a:ext uri="{FF2B5EF4-FFF2-40B4-BE49-F238E27FC236}">
                <a16:creationId xmlns:a16="http://schemas.microsoft.com/office/drawing/2014/main" id="{A0D820E0-674B-4AFC-A72C-E8FAC6134F39}"/>
              </a:ext>
            </a:extLst>
          </p:cNvPr>
          <p:cNvSpPr>
            <a:spLocks xmlns:a="http://schemas.openxmlformats.org/drawingml/2006/main" noGrp="1"/>
          </p:cNvSpPr>
          <p:nvPr/>
        </p:nvSpPr>
        <p:spPr>
          <a:xfrm xmlns:a="http://schemas.openxmlformats.org/drawingml/2006/main">
            <a:off x="6515100" y="2657475"/>
            <a:ext cx="2019300" cy="419100"/>
          </a:xfrm>
          <a:prstGeom xmlns:a="http://schemas.openxmlformats.org/drawingml/2006/main" prst="rect">
            <a:avLst/>
          </a:prstGeom>
        </p:spPr>
        <p:txBody>
          <a:bodyPr xmlns:a="http://schemas.openxmlformats.org/drawingml/2006/main" lIns="0" tIns="0" rIns="0" bIns="0" anchor="t">
            <a:normAutofit fontScale="67901"/>
          </a:bodyPr>
          <a:lstStyle xmlns:a="http://schemas.openxmlformats.org/drawingml/2006/main"/>
          <a:p xmlns:a="http://schemas.openxmlformats.org/drawingml/2006/main">
            <a:pPr algn="l">
              <a:buNone/>
              <a:defRPr sz="1350" b="0">
                <a:solidFill>
                  <a:srgbClr val="000000"/>
                </a:solidFill>
                <a:latin typeface="PingFang SC"/>
                <a:ea typeface="PingFang SC"/>
                <a:cs typeface="PingFang SC"/>
              </a:defRPr>
            </a:pPr>
            <a:r>
              <a:t>发展项目、活动类型、内部/外部参与者、来源组织、主持人、专家和成果要求统一沉淀。</a:t>
            </a:r>
          </a:p>
        </p:txBody>
      </p:sp>
      <p:sp>
        <p:nvSpPr>
          <p:cNvPr id="12" name="矩形 11">
            <a:extLst xmlns:a="http://schemas.openxmlformats.org/drawingml/2006/main">
              <a:ext uri="{FF2B5EF4-FFF2-40B4-BE49-F238E27FC236}">
                <a16:creationId xmlns:a16="http://schemas.microsoft.com/office/drawing/2014/main" id="{2A960F71-FD98-421B-A977-D1753B0EB9C3}"/>
              </a:ext>
            </a:extLst>
          </p:cNvPr>
          <p:cNvSpPr>
            <a:spLocks xmlns:a="http://schemas.openxmlformats.org/drawingml/2006/main" noGrp="1"/>
          </p:cNvSpPr>
          <p:nvPr/>
        </p:nvSpPr>
        <p:spPr>
          <a:xfrm xmlns:a="http://schemas.openxmlformats.org/drawingml/2006/main">
            <a:off x="9315450" y="1971675"/>
            <a:ext cx="2476500" cy="12954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矩形 12">
            <a:extLst xmlns:a="http://schemas.openxmlformats.org/drawingml/2006/main">
              <a:ext uri="{FF2B5EF4-FFF2-40B4-BE49-F238E27FC236}">
                <a16:creationId xmlns:a16="http://schemas.microsoft.com/office/drawing/2014/main" id="{68E9C11C-FE6A-4ED6-A8B4-59AF89C89E45}"/>
              </a:ext>
            </a:extLst>
          </p:cNvPr>
          <p:cNvSpPr>
            <a:spLocks xmlns:a="http://schemas.openxmlformats.org/drawingml/2006/main" noGrp="1"/>
          </p:cNvSpPr>
          <p:nvPr/>
        </p:nvSpPr>
        <p:spPr>
          <a:xfrm xmlns:a="http://schemas.openxmlformats.org/drawingml/2006/main">
            <a:off x="9544050" y="2200275"/>
            <a:ext cx="2019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875" b="1">
                <a:solidFill>
                  <a:srgbClr val="000000"/>
                </a:solidFill>
                <a:latin typeface="PingFang SC"/>
                <a:ea typeface="PingFang SC"/>
                <a:cs typeface="PingFang SC"/>
              </a:defRPr>
            </a:pPr>
            <a:r>
              <a:t>过程参与</a:t>
            </a:r>
          </a:p>
        </p:txBody>
      </p:sp>
      <p:sp>
        <p:nvSpPr>
          <p:cNvPr id="14" name="矩形 13">
            <a:extLst xmlns:a="http://schemas.openxmlformats.org/drawingml/2006/main">
              <a:ext uri="{FF2B5EF4-FFF2-40B4-BE49-F238E27FC236}">
                <a16:creationId xmlns:a16="http://schemas.microsoft.com/office/drawing/2014/main" id="{CCAB3DC0-1B5D-4757-943D-B9B45616A187}"/>
              </a:ext>
            </a:extLst>
          </p:cNvPr>
          <p:cNvSpPr>
            <a:spLocks xmlns:a="http://schemas.openxmlformats.org/drawingml/2006/main" noGrp="1"/>
          </p:cNvSpPr>
          <p:nvPr/>
        </p:nvSpPr>
        <p:spPr>
          <a:xfrm xmlns:a="http://schemas.openxmlformats.org/drawingml/2006/main">
            <a:off x="9544050" y="2657475"/>
            <a:ext cx="2019300" cy="419100"/>
          </a:xfrm>
          <a:prstGeom xmlns:a="http://schemas.openxmlformats.org/drawingml/2006/main" prst="rect">
            <a:avLst/>
          </a:prstGeom>
        </p:spPr>
        <p:txBody>
          <a:bodyPr xmlns:a="http://schemas.openxmlformats.org/drawingml/2006/main" lIns="0" tIns="0" rIns="0" bIns="0" anchor="t">
            <a:normAutofit fontScale="76658"/>
          </a:bodyPr>
          <a:lstStyle xmlns:a="http://schemas.openxmlformats.org/drawingml/2006/main"/>
          <a:p xmlns:a="http://schemas.openxmlformats.org/drawingml/2006/main">
            <a:pPr algn="l">
              <a:buNone/>
              <a:defRPr sz="1350" b="0">
                <a:solidFill>
                  <a:srgbClr val="000000"/>
                </a:solidFill>
                <a:latin typeface="PingFang SC"/>
                <a:ea typeface="PingFang SC"/>
                <a:cs typeface="PingFang SC"/>
              </a:defRPr>
            </a:pPr>
            <a:r>
              <a:t>空间承载报名审核、研讨、评课、任务、互动、点评、作业和成果。</a:t>
            </a:r>
          </a:p>
        </p:txBody>
      </p:sp>
      <p:sp>
        <p:nvSpPr>
          <p:cNvPr id="15" name="矩形 14">
            <a:extLst xmlns:a="http://schemas.openxmlformats.org/drawingml/2006/main">
              <a:ext uri="{FF2B5EF4-FFF2-40B4-BE49-F238E27FC236}">
                <a16:creationId xmlns:a16="http://schemas.microsoft.com/office/drawing/2014/main" id="{994A804C-8D5F-4373-B750-E983E534C3FE}"/>
              </a:ext>
            </a:extLst>
          </p:cNvPr>
          <p:cNvSpPr>
            <a:spLocks xmlns:a="http://schemas.openxmlformats.org/drawingml/2006/main" noGrp="1"/>
          </p:cNvSpPr>
          <p:nvPr/>
        </p:nvSpPr>
        <p:spPr>
          <a:xfrm xmlns:a="http://schemas.openxmlformats.org/drawingml/2006/main">
            <a:off x="6286500" y="3762375"/>
            <a:ext cx="2476500" cy="12954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6" name="矩形 15">
            <a:extLst xmlns:a="http://schemas.openxmlformats.org/drawingml/2006/main">
              <a:ext uri="{FF2B5EF4-FFF2-40B4-BE49-F238E27FC236}">
                <a16:creationId xmlns:a16="http://schemas.microsoft.com/office/drawing/2014/main" id="{3C03295F-3459-46C0-BED7-A183F6139F93}"/>
              </a:ext>
            </a:extLst>
          </p:cNvPr>
          <p:cNvSpPr>
            <a:spLocks xmlns:a="http://schemas.openxmlformats.org/drawingml/2006/main" noGrp="1"/>
          </p:cNvSpPr>
          <p:nvPr/>
        </p:nvSpPr>
        <p:spPr>
          <a:xfrm xmlns:a="http://schemas.openxmlformats.org/drawingml/2006/main">
            <a:off x="6515100" y="3990975"/>
            <a:ext cx="2019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875" b="1">
                <a:solidFill>
                  <a:srgbClr val="000000"/>
                </a:solidFill>
                <a:latin typeface="PingFang SC"/>
                <a:ea typeface="PingFang SC"/>
                <a:cs typeface="PingFang SC"/>
              </a:defRPr>
            </a:pPr>
            <a:r>
              <a:t>智能辅助</a:t>
            </a:r>
          </a:p>
        </p:txBody>
      </p:sp>
      <p:sp>
        <p:nvSpPr>
          <p:cNvPr id="17" name="矩形 16">
            <a:extLst xmlns:a="http://schemas.openxmlformats.org/drawingml/2006/main">
              <a:ext uri="{FF2B5EF4-FFF2-40B4-BE49-F238E27FC236}">
                <a16:creationId xmlns:a16="http://schemas.microsoft.com/office/drawing/2014/main" id="{18869738-D6D9-45E6-9A68-B7E56AC73EFE}"/>
              </a:ext>
            </a:extLst>
          </p:cNvPr>
          <p:cNvSpPr>
            <a:spLocks xmlns:a="http://schemas.openxmlformats.org/drawingml/2006/main" noGrp="1"/>
          </p:cNvSpPr>
          <p:nvPr/>
        </p:nvSpPr>
        <p:spPr>
          <a:xfrm xmlns:a="http://schemas.openxmlformats.org/drawingml/2006/main">
            <a:off x="6515100" y="4448175"/>
            <a:ext cx="2019300" cy="419100"/>
          </a:xfrm>
          <a:prstGeom xmlns:a="http://schemas.openxmlformats.org/drawingml/2006/main" prst="rect">
            <a:avLst/>
          </a:prstGeom>
        </p:spPr>
        <p:txBody>
          <a:bodyPr xmlns:a="http://schemas.openxmlformats.org/drawingml/2006/main" lIns="0" tIns="0" rIns="0" bIns="0" anchor="t">
            <a:normAutofit fontScale="67901"/>
          </a:bodyPr>
          <a:lstStyle xmlns:a="http://schemas.openxmlformats.org/drawingml/2006/main"/>
          <a:p xmlns:a="http://schemas.openxmlformats.org/drawingml/2006/main">
            <a:pPr algn="l">
              <a:buNone/>
              <a:defRPr sz="1350" b="0">
                <a:solidFill>
                  <a:srgbClr val="000000"/>
                </a:solidFill>
                <a:latin typeface="PingFang SC"/>
                <a:ea typeface="PingFang SC"/>
                <a:cs typeface="PingFang SC"/>
              </a:defRPr>
            </a:pPr>
            <a:r>
              <a:t>Lucky 支持外训方案、报名问答、纪要整理、评课分析和成长证据归档。</a:t>
            </a:r>
          </a:p>
        </p:txBody>
      </p:sp>
      <p:sp>
        <p:nvSpPr>
          <p:cNvPr id="18" name="矩形 17">
            <a:extLst xmlns:a="http://schemas.openxmlformats.org/drawingml/2006/main">
              <a:ext uri="{FF2B5EF4-FFF2-40B4-BE49-F238E27FC236}">
                <a16:creationId xmlns:a16="http://schemas.microsoft.com/office/drawing/2014/main" id="{EC6CBA9F-78DB-446D-9A6E-496F99EE6820}"/>
              </a:ext>
            </a:extLst>
          </p:cNvPr>
          <p:cNvSpPr>
            <a:spLocks xmlns:a="http://schemas.openxmlformats.org/drawingml/2006/main" noGrp="1"/>
          </p:cNvSpPr>
          <p:nvPr/>
        </p:nvSpPr>
        <p:spPr>
          <a:xfrm xmlns:a="http://schemas.openxmlformats.org/drawingml/2006/main">
            <a:off x="9315450" y="3762375"/>
            <a:ext cx="2476500" cy="12954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9" name="矩形 18">
            <a:extLst xmlns:a="http://schemas.openxmlformats.org/drawingml/2006/main">
              <a:ext uri="{FF2B5EF4-FFF2-40B4-BE49-F238E27FC236}">
                <a16:creationId xmlns:a16="http://schemas.microsoft.com/office/drawing/2014/main" id="{417DB32A-F0FB-4732-A98A-BA69779CE3B3}"/>
              </a:ext>
            </a:extLst>
          </p:cNvPr>
          <p:cNvSpPr>
            <a:spLocks xmlns:a="http://schemas.openxmlformats.org/drawingml/2006/main" noGrp="1"/>
          </p:cNvSpPr>
          <p:nvPr/>
        </p:nvSpPr>
        <p:spPr>
          <a:xfrm xmlns:a="http://schemas.openxmlformats.org/drawingml/2006/main">
            <a:off x="9544050" y="3990975"/>
            <a:ext cx="2019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875" b="1">
                <a:solidFill>
                  <a:srgbClr val="000000"/>
                </a:solidFill>
                <a:latin typeface="PingFang SC"/>
                <a:ea typeface="PingFang SC"/>
                <a:cs typeface="PingFang SC"/>
              </a:defRPr>
            </a:pPr>
            <a:r>
              <a:t>发展闭环</a:t>
            </a:r>
          </a:p>
        </p:txBody>
      </p:sp>
      <p:sp>
        <p:nvSpPr>
          <p:cNvPr id="20" name="矩形 19">
            <a:extLst xmlns:a="http://schemas.openxmlformats.org/drawingml/2006/main">
              <a:ext uri="{FF2B5EF4-FFF2-40B4-BE49-F238E27FC236}">
                <a16:creationId xmlns:a16="http://schemas.microsoft.com/office/drawing/2014/main" id="{67D52D33-DA4A-4F9A-A136-543C4F181B4E}"/>
              </a:ext>
            </a:extLst>
          </p:cNvPr>
          <p:cNvSpPr>
            <a:spLocks xmlns:a="http://schemas.openxmlformats.org/drawingml/2006/main" noGrp="1"/>
          </p:cNvSpPr>
          <p:nvPr/>
        </p:nvSpPr>
        <p:spPr>
          <a:xfrm xmlns:a="http://schemas.openxmlformats.org/drawingml/2006/main">
            <a:off x="9544050" y="4448175"/>
            <a:ext cx="2019300" cy="419100"/>
          </a:xfrm>
          <a:prstGeom xmlns:a="http://schemas.openxmlformats.org/drawingml/2006/main" prst="rect">
            <a:avLst/>
          </a:prstGeom>
        </p:spPr>
        <p:txBody>
          <a:bodyPr xmlns:a="http://schemas.openxmlformats.org/drawingml/2006/main" lIns="0" tIns="0" rIns="0" bIns="0" anchor="t">
            <a:normAutofit fontScale="72080"/>
          </a:bodyPr>
          <a:lstStyle xmlns:a="http://schemas.openxmlformats.org/drawingml/2006/main"/>
          <a:p xmlns:a="http://schemas.openxmlformats.org/drawingml/2006/main">
            <a:pPr algn="l">
              <a:buNone/>
              <a:defRPr sz="1350" b="0">
                <a:solidFill>
                  <a:srgbClr val="000000"/>
                </a:solidFill>
                <a:latin typeface="PingFang SC"/>
                <a:ea typeface="PingFang SC"/>
                <a:cs typeface="PingFang SC"/>
              </a:defRPr>
            </a:pPr>
            <a:r>
              <a:t>效果评估反哺能力模型、外部组织报告、复训建议和下一轮发展计划。</a:t>
            </a:r>
          </a:p>
        </p:txBody>
      </p:sp>
    </p:spTree>
    <p:extLst>
      <p:ext uri="{BB962C8B-B14F-4D97-AF65-F5344CB8AC3E}">
        <p14:creationId xmlns:p14="http://schemas.microsoft.com/office/powerpoint/2010/main" val="19053283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22B82964-40E1-4C6C-8C9E-F9F32DC6374F}"/>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总体架构</a:t>
            </a:r>
          </a:p>
        </p:txBody>
      </p:sp>
      <p:sp>
        <p:nvSpPr>
          <p:cNvPr id="3" name="矩形 2">
            <a:extLst xmlns:a="http://schemas.openxmlformats.org/drawingml/2006/main">
              <a:ext uri="{FF2B5EF4-FFF2-40B4-BE49-F238E27FC236}">
                <a16:creationId xmlns:a16="http://schemas.microsoft.com/office/drawing/2014/main" id="{DBC52530-DAD4-4C9A-97C8-A67779B4FF09}"/>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775" b="1">
                <a:solidFill>
                  <a:srgbClr val="000000"/>
                </a:solidFill>
                <a:latin typeface="PingFang SC"/>
                <a:ea typeface="PingFang SC"/>
                <a:cs typeface="PingFang SC"/>
              </a:defRPr>
            </a:pPr>
            <a:r>
              <a:t>内外训发展活动在果仁底座上形成五层协同架构</a:t>
            </a:r>
          </a:p>
        </p:txBody>
      </p:sp>
      <p:sp>
        <p:nvSpPr>
          <p:cNvPr id="4" name="矩形 3">
            <a:extLst xmlns:a="http://schemas.openxmlformats.org/drawingml/2006/main">
              <a:ext uri="{FF2B5EF4-FFF2-40B4-BE49-F238E27FC236}">
                <a16:creationId xmlns:a16="http://schemas.microsoft.com/office/drawing/2014/main" id="{9E447CA5-FFB3-4109-863A-40197E951657}"/>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208E5834-DFC1-4A4B-98B3-7446C3B6B53A}"/>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04</a:t>
            </a:r>
          </a:p>
        </p:txBody>
      </p:sp>
      <p:sp>
        <p:nvSpPr>
          <p:cNvPr id="6" name="矩形 5">
            <a:extLst xmlns:a="http://schemas.openxmlformats.org/drawingml/2006/main">
              <a:ext uri="{FF2B5EF4-FFF2-40B4-BE49-F238E27FC236}">
                <a16:creationId xmlns:a16="http://schemas.microsoft.com/office/drawing/2014/main" id="{8BD29CFE-CBE0-4CFE-92C7-B590A70F82FD}"/>
              </a:ext>
            </a:extLst>
          </p:cNvPr>
          <p:cNvSpPr>
            <a:spLocks xmlns:a="http://schemas.openxmlformats.org/drawingml/2006/main" noGrp="1"/>
          </p:cNvSpPr>
          <p:nvPr/>
        </p:nvSpPr>
        <p:spPr>
          <a:xfrm xmlns:a="http://schemas.openxmlformats.org/drawingml/2006/main">
            <a:off x="685800" y="1981200"/>
            <a:ext cx="10096500" cy="685800"/>
          </a:xfrm>
          <a:prstGeom xmlns:a="http://schemas.openxmlformats.org/drawingml/2006/main" prst="rect">
            <a:avLst/>
          </a:prstGeom>
        </p:spPr>
        <p:txBody>
          <a:bodyPr xmlns:a="http://schemas.openxmlformats.org/drawingml/2006/main" lIns="0" tIns="0" rIns="0" bIns="0" anchor="ctr">
            <a:normAutofit fontScale="90909"/>
          </a:bodyPr>
          <a:lstStyle xmlns:a="http://schemas.openxmlformats.org/drawingml/2006/main"/>
          <a:p xmlns:a="http://schemas.openxmlformats.org/drawingml/2006/main">
            <a:pPr algn="ctr">
              <a:buNone/>
              <a:defRPr sz="2475" b="1">
                <a:solidFill>
                  <a:srgbClr val="000000"/>
                </a:solidFill>
                <a:latin typeface="PingFang SC"/>
                <a:ea typeface="PingFang SC"/>
                <a:cs typeface="PingFang SC"/>
              </a:defRPr>
            </a:pPr>
            <a:r>
              <a:t>面向内训、外训、课程、研讨、评课、工作坊和客户/伙伴培训，统一用发展活动对象串联参与者、来源组织、内容、过程、AI、数据和交付商业化。</a:t>
            </a:r>
          </a:p>
        </p:txBody>
      </p:sp>
      <p:sp>
        <p:nvSpPr>
          <p:cNvPr id="7" name="矩形 6">
            <a:extLst xmlns:a="http://schemas.openxmlformats.org/drawingml/2006/main">
              <a:ext uri="{FF2B5EF4-FFF2-40B4-BE49-F238E27FC236}">
                <a16:creationId xmlns:a16="http://schemas.microsoft.com/office/drawing/2014/main" id="{257A8AC0-A8B3-4E15-BA38-4DB418237774}"/>
              </a:ext>
            </a:extLst>
          </p:cNvPr>
          <p:cNvSpPr>
            <a:spLocks xmlns:a="http://schemas.openxmlformats.org/drawingml/2006/main" noGrp="1"/>
          </p:cNvSpPr>
          <p:nvPr/>
        </p:nvSpPr>
        <p:spPr>
          <a:xfrm xmlns:a="http://schemas.openxmlformats.org/drawingml/2006/main">
            <a:off x="895350" y="3200400"/>
            <a:ext cx="1714500" cy="5524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8" name="矩形 7">
            <a:extLst xmlns:a="http://schemas.openxmlformats.org/drawingml/2006/main">
              <a:ext uri="{FF2B5EF4-FFF2-40B4-BE49-F238E27FC236}">
                <a16:creationId xmlns:a16="http://schemas.microsoft.com/office/drawing/2014/main" id="{A28C787D-DEAE-4E2D-BFC4-012369904181}"/>
              </a:ext>
            </a:extLst>
          </p:cNvPr>
          <p:cNvSpPr>
            <a:spLocks xmlns:a="http://schemas.openxmlformats.org/drawingml/2006/main" noGrp="1"/>
          </p:cNvSpPr>
          <p:nvPr/>
        </p:nvSpPr>
        <p:spPr>
          <a:xfrm xmlns:a="http://schemas.openxmlformats.org/drawingml/2006/main">
            <a:off x="990600" y="3257550"/>
            <a:ext cx="1524000" cy="4381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725" b="1">
                <a:solidFill>
                  <a:srgbClr val="000000"/>
                </a:solidFill>
                <a:latin typeface="PingFang SC"/>
                <a:ea typeface="PingFang SC"/>
                <a:cs typeface="PingFang SC"/>
              </a:defRPr>
            </a:pPr>
            <a:r>
              <a:t>内外部入口</a:t>
            </a:r>
          </a:p>
        </p:txBody>
      </p:sp>
      <p:sp>
        <p:nvSpPr>
          <p:cNvPr id="9" name="右箭头 8">
            <a:extLst xmlns:a="http://schemas.openxmlformats.org/drawingml/2006/main">
              <a:ext uri="{FF2B5EF4-FFF2-40B4-BE49-F238E27FC236}">
                <a16:creationId xmlns:a16="http://schemas.microsoft.com/office/drawing/2014/main" id="{32A70D23-71F8-4741-B21F-212737F2F883}"/>
              </a:ext>
            </a:extLst>
          </p:cNvPr>
          <p:cNvSpPr>
            <a:spLocks xmlns:a="http://schemas.openxmlformats.org/drawingml/2006/main" noGrp="1"/>
          </p:cNvSpPr>
          <p:nvPr/>
        </p:nvSpPr>
        <p:spPr>
          <a:xfrm xmlns:a="http://schemas.openxmlformats.org/drawingml/2006/main">
            <a:off x="2914650" y="3305175"/>
            <a:ext cx="704850" cy="342900"/>
          </a:xfrm>
          <a:prstGeom xmlns:a="http://schemas.openxmlformats.org/drawingml/2006/main" prst="rightArrow">
            <a:avLst/>
          </a:prstGeom>
          <a:solidFill xmlns:a="http://schemas.openxmlformats.org/drawingml/2006/main">
            <a:srgbClr val="B8BCC4"/>
          </a:solidFill>
          <a:ln xmlns:a="http://schemas.openxmlformats.org/drawingml/2006/main" w="0">
            <a:noFill/>
            <a:prstDash val="solid"/>
          </a:ln>
        </p:spPr>
      </p:sp>
      <p:sp>
        <p:nvSpPr>
          <p:cNvPr id="10" name="矩形 9">
            <a:extLst xmlns:a="http://schemas.openxmlformats.org/drawingml/2006/main">
              <a:ext uri="{FF2B5EF4-FFF2-40B4-BE49-F238E27FC236}">
                <a16:creationId xmlns:a16="http://schemas.microsoft.com/office/drawing/2014/main" id="{C6DA7CC1-1DFC-488D-BF72-170343993B80}"/>
              </a:ext>
            </a:extLst>
          </p:cNvPr>
          <p:cNvSpPr>
            <a:spLocks xmlns:a="http://schemas.openxmlformats.org/drawingml/2006/main" noGrp="1"/>
          </p:cNvSpPr>
          <p:nvPr/>
        </p:nvSpPr>
        <p:spPr>
          <a:xfrm xmlns:a="http://schemas.openxmlformats.org/drawingml/2006/main">
            <a:off x="3924300" y="3200400"/>
            <a:ext cx="1524000" cy="5524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1" name="矩形 10">
            <a:extLst xmlns:a="http://schemas.openxmlformats.org/drawingml/2006/main">
              <a:ext uri="{FF2B5EF4-FFF2-40B4-BE49-F238E27FC236}">
                <a16:creationId xmlns:a16="http://schemas.microsoft.com/office/drawing/2014/main" id="{993AEF9A-D967-4399-8912-424C3DF6B43C}"/>
              </a:ext>
            </a:extLst>
          </p:cNvPr>
          <p:cNvSpPr>
            <a:spLocks xmlns:a="http://schemas.openxmlformats.org/drawingml/2006/main" noGrp="1"/>
          </p:cNvSpPr>
          <p:nvPr/>
        </p:nvSpPr>
        <p:spPr>
          <a:xfrm xmlns:a="http://schemas.openxmlformats.org/drawingml/2006/main">
            <a:off x="4019550" y="3257550"/>
            <a:ext cx="1333500" cy="4381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725" b="1">
                <a:solidFill>
                  <a:srgbClr val="000000"/>
                </a:solidFill>
                <a:latin typeface="PingFang SC"/>
                <a:ea typeface="PingFang SC"/>
                <a:cs typeface="PingFang SC"/>
              </a:defRPr>
            </a:pPr>
            <a:r>
              <a:t>业务子系统</a:t>
            </a:r>
          </a:p>
        </p:txBody>
      </p:sp>
      <p:sp>
        <p:nvSpPr>
          <p:cNvPr id="12" name="右箭头 11">
            <a:extLst xmlns:a="http://schemas.openxmlformats.org/drawingml/2006/main">
              <a:ext uri="{FF2B5EF4-FFF2-40B4-BE49-F238E27FC236}">
                <a16:creationId xmlns:a16="http://schemas.microsoft.com/office/drawing/2014/main" id="{E5DD8A2F-E467-439C-9EB7-CD390029DCE6}"/>
              </a:ext>
            </a:extLst>
          </p:cNvPr>
          <p:cNvSpPr>
            <a:spLocks xmlns:a="http://schemas.openxmlformats.org/drawingml/2006/main" noGrp="1"/>
          </p:cNvSpPr>
          <p:nvPr/>
        </p:nvSpPr>
        <p:spPr>
          <a:xfrm xmlns:a="http://schemas.openxmlformats.org/drawingml/2006/main">
            <a:off x="5753100" y="3305175"/>
            <a:ext cx="704850" cy="342900"/>
          </a:xfrm>
          <a:prstGeom xmlns:a="http://schemas.openxmlformats.org/drawingml/2006/main" prst="rightArrow">
            <a:avLst/>
          </a:prstGeom>
          <a:solidFill xmlns:a="http://schemas.openxmlformats.org/drawingml/2006/main">
            <a:srgbClr val="B8BCC4"/>
          </a:solidFill>
          <a:ln xmlns:a="http://schemas.openxmlformats.org/drawingml/2006/main" w="0">
            <a:noFill/>
            <a:prstDash val="solid"/>
          </a:ln>
        </p:spPr>
      </p:sp>
      <p:sp>
        <p:nvSpPr>
          <p:cNvPr id="13" name="矩形 12">
            <a:extLst xmlns:a="http://schemas.openxmlformats.org/drawingml/2006/main">
              <a:ext uri="{FF2B5EF4-FFF2-40B4-BE49-F238E27FC236}">
                <a16:creationId xmlns:a16="http://schemas.microsoft.com/office/drawing/2014/main" id="{FA93F15D-48D4-4220-9B67-C1C3DAEE1D2B}"/>
              </a:ext>
            </a:extLst>
          </p:cNvPr>
          <p:cNvSpPr>
            <a:spLocks xmlns:a="http://schemas.openxmlformats.org/drawingml/2006/main" noGrp="1"/>
          </p:cNvSpPr>
          <p:nvPr/>
        </p:nvSpPr>
        <p:spPr>
          <a:xfrm xmlns:a="http://schemas.openxmlformats.org/drawingml/2006/main">
            <a:off x="6762750" y="3200400"/>
            <a:ext cx="2000250" cy="552450"/>
          </a:xfrm>
          <a:prstGeom xmlns:a="http://schemas.openxmlformats.org/drawingml/2006/main" prst="rect">
            <a:avLst/>
          </a:prstGeom>
          <a:solidFill xmlns:a="http://schemas.openxmlformats.org/drawingml/2006/main">
            <a:srgbClr val="000000"/>
          </a:solidFill>
          <a:ln xmlns:a="http://schemas.openxmlformats.org/drawingml/2006/main" w="9525">
            <a:solidFill>
              <a:srgbClr val="B8BCC4"/>
            </a:solidFill>
            <a:prstDash val="solid"/>
          </a:ln>
        </p:spPr>
      </p:sp>
      <p:sp>
        <p:nvSpPr>
          <p:cNvPr id="14" name="矩形 13">
            <a:extLst xmlns:a="http://schemas.openxmlformats.org/drawingml/2006/main">
              <a:ext uri="{FF2B5EF4-FFF2-40B4-BE49-F238E27FC236}">
                <a16:creationId xmlns:a16="http://schemas.microsoft.com/office/drawing/2014/main" id="{4C219FB3-A687-4897-A94A-39104546B3B4}"/>
              </a:ext>
            </a:extLst>
          </p:cNvPr>
          <p:cNvSpPr>
            <a:spLocks xmlns:a="http://schemas.openxmlformats.org/drawingml/2006/main" noGrp="1"/>
          </p:cNvSpPr>
          <p:nvPr/>
        </p:nvSpPr>
        <p:spPr>
          <a:xfrm xmlns:a="http://schemas.openxmlformats.org/drawingml/2006/main">
            <a:off x="6858000" y="3257550"/>
            <a:ext cx="1809750" cy="4381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725" b="1">
                <a:solidFill>
                  <a:srgbClr val="FFFFFF"/>
                </a:solidFill>
                <a:latin typeface="PingFang SC"/>
                <a:ea typeface="PingFang SC"/>
                <a:cs typeface="PingFang SC"/>
              </a:defRPr>
            </a:pPr>
            <a:r>
              <a:t>AI 能力层</a:t>
            </a:r>
          </a:p>
        </p:txBody>
      </p:sp>
      <p:sp>
        <p:nvSpPr>
          <p:cNvPr id="15" name="右箭头 14">
            <a:extLst xmlns:a="http://schemas.openxmlformats.org/drawingml/2006/main">
              <a:ext uri="{FF2B5EF4-FFF2-40B4-BE49-F238E27FC236}">
                <a16:creationId xmlns:a16="http://schemas.microsoft.com/office/drawing/2014/main" id="{7559AD2F-73C9-4413-BD9F-D1F3E362BEE8}"/>
              </a:ext>
            </a:extLst>
          </p:cNvPr>
          <p:cNvSpPr>
            <a:spLocks xmlns:a="http://schemas.openxmlformats.org/drawingml/2006/main" noGrp="1"/>
          </p:cNvSpPr>
          <p:nvPr/>
        </p:nvSpPr>
        <p:spPr>
          <a:xfrm xmlns:a="http://schemas.openxmlformats.org/drawingml/2006/main">
            <a:off x="9067800" y="3305175"/>
            <a:ext cx="704850" cy="342900"/>
          </a:xfrm>
          <a:prstGeom xmlns:a="http://schemas.openxmlformats.org/drawingml/2006/main" prst="rightArrow">
            <a:avLst/>
          </a:prstGeom>
          <a:solidFill xmlns:a="http://schemas.openxmlformats.org/drawingml/2006/main">
            <a:srgbClr val="B8BCC4"/>
          </a:solidFill>
          <a:ln xmlns:a="http://schemas.openxmlformats.org/drawingml/2006/main" w="0">
            <a:noFill/>
            <a:prstDash val="solid"/>
          </a:ln>
        </p:spPr>
      </p:sp>
      <p:sp>
        <p:nvSpPr>
          <p:cNvPr id="16" name="矩形 15">
            <a:extLst xmlns:a="http://schemas.openxmlformats.org/drawingml/2006/main">
              <a:ext uri="{FF2B5EF4-FFF2-40B4-BE49-F238E27FC236}">
                <a16:creationId xmlns:a16="http://schemas.microsoft.com/office/drawing/2014/main" id="{DBB25D8A-BEB5-4DD4-97EB-28812F16B0AE}"/>
              </a:ext>
            </a:extLst>
          </p:cNvPr>
          <p:cNvSpPr>
            <a:spLocks xmlns:a="http://schemas.openxmlformats.org/drawingml/2006/main" noGrp="1"/>
          </p:cNvSpPr>
          <p:nvPr/>
        </p:nvSpPr>
        <p:spPr>
          <a:xfrm xmlns:a="http://schemas.openxmlformats.org/drawingml/2006/main">
            <a:off x="10077450" y="3200400"/>
            <a:ext cx="1714500" cy="552450"/>
          </a:xfrm>
          <a:prstGeom xmlns:a="http://schemas.openxmlformats.org/drawingml/2006/main" prst="rect">
            <a:avLst/>
          </a:prstGeom>
          <a:solidFill xmlns:a="http://schemas.openxmlformats.org/drawingml/2006/main">
            <a:srgbClr val="FF6B35"/>
          </a:solidFill>
          <a:ln xmlns:a="http://schemas.openxmlformats.org/drawingml/2006/main" w="9525">
            <a:noFill/>
            <a:prstDash val="solid"/>
          </a:ln>
        </p:spPr>
      </p:sp>
      <p:sp>
        <p:nvSpPr>
          <p:cNvPr id="17" name="矩形 16">
            <a:extLst xmlns:a="http://schemas.openxmlformats.org/drawingml/2006/main">
              <a:ext uri="{FF2B5EF4-FFF2-40B4-BE49-F238E27FC236}">
                <a16:creationId xmlns:a16="http://schemas.microsoft.com/office/drawing/2014/main" id="{11CB3CDF-A8CA-4CC9-9982-537B4620E919}"/>
              </a:ext>
            </a:extLst>
          </p:cNvPr>
          <p:cNvSpPr>
            <a:spLocks xmlns:a="http://schemas.openxmlformats.org/drawingml/2006/main" noGrp="1"/>
          </p:cNvSpPr>
          <p:nvPr/>
        </p:nvSpPr>
        <p:spPr>
          <a:xfrm xmlns:a="http://schemas.openxmlformats.org/drawingml/2006/main">
            <a:off x="10172700" y="3257550"/>
            <a:ext cx="1524000" cy="4381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650" b="1">
                <a:solidFill>
                  <a:srgbClr val="FFFFFF"/>
                </a:solidFill>
                <a:latin typeface="PingFang SC"/>
                <a:ea typeface="PingFang SC"/>
                <a:cs typeface="PingFang SC"/>
              </a:defRPr>
            </a:pPr>
            <a:r>
              <a:t>果仁底座</a:t>
            </a:r>
          </a:p>
        </p:txBody>
      </p:sp>
      <p:sp>
        <p:nvSpPr>
          <p:cNvPr id="18" name="矩形 17">
            <a:extLst xmlns:a="http://schemas.openxmlformats.org/drawingml/2006/main">
              <a:ext uri="{FF2B5EF4-FFF2-40B4-BE49-F238E27FC236}">
                <a16:creationId xmlns:a16="http://schemas.microsoft.com/office/drawing/2014/main" id="{48DBD47C-829E-492D-B985-BC566CE7B821}"/>
              </a:ext>
            </a:extLst>
          </p:cNvPr>
          <p:cNvSpPr>
            <a:spLocks xmlns:a="http://schemas.openxmlformats.org/drawingml/2006/main" noGrp="1"/>
          </p:cNvSpPr>
          <p:nvPr/>
        </p:nvSpPr>
        <p:spPr>
          <a:xfrm xmlns:a="http://schemas.openxmlformats.org/drawingml/2006/main">
            <a:off x="390525" y="4476750"/>
            <a:ext cx="3238500" cy="10668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9" name="矩形 18">
            <a:extLst xmlns:a="http://schemas.openxmlformats.org/drawingml/2006/main">
              <a:ext uri="{FF2B5EF4-FFF2-40B4-BE49-F238E27FC236}">
                <a16:creationId xmlns:a16="http://schemas.microsoft.com/office/drawing/2014/main" id="{1A1C2CE1-AD48-4553-B061-C344F4707F94}"/>
              </a:ext>
            </a:extLst>
          </p:cNvPr>
          <p:cNvSpPr>
            <a:spLocks xmlns:a="http://schemas.openxmlformats.org/drawingml/2006/main" noGrp="1"/>
          </p:cNvSpPr>
          <p:nvPr/>
        </p:nvSpPr>
        <p:spPr>
          <a:xfrm xmlns:a="http://schemas.openxmlformats.org/drawingml/2006/main">
            <a:off x="619125" y="4705350"/>
            <a:ext cx="2781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800" b="1">
                <a:solidFill>
                  <a:srgbClr val="000000"/>
                </a:solidFill>
                <a:latin typeface="PingFang SC"/>
                <a:ea typeface="PingFang SC"/>
                <a:cs typeface="PingFang SC"/>
              </a:defRPr>
            </a:pPr>
            <a:r>
              <a:t>资料库</a:t>
            </a:r>
          </a:p>
        </p:txBody>
      </p:sp>
      <p:sp>
        <p:nvSpPr>
          <p:cNvPr id="20" name="矩形 19">
            <a:extLst xmlns:a="http://schemas.openxmlformats.org/drawingml/2006/main">
              <a:ext uri="{FF2B5EF4-FFF2-40B4-BE49-F238E27FC236}">
                <a16:creationId xmlns:a16="http://schemas.microsoft.com/office/drawing/2014/main" id="{422A5FB1-0F8B-43AB-AEB3-BDD99C7DFB24}"/>
              </a:ext>
            </a:extLst>
          </p:cNvPr>
          <p:cNvSpPr>
            <a:spLocks xmlns:a="http://schemas.openxmlformats.org/drawingml/2006/main" noGrp="1"/>
          </p:cNvSpPr>
          <p:nvPr/>
        </p:nvSpPr>
        <p:spPr>
          <a:xfrm xmlns:a="http://schemas.openxmlformats.org/drawingml/2006/main">
            <a:off x="619125" y="5162550"/>
            <a:ext cx="2781300" cy="190500"/>
          </a:xfrm>
          <a:prstGeom xmlns:a="http://schemas.openxmlformats.org/drawingml/2006/main" prst="rect">
            <a:avLst/>
          </a:prstGeom>
        </p:spPr>
        <p:txBody>
          <a:bodyPr xmlns:a="http://schemas.openxmlformats.org/drawingml/2006/main" lIns="0" tIns="0" rIns="0" bIns="0" anchor="t">
            <a:normAutofit fontScale="49020"/>
          </a:bodyPr>
          <a:lstStyle xmlns:a="http://schemas.openxmlformats.org/drawingml/2006/main"/>
          <a:p xmlns:a="http://schemas.openxmlformats.org/drawingml/2006/main">
            <a:pPr algn="l">
              <a:buNone/>
              <a:defRPr sz="1275" b="0">
                <a:solidFill>
                  <a:srgbClr val="000000"/>
                </a:solidFill>
                <a:latin typeface="PingFang SC"/>
                <a:ea typeface="PingFang SC"/>
                <a:cs typeface="PingFang SC"/>
              </a:defRPr>
            </a:pPr>
            <a:r>
              <a:t>沉淀课程、课件、案例、评课记录、外训资料、研讨纪要和活动成果，支撑检索、问答与复用。</a:t>
            </a:r>
          </a:p>
        </p:txBody>
      </p:sp>
      <p:sp>
        <p:nvSpPr>
          <p:cNvPr id="21" name="矩形 20">
            <a:extLst xmlns:a="http://schemas.openxmlformats.org/drawingml/2006/main">
              <a:ext uri="{FF2B5EF4-FFF2-40B4-BE49-F238E27FC236}">
                <a16:creationId xmlns:a16="http://schemas.microsoft.com/office/drawing/2014/main" id="{FC364131-C0FE-4506-9FFD-FA7C224DDD3D}"/>
              </a:ext>
            </a:extLst>
          </p:cNvPr>
          <p:cNvSpPr>
            <a:spLocks xmlns:a="http://schemas.openxmlformats.org/drawingml/2006/main" noGrp="1"/>
          </p:cNvSpPr>
          <p:nvPr/>
        </p:nvSpPr>
        <p:spPr>
          <a:xfrm xmlns:a="http://schemas.openxmlformats.org/drawingml/2006/main">
            <a:off x="4476750" y="4476750"/>
            <a:ext cx="3238500" cy="10668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2" name="矩形 21">
            <a:extLst xmlns:a="http://schemas.openxmlformats.org/drawingml/2006/main">
              <a:ext uri="{FF2B5EF4-FFF2-40B4-BE49-F238E27FC236}">
                <a16:creationId xmlns:a16="http://schemas.microsoft.com/office/drawing/2014/main" id="{E786FBBF-D10A-41E0-89B0-1D561565B786}"/>
              </a:ext>
            </a:extLst>
          </p:cNvPr>
          <p:cNvSpPr>
            <a:spLocks xmlns:a="http://schemas.openxmlformats.org/drawingml/2006/main" noGrp="1"/>
          </p:cNvSpPr>
          <p:nvPr/>
        </p:nvSpPr>
        <p:spPr>
          <a:xfrm xmlns:a="http://schemas.openxmlformats.org/drawingml/2006/main">
            <a:off x="4705350" y="4705350"/>
            <a:ext cx="2781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800" b="1">
                <a:solidFill>
                  <a:srgbClr val="000000"/>
                </a:solidFill>
                <a:latin typeface="PingFang SC"/>
                <a:ea typeface="PingFang SC"/>
                <a:cs typeface="PingFang SC"/>
              </a:defRPr>
            </a:pPr>
            <a:r>
              <a:t>空间</a:t>
            </a:r>
          </a:p>
        </p:txBody>
      </p:sp>
      <p:sp>
        <p:nvSpPr>
          <p:cNvPr id="23" name="矩形 22">
            <a:extLst xmlns:a="http://schemas.openxmlformats.org/drawingml/2006/main">
              <a:ext uri="{FF2B5EF4-FFF2-40B4-BE49-F238E27FC236}">
                <a16:creationId xmlns:a16="http://schemas.microsoft.com/office/drawing/2014/main" id="{C843029D-95E9-4500-A5F4-B7A7A2A6906D}"/>
              </a:ext>
            </a:extLst>
          </p:cNvPr>
          <p:cNvSpPr>
            <a:spLocks xmlns:a="http://schemas.openxmlformats.org/drawingml/2006/main" noGrp="1"/>
          </p:cNvSpPr>
          <p:nvPr/>
        </p:nvSpPr>
        <p:spPr>
          <a:xfrm xmlns:a="http://schemas.openxmlformats.org/drawingml/2006/main">
            <a:off x="4705350" y="5162550"/>
            <a:ext cx="2781300" cy="190500"/>
          </a:xfrm>
          <a:prstGeom xmlns:a="http://schemas.openxmlformats.org/drawingml/2006/main" prst="rect">
            <a:avLst/>
          </a:prstGeom>
        </p:spPr>
        <p:txBody>
          <a:bodyPr xmlns:a="http://schemas.openxmlformats.org/drawingml/2006/main" lIns="0" tIns="0" rIns="0" bIns="0" anchor="t">
            <a:normAutofit fontScale="49020"/>
          </a:bodyPr>
          <a:lstStyle xmlns:a="http://schemas.openxmlformats.org/drawingml/2006/main"/>
          <a:p xmlns:a="http://schemas.openxmlformats.org/drawingml/2006/main">
            <a:pPr algn="l">
              <a:buNone/>
              <a:defRPr sz="1275" b="0">
                <a:solidFill>
                  <a:srgbClr val="000000"/>
                </a:solidFill>
                <a:latin typeface="PingFang SC"/>
                <a:ea typeface="PingFang SC"/>
                <a:cs typeface="PingFang SC"/>
              </a:defRPr>
            </a:pPr>
            <a:r>
              <a:t>承载发展项目、内部成员、外部参与者、日程、任务、研讨、问卷、点评和权限协同。</a:t>
            </a:r>
          </a:p>
        </p:txBody>
      </p:sp>
      <p:sp>
        <p:nvSpPr>
          <p:cNvPr id="24" name="矩形 23">
            <a:extLst xmlns:a="http://schemas.openxmlformats.org/drawingml/2006/main">
              <a:ext uri="{FF2B5EF4-FFF2-40B4-BE49-F238E27FC236}">
                <a16:creationId xmlns:a16="http://schemas.microsoft.com/office/drawing/2014/main" id="{7A9FD481-2416-44C6-88C8-40A0B02E2E4F}"/>
              </a:ext>
            </a:extLst>
          </p:cNvPr>
          <p:cNvSpPr>
            <a:spLocks xmlns:a="http://schemas.openxmlformats.org/drawingml/2006/main" noGrp="1"/>
          </p:cNvSpPr>
          <p:nvPr/>
        </p:nvSpPr>
        <p:spPr>
          <a:xfrm xmlns:a="http://schemas.openxmlformats.org/drawingml/2006/main">
            <a:off x="8562975" y="4476750"/>
            <a:ext cx="3238500" cy="10668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25" name="矩形 24">
            <a:extLst xmlns:a="http://schemas.openxmlformats.org/drawingml/2006/main">
              <a:ext uri="{FF2B5EF4-FFF2-40B4-BE49-F238E27FC236}">
                <a16:creationId xmlns:a16="http://schemas.microsoft.com/office/drawing/2014/main" id="{91D6ADBA-C21F-4280-9316-8F1C2E7046A5}"/>
              </a:ext>
            </a:extLst>
          </p:cNvPr>
          <p:cNvSpPr>
            <a:spLocks xmlns:a="http://schemas.openxmlformats.org/drawingml/2006/main" noGrp="1"/>
          </p:cNvSpPr>
          <p:nvPr/>
        </p:nvSpPr>
        <p:spPr>
          <a:xfrm xmlns:a="http://schemas.openxmlformats.org/drawingml/2006/main">
            <a:off x="8791575" y="4705350"/>
            <a:ext cx="2781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800" b="1">
                <a:solidFill>
                  <a:srgbClr val="FF6B35"/>
                </a:solidFill>
                <a:latin typeface="PingFang SC"/>
                <a:ea typeface="PingFang SC"/>
                <a:cs typeface="PingFang SC"/>
              </a:defRPr>
            </a:pPr>
            <a:r>
              <a:t>Lucky</a:t>
            </a:r>
          </a:p>
        </p:txBody>
      </p:sp>
      <p:sp>
        <p:nvSpPr>
          <p:cNvPr id="26" name="矩形 25">
            <a:extLst xmlns:a="http://schemas.openxmlformats.org/drawingml/2006/main">
              <a:ext uri="{FF2B5EF4-FFF2-40B4-BE49-F238E27FC236}">
                <a16:creationId xmlns:a16="http://schemas.microsoft.com/office/drawing/2014/main" id="{CDC5C385-EDAF-4EA8-9E84-C9AD3CEAC982}"/>
              </a:ext>
            </a:extLst>
          </p:cNvPr>
          <p:cNvSpPr>
            <a:spLocks xmlns:a="http://schemas.openxmlformats.org/drawingml/2006/main" noGrp="1"/>
          </p:cNvSpPr>
          <p:nvPr/>
        </p:nvSpPr>
        <p:spPr>
          <a:xfrm xmlns:a="http://schemas.openxmlformats.org/drawingml/2006/main">
            <a:off x="8791575" y="5162550"/>
            <a:ext cx="2781300" cy="190500"/>
          </a:xfrm>
          <a:prstGeom xmlns:a="http://schemas.openxmlformats.org/drawingml/2006/main" prst="rect">
            <a:avLst/>
          </a:prstGeom>
        </p:spPr>
        <p:txBody>
          <a:bodyPr xmlns:a="http://schemas.openxmlformats.org/drawingml/2006/main" lIns="0" tIns="0" rIns="0" bIns="0" anchor="t">
            <a:normAutofit fontScale="49020"/>
          </a:bodyPr>
          <a:lstStyle xmlns:a="http://schemas.openxmlformats.org/drawingml/2006/main"/>
          <a:p xmlns:a="http://schemas.openxmlformats.org/drawingml/2006/main">
            <a:pPr algn="l">
              <a:buNone/>
              <a:defRPr sz="1275" b="0">
                <a:solidFill>
                  <a:srgbClr val="FFFFFF"/>
                </a:solidFill>
                <a:latin typeface="PingFang SC"/>
                <a:ea typeface="PingFang SC"/>
                <a:cs typeface="PingFang SC"/>
              </a:defRPr>
            </a:pPr>
            <a:r>
              <a:t>为管理员、主持人、讲师、专家、内部成员、外部参与者和运营人员提供智能助手矩阵。</a:t>
            </a:r>
          </a:p>
        </p:txBody>
      </p:sp>
      <p:sp>
        <p:nvSpPr>
          <p:cNvPr id="27" name="矩形 26">
            <a:extLst xmlns:a="http://schemas.openxmlformats.org/drawingml/2006/main">
              <a:ext uri="{FF2B5EF4-FFF2-40B4-BE49-F238E27FC236}">
                <a16:creationId xmlns:a16="http://schemas.microsoft.com/office/drawing/2014/main" id="{FBC435B9-B585-48F9-9F05-B1F925D5DFF6}"/>
              </a:ext>
            </a:extLst>
          </p:cNvPr>
          <p:cNvSpPr>
            <a:spLocks xmlns:a="http://schemas.openxmlformats.org/drawingml/2006/main" noGrp="1"/>
          </p:cNvSpPr>
          <p:nvPr/>
        </p:nvSpPr>
        <p:spPr>
          <a:xfrm xmlns:a="http://schemas.openxmlformats.org/drawingml/2006/main">
            <a:off x="1104900" y="5867400"/>
            <a:ext cx="9982200" cy="304800"/>
          </a:xfrm>
          <a:prstGeom xmlns:a="http://schemas.openxmlformats.org/drawingml/2006/main" prst="rect">
            <a:avLst/>
          </a:prstGeom>
        </p:spPr>
        <p:txBody>
          <a:bodyPr xmlns:a="http://schemas.openxmlformats.org/drawingml/2006/main" lIns="0" tIns="0" rIns="0" bIns="0" anchor="ctr">
            <a:normAutofit fontScale="95330"/>
          </a:bodyPr>
          <a:lstStyle xmlns:a="http://schemas.openxmlformats.org/drawingml/2006/main"/>
          <a:p xmlns:a="http://schemas.openxmlformats.org/drawingml/2006/main">
            <a:pPr algn="ctr">
              <a:buNone/>
              <a:defRPr sz="1650" b="1">
                <a:solidFill>
                  <a:srgbClr val="000000"/>
                </a:solidFill>
                <a:latin typeface="PingFang SC"/>
                <a:ea typeface="PingFang SC"/>
                <a:cs typeface="PingFang SC"/>
              </a:defRPr>
            </a:pPr>
            <a:r>
              <a:t>底层能力一次建设，多种发展活动复用：企业内训、客户培训、伙伴培训、认证培训、教师研修、公开工作坊。</a:t>
            </a:r>
          </a:p>
        </p:txBody>
      </p:sp>
    </p:spTree>
    <p:extLst>
      <p:ext uri="{BB962C8B-B14F-4D97-AF65-F5344CB8AC3E}">
        <p14:creationId xmlns:p14="http://schemas.microsoft.com/office/powerpoint/2010/main" val="140810292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7729BB91-60A3-4448-8C02-02B369C6651C}"/>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子系统架构</a:t>
            </a:r>
          </a:p>
        </p:txBody>
      </p:sp>
      <p:sp>
        <p:nvSpPr>
          <p:cNvPr id="3" name="矩形 2">
            <a:extLst xmlns:a="http://schemas.openxmlformats.org/drawingml/2006/main">
              <a:ext uri="{FF2B5EF4-FFF2-40B4-BE49-F238E27FC236}">
                <a16:creationId xmlns:a16="http://schemas.microsoft.com/office/drawing/2014/main" id="{3280596C-DC9F-4CF7-832A-C06B7971D85F}"/>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25" b="1">
                <a:solidFill>
                  <a:srgbClr val="000000"/>
                </a:solidFill>
                <a:latin typeface="PingFang SC"/>
                <a:ea typeface="PingFang SC"/>
                <a:cs typeface="PingFang SC"/>
              </a:defRPr>
            </a:pPr>
            <a:r>
              <a:t>发展活动中心连接内训外训的信息管理、过程运营和效果评估</a:t>
            </a:r>
          </a:p>
        </p:txBody>
      </p:sp>
      <p:sp>
        <p:nvSpPr>
          <p:cNvPr id="4" name="矩形 3">
            <a:extLst xmlns:a="http://schemas.openxmlformats.org/drawingml/2006/main">
              <a:ext uri="{FF2B5EF4-FFF2-40B4-BE49-F238E27FC236}">
                <a16:creationId xmlns:a16="http://schemas.microsoft.com/office/drawing/2014/main" id="{3CABCAC4-D3D3-4904-A2DD-0BAAC1D0FD8E}"/>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5B1FF774-98D2-4343-A4EB-5B26D24E6093}"/>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05</a:t>
            </a:r>
          </a:p>
        </p:txBody>
      </p:sp>
      <p:sp>
        <p:nvSpPr>
          <p:cNvPr id="6" name="矩形 5">
            <a:extLst xmlns:a="http://schemas.openxmlformats.org/drawingml/2006/main">
              <a:ext uri="{FF2B5EF4-FFF2-40B4-BE49-F238E27FC236}">
                <a16:creationId xmlns:a16="http://schemas.microsoft.com/office/drawing/2014/main" id="{7EDC9512-DE58-46DF-94F8-517A02618267}"/>
              </a:ext>
            </a:extLst>
          </p:cNvPr>
          <p:cNvSpPr>
            <a:spLocks xmlns:a="http://schemas.openxmlformats.org/drawingml/2006/main" noGrp="1"/>
          </p:cNvSpPr>
          <p:nvPr/>
        </p:nvSpPr>
        <p:spPr>
          <a:xfrm xmlns:a="http://schemas.openxmlformats.org/drawingml/2006/main">
            <a:off x="628650" y="2266950"/>
            <a:ext cx="2476500" cy="27622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7" name="矩形 6">
            <a:extLst xmlns:a="http://schemas.openxmlformats.org/drawingml/2006/main">
              <a:ext uri="{FF2B5EF4-FFF2-40B4-BE49-F238E27FC236}">
                <a16:creationId xmlns:a16="http://schemas.microsoft.com/office/drawing/2014/main" id="{194A8F60-06FD-47AA-91CA-7D556F533083}"/>
              </a:ext>
            </a:extLst>
          </p:cNvPr>
          <p:cNvSpPr>
            <a:spLocks xmlns:a="http://schemas.openxmlformats.org/drawingml/2006/main" noGrp="1"/>
          </p:cNvSpPr>
          <p:nvPr/>
        </p:nvSpPr>
        <p:spPr>
          <a:xfrm xmlns:a="http://schemas.openxmlformats.org/drawingml/2006/main">
            <a:off x="4857750" y="2266950"/>
            <a:ext cx="2476500" cy="27622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8" name="矩形 7">
            <a:extLst xmlns:a="http://schemas.openxmlformats.org/drawingml/2006/main">
              <a:ext uri="{FF2B5EF4-FFF2-40B4-BE49-F238E27FC236}">
                <a16:creationId xmlns:a16="http://schemas.microsoft.com/office/drawing/2014/main" id="{DAE7EF2A-23D4-40F1-A0C7-84AA90DE1A92}"/>
              </a:ext>
            </a:extLst>
          </p:cNvPr>
          <p:cNvSpPr>
            <a:spLocks xmlns:a="http://schemas.openxmlformats.org/drawingml/2006/main" noGrp="1"/>
          </p:cNvSpPr>
          <p:nvPr/>
        </p:nvSpPr>
        <p:spPr>
          <a:xfrm xmlns:a="http://schemas.openxmlformats.org/drawingml/2006/main">
            <a:off x="9086850" y="2266950"/>
            <a:ext cx="2476500" cy="27622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9" name="矩形 8">
            <a:extLst xmlns:a="http://schemas.openxmlformats.org/drawingml/2006/main">
              <a:ext uri="{FF2B5EF4-FFF2-40B4-BE49-F238E27FC236}">
                <a16:creationId xmlns:a16="http://schemas.microsoft.com/office/drawing/2014/main" id="{FF6C8C0B-69A4-48E1-81AB-EAB90B94ECAC}"/>
              </a:ext>
            </a:extLst>
          </p:cNvPr>
          <p:cNvSpPr>
            <a:spLocks xmlns:a="http://schemas.openxmlformats.org/drawingml/2006/main" noGrp="1"/>
          </p:cNvSpPr>
          <p:nvPr/>
        </p:nvSpPr>
        <p:spPr>
          <a:xfrm xmlns:a="http://schemas.openxmlformats.org/drawingml/2006/main">
            <a:off x="857250" y="2571750"/>
            <a:ext cx="20193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025" b="1">
                <a:solidFill>
                  <a:srgbClr val="000000"/>
                </a:solidFill>
                <a:latin typeface="PingFang SC"/>
                <a:ea typeface="PingFang SC"/>
                <a:cs typeface="PingFang SC"/>
              </a:defRPr>
            </a:pPr>
            <a:r>
              <a:t>培训信息管理</a:t>
            </a:r>
          </a:p>
        </p:txBody>
      </p:sp>
      <p:sp>
        <p:nvSpPr>
          <p:cNvPr id="10" name="矩形 9">
            <a:extLst xmlns:a="http://schemas.openxmlformats.org/drawingml/2006/main">
              <a:ext uri="{FF2B5EF4-FFF2-40B4-BE49-F238E27FC236}">
                <a16:creationId xmlns:a16="http://schemas.microsoft.com/office/drawing/2014/main" id="{4F82CDB8-D738-4E72-B31F-BE2496899403}"/>
              </a:ext>
            </a:extLst>
          </p:cNvPr>
          <p:cNvSpPr>
            <a:spLocks xmlns:a="http://schemas.openxmlformats.org/drawingml/2006/main" noGrp="1"/>
          </p:cNvSpPr>
          <p:nvPr/>
        </p:nvSpPr>
        <p:spPr>
          <a:xfrm xmlns:a="http://schemas.openxmlformats.org/drawingml/2006/main">
            <a:off x="866775" y="3181350"/>
            <a:ext cx="2000250" cy="1066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0">
                <a:solidFill>
                  <a:srgbClr val="000000"/>
                </a:solidFill>
                <a:latin typeface="PingFang SC"/>
                <a:ea typeface="PingFang SC"/>
                <a:cs typeface="PingFang SC"/>
              </a:defRPr>
            </a:pPr>
            <a:r>
              <a:t>管理项目、活动类型、内部/外部参与对象、来源组织、报名审核、资源、规则和成果要求。</a:t>
            </a:r>
          </a:p>
        </p:txBody>
      </p:sp>
      <p:sp>
        <p:nvSpPr>
          <p:cNvPr id="11" name="矩形 10">
            <a:extLst xmlns:a="http://schemas.openxmlformats.org/drawingml/2006/main">
              <a:ext uri="{FF2B5EF4-FFF2-40B4-BE49-F238E27FC236}">
                <a16:creationId xmlns:a16="http://schemas.microsoft.com/office/drawing/2014/main" id="{F7BD45B9-926A-4385-AF0F-1819DD3ADCB2}"/>
              </a:ext>
            </a:extLst>
          </p:cNvPr>
          <p:cNvSpPr>
            <a:spLocks xmlns:a="http://schemas.openxmlformats.org/drawingml/2006/main" noGrp="1"/>
          </p:cNvSpPr>
          <p:nvPr/>
        </p:nvSpPr>
        <p:spPr>
          <a:xfrm xmlns:a="http://schemas.openxmlformats.org/drawingml/2006/main">
            <a:off x="1028700" y="4457700"/>
            <a:ext cx="16764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555555"/>
                </a:solidFill>
                <a:latin typeface="PingFang SC"/>
                <a:ea typeface="PingFang SC"/>
                <a:cs typeface="PingFang SC"/>
              </a:defRPr>
            </a:pPr>
            <a:r>
              <a:t>活动前</a:t>
            </a:r>
          </a:p>
        </p:txBody>
      </p:sp>
      <p:sp>
        <p:nvSpPr>
          <p:cNvPr id="12" name="矩形 11">
            <a:extLst xmlns:a="http://schemas.openxmlformats.org/drawingml/2006/main">
              <a:ext uri="{FF2B5EF4-FFF2-40B4-BE49-F238E27FC236}">
                <a16:creationId xmlns:a16="http://schemas.microsoft.com/office/drawing/2014/main" id="{DBD56D04-1536-4CFC-A812-9F673AF35448}"/>
              </a:ext>
            </a:extLst>
          </p:cNvPr>
          <p:cNvSpPr>
            <a:spLocks xmlns:a="http://schemas.openxmlformats.org/drawingml/2006/main" noGrp="1"/>
          </p:cNvSpPr>
          <p:nvPr/>
        </p:nvSpPr>
        <p:spPr>
          <a:xfrm xmlns:a="http://schemas.openxmlformats.org/drawingml/2006/main">
            <a:off x="5276850" y="2571750"/>
            <a:ext cx="1638300" cy="361950"/>
          </a:xfrm>
          <a:prstGeom xmlns:a="http://schemas.openxmlformats.org/drawingml/2006/main" prst="rect">
            <a:avLst/>
          </a:prstGeom>
        </p:spPr>
        <p:txBody>
          <a:bodyPr xmlns:a="http://schemas.openxmlformats.org/drawingml/2006/main" lIns="0" tIns="0" rIns="0" bIns="0" anchor="t">
            <a:normAutofit fontScale="90811"/>
          </a:bodyPr>
          <a:lstStyle xmlns:a="http://schemas.openxmlformats.org/drawingml/2006/main"/>
          <a:p xmlns:a="http://schemas.openxmlformats.org/drawingml/2006/main">
            <a:pPr algn="ctr">
              <a:buNone/>
              <a:defRPr sz="2325" b="1">
                <a:solidFill>
                  <a:srgbClr val="000000"/>
                </a:solidFill>
                <a:latin typeface="PingFang SC"/>
                <a:ea typeface="PingFang SC"/>
                <a:cs typeface="PingFang SC"/>
              </a:defRPr>
            </a:pPr>
            <a:r>
              <a:t>培训过程运营</a:t>
            </a:r>
          </a:p>
        </p:txBody>
      </p:sp>
      <p:sp>
        <p:nvSpPr>
          <p:cNvPr id="13" name="矩形 12">
            <a:extLst xmlns:a="http://schemas.openxmlformats.org/drawingml/2006/main">
              <a:ext uri="{FF2B5EF4-FFF2-40B4-BE49-F238E27FC236}">
                <a16:creationId xmlns:a16="http://schemas.microsoft.com/office/drawing/2014/main" id="{E15D5886-3299-4378-9531-5CE6FB3CA16D}"/>
              </a:ext>
            </a:extLst>
          </p:cNvPr>
          <p:cNvSpPr>
            <a:spLocks xmlns:a="http://schemas.openxmlformats.org/drawingml/2006/main" noGrp="1"/>
          </p:cNvSpPr>
          <p:nvPr/>
        </p:nvSpPr>
        <p:spPr>
          <a:xfrm xmlns:a="http://schemas.openxmlformats.org/drawingml/2006/main">
            <a:off x="5095875" y="3181350"/>
            <a:ext cx="2095500" cy="1066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0">
                <a:solidFill>
                  <a:srgbClr val="000000"/>
                </a:solidFill>
                <a:latin typeface="PingFang SC"/>
                <a:ea typeface="PingFang SC"/>
                <a:cs typeface="PingFang SC"/>
              </a:defRPr>
            </a:pPr>
            <a:r>
              <a:t>承载课程学习、研讨会、评课、工作坊、外训通知、签到核验、任务作业和互动提醒。</a:t>
            </a:r>
          </a:p>
        </p:txBody>
      </p:sp>
      <p:sp>
        <p:nvSpPr>
          <p:cNvPr id="14" name="矩形 13">
            <a:extLst xmlns:a="http://schemas.openxmlformats.org/drawingml/2006/main">
              <a:ext uri="{FF2B5EF4-FFF2-40B4-BE49-F238E27FC236}">
                <a16:creationId xmlns:a16="http://schemas.microsoft.com/office/drawing/2014/main" id="{E931A28A-1BE0-4425-9173-807BB08FA555}"/>
              </a:ext>
            </a:extLst>
          </p:cNvPr>
          <p:cNvSpPr>
            <a:spLocks xmlns:a="http://schemas.openxmlformats.org/drawingml/2006/main" noGrp="1"/>
          </p:cNvSpPr>
          <p:nvPr/>
        </p:nvSpPr>
        <p:spPr>
          <a:xfrm xmlns:a="http://schemas.openxmlformats.org/drawingml/2006/main">
            <a:off x="5257800" y="4457700"/>
            <a:ext cx="16764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555555"/>
                </a:solidFill>
                <a:latin typeface="PingFang SC"/>
                <a:ea typeface="PingFang SC"/>
                <a:cs typeface="PingFang SC"/>
              </a:defRPr>
            </a:pPr>
            <a:r>
              <a:t>活动中</a:t>
            </a:r>
          </a:p>
        </p:txBody>
      </p:sp>
      <p:sp>
        <p:nvSpPr>
          <p:cNvPr id="15" name="矩形 14">
            <a:extLst xmlns:a="http://schemas.openxmlformats.org/drawingml/2006/main">
              <a:ext uri="{FF2B5EF4-FFF2-40B4-BE49-F238E27FC236}">
                <a16:creationId xmlns:a16="http://schemas.microsoft.com/office/drawing/2014/main" id="{FC565800-F3EC-4E9D-8BC3-4201FE3D5F32}"/>
              </a:ext>
            </a:extLst>
          </p:cNvPr>
          <p:cNvSpPr>
            <a:spLocks xmlns:a="http://schemas.openxmlformats.org/drawingml/2006/main" noGrp="1"/>
          </p:cNvSpPr>
          <p:nvPr/>
        </p:nvSpPr>
        <p:spPr>
          <a:xfrm xmlns:a="http://schemas.openxmlformats.org/drawingml/2006/main">
            <a:off x="9429750" y="2571750"/>
            <a:ext cx="17907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025" b="1">
                <a:solidFill>
                  <a:srgbClr val="000000"/>
                </a:solidFill>
                <a:latin typeface="PingFang SC"/>
                <a:ea typeface="PingFang SC"/>
                <a:cs typeface="PingFang SC"/>
              </a:defRPr>
            </a:pPr>
            <a:r>
              <a:t>培训效果评估</a:t>
            </a:r>
          </a:p>
        </p:txBody>
      </p:sp>
      <p:sp>
        <p:nvSpPr>
          <p:cNvPr id="16" name="矩形 15">
            <a:extLst xmlns:a="http://schemas.openxmlformats.org/drawingml/2006/main">
              <a:ext uri="{FF2B5EF4-FFF2-40B4-BE49-F238E27FC236}">
                <a16:creationId xmlns:a16="http://schemas.microsoft.com/office/drawing/2014/main" id="{17E7EA16-B014-490B-AB8E-BA61B01214A7}"/>
              </a:ext>
            </a:extLst>
          </p:cNvPr>
          <p:cNvSpPr>
            <a:spLocks xmlns:a="http://schemas.openxmlformats.org/drawingml/2006/main" noGrp="1"/>
          </p:cNvSpPr>
          <p:nvPr/>
        </p:nvSpPr>
        <p:spPr>
          <a:xfrm xmlns:a="http://schemas.openxmlformats.org/drawingml/2006/main">
            <a:off x="9334500" y="3181350"/>
            <a:ext cx="2000250" cy="1066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0">
                <a:solidFill>
                  <a:srgbClr val="000000"/>
                </a:solidFill>
                <a:latin typeface="PingFang SC"/>
                <a:ea typeface="PingFang SC"/>
                <a:cs typeface="PingFang SC"/>
              </a:defRPr>
            </a:pPr>
            <a:r>
              <a:t>汇总参与度、互动质量、成果质量、组织报告、复训建议、转化线索和行为改进。</a:t>
            </a:r>
          </a:p>
        </p:txBody>
      </p:sp>
      <p:sp>
        <p:nvSpPr>
          <p:cNvPr id="17" name="矩形 16">
            <a:extLst xmlns:a="http://schemas.openxmlformats.org/drawingml/2006/main">
              <a:ext uri="{FF2B5EF4-FFF2-40B4-BE49-F238E27FC236}">
                <a16:creationId xmlns:a16="http://schemas.microsoft.com/office/drawing/2014/main" id="{0B61FC7B-0366-42DF-87F3-6666BC99DBF2}"/>
              </a:ext>
            </a:extLst>
          </p:cNvPr>
          <p:cNvSpPr>
            <a:spLocks xmlns:a="http://schemas.openxmlformats.org/drawingml/2006/main" noGrp="1"/>
          </p:cNvSpPr>
          <p:nvPr/>
        </p:nvSpPr>
        <p:spPr>
          <a:xfrm xmlns:a="http://schemas.openxmlformats.org/drawingml/2006/main">
            <a:off x="9486900" y="4457700"/>
            <a:ext cx="16764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555555"/>
                </a:solidFill>
                <a:latin typeface="PingFang SC"/>
                <a:ea typeface="PingFang SC"/>
                <a:cs typeface="PingFang SC"/>
              </a:defRPr>
            </a:pPr>
            <a:r>
              <a:t>活动后</a:t>
            </a:r>
          </a:p>
        </p:txBody>
      </p:sp>
      <p:sp>
        <p:nvSpPr>
          <p:cNvPr id="18" name="右箭头 17">
            <a:extLst xmlns:a="http://schemas.openxmlformats.org/drawingml/2006/main">
              <a:ext uri="{FF2B5EF4-FFF2-40B4-BE49-F238E27FC236}">
                <a16:creationId xmlns:a16="http://schemas.microsoft.com/office/drawing/2014/main" id="{4D1EE6FB-7CFA-427C-BCEC-F91F8844F7EE}"/>
              </a:ext>
            </a:extLst>
          </p:cNvPr>
          <p:cNvSpPr>
            <a:spLocks xmlns:a="http://schemas.openxmlformats.org/drawingml/2006/main" noGrp="1"/>
          </p:cNvSpPr>
          <p:nvPr/>
        </p:nvSpPr>
        <p:spPr>
          <a:xfrm xmlns:a="http://schemas.openxmlformats.org/drawingml/2006/main">
            <a:off x="3429000" y="3343275"/>
            <a:ext cx="1066800" cy="381000"/>
          </a:xfrm>
          <a:prstGeom xmlns:a="http://schemas.openxmlformats.org/drawingml/2006/main" prst="rightArrow">
            <a:avLst/>
          </a:prstGeom>
          <a:solidFill xmlns:a="http://schemas.openxmlformats.org/drawingml/2006/main">
            <a:srgbClr val="000000"/>
          </a:solidFill>
          <a:ln xmlns:a="http://schemas.openxmlformats.org/drawingml/2006/main" w="0">
            <a:noFill/>
            <a:prstDash val="solid"/>
          </a:ln>
        </p:spPr>
      </p:sp>
      <p:sp>
        <p:nvSpPr>
          <p:cNvPr id="19" name="右箭头 18">
            <a:extLst xmlns:a="http://schemas.openxmlformats.org/drawingml/2006/main">
              <a:ext uri="{FF2B5EF4-FFF2-40B4-BE49-F238E27FC236}">
                <a16:creationId xmlns:a16="http://schemas.microsoft.com/office/drawing/2014/main" id="{4EF3D742-EB42-4D82-8D65-DD66A060B042}"/>
              </a:ext>
            </a:extLst>
          </p:cNvPr>
          <p:cNvSpPr>
            <a:spLocks xmlns:a="http://schemas.openxmlformats.org/drawingml/2006/main" noGrp="1"/>
          </p:cNvSpPr>
          <p:nvPr/>
        </p:nvSpPr>
        <p:spPr>
          <a:xfrm xmlns:a="http://schemas.openxmlformats.org/drawingml/2006/main">
            <a:off x="7658100" y="3343275"/>
            <a:ext cx="1066800" cy="381000"/>
          </a:xfrm>
          <a:prstGeom xmlns:a="http://schemas.openxmlformats.org/drawingml/2006/main" prst="rightArrow">
            <a:avLst/>
          </a:prstGeom>
          <a:solidFill xmlns:a="http://schemas.openxmlformats.org/drawingml/2006/main">
            <a:srgbClr val="000000"/>
          </a:solidFill>
          <a:ln xmlns:a="http://schemas.openxmlformats.org/drawingml/2006/main" w="0">
            <a:noFill/>
            <a:prstDash val="solid"/>
          </a:ln>
        </p:spPr>
      </p:sp>
      <p:sp>
        <p:nvSpPr>
          <p:cNvPr id="20" name="矩形 19">
            <a:extLst xmlns:a="http://schemas.openxmlformats.org/drawingml/2006/main">
              <a:ext uri="{FF2B5EF4-FFF2-40B4-BE49-F238E27FC236}">
                <a16:creationId xmlns:a16="http://schemas.microsoft.com/office/drawing/2014/main" id="{86F2AD04-8B74-45AE-9433-E43E22FD0707}"/>
              </a:ext>
            </a:extLst>
          </p:cNvPr>
          <p:cNvSpPr>
            <a:spLocks xmlns:a="http://schemas.openxmlformats.org/drawingml/2006/main" noGrp="1"/>
          </p:cNvSpPr>
          <p:nvPr/>
        </p:nvSpPr>
        <p:spPr>
          <a:xfrm xmlns:a="http://schemas.openxmlformats.org/drawingml/2006/main">
            <a:off x="3362325" y="3829050"/>
            <a:ext cx="12001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b="0">
                <a:solidFill>
                  <a:srgbClr val="555555"/>
                </a:solidFill>
                <a:latin typeface="PingFang SC"/>
                <a:ea typeface="PingFang SC"/>
                <a:cs typeface="PingFang SC"/>
              </a:defRPr>
            </a:pPr>
            <a:r>
              <a:t>信息进入活动</a:t>
            </a:r>
          </a:p>
        </p:txBody>
      </p:sp>
      <p:sp>
        <p:nvSpPr>
          <p:cNvPr id="21" name="矩形 20">
            <a:extLst xmlns:a="http://schemas.openxmlformats.org/drawingml/2006/main">
              <a:ext uri="{FF2B5EF4-FFF2-40B4-BE49-F238E27FC236}">
                <a16:creationId xmlns:a16="http://schemas.microsoft.com/office/drawing/2014/main" id="{5E2706E9-3B99-4417-84ED-B969649305E6}"/>
              </a:ext>
            </a:extLst>
          </p:cNvPr>
          <p:cNvSpPr>
            <a:spLocks xmlns:a="http://schemas.openxmlformats.org/drawingml/2006/main" noGrp="1"/>
          </p:cNvSpPr>
          <p:nvPr/>
        </p:nvSpPr>
        <p:spPr>
          <a:xfrm xmlns:a="http://schemas.openxmlformats.org/drawingml/2006/main">
            <a:off x="7591425" y="3829050"/>
            <a:ext cx="12001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b="0">
                <a:solidFill>
                  <a:srgbClr val="555555"/>
                </a:solidFill>
                <a:latin typeface="PingFang SC"/>
                <a:ea typeface="PingFang SC"/>
                <a:cs typeface="PingFang SC"/>
              </a:defRPr>
            </a:pPr>
            <a:r>
              <a:t>数据反哺交付</a:t>
            </a:r>
          </a:p>
        </p:txBody>
      </p:sp>
    </p:spTree>
    <p:extLst>
      <p:ext uri="{BB962C8B-B14F-4D97-AF65-F5344CB8AC3E}">
        <p14:creationId xmlns:p14="http://schemas.microsoft.com/office/powerpoint/2010/main" val="25515490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53F92383-4772-4372-A565-B1AE0ABEF208}"/>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培训信息管理</a:t>
            </a:r>
          </a:p>
        </p:txBody>
      </p:sp>
      <p:sp>
        <p:nvSpPr>
          <p:cNvPr id="3" name="矩形 2">
            <a:extLst xmlns:a="http://schemas.openxmlformats.org/drawingml/2006/main">
              <a:ext uri="{FF2B5EF4-FFF2-40B4-BE49-F238E27FC236}">
                <a16:creationId xmlns:a16="http://schemas.microsoft.com/office/drawing/2014/main" id="{955D6AF1-D74B-4EFE-BFF4-B42093F30E5E}"/>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775" b="1">
                <a:solidFill>
                  <a:srgbClr val="000000"/>
                </a:solidFill>
                <a:latin typeface="PingFang SC"/>
                <a:ea typeface="PingFang SC"/>
                <a:cs typeface="PingFang SC"/>
              </a:defRPr>
            </a:pPr>
            <a:r>
              <a:t>信息管理子系统把内外训活动从临时组织变成标准化资产</a:t>
            </a:r>
          </a:p>
        </p:txBody>
      </p:sp>
      <p:sp>
        <p:nvSpPr>
          <p:cNvPr id="4" name="矩形 3">
            <a:extLst xmlns:a="http://schemas.openxmlformats.org/drawingml/2006/main">
              <a:ext uri="{FF2B5EF4-FFF2-40B4-BE49-F238E27FC236}">
                <a16:creationId xmlns:a16="http://schemas.microsoft.com/office/drawing/2014/main" id="{8BD0548E-E020-4C7E-BA14-562FBAA97550}"/>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F48C33D6-62F9-44CC-9C7A-68BD1F77D89F}"/>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06</a:t>
            </a:r>
          </a:p>
        </p:txBody>
      </p:sp>
      <p:sp>
        <p:nvSpPr>
          <p:cNvPr id="6" name="矩形 5">
            <a:extLst xmlns:a="http://schemas.openxmlformats.org/drawingml/2006/main">
              <a:ext uri="{FF2B5EF4-FFF2-40B4-BE49-F238E27FC236}">
                <a16:creationId xmlns:a16="http://schemas.microsoft.com/office/drawing/2014/main" id="{FBBFF39D-AFDE-4475-953A-8E28706B4A56}"/>
              </a:ext>
            </a:extLst>
          </p:cNvPr>
          <p:cNvSpPr>
            <a:spLocks xmlns:a="http://schemas.openxmlformats.org/drawingml/2006/main" noGrp="1"/>
          </p:cNvSpPr>
          <p:nvPr/>
        </p:nvSpPr>
        <p:spPr>
          <a:xfrm xmlns:a="http://schemas.openxmlformats.org/drawingml/2006/main">
            <a:off x="390525" y="1962150"/>
            <a:ext cx="5334000" cy="13525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7" name="矩形 6">
            <a:extLst xmlns:a="http://schemas.openxmlformats.org/drawingml/2006/main">
              <a:ext uri="{FF2B5EF4-FFF2-40B4-BE49-F238E27FC236}">
                <a16:creationId xmlns:a16="http://schemas.microsoft.com/office/drawing/2014/main" id="{293BCEDB-EB05-42CA-B786-4AC6984B713B}"/>
              </a:ext>
            </a:extLst>
          </p:cNvPr>
          <p:cNvSpPr>
            <a:spLocks xmlns:a="http://schemas.openxmlformats.org/drawingml/2006/main" noGrp="1"/>
          </p:cNvSpPr>
          <p:nvPr/>
        </p:nvSpPr>
        <p:spPr>
          <a:xfrm xmlns:a="http://schemas.openxmlformats.org/drawingml/2006/main">
            <a:off x="619125" y="219075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发展项目</a:t>
            </a:r>
          </a:p>
        </p:txBody>
      </p:sp>
      <p:sp>
        <p:nvSpPr>
          <p:cNvPr id="8" name="矩形 7">
            <a:extLst xmlns:a="http://schemas.openxmlformats.org/drawingml/2006/main">
              <a:ext uri="{FF2B5EF4-FFF2-40B4-BE49-F238E27FC236}">
                <a16:creationId xmlns:a16="http://schemas.microsoft.com/office/drawing/2014/main" id="{86906E12-F90C-4636-BF0C-F3144CE3275E}"/>
              </a:ext>
            </a:extLst>
          </p:cNvPr>
          <p:cNvSpPr>
            <a:spLocks xmlns:a="http://schemas.openxmlformats.org/drawingml/2006/main" noGrp="1"/>
          </p:cNvSpPr>
          <p:nvPr/>
        </p:nvSpPr>
        <p:spPr>
          <a:xfrm xmlns:a="http://schemas.openxmlformats.org/drawingml/2006/main">
            <a:off x="619125" y="2647950"/>
            <a:ext cx="4876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PingFang SC"/>
                <a:ea typeface="PingFang SC"/>
                <a:cs typeface="PingFang SC"/>
              </a:defRPr>
            </a:pPr>
            <a:r>
              <a:t>维护发展目标、周期、负责人、对象范围、内训/外训属性和启用模块。</a:t>
            </a:r>
          </a:p>
        </p:txBody>
      </p:sp>
      <p:sp>
        <p:nvSpPr>
          <p:cNvPr id="9" name="矩形 8">
            <a:extLst xmlns:a="http://schemas.openxmlformats.org/drawingml/2006/main">
              <a:ext uri="{FF2B5EF4-FFF2-40B4-BE49-F238E27FC236}">
                <a16:creationId xmlns:a16="http://schemas.microsoft.com/office/drawing/2014/main" id="{31F5564E-BCCC-4A1C-9E43-FFB1945E3FD1}"/>
              </a:ext>
            </a:extLst>
          </p:cNvPr>
          <p:cNvSpPr>
            <a:spLocks xmlns:a="http://schemas.openxmlformats.org/drawingml/2006/main" noGrp="1"/>
          </p:cNvSpPr>
          <p:nvPr/>
        </p:nvSpPr>
        <p:spPr>
          <a:xfrm xmlns:a="http://schemas.openxmlformats.org/drawingml/2006/main">
            <a:off x="6457950" y="1962150"/>
            <a:ext cx="5334000" cy="13525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0" name="矩形 9">
            <a:extLst xmlns:a="http://schemas.openxmlformats.org/drawingml/2006/main">
              <a:ext uri="{FF2B5EF4-FFF2-40B4-BE49-F238E27FC236}">
                <a16:creationId xmlns:a16="http://schemas.microsoft.com/office/drawing/2014/main" id="{5738BAB9-0D28-40EA-B606-C6E77E0708BB}"/>
              </a:ext>
            </a:extLst>
          </p:cNvPr>
          <p:cNvSpPr>
            <a:spLocks xmlns:a="http://schemas.openxmlformats.org/drawingml/2006/main" noGrp="1"/>
          </p:cNvSpPr>
          <p:nvPr/>
        </p:nvSpPr>
        <p:spPr>
          <a:xfrm xmlns:a="http://schemas.openxmlformats.org/drawingml/2006/main">
            <a:off x="6686550" y="219075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活动与人员</a:t>
            </a:r>
          </a:p>
        </p:txBody>
      </p:sp>
      <p:sp>
        <p:nvSpPr>
          <p:cNvPr id="11" name="矩形 10">
            <a:extLst xmlns:a="http://schemas.openxmlformats.org/drawingml/2006/main">
              <a:ext uri="{FF2B5EF4-FFF2-40B4-BE49-F238E27FC236}">
                <a16:creationId xmlns:a16="http://schemas.microsoft.com/office/drawing/2014/main" id="{3E65A6DE-5A01-4A86-BFB2-76B105F8F698}"/>
              </a:ext>
            </a:extLst>
          </p:cNvPr>
          <p:cNvSpPr>
            <a:spLocks xmlns:a="http://schemas.openxmlformats.org/drawingml/2006/main" noGrp="1"/>
          </p:cNvSpPr>
          <p:nvPr/>
        </p:nvSpPr>
        <p:spPr>
          <a:xfrm xmlns:a="http://schemas.openxmlformats.org/drawingml/2006/main">
            <a:off x="6686550" y="2647950"/>
            <a:ext cx="4876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PingFang SC"/>
                <a:ea typeface="PingFang SC"/>
                <a:cs typeface="PingFang SC"/>
              </a:defRPr>
            </a:pPr>
            <a:r>
              <a:t>支持内部成员、外部人员档案、来源组织、联系方式、报名渠道、导入和分组。</a:t>
            </a:r>
          </a:p>
        </p:txBody>
      </p:sp>
      <p:sp>
        <p:nvSpPr>
          <p:cNvPr id="12" name="矩形 11">
            <a:extLst xmlns:a="http://schemas.openxmlformats.org/drawingml/2006/main">
              <a:ext uri="{FF2B5EF4-FFF2-40B4-BE49-F238E27FC236}">
                <a16:creationId xmlns:a16="http://schemas.microsoft.com/office/drawing/2014/main" id="{E657AABA-92E8-4DBA-B6A5-0F3DDAB24EE9}"/>
              </a:ext>
            </a:extLst>
          </p:cNvPr>
          <p:cNvSpPr>
            <a:spLocks xmlns:a="http://schemas.openxmlformats.org/drawingml/2006/main" noGrp="1"/>
          </p:cNvSpPr>
          <p:nvPr/>
        </p:nvSpPr>
        <p:spPr>
          <a:xfrm xmlns:a="http://schemas.openxmlformats.org/drawingml/2006/main">
            <a:off x="390525" y="3676650"/>
            <a:ext cx="5334000" cy="13525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3" name="矩形 12">
            <a:extLst xmlns:a="http://schemas.openxmlformats.org/drawingml/2006/main">
              <a:ext uri="{FF2B5EF4-FFF2-40B4-BE49-F238E27FC236}">
                <a16:creationId xmlns:a16="http://schemas.microsoft.com/office/drawing/2014/main" id="{F2486FDF-5CDA-44E4-9CD3-F0824E1BFA19}"/>
              </a:ext>
            </a:extLst>
          </p:cNvPr>
          <p:cNvSpPr>
            <a:spLocks xmlns:a="http://schemas.openxmlformats.org/drawingml/2006/main" noGrp="1"/>
          </p:cNvSpPr>
          <p:nvPr/>
        </p:nvSpPr>
        <p:spPr>
          <a:xfrm xmlns:a="http://schemas.openxmlformats.org/drawingml/2006/main">
            <a:off x="619125" y="390525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内容与资源</a:t>
            </a:r>
          </a:p>
        </p:txBody>
      </p:sp>
      <p:sp>
        <p:nvSpPr>
          <p:cNvPr id="14" name="矩形 13">
            <a:extLst xmlns:a="http://schemas.openxmlformats.org/drawingml/2006/main">
              <a:ext uri="{FF2B5EF4-FFF2-40B4-BE49-F238E27FC236}">
                <a16:creationId xmlns:a16="http://schemas.microsoft.com/office/drawing/2014/main" id="{49460BA9-CAA7-4ACF-A888-2B3B6E42A9D3}"/>
              </a:ext>
            </a:extLst>
          </p:cNvPr>
          <p:cNvSpPr>
            <a:spLocks xmlns:a="http://schemas.openxmlformats.org/drawingml/2006/main" noGrp="1"/>
          </p:cNvSpPr>
          <p:nvPr/>
        </p:nvSpPr>
        <p:spPr>
          <a:xfrm xmlns:a="http://schemas.openxmlformats.org/drawingml/2006/main">
            <a:off x="619125" y="4362450"/>
            <a:ext cx="4876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PingFang SC"/>
                <a:ea typeface="PingFang SC"/>
                <a:cs typeface="PingFang SC"/>
              </a:defRPr>
            </a:pPr>
            <a:r>
              <a:t>按参与者类型授权课程、议题、课件、案例、评课表、任务、标签和适用对象。</a:t>
            </a:r>
          </a:p>
        </p:txBody>
      </p:sp>
      <p:sp>
        <p:nvSpPr>
          <p:cNvPr id="15" name="矩形 14">
            <a:extLst xmlns:a="http://schemas.openxmlformats.org/drawingml/2006/main">
              <a:ext uri="{FF2B5EF4-FFF2-40B4-BE49-F238E27FC236}">
                <a16:creationId xmlns:a16="http://schemas.microsoft.com/office/drawing/2014/main" id="{6D60747C-9F01-4653-BA19-EFE786B9BCE2}"/>
              </a:ext>
            </a:extLst>
          </p:cNvPr>
          <p:cNvSpPr>
            <a:spLocks xmlns:a="http://schemas.openxmlformats.org/drawingml/2006/main" noGrp="1"/>
          </p:cNvSpPr>
          <p:nvPr/>
        </p:nvSpPr>
        <p:spPr>
          <a:xfrm xmlns:a="http://schemas.openxmlformats.org/drawingml/2006/main">
            <a:off x="6457950" y="3676650"/>
            <a:ext cx="5334000" cy="13525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6" name="矩形 15">
            <a:extLst xmlns:a="http://schemas.openxmlformats.org/drawingml/2006/main">
              <a:ext uri="{FF2B5EF4-FFF2-40B4-BE49-F238E27FC236}">
                <a16:creationId xmlns:a16="http://schemas.microsoft.com/office/drawing/2014/main" id="{729D9C91-D8B1-492D-9A16-FD8E348E5818}"/>
              </a:ext>
            </a:extLst>
          </p:cNvPr>
          <p:cNvSpPr>
            <a:spLocks xmlns:a="http://schemas.openxmlformats.org/drawingml/2006/main" noGrp="1"/>
          </p:cNvSpPr>
          <p:nvPr/>
        </p:nvSpPr>
        <p:spPr>
          <a:xfrm xmlns:a="http://schemas.openxmlformats.org/drawingml/2006/main">
            <a:off x="6686550" y="390525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FF6B35"/>
                </a:solidFill>
                <a:latin typeface="PingFang SC"/>
                <a:ea typeface="PingFang SC"/>
                <a:cs typeface="PingFang SC"/>
              </a:defRPr>
            </a:pPr>
            <a:r>
              <a:t>规则配置</a:t>
            </a:r>
          </a:p>
        </p:txBody>
      </p:sp>
      <p:sp>
        <p:nvSpPr>
          <p:cNvPr id="17" name="矩形 16">
            <a:extLst xmlns:a="http://schemas.openxmlformats.org/drawingml/2006/main">
              <a:ext uri="{FF2B5EF4-FFF2-40B4-BE49-F238E27FC236}">
                <a16:creationId xmlns:a16="http://schemas.microsoft.com/office/drawing/2014/main" id="{8EA3B50A-B27C-4231-A8E4-053ABAA6B373}"/>
              </a:ext>
            </a:extLst>
          </p:cNvPr>
          <p:cNvSpPr>
            <a:spLocks xmlns:a="http://schemas.openxmlformats.org/drawingml/2006/main" noGrp="1"/>
          </p:cNvSpPr>
          <p:nvPr/>
        </p:nvSpPr>
        <p:spPr>
          <a:xfrm xmlns:a="http://schemas.openxmlformats.org/drawingml/2006/main">
            <a:off x="6686550" y="4362450"/>
            <a:ext cx="4876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FFFFFF"/>
                </a:solidFill>
                <a:latin typeface="PingFang SC"/>
                <a:ea typeface="PingFang SC"/>
                <a:cs typeface="PingFang SC"/>
              </a:defRPr>
            </a:pPr>
            <a:r>
              <a:t>配置报名审核、名额控制、参与条件、资料权限、证书/证明、提醒和数据边界。</a:t>
            </a:r>
          </a:p>
        </p:txBody>
      </p:sp>
      <p:sp>
        <p:nvSpPr>
          <p:cNvPr id="18" name="矩形 17">
            <a:extLst xmlns:a="http://schemas.openxmlformats.org/drawingml/2006/main">
              <a:ext uri="{FF2B5EF4-FFF2-40B4-BE49-F238E27FC236}">
                <a16:creationId xmlns:a16="http://schemas.microsoft.com/office/drawing/2014/main" id="{3F9CE01D-188B-44E9-819E-128499D964CD}"/>
              </a:ext>
            </a:extLst>
          </p:cNvPr>
          <p:cNvSpPr>
            <a:spLocks xmlns:a="http://schemas.openxmlformats.org/drawingml/2006/main" noGrp="1"/>
          </p:cNvSpPr>
          <p:nvPr/>
        </p:nvSpPr>
        <p:spPr>
          <a:xfrm xmlns:a="http://schemas.openxmlformats.org/drawingml/2006/main">
            <a:off x="390525" y="5476875"/>
            <a:ext cx="11401425" cy="5143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9" name="矩形 18">
            <a:extLst xmlns:a="http://schemas.openxmlformats.org/drawingml/2006/main">
              <a:ext uri="{FF2B5EF4-FFF2-40B4-BE49-F238E27FC236}">
                <a16:creationId xmlns:a16="http://schemas.microsoft.com/office/drawing/2014/main" id="{95A41E37-AFEA-426B-AD7D-E3B3F985DB36}"/>
              </a:ext>
            </a:extLst>
          </p:cNvPr>
          <p:cNvSpPr>
            <a:spLocks xmlns:a="http://schemas.openxmlformats.org/drawingml/2006/main" noGrp="1"/>
          </p:cNvSpPr>
          <p:nvPr/>
        </p:nvSpPr>
        <p:spPr>
          <a:xfrm xmlns:a="http://schemas.openxmlformats.org/drawingml/2006/main">
            <a:off x="666750" y="5600700"/>
            <a:ext cx="10839450" cy="2667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650" b="1">
                <a:solidFill>
                  <a:srgbClr val="000000"/>
                </a:solidFill>
                <a:latin typeface="PingFang SC"/>
                <a:ea typeface="PingFang SC"/>
                <a:cs typeface="PingFang SC"/>
              </a:defRPr>
            </a:pPr>
            <a:r>
              <a:t>输出统一台账：谁来自哪个组织、以何种身份参与、完成了什么活动、获得什么证明、沉淀什么成果。</a:t>
            </a:r>
          </a:p>
        </p:txBody>
      </p:sp>
    </p:spTree>
    <p:extLst>
      <p:ext uri="{BB962C8B-B14F-4D97-AF65-F5344CB8AC3E}">
        <p14:creationId xmlns:p14="http://schemas.microsoft.com/office/powerpoint/2010/main" val="15002576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81985812-ADB9-456F-9ED0-35289AEEBD61}"/>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培训过程运营</a:t>
            </a:r>
          </a:p>
        </p:txBody>
      </p:sp>
      <p:sp>
        <p:nvSpPr>
          <p:cNvPr id="3" name="矩形 2">
            <a:extLst xmlns:a="http://schemas.openxmlformats.org/drawingml/2006/main">
              <a:ext uri="{FF2B5EF4-FFF2-40B4-BE49-F238E27FC236}">
                <a16:creationId xmlns:a16="http://schemas.microsoft.com/office/drawing/2014/main" id="{8B847D03-BA29-461B-BBA4-B8F098603F02}"/>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775" b="1">
                <a:solidFill>
                  <a:srgbClr val="000000"/>
                </a:solidFill>
                <a:latin typeface="PingFang SC"/>
                <a:ea typeface="PingFang SC"/>
                <a:cs typeface="PingFang SC"/>
              </a:defRPr>
            </a:pPr>
            <a:r>
              <a:t>过程子系统让外部人员也能进入可跟踪的发展活动闭环</a:t>
            </a:r>
          </a:p>
        </p:txBody>
      </p:sp>
      <p:sp>
        <p:nvSpPr>
          <p:cNvPr id="4" name="矩形 3">
            <a:extLst xmlns:a="http://schemas.openxmlformats.org/drawingml/2006/main">
              <a:ext uri="{FF2B5EF4-FFF2-40B4-BE49-F238E27FC236}">
                <a16:creationId xmlns:a16="http://schemas.microsoft.com/office/drawing/2014/main" id="{E1485809-83FA-4433-AACD-A0164F014D8C}"/>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FC1173D4-C787-49B8-9036-EACE97B2DBA6}"/>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07</a:t>
            </a:r>
          </a:p>
        </p:txBody>
      </p:sp>
      <p:sp>
        <p:nvSpPr>
          <p:cNvPr id="6" name="矩形 5">
            <a:extLst xmlns:a="http://schemas.openxmlformats.org/drawingml/2006/main">
              <a:ext uri="{FF2B5EF4-FFF2-40B4-BE49-F238E27FC236}">
                <a16:creationId xmlns:a16="http://schemas.microsoft.com/office/drawing/2014/main" id="{B39DDCBA-4C97-498C-95D1-CF3D9070590E}"/>
              </a:ext>
            </a:extLst>
          </p:cNvPr>
          <p:cNvSpPr>
            <a:spLocks xmlns:a="http://schemas.openxmlformats.org/drawingml/2006/main" noGrp="1"/>
          </p:cNvSpPr>
          <p:nvPr/>
        </p:nvSpPr>
        <p:spPr>
          <a:xfrm xmlns:a="http://schemas.openxmlformats.org/drawingml/2006/main">
            <a:off x="390525" y="1962150"/>
            <a:ext cx="5334000" cy="13525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7" name="矩形 6">
            <a:extLst xmlns:a="http://schemas.openxmlformats.org/drawingml/2006/main">
              <a:ext uri="{FF2B5EF4-FFF2-40B4-BE49-F238E27FC236}">
                <a16:creationId xmlns:a16="http://schemas.microsoft.com/office/drawing/2014/main" id="{D5C07029-E822-4178-B7F2-6F9ABD988834}"/>
              </a:ext>
            </a:extLst>
          </p:cNvPr>
          <p:cNvSpPr>
            <a:spLocks xmlns:a="http://schemas.openxmlformats.org/drawingml/2006/main" noGrp="1"/>
          </p:cNvSpPr>
          <p:nvPr/>
        </p:nvSpPr>
        <p:spPr>
          <a:xfrm xmlns:a="http://schemas.openxmlformats.org/drawingml/2006/main">
            <a:off x="619125" y="219075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活动交付</a:t>
            </a:r>
          </a:p>
        </p:txBody>
      </p:sp>
      <p:sp>
        <p:nvSpPr>
          <p:cNvPr id="8" name="矩形 7">
            <a:extLst xmlns:a="http://schemas.openxmlformats.org/drawingml/2006/main">
              <a:ext uri="{FF2B5EF4-FFF2-40B4-BE49-F238E27FC236}">
                <a16:creationId xmlns:a16="http://schemas.microsoft.com/office/drawing/2014/main" id="{89BF1313-2677-4763-8177-C67B7F91526C}"/>
              </a:ext>
            </a:extLst>
          </p:cNvPr>
          <p:cNvSpPr>
            <a:spLocks xmlns:a="http://schemas.openxmlformats.org/drawingml/2006/main" noGrp="1"/>
          </p:cNvSpPr>
          <p:nvPr/>
        </p:nvSpPr>
        <p:spPr>
          <a:xfrm xmlns:a="http://schemas.openxmlformats.org/drawingml/2006/main">
            <a:off x="619125" y="2647950"/>
            <a:ext cx="4876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PingFang SC"/>
                <a:ea typeface="PingFang SC"/>
                <a:cs typeface="PingFang SC"/>
              </a:defRPr>
            </a:pPr>
            <a:r>
              <a:t>研习社承载课程，空间承载研讨/评课/工作坊，外部账号与邀请链接接入活动。</a:t>
            </a:r>
          </a:p>
        </p:txBody>
      </p:sp>
      <p:sp>
        <p:nvSpPr>
          <p:cNvPr id="9" name="矩形 8">
            <a:extLst xmlns:a="http://schemas.openxmlformats.org/drawingml/2006/main">
              <a:ext uri="{FF2B5EF4-FFF2-40B4-BE49-F238E27FC236}">
                <a16:creationId xmlns:a16="http://schemas.microsoft.com/office/drawing/2014/main" id="{8E51BB19-C19B-49CC-8229-CB8FF411C107}"/>
              </a:ext>
            </a:extLst>
          </p:cNvPr>
          <p:cNvSpPr>
            <a:spLocks xmlns:a="http://schemas.openxmlformats.org/drawingml/2006/main" noGrp="1"/>
          </p:cNvSpPr>
          <p:nvPr/>
        </p:nvSpPr>
        <p:spPr>
          <a:xfrm xmlns:a="http://schemas.openxmlformats.org/drawingml/2006/main">
            <a:off x="6457950" y="1962150"/>
            <a:ext cx="5334000" cy="13525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0" name="矩形 9">
            <a:extLst xmlns:a="http://schemas.openxmlformats.org/drawingml/2006/main">
              <a:ext uri="{FF2B5EF4-FFF2-40B4-BE49-F238E27FC236}">
                <a16:creationId xmlns:a16="http://schemas.microsoft.com/office/drawing/2014/main" id="{24BFB76A-0AC1-4947-80C5-CDF1B883BC2F}"/>
              </a:ext>
            </a:extLst>
          </p:cNvPr>
          <p:cNvSpPr>
            <a:spLocks xmlns:a="http://schemas.openxmlformats.org/drawingml/2006/main" noGrp="1"/>
          </p:cNvSpPr>
          <p:nvPr/>
        </p:nvSpPr>
        <p:spPr>
          <a:xfrm xmlns:a="http://schemas.openxmlformats.org/drawingml/2006/main">
            <a:off x="6686550" y="219075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过程参与</a:t>
            </a:r>
          </a:p>
        </p:txBody>
      </p:sp>
      <p:sp>
        <p:nvSpPr>
          <p:cNvPr id="11" name="矩形 10">
            <a:extLst xmlns:a="http://schemas.openxmlformats.org/drawingml/2006/main">
              <a:ext uri="{FF2B5EF4-FFF2-40B4-BE49-F238E27FC236}">
                <a16:creationId xmlns:a16="http://schemas.microsoft.com/office/drawing/2014/main" id="{FBD08118-9794-4EF8-933F-E069800150A9}"/>
              </a:ext>
            </a:extLst>
          </p:cNvPr>
          <p:cNvSpPr>
            <a:spLocks xmlns:a="http://schemas.openxmlformats.org/drawingml/2006/main" noGrp="1"/>
          </p:cNvSpPr>
          <p:nvPr/>
        </p:nvSpPr>
        <p:spPr>
          <a:xfrm xmlns:a="http://schemas.openxmlformats.org/drawingml/2006/main">
            <a:off x="6686550" y="2647950"/>
            <a:ext cx="4876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PingFang SC"/>
                <a:ea typeface="PingFang SC"/>
                <a:cs typeface="PingFang SC"/>
              </a:defRPr>
            </a:pPr>
            <a:r>
              <a:t>组织签到核验、发言互动、任务提交、资料授权、专家点评和阶段成果。</a:t>
            </a:r>
          </a:p>
        </p:txBody>
      </p:sp>
      <p:sp>
        <p:nvSpPr>
          <p:cNvPr id="12" name="矩形 11">
            <a:extLst xmlns:a="http://schemas.openxmlformats.org/drawingml/2006/main">
              <a:ext uri="{FF2B5EF4-FFF2-40B4-BE49-F238E27FC236}">
                <a16:creationId xmlns:a16="http://schemas.microsoft.com/office/drawing/2014/main" id="{BE7B250B-6C69-4F98-9FFF-A2DC2ADACD88}"/>
              </a:ext>
            </a:extLst>
          </p:cNvPr>
          <p:cNvSpPr>
            <a:spLocks xmlns:a="http://schemas.openxmlformats.org/drawingml/2006/main" noGrp="1"/>
          </p:cNvSpPr>
          <p:nvPr/>
        </p:nvSpPr>
        <p:spPr>
          <a:xfrm xmlns:a="http://schemas.openxmlformats.org/drawingml/2006/main">
            <a:off x="390525" y="3676650"/>
            <a:ext cx="5334000" cy="13525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3" name="矩形 12">
            <a:extLst xmlns:a="http://schemas.openxmlformats.org/drawingml/2006/main">
              <a:ext uri="{FF2B5EF4-FFF2-40B4-BE49-F238E27FC236}">
                <a16:creationId xmlns:a16="http://schemas.microsoft.com/office/drawing/2014/main" id="{3E8F3C82-D803-441B-9A15-360F099C21AE}"/>
              </a:ext>
            </a:extLst>
          </p:cNvPr>
          <p:cNvSpPr>
            <a:spLocks xmlns:a="http://schemas.openxmlformats.org/drawingml/2006/main" noGrp="1"/>
          </p:cNvSpPr>
          <p:nvPr/>
        </p:nvSpPr>
        <p:spPr>
          <a:xfrm xmlns:a="http://schemas.openxmlformats.org/drawingml/2006/main">
            <a:off x="619125" y="390525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运营触达</a:t>
            </a:r>
          </a:p>
        </p:txBody>
      </p:sp>
      <p:sp>
        <p:nvSpPr>
          <p:cNvPr id="14" name="矩形 13">
            <a:extLst xmlns:a="http://schemas.openxmlformats.org/drawingml/2006/main">
              <a:ext uri="{FF2B5EF4-FFF2-40B4-BE49-F238E27FC236}">
                <a16:creationId xmlns:a16="http://schemas.microsoft.com/office/drawing/2014/main" id="{A19E6718-B9E3-47AA-9108-1DD20AC94A84}"/>
              </a:ext>
            </a:extLst>
          </p:cNvPr>
          <p:cNvSpPr>
            <a:spLocks xmlns:a="http://schemas.openxmlformats.org/drawingml/2006/main" noGrp="1"/>
          </p:cNvSpPr>
          <p:nvPr/>
        </p:nvSpPr>
        <p:spPr>
          <a:xfrm xmlns:a="http://schemas.openxmlformats.org/drawingml/2006/main">
            <a:off x="619125" y="4362450"/>
            <a:ext cx="4876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PingFang SC"/>
                <a:ea typeface="PingFang SC"/>
                <a:cs typeface="PingFang SC"/>
              </a:defRPr>
            </a:pPr>
            <a:r>
              <a:t>消息与任务提醒内外部参与者，支持报名审核、活动看板、风险名单和运营台账。</a:t>
            </a:r>
          </a:p>
        </p:txBody>
      </p:sp>
      <p:sp>
        <p:nvSpPr>
          <p:cNvPr id="15" name="矩形 14">
            <a:extLst xmlns:a="http://schemas.openxmlformats.org/drawingml/2006/main">
              <a:ext uri="{FF2B5EF4-FFF2-40B4-BE49-F238E27FC236}">
                <a16:creationId xmlns:a16="http://schemas.microsoft.com/office/drawing/2014/main" id="{3C72B410-3ACB-4010-B9E9-CCEDBF7F5045}"/>
              </a:ext>
            </a:extLst>
          </p:cNvPr>
          <p:cNvSpPr>
            <a:spLocks xmlns:a="http://schemas.openxmlformats.org/drawingml/2006/main" noGrp="1"/>
          </p:cNvSpPr>
          <p:nvPr/>
        </p:nvSpPr>
        <p:spPr>
          <a:xfrm xmlns:a="http://schemas.openxmlformats.org/drawingml/2006/main">
            <a:off x="6457950" y="3676650"/>
            <a:ext cx="5334000" cy="13525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6" name="矩形 15">
            <a:extLst xmlns:a="http://schemas.openxmlformats.org/drawingml/2006/main">
              <a:ext uri="{FF2B5EF4-FFF2-40B4-BE49-F238E27FC236}">
                <a16:creationId xmlns:a16="http://schemas.microsoft.com/office/drawing/2014/main" id="{F3C40177-D14D-466C-838E-89B892852877}"/>
              </a:ext>
            </a:extLst>
          </p:cNvPr>
          <p:cNvSpPr>
            <a:spLocks xmlns:a="http://schemas.openxmlformats.org/drawingml/2006/main" noGrp="1"/>
          </p:cNvSpPr>
          <p:nvPr/>
        </p:nvSpPr>
        <p:spPr>
          <a:xfrm xmlns:a="http://schemas.openxmlformats.org/drawingml/2006/main">
            <a:off x="6686550" y="390525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FF6B35"/>
                </a:solidFill>
                <a:latin typeface="PingFang SC"/>
                <a:ea typeface="PingFang SC"/>
                <a:cs typeface="PingFang SC"/>
              </a:defRPr>
            </a:pPr>
            <a:r>
              <a:t>AI 陪伴</a:t>
            </a:r>
          </a:p>
        </p:txBody>
      </p:sp>
      <p:sp>
        <p:nvSpPr>
          <p:cNvPr id="17" name="矩形 16">
            <a:extLst xmlns:a="http://schemas.openxmlformats.org/drawingml/2006/main">
              <a:ext uri="{FF2B5EF4-FFF2-40B4-BE49-F238E27FC236}">
                <a16:creationId xmlns:a16="http://schemas.microsoft.com/office/drawing/2014/main" id="{46FDCD92-451D-407A-B00E-02017B19B951}"/>
              </a:ext>
            </a:extLst>
          </p:cNvPr>
          <p:cNvSpPr>
            <a:spLocks xmlns:a="http://schemas.openxmlformats.org/drawingml/2006/main" noGrp="1"/>
          </p:cNvSpPr>
          <p:nvPr/>
        </p:nvSpPr>
        <p:spPr>
          <a:xfrm xmlns:a="http://schemas.openxmlformats.org/drawingml/2006/main">
            <a:off x="6686550" y="4362450"/>
            <a:ext cx="4876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FFFFFF"/>
                </a:solidFill>
                <a:latin typeface="PingFang SC"/>
                <a:ea typeface="PingFang SC"/>
                <a:cs typeface="PingFang SC"/>
              </a:defRPr>
            </a:pPr>
            <a:r>
              <a:t>活动助手答疑、生成纪要、分析评课、整理问卷和外部人员证明材料。</a:t>
            </a:r>
          </a:p>
        </p:txBody>
      </p:sp>
      <p:sp>
        <p:nvSpPr>
          <p:cNvPr id="18" name="矩形 17">
            <a:extLst xmlns:a="http://schemas.openxmlformats.org/drawingml/2006/main">
              <a:ext uri="{FF2B5EF4-FFF2-40B4-BE49-F238E27FC236}">
                <a16:creationId xmlns:a16="http://schemas.microsoft.com/office/drawing/2014/main" id="{8DB89248-387C-46CC-8565-BD39643BEFE8}"/>
              </a:ext>
            </a:extLst>
          </p:cNvPr>
          <p:cNvSpPr>
            <a:spLocks xmlns:a="http://schemas.openxmlformats.org/drawingml/2006/main" noGrp="1"/>
          </p:cNvSpPr>
          <p:nvPr/>
        </p:nvSpPr>
        <p:spPr>
          <a:xfrm xmlns:a="http://schemas.openxmlformats.org/drawingml/2006/main">
            <a:off x="390525" y="5476875"/>
            <a:ext cx="11401425" cy="5143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9" name="矩形 18">
            <a:extLst xmlns:a="http://schemas.openxmlformats.org/drawingml/2006/main">
              <a:ext uri="{FF2B5EF4-FFF2-40B4-BE49-F238E27FC236}">
                <a16:creationId xmlns:a16="http://schemas.microsoft.com/office/drawing/2014/main" id="{E973E798-89CD-4714-A3FF-31D2A7F57EA6}"/>
              </a:ext>
            </a:extLst>
          </p:cNvPr>
          <p:cNvSpPr>
            <a:spLocks xmlns:a="http://schemas.openxmlformats.org/drawingml/2006/main" noGrp="1"/>
          </p:cNvSpPr>
          <p:nvPr/>
        </p:nvSpPr>
        <p:spPr>
          <a:xfrm xmlns:a="http://schemas.openxmlformats.org/drawingml/2006/main">
            <a:off x="666750" y="5600700"/>
            <a:ext cx="10839450" cy="2667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650" b="1">
                <a:solidFill>
                  <a:srgbClr val="000000"/>
                </a:solidFill>
                <a:latin typeface="PingFang SC"/>
                <a:ea typeface="PingFang SC"/>
                <a:cs typeface="PingFang SC"/>
              </a:defRPr>
            </a:pPr>
            <a:r>
              <a:t>关键是让外部参与者也可准入、可授权、可触达、可记录、可评价、可沉淀。</a:t>
            </a:r>
          </a:p>
        </p:txBody>
      </p:sp>
    </p:spTree>
    <p:extLst>
      <p:ext uri="{BB962C8B-B14F-4D97-AF65-F5344CB8AC3E}">
        <p14:creationId xmlns:p14="http://schemas.microsoft.com/office/powerpoint/2010/main" val="2357589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8DF0A572-C97E-4474-93BE-08410BF5A915}"/>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培训效果评估</a:t>
            </a:r>
          </a:p>
        </p:txBody>
      </p:sp>
      <p:sp>
        <p:nvSpPr>
          <p:cNvPr id="3" name="矩形 2">
            <a:extLst xmlns:a="http://schemas.openxmlformats.org/drawingml/2006/main">
              <a:ext uri="{FF2B5EF4-FFF2-40B4-BE49-F238E27FC236}">
                <a16:creationId xmlns:a16="http://schemas.microsoft.com/office/drawing/2014/main" id="{43CF12FB-00E8-4F15-87E8-F04359022C3B}"/>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700" b="1">
                <a:solidFill>
                  <a:srgbClr val="000000"/>
                </a:solidFill>
                <a:latin typeface="PingFang SC"/>
                <a:ea typeface="PingFang SC"/>
                <a:cs typeface="PingFang SC"/>
              </a:defRPr>
            </a:pPr>
            <a:r>
              <a:t>效果子系统把内外训结果转化为个人证明和组织报告</a:t>
            </a:r>
          </a:p>
        </p:txBody>
      </p:sp>
      <p:sp>
        <p:nvSpPr>
          <p:cNvPr id="4" name="矩形 3">
            <a:extLst xmlns:a="http://schemas.openxmlformats.org/drawingml/2006/main">
              <a:ext uri="{FF2B5EF4-FFF2-40B4-BE49-F238E27FC236}">
                <a16:creationId xmlns:a16="http://schemas.microsoft.com/office/drawing/2014/main" id="{3EB1B5EF-B471-47A6-BECB-FB17E661AA99}"/>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959E75B4-EC59-4940-96CE-C90F5C62B25E}"/>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08</a:t>
            </a:r>
          </a:p>
        </p:txBody>
      </p:sp>
      <p:sp>
        <p:nvSpPr>
          <p:cNvPr id="6" name="矩形 5">
            <a:extLst xmlns:a="http://schemas.openxmlformats.org/drawingml/2006/main">
              <a:ext uri="{FF2B5EF4-FFF2-40B4-BE49-F238E27FC236}">
                <a16:creationId xmlns:a16="http://schemas.microsoft.com/office/drawing/2014/main" id="{F00B3215-8BA2-44FE-ADEC-C1ACCA314C2E}"/>
              </a:ext>
            </a:extLst>
          </p:cNvPr>
          <p:cNvSpPr>
            <a:spLocks xmlns:a="http://schemas.openxmlformats.org/drawingml/2006/main" noGrp="1"/>
          </p:cNvSpPr>
          <p:nvPr/>
        </p:nvSpPr>
        <p:spPr>
          <a:xfrm xmlns:a="http://schemas.openxmlformats.org/drawingml/2006/main">
            <a:off x="390525" y="1866900"/>
            <a:ext cx="1714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555555"/>
                </a:solidFill>
                <a:latin typeface="PingFang SC"/>
                <a:ea typeface="PingFang SC"/>
                <a:cs typeface="PingFang SC"/>
              </a:defRPr>
            </a:pPr>
            <a:r>
              <a:t>评估框架</a:t>
            </a:r>
          </a:p>
        </p:txBody>
      </p:sp>
      <p:sp>
        <p:nvSpPr>
          <p:cNvPr id="7" name="矩形 6">
            <a:extLst xmlns:a="http://schemas.openxmlformats.org/drawingml/2006/main">
              <a:ext uri="{FF2B5EF4-FFF2-40B4-BE49-F238E27FC236}">
                <a16:creationId xmlns:a16="http://schemas.microsoft.com/office/drawing/2014/main" id="{1380E0B0-0A5B-4E4F-A065-7BA836091680}"/>
              </a:ext>
            </a:extLst>
          </p:cNvPr>
          <p:cNvSpPr>
            <a:spLocks xmlns:a="http://schemas.openxmlformats.org/drawingml/2006/main" noGrp="1"/>
          </p:cNvSpPr>
          <p:nvPr/>
        </p:nvSpPr>
        <p:spPr>
          <a:xfrm xmlns:a="http://schemas.openxmlformats.org/drawingml/2006/main">
            <a:off x="390525" y="2362200"/>
            <a:ext cx="2476500" cy="21907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8" name="矩形 7">
            <a:extLst xmlns:a="http://schemas.openxmlformats.org/drawingml/2006/main">
              <a:ext uri="{FF2B5EF4-FFF2-40B4-BE49-F238E27FC236}">
                <a16:creationId xmlns:a16="http://schemas.microsoft.com/office/drawing/2014/main" id="{7BC64481-3B98-4077-9195-DD653EB42457}"/>
              </a:ext>
            </a:extLst>
          </p:cNvPr>
          <p:cNvSpPr>
            <a:spLocks xmlns:a="http://schemas.openxmlformats.org/drawingml/2006/main" noGrp="1"/>
          </p:cNvSpPr>
          <p:nvPr/>
        </p:nvSpPr>
        <p:spPr>
          <a:xfrm xmlns:a="http://schemas.openxmlformats.org/drawingml/2006/main">
            <a:off x="619125" y="2590800"/>
            <a:ext cx="2019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025" b="1">
                <a:solidFill>
                  <a:srgbClr val="000000"/>
                </a:solidFill>
                <a:latin typeface="PingFang SC"/>
                <a:ea typeface="PingFang SC"/>
                <a:cs typeface="PingFang SC"/>
              </a:defRPr>
            </a:pPr>
            <a:r>
              <a:t>反应层</a:t>
            </a:r>
          </a:p>
        </p:txBody>
      </p:sp>
      <p:sp>
        <p:nvSpPr>
          <p:cNvPr id="9" name="矩形 8">
            <a:extLst xmlns:a="http://schemas.openxmlformats.org/drawingml/2006/main">
              <a:ext uri="{FF2B5EF4-FFF2-40B4-BE49-F238E27FC236}">
                <a16:creationId xmlns:a16="http://schemas.microsoft.com/office/drawing/2014/main" id="{0BE7EAEB-B887-49E5-9377-042126C3E293}"/>
              </a:ext>
            </a:extLst>
          </p:cNvPr>
          <p:cNvSpPr>
            <a:spLocks xmlns:a="http://schemas.openxmlformats.org/drawingml/2006/main" noGrp="1"/>
          </p:cNvSpPr>
          <p:nvPr/>
        </p:nvSpPr>
        <p:spPr>
          <a:xfrm xmlns:a="http://schemas.openxmlformats.org/drawingml/2006/main">
            <a:off x="619125" y="3048000"/>
            <a:ext cx="2019300" cy="1314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000000"/>
                </a:solidFill>
                <a:latin typeface="PingFang SC"/>
                <a:ea typeface="PingFang SC"/>
                <a:cs typeface="PingFang SC"/>
              </a:defRPr>
            </a:pPr>
            <a:r>
              <a:t>满意度、活动评价、讲师/专家评价、反馈问卷和问题建议。</a:t>
            </a:r>
          </a:p>
        </p:txBody>
      </p:sp>
      <p:sp>
        <p:nvSpPr>
          <p:cNvPr id="10" name="矩形 9">
            <a:extLst xmlns:a="http://schemas.openxmlformats.org/drawingml/2006/main">
              <a:ext uri="{FF2B5EF4-FFF2-40B4-BE49-F238E27FC236}">
                <a16:creationId xmlns:a16="http://schemas.microsoft.com/office/drawing/2014/main" id="{3E67C1D5-F50F-414F-995D-66A5C02A8066}"/>
              </a:ext>
            </a:extLst>
          </p:cNvPr>
          <p:cNvSpPr>
            <a:spLocks xmlns:a="http://schemas.openxmlformats.org/drawingml/2006/main" noGrp="1"/>
          </p:cNvSpPr>
          <p:nvPr/>
        </p:nvSpPr>
        <p:spPr>
          <a:xfrm xmlns:a="http://schemas.openxmlformats.org/drawingml/2006/main">
            <a:off x="3248025" y="2362200"/>
            <a:ext cx="2476500" cy="21907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1" name="矩形 10">
            <a:extLst xmlns:a="http://schemas.openxmlformats.org/drawingml/2006/main">
              <a:ext uri="{FF2B5EF4-FFF2-40B4-BE49-F238E27FC236}">
                <a16:creationId xmlns:a16="http://schemas.microsoft.com/office/drawing/2014/main" id="{82DEB59B-D57C-420A-ADBE-E4176C27AE2D}"/>
              </a:ext>
            </a:extLst>
          </p:cNvPr>
          <p:cNvSpPr>
            <a:spLocks xmlns:a="http://schemas.openxmlformats.org/drawingml/2006/main" noGrp="1"/>
          </p:cNvSpPr>
          <p:nvPr/>
        </p:nvSpPr>
        <p:spPr>
          <a:xfrm xmlns:a="http://schemas.openxmlformats.org/drawingml/2006/main">
            <a:off x="3476625" y="2590800"/>
            <a:ext cx="2019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875" b="1">
                <a:solidFill>
                  <a:srgbClr val="000000"/>
                </a:solidFill>
                <a:latin typeface="PingFang SC"/>
                <a:ea typeface="PingFang SC"/>
                <a:cs typeface="PingFang SC"/>
              </a:defRPr>
            </a:pPr>
            <a:r>
              <a:t>学习层</a:t>
            </a:r>
          </a:p>
        </p:txBody>
      </p:sp>
      <p:sp>
        <p:nvSpPr>
          <p:cNvPr id="12" name="矩形 11">
            <a:extLst xmlns:a="http://schemas.openxmlformats.org/drawingml/2006/main">
              <a:ext uri="{FF2B5EF4-FFF2-40B4-BE49-F238E27FC236}">
                <a16:creationId xmlns:a16="http://schemas.microsoft.com/office/drawing/2014/main" id="{99BFFD77-64B1-4721-8EDD-E3B48A8B38CF}"/>
              </a:ext>
            </a:extLst>
          </p:cNvPr>
          <p:cNvSpPr>
            <a:spLocks xmlns:a="http://schemas.openxmlformats.org/drawingml/2006/main" noGrp="1"/>
          </p:cNvSpPr>
          <p:nvPr/>
        </p:nvSpPr>
        <p:spPr>
          <a:xfrm xmlns:a="http://schemas.openxmlformats.org/drawingml/2006/main">
            <a:off x="3476625" y="3048000"/>
            <a:ext cx="2019300" cy="1314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a:solidFill>
                  <a:srgbClr val="000000"/>
                </a:solidFill>
                <a:latin typeface="PingFang SC"/>
                <a:ea typeface="PingFang SC"/>
                <a:cs typeface="PingFang SC"/>
              </a:defRPr>
            </a:pPr>
            <a:r>
              <a:t>知识掌握、案例理解、任务完成、观点表达、能力达成和完成率。</a:t>
            </a:r>
          </a:p>
        </p:txBody>
      </p:sp>
      <p:sp>
        <p:nvSpPr>
          <p:cNvPr id="13" name="矩形 12">
            <a:extLst xmlns:a="http://schemas.openxmlformats.org/drawingml/2006/main">
              <a:ext uri="{FF2B5EF4-FFF2-40B4-BE49-F238E27FC236}">
                <a16:creationId xmlns:a16="http://schemas.microsoft.com/office/drawing/2014/main" id="{F60AF1D1-7CA5-44B9-8BCC-0B59453E73CC}"/>
              </a:ext>
            </a:extLst>
          </p:cNvPr>
          <p:cNvSpPr>
            <a:spLocks xmlns:a="http://schemas.openxmlformats.org/drawingml/2006/main" noGrp="1"/>
          </p:cNvSpPr>
          <p:nvPr/>
        </p:nvSpPr>
        <p:spPr>
          <a:xfrm xmlns:a="http://schemas.openxmlformats.org/drawingml/2006/main">
            <a:off x="6105525" y="2362200"/>
            <a:ext cx="2476500" cy="21907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4" name="矩形 13">
            <a:extLst xmlns:a="http://schemas.openxmlformats.org/drawingml/2006/main">
              <a:ext uri="{FF2B5EF4-FFF2-40B4-BE49-F238E27FC236}">
                <a16:creationId xmlns:a16="http://schemas.microsoft.com/office/drawing/2014/main" id="{B6F4B743-6602-49F4-842B-2127F4C6D1B9}"/>
              </a:ext>
            </a:extLst>
          </p:cNvPr>
          <p:cNvSpPr>
            <a:spLocks xmlns:a="http://schemas.openxmlformats.org/drawingml/2006/main" noGrp="1"/>
          </p:cNvSpPr>
          <p:nvPr/>
        </p:nvSpPr>
        <p:spPr>
          <a:xfrm xmlns:a="http://schemas.openxmlformats.org/drawingml/2006/main">
            <a:off x="6334125" y="2590800"/>
            <a:ext cx="2019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025" b="1">
                <a:solidFill>
                  <a:srgbClr val="000000"/>
                </a:solidFill>
                <a:latin typeface="PingFang SC"/>
                <a:ea typeface="PingFang SC"/>
                <a:cs typeface="PingFang SC"/>
              </a:defRPr>
            </a:pPr>
            <a:r>
              <a:t>行为层</a:t>
            </a:r>
          </a:p>
        </p:txBody>
      </p:sp>
      <p:sp>
        <p:nvSpPr>
          <p:cNvPr id="15" name="矩形 14">
            <a:extLst xmlns:a="http://schemas.openxmlformats.org/drawingml/2006/main">
              <a:ext uri="{FF2B5EF4-FFF2-40B4-BE49-F238E27FC236}">
                <a16:creationId xmlns:a16="http://schemas.microsoft.com/office/drawing/2014/main" id="{4B9A3DF8-0563-40FE-A33A-E5C19CF10CBA}"/>
              </a:ext>
            </a:extLst>
          </p:cNvPr>
          <p:cNvSpPr>
            <a:spLocks xmlns:a="http://schemas.openxmlformats.org/drawingml/2006/main" noGrp="1"/>
          </p:cNvSpPr>
          <p:nvPr/>
        </p:nvSpPr>
        <p:spPr>
          <a:xfrm xmlns:a="http://schemas.openxmlformats.org/drawingml/2006/main">
            <a:off x="6334125" y="3048000"/>
            <a:ext cx="2019300" cy="1314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000000"/>
                </a:solidFill>
                <a:latin typeface="PingFang SC"/>
                <a:ea typeface="PingFang SC"/>
                <a:cs typeface="PingFang SC"/>
              </a:defRPr>
            </a:pPr>
            <a:r>
              <a:t>训后任务、场景应用、主管/客户评价、专家评审和同伴互评。</a:t>
            </a:r>
          </a:p>
        </p:txBody>
      </p:sp>
      <p:sp>
        <p:nvSpPr>
          <p:cNvPr id="16" name="矩形 15">
            <a:extLst xmlns:a="http://schemas.openxmlformats.org/drawingml/2006/main">
              <a:ext uri="{FF2B5EF4-FFF2-40B4-BE49-F238E27FC236}">
                <a16:creationId xmlns:a16="http://schemas.microsoft.com/office/drawing/2014/main" id="{E6A09B89-EF55-402B-8B13-17ECAF2AB9BC}"/>
              </a:ext>
            </a:extLst>
          </p:cNvPr>
          <p:cNvSpPr>
            <a:spLocks xmlns:a="http://schemas.openxmlformats.org/drawingml/2006/main" noGrp="1"/>
          </p:cNvSpPr>
          <p:nvPr/>
        </p:nvSpPr>
        <p:spPr>
          <a:xfrm xmlns:a="http://schemas.openxmlformats.org/drawingml/2006/main">
            <a:off x="8963025" y="2362200"/>
            <a:ext cx="2476500" cy="21907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7" name="矩形 16">
            <a:extLst xmlns:a="http://schemas.openxmlformats.org/drawingml/2006/main">
              <a:ext uri="{FF2B5EF4-FFF2-40B4-BE49-F238E27FC236}">
                <a16:creationId xmlns:a16="http://schemas.microsoft.com/office/drawing/2014/main" id="{0A2261C7-DCE8-43B2-AEE3-F5D85B95D22C}"/>
              </a:ext>
            </a:extLst>
          </p:cNvPr>
          <p:cNvSpPr>
            <a:spLocks xmlns:a="http://schemas.openxmlformats.org/drawingml/2006/main" noGrp="1"/>
          </p:cNvSpPr>
          <p:nvPr/>
        </p:nvSpPr>
        <p:spPr>
          <a:xfrm xmlns:a="http://schemas.openxmlformats.org/drawingml/2006/main">
            <a:off x="9191625" y="2590800"/>
            <a:ext cx="2019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025" b="1">
                <a:solidFill>
                  <a:srgbClr val="FF6B35"/>
                </a:solidFill>
                <a:latin typeface="PingFang SC"/>
                <a:ea typeface="PingFang SC"/>
                <a:cs typeface="PingFang SC"/>
              </a:defRPr>
            </a:pPr>
            <a:r>
              <a:t>结果层</a:t>
            </a:r>
          </a:p>
        </p:txBody>
      </p:sp>
      <p:sp>
        <p:nvSpPr>
          <p:cNvPr id="18" name="矩形 17">
            <a:extLst xmlns:a="http://schemas.openxmlformats.org/drawingml/2006/main">
              <a:ext uri="{FF2B5EF4-FFF2-40B4-BE49-F238E27FC236}">
                <a16:creationId xmlns:a16="http://schemas.microsoft.com/office/drawing/2014/main" id="{166607EA-33F6-4B58-BADD-DC9CBCF48043}"/>
              </a:ext>
            </a:extLst>
          </p:cNvPr>
          <p:cNvSpPr>
            <a:spLocks xmlns:a="http://schemas.openxmlformats.org/drawingml/2006/main" noGrp="1"/>
          </p:cNvSpPr>
          <p:nvPr/>
        </p:nvSpPr>
        <p:spPr>
          <a:xfrm xmlns:a="http://schemas.openxmlformats.org/drawingml/2006/main">
            <a:off x="9191625" y="3048000"/>
            <a:ext cx="2019300" cy="1314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FFFFFF"/>
                </a:solidFill>
                <a:latin typeface="PingFang SC"/>
                <a:ea typeface="PingFang SC"/>
                <a:cs typeface="PingFang SC"/>
              </a:defRPr>
            </a:pPr>
            <a:r>
              <a:t>客户/伙伴组织报告、转化线索、复训建议、业务改善和知识资产。</a:t>
            </a:r>
          </a:p>
        </p:txBody>
      </p:sp>
      <p:sp>
        <p:nvSpPr>
          <p:cNvPr id="19" name="矩形 18">
            <a:extLst xmlns:a="http://schemas.openxmlformats.org/drawingml/2006/main">
              <a:ext uri="{FF2B5EF4-FFF2-40B4-BE49-F238E27FC236}">
                <a16:creationId xmlns:a16="http://schemas.microsoft.com/office/drawing/2014/main" id="{D362A027-79C8-4C49-BD76-67B5DDDA41B5}"/>
              </a:ext>
            </a:extLst>
          </p:cNvPr>
          <p:cNvSpPr>
            <a:spLocks xmlns:a="http://schemas.openxmlformats.org/drawingml/2006/main" noGrp="1"/>
          </p:cNvSpPr>
          <p:nvPr/>
        </p:nvSpPr>
        <p:spPr>
          <a:xfrm xmlns:a="http://schemas.openxmlformats.org/drawingml/2006/main">
            <a:off x="390525" y="5219700"/>
            <a:ext cx="11401425" cy="8572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20" name="矩形 19">
            <a:extLst xmlns:a="http://schemas.openxmlformats.org/drawingml/2006/main">
              <a:ext uri="{FF2B5EF4-FFF2-40B4-BE49-F238E27FC236}">
                <a16:creationId xmlns:a16="http://schemas.microsoft.com/office/drawing/2014/main" id="{96DA5CFE-5174-40C2-A00B-D2ADA053556B}"/>
              </a:ext>
            </a:extLst>
          </p:cNvPr>
          <p:cNvSpPr>
            <a:spLocks xmlns:a="http://schemas.openxmlformats.org/drawingml/2006/main" noGrp="1"/>
          </p:cNvSpPr>
          <p:nvPr/>
        </p:nvSpPr>
        <p:spPr>
          <a:xfrm xmlns:a="http://schemas.openxmlformats.org/drawingml/2006/main">
            <a:off x="685800" y="5410200"/>
            <a:ext cx="7381875" cy="457200"/>
          </a:xfrm>
          <a:prstGeom xmlns:a="http://schemas.openxmlformats.org/drawingml/2006/main" prst="rect">
            <a:avLst/>
          </a:prstGeom>
        </p:spPr>
        <p:txBody>
          <a:bodyPr xmlns:a="http://schemas.openxmlformats.org/drawingml/2006/main" lIns="0" tIns="0" rIns="0" bIns="0" anchor="ctr">
            <a:normAutofit fontScale="83333"/>
          </a:bodyPr>
          <a:lstStyle xmlns:a="http://schemas.openxmlformats.org/drawingml/2006/main"/>
          <a:p xmlns:a="http://schemas.openxmlformats.org/drawingml/2006/main">
            <a:pPr algn="l">
              <a:buNone/>
              <a:defRPr sz="1800" b="1">
                <a:solidFill>
                  <a:srgbClr val="FFFFFF"/>
                </a:solidFill>
                <a:latin typeface="PingFang SC"/>
                <a:ea typeface="PingFang SC"/>
                <a:cs typeface="PingFang SC"/>
              </a:defRPr>
            </a:pPr>
            <a:r>
              <a:t>效果评估的价值，是把活动结论转化为个人证明、客户报告、改进建议、资源复用和持续运营。</a:t>
            </a:r>
          </a:p>
        </p:txBody>
      </p:sp>
      <p:sp>
        <p:nvSpPr>
          <p:cNvPr id="21" name="矩形 20">
            <a:extLst xmlns:a="http://schemas.openxmlformats.org/drawingml/2006/main">
              <a:ext uri="{FF2B5EF4-FFF2-40B4-BE49-F238E27FC236}">
                <a16:creationId xmlns:a16="http://schemas.microsoft.com/office/drawing/2014/main" id="{2A8A6984-5BCC-4AC5-BE08-2683926B8F68}"/>
              </a:ext>
            </a:extLst>
          </p:cNvPr>
          <p:cNvSpPr>
            <a:spLocks xmlns:a="http://schemas.openxmlformats.org/drawingml/2006/main" noGrp="1"/>
          </p:cNvSpPr>
          <p:nvPr/>
        </p:nvSpPr>
        <p:spPr>
          <a:xfrm xmlns:a="http://schemas.openxmlformats.org/drawingml/2006/main">
            <a:off x="8420100" y="5391150"/>
            <a:ext cx="1238250" cy="323850"/>
          </a:xfrm>
          <a:prstGeom xmlns:a="http://schemas.openxmlformats.org/drawingml/2006/main" prst="rect">
            <a:avLst/>
          </a:prstGeom>
        </p:spPr>
        <p:txBody>
          <a:bodyPr xmlns:a="http://schemas.openxmlformats.org/drawingml/2006/main" lIns="0" tIns="0" rIns="0" bIns="0" anchor="ctr">
            <a:normAutofit fontScale="97701"/>
          </a:bodyPr>
          <a:lstStyle xmlns:a="http://schemas.openxmlformats.org/drawingml/2006/main"/>
          <a:p xmlns:a="http://schemas.openxmlformats.org/drawingml/2006/main">
            <a:pPr algn="ctr">
              <a:buNone/>
              <a:defRPr sz="2175" b="1">
                <a:solidFill>
                  <a:srgbClr val="FF6B35"/>
                </a:solidFill>
                <a:latin typeface="PingFang SC"/>
                <a:ea typeface="PingFang SC"/>
                <a:cs typeface="PingFang SC"/>
              </a:defRPr>
            </a:pPr>
            <a:r>
              <a:t>4 层评估</a:t>
            </a:r>
          </a:p>
        </p:txBody>
      </p:sp>
      <p:sp>
        <p:nvSpPr>
          <p:cNvPr id="22" name="矩形 21">
            <a:extLst xmlns:a="http://schemas.openxmlformats.org/drawingml/2006/main">
              <a:ext uri="{FF2B5EF4-FFF2-40B4-BE49-F238E27FC236}">
                <a16:creationId xmlns:a16="http://schemas.microsoft.com/office/drawing/2014/main" id="{C648FD11-D56F-4FE3-88E8-F91F450F995A}"/>
              </a:ext>
            </a:extLst>
          </p:cNvPr>
          <p:cNvSpPr>
            <a:spLocks xmlns:a="http://schemas.openxmlformats.org/drawingml/2006/main" noGrp="1"/>
          </p:cNvSpPr>
          <p:nvPr/>
        </p:nvSpPr>
        <p:spPr>
          <a:xfrm xmlns:a="http://schemas.openxmlformats.org/drawingml/2006/main">
            <a:off x="9505950" y="5391150"/>
            <a:ext cx="2114550" cy="323850"/>
          </a:xfrm>
          <a:prstGeom xmlns:a="http://schemas.openxmlformats.org/drawingml/2006/main" prst="rect">
            <a:avLst/>
          </a:prstGeom>
        </p:spPr>
        <p:txBody>
          <a:bodyPr xmlns:a="http://schemas.openxmlformats.org/drawingml/2006/main" lIns="0" tIns="0" rIns="0" bIns="0" anchor="ctr">
            <a:normAutofit fontScale="94412"/>
          </a:bodyPr>
          <a:lstStyle xmlns:a="http://schemas.openxmlformats.org/drawingml/2006/main"/>
          <a:p xmlns:a="http://schemas.openxmlformats.org/drawingml/2006/main">
            <a:pPr algn="ctr">
              <a:buNone/>
              <a:defRPr sz="1575" b="1">
                <a:solidFill>
                  <a:srgbClr val="FF6B35"/>
                </a:solidFill>
                <a:latin typeface="PingFang SC"/>
                <a:ea typeface="PingFang SC"/>
                <a:cs typeface="PingFang SC"/>
              </a:defRPr>
            </a:pPr>
            <a:r>
              <a:t>从活动反馈到内外训改进</a:t>
            </a:r>
          </a:p>
        </p:txBody>
      </p:sp>
      <p:sp>
        <p:nvSpPr>
          <p:cNvPr id="23" name="矩形 22">
            <a:extLst xmlns:a="http://schemas.openxmlformats.org/drawingml/2006/main">
              <a:ext uri="{FF2B5EF4-FFF2-40B4-BE49-F238E27FC236}">
                <a16:creationId xmlns:a16="http://schemas.microsoft.com/office/drawing/2014/main" id="{324B50E2-EC9D-4F5D-9E53-BA8AFB9E3672}"/>
              </a:ext>
            </a:extLst>
          </p:cNvPr>
          <p:cNvSpPr>
            <a:spLocks xmlns:a="http://schemas.openxmlformats.org/drawingml/2006/main" noGrp="1"/>
          </p:cNvSpPr>
          <p:nvPr/>
        </p:nvSpPr>
        <p:spPr>
          <a:xfrm xmlns:a="http://schemas.openxmlformats.org/drawingml/2006/main">
            <a:off x="8420100" y="5753100"/>
            <a:ext cx="2971800" cy="209550"/>
          </a:xfrm>
          <a:prstGeom xmlns:a="http://schemas.openxmlformats.org/drawingml/2006/main" prst="rect">
            <a:avLst/>
          </a:prstGeom>
        </p:spPr>
        <p:txBody>
          <a:bodyPr xmlns:a="http://schemas.openxmlformats.org/drawingml/2006/main" lIns="0" tIns="0" rIns="0" bIns="0" anchor="ctr">
            <a:normAutofit fontScale="97464"/>
          </a:bodyPr>
          <a:lstStyle xmlns:a="http://schemas.openxmlformats.org/drawingml/2006/main"/>
          <a:p xmlns:a="http://schemas.openxmlformats.org/drawingml/2006/main">
            <a:pPr algn="ctr">
              <a:buNone/>
              <a:defRPr sz="1350" b="0">
                <a:solidFill>
                  <a:srgbClr val="FFFFFF"/>
                </a:solidFill>
                <a:latin typeface="PingFang SC"/>
                <a:ea typeface="PingFang SC"/>
                <a:cs typeface="PingFang SC"/>
              </a:defRPr>
            </a:pPr>
            <a:r>
              <a:t>个人、活动、项目、组织/客户四类报告</a:t>
            </a:r>
          </a:p>
        </p:txBody>
      </p:sp>
    </p:spTree>
    <p:extLst>
      <p:ext uri="{BB962C8B-B14F-4D97-AF65-F5344CB8AC3E}">
        <p14:creationId xmlns:p14="http://schemas.microsoft.com/office/powerpoint/2010/main" val="8878482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E5E07C92-8E27-4EFC-BCB1-8C61C02E5948}"/>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业务闭环</a:t>
            </a:r>
          </a:p>
        </p:txBody>
      </p:sp>
      <p:sp>
        <p:nvSpPr>
          <p:cNvPr id="3" name="矩形 2">
            <a:extLst xmlns:a="http://schemas.openxmlformats.org/drawingml/2006/main">
              <a:ext uri="{FF2B5EF4-FFF2-40B4-BE49-F238E27FC236}">
                <a16:creationId xmlns:a16="http://schemas.microsoft.com/office/drawing/2014/main" id="{74D9619A-F3A5-4A18-B9C9-74D784651FC5}"/>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25" b="1">
                <a:solidFill>
                  <a:srgbClr val="000000"/>
                </a:solidFill>
                <a:latin typeface="PingFang SC"/>
                <a:ea typeface="PingFang SC"/>
                <a:cs typeface="PingFang SC"/>
              </a:defRPr>
            </a:pPr>
            <a:r>
              <a:t>内外训活动从需求到改进形成一条可复制的运营链路</a:t>
            </a:r>
          </a:p>
        </p:txBody>
      </p:sp>
      <p:sp>
        <p:nvSpPr>
          <p:cNvPr id="4" name="矩形 3">
            <a:extLst xmlns:a="http://schemas.openxmlformats.org/drawingml/2006/main">
              <a:ext uri="{FF2B5EF4-FFF2-40B4-BE49-F238E27FC236}">
                <a16:creationId xmlns:a16="http://schemas.microsoft.com/office/drawing/2014/main" id="{9B96ECAA-E0B8-414F-9A7F-1971FE3A0ADC}"/>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9AF3E9F8-D85E-49D0-AA62-D488DB4C5D54}"/>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09</a:t>
            </a:r>
          </a:p>
        </p:txBody>
      </p:sp>
      <p:sp>
        <p:nvSpPr>
          <p:cNvPr id="6" name="矩形 5">
            <a:extLst xmlns:a="http://schemas.openxmlformats.org/drawingml/2006/main">
              <a:ext uri="{FF2B5EF4-FFF2-40B4-BE49-F238E27FC236}">
                <a16:creationId xmlns:a16="http://schemas.microsoft.com/office/drawing/2014/main" id="{0CDBABC2-F905-41D0-BBBD-6EAB146BE5EE}"/>
              </a:ext>
            </a:extLst>
          </p:cNvPr>
          <p:cNvSpPr>
            <a:spLocks xmlns:a="http://schemas.openxmlformats.org/drawingml/2006/main" noGrp="1"/>
          </p:cNvSpPr>
          <p:nvPr/>
        </p:nvSpPr>
        <p:spPr>
          <a:xfrm xmlns:a="http://schemas.openxmlformats.org/drawingml/2006/main">
            <a:off x="523875" y="2238375"/>
            <a:ext cx="1695450" cy="666750"/>
          </a:xfrm>
          <a:prstGeom xmlns:a="http://schemas.openxmlformats.org/drawingml/2006/main" prst="rect">
            <a:avLst/>
          </a:prstGeom>
          <a:solidFill xmlns:a="http://schemas.openxmlformats.org/drawingml/2006/main">
            <a:srgbClr val="000000"/>
          </a:solidFill>
          <a:ln xmlns:a="http://schemas.openxmlformats.org/drawingml/2006/main" w="9525">
            <a:solidFill>
              <a:srgbClr val="B8BCC4"/>
            </a:solidFill>
            <a:prstDash val="solid"/>
          </a:ln>
        </p:spPr>
      </p:sp>
      <p:sp>
        <p:nvSpPr>
          <p:cNvPr id="7" name="矩形 6">
            <a:extLst xmlns:a="http://schemas.openxmlformats.org/drawingml/2006/main">
              <a:ext uri="{FF2B5EF4-FFF2-40B4-BE49-F238E27FC236}">
                <a16:creationId xmlns:a16="http://schemas.microsoft.com/office/drawing/2014/main" id="{994D7EC4-23DF-4FF3-956E-AD27C053A905}"/>
              </a:ext>
            </a:extLst>
          </p:cNvPr>
          <p:cNvSpPr>
            <a:spLocks xmlns:a="http://schemas.openxmlformats.org/drawingml/2006/main" noGrp="1"/>
          </p:cNvSpPr>
          <p:nvPr/>
        </p:nvSpPr>
        <p:spPr>
          <a:xfrm xmlns:a="http://schemas.openxmlformats.org/drawingml/2006/main">
            <a:off x="600075" y="2295525"/>
            <a:ext cx="1543050" cy="5524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725" b="1">
                <a:solidFill>
                  <a:srgbClr val="FFFFFF"/>
                </a:solidFill>
                <a:latin typeface="PingFang SC"/>
                <a:ea typeface="PingFang SC"/>
                <a:cs typeface="PingFang SC"/>
              </a:defRPr>
            </a:pPr>
            <a:r>
              <a:rPr sz="1725" b="1">
                <a:solidFill>
                  <a:srgbClr val="FFFFFF"/>
                </a:solidFill>
                <a:latin typeface="PingFang SC"/>
                <a:ea typeface="PingFang SC"/>
                <a:cs typeface="PingFang SC"/>
              </a:rPr>
              <a:t>需求识别</a:t>
            </a:r>
          </a:p>
        </p:txBody>
      </p:sp>
      <p:sp>
        <p:nvSpPr>
          <p:cNvPr id="8" name="右箭头 7">
            <a:extLst xmlns:a="http://schemas.openxmlformats.org/drawingml/2006/main">
              <a:ext uri="{FF2B5EF4-FFF2-40B4-BE49-F238E27FC236}">
                <a16:creationId xmlns:a16="http://schemas.microsoft.com/office/drawing/2014/main" id="{2B267AD4-5DBE-41BD-A32E-9935AB0779B0}"/>
              </a:ext>
            </a:extLst>
          </p:cNvPr>
          <p:cNvSpPr>
            <a:spLocks xmlns:a="http://schemas.openxmlformats.org/drawingml/2006/main" noGrp="1"/>
          </p:cNvSpPr>
          <p:nvPr/>
        </p:nvSpPr>
        <p:spPr>
          <a:xfrm xmlns:a="http://schemas.openxmlformats.org/drawingml/2006/main">
            <a:off x="2428875" y="2400300"/>
            <a:ext cx="476250" cy="342900"/>
          </a:xfrm>
          <a:prstGeom xmlns:a="http://schemas.openxmlformats.org/drawingml/2006/main" prst="rightArrow">
            <a:avLst/>
          </a:prstGeom>
          <a:solidFill xmlns:a="http://schemas.openxmlformats.org/drawingml/2006/main">
            <a:srgbClr val="B8BCC4"/>
          </a:solidFill>
          <a:ln xmlns:a="http://schemas.openxmlformats.org/drawingml/2006/main" w="0">
            <a:noFill/>
            <a:prstDash val="solid"/>
          </a:ln>
        </p:spPr>
      </p:sp>
      <p:sp>
        <p:nvSpPr>
          <p:cNvPr id="9" name="矩形 8">
            <a:extLst xmlns:a="http://schemas.openxmlformats.org/drawingml/2006/main">
              <a:ext uri="{FF2B5EF4-FFF2-40B4-BE49-F238E27FC236}">
                <a16:creationId xmlns:a16="http://schemas.microsoft.com/office/drawing/2014/main" id="{B6D56656-9EC3-4FFF-B59F-41B39687C552}"/>
              </a:ext>
            </a:extLst>
          </p:cNvPr>
          <p:cNvSpPr>
            <a:spLocks xmlns:a="http://schemas.openxmlformats.org/drawingml/2006/main" noGrp="1"/>
          </p:cNvSpPr>
          <p:nvPr/>
        </p:nvSpPr>
        <p:spPr>
          <a:xfrm xmlns:a="http://schemas.openxmlformats.org/drawingml/2006/main">
            <a:off x="2857500" y="2238375"/>
            <a:ext cx="1695450" cy="666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0" name="矩形 9">
            <a:extLst xmlns:a="http://schemas.openxmlformats.org/drawingml/2006/main">
              <a:ext uri="{FF2B5EF4-FFF2-40B4-BE49-F238E27FC236}">
                <a16:creationId xmlns:a16="http://schemas.microsoft.com/office/drawing/2014/main" id="{20FCC81B-3318-4B13-BB94-16D23CB5962A}"/>
              </a:ext>
            </a:extLst>
          </p:cNvPr>
          <p:cNvSpPr>
            <a:spLocks xmlns:a="http://schemas.openxmlformats.org/drawingml/2006/main" noGrp="1"/>
          </p:cNvSpPr>
          <p:nvPr/>
        </p:nvSpPr>
        <p:spPr>
          <a:xfrm xmlns:a="http://schemas.openxmlformats.org/drawingml/2006/main">
            <a:off x="2933700" y="2295525"/>
            <a:ext cx="1543050" cy="5524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725" b="1">
                <a:solidFill>
                  <a:srgbClr val="000000"/>
                </a:solidFill>
                <a:latin typeface="PingFang SC"/>
                <a:ea typeface="PingFang SC"/>
                <a:cs typeface="PingFang SC"/>
              </a:defRPr>
            </a:pPr>
            <a:r>
              <a:rPr sz="1725" b="1">
                <a:solidFill>
                  <a:srgbClr val="000000"/>
                </a:solidFill>
                <a:latin typeface="PingFang SC"/>
                <a:ea typeface="PingFang SC"/>
                <a:cs typeface="PingFang SC"/>
              </a:rPr>
              <a:t>设计报名</a:t>
            </a:r>
          </a:p>
        </p:txBody>
      </p:sp>
      <p:sp>
        <p:nvSpPr>
          <p:cNvPr id="11" name="右箭头 10">
            <a:extLst xmlns:a="http://schemas.openxmlformats.org/drawingml/2006/main">
              <a:ext uri="{FF2B5EF4-FFF2-40B4-BE49-F238E27FC236}">
                <a16:creationId xmlns:a16="http://schemas.microsoft.com/office/drawing/2014/main" id="{2C1961F0-568F-4BB7-A0FB-2559CAC45723}"/>
              </a:ext>
            </a:extLst>
          </p:cNvPr>
          <p:cNvSpPr>
            <a:spLocks xmlns:a="http://schemas.openxmlformats.org/drawingml/2006/main" noGrp="1"/>
          </p:cNvSpPr>
          <p:nvPr/>
        </p:nvSpPr>
        <p:spPr>
          <a:xfrm xmlns:a="http://schemas.openxmlformats.org/drawingml/2006/main">
            <a:off x="4762500" y="2400300"/>
            <a:ext cx="476250" cy="342900"/>
          </a:xfrm>
          <a:prstGeom xmlns:a="http://schemas.openxmlformats.org/drawingml/2006/main" prst="rightArrow">
            <a:avLst/>
          </a:prstGeom>
          <a:solidFill xmlns:a="http://schemas.openxmlformats.org/drawingml/2006/main">
            <a:srgbClr val="B8BCC4"/>
          </a:solidFill>
          <a:ln xmlns:a="http://schemas.openxmlformats.org/drawingml/2006/main" w="0">
            <a:noFill/>
            <a:prstDash val="solid"/>
          </a:ln>
        </p:spPr>
      </p:sp>
      <p:sp>
        <p:nvSpPr>
          <p:cNvPr id="12" name="矩形 11">
            <a:extLst xmlns:a="http://schemas.openxmlformats.org/drawingml/2006/main">
              <a:ext uri="{FF2B5EF4-FFF2-40B4-BE49-F238E27FC236}">
                <a16:creationId xmlns:a16="http://schemas.microsoft.com/office/drawing/2014/main" id="{001A7030-0D78-4222-84A7-C969626E8E97}"/>
              </a:ext>
            </a:extLst>
          </p:cNvPr>
          <p:cNvSpPr>
            <a:spLocks xmlns:a="http://schemas.openxmlformats.org/drawingml/2006/main" noGrp="1"/>
          </p:cNvSpPr>
          <p:nvPr/>
        </p:nvSpPr>
        <p:spPr>
          <a:xfrm xmlns:a="http://schemas.openxmlformats.org/drawingml/2006/main">
            <a:off x="5191125" y="2238375"/>
            <a:ext cx="1695450" cy="666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3" name="矩形 12">
            <a:extLst xmlns:a="http://schemas.openxmlformats.org/drawingml/2006/main">
              <a:ext uri="{FF2B5EF4-FFF2-40B4-BE49-F238E27FC236}">
                <a16:creationId xmlns:a16="http://schemas.microsoft.com/office/drawing/2014/main" id="{DC30E04D-9EF1-4415-88FF-28736BAABB40}"/>
              </a:ext>
            </a:extLst>
          </p:cNvPr>
          <p:cNvSpPr>
            <a:spLocks xmlns:a="http://schemas.openxmlformats.org/drawingml/2006/main" noGrp="1"/>
          </p:cNvSpPr>
          <p:nvPr/>
        </p:nvSpPr>
        <p:spPr>
          <a:xfrm xmlns:a="http://schemas.openxmlformats.org/drawingml/2006/main">
            <a:off x="5267325" y="2295525"/>
            <a:ext cx="1543050" cy="5524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725" b="1">
                <a:solidFill>
                  <a:srgbClr val="000000"/>
                </a:solidFill>
                <a:latin typeface="PingFang SC"/>
                <a:ea typeface="PingFang SC"/>
                <a:cs typeface="PingFang SC"/>
              </a:defRPr>
            </a:pPr>
            <a:r>
              <a:rPr sz="1725" b="1">
                <a:solidFill>
                  <a:srgbClr val="000000"/>
                </a:solidFill>
                <a:latin typeface="PingFang SC"/>
                <a:ea typeface="PingFang SC"/>
                <a:cs typeface="PingFang SC"/>
              </a:rPr>
              <a:t>过程参与</a:t>
            </a:r>
          </a:p>
        </p:txBody>
      </p:sp>
      <p:sp>
        <p:nvSpPr>
          <p:cNvPr id="14" name="右箭头 13">
            <a:extLst xmlns:a="http://schemas.openxmlformats.org/drawingml/2006/main">
              <a:ext uri="{FF2B5EF4-FFF2-40B4-BE49-F238E27FC236}">
                <a16:creationId xmlns:a16="http://schemas.microsoft.com/office/drawing/2014/main" id="{0DC23A62-5ACC-480E-B89D-E0F5AE468801}"/>
              </a:ext>
            </a:extLst>
          </p:cNvPr>
          <p:cNvSpPr>
            <a:spLocks xmlns:a="http://schemas.openxmlformats.org/drawingml/2006/main" noGrp="1"/>
          </p:cNvSpPr>
          <p:nvPr/>
        </p:nvSpPr>
        <p:spPr>
          <a:xfrm xmlns:a="http://schemas.openxmlformats.org/drawingml/2006/main">
            <a:off x="7096125" y="2400300"/>
            <a:ext cx="476250" cy="342900"/>
          </a:xfrm>
          <a:prstGeom xmlns:a="http://schemas.openxmlformats.org/drawingml/2006/main" prst="rightArrow">
            <a:avLst/>
          </a:prstGeom>
          <a:solidFill xmlns:a="http://schemas.openxmlformats.org/drawingml/2006/main">
            <a:srgbClr val="B8BCC4"/>
          </a:solidFill>
          <a:ln xmlns:a="http://schemas.openxmlformats.org/drawingml/2006/main" w="0">
            <a:noFill/>
            <a:prstDash val="solid"/>
          </a:ln>
        </p:spPr>
      </p:sp>
      <p:sp>
        <p:nvSpPr>
          <p:cNvPr id="15" name="矩形 14">
            <a:extLst xmlns:a="http://schemas.openxmlformats.org/drawingml/2006/main">
              <a:ext uri="{FF2B5EF4-FFF2-40B4-BE49-F238E27FC236}">
                <a16:creationId xmlns:a16="http://schemas.microsoft.com/office/drawing/2014/main" id="{3F1E0586-FE2C-4A46-8406-7237FCD2EEE2}"/>
              </a:ext>
            </a:extLst>
          </p:cNvPr>
          <p:cNvSpPr>
            <a:spLocks xmlns:a="http://schemas.openxmlformats.org/drawingml/2006/main" noGrp="1"/>
          </p:cNvSpPr>
          <p:nvPr/>
        </p:nvSpPr>
        <p:spPr>
          <a:xfrm xmlns:a="http://schemas.openxmlformats.org/drawingml/2006/main">
            <a:off x="7524750" y="2238375"/>
            <a:ext cx="1695450" cy="666750"/>
          </a:xfrm>
          <a:prstGeom xmlns:a="http://schemas.openxmlformats.org/drawingml/2006/main" prst="rect">
            <a:avLst/>
          </a:prstGeom>
          <a:solidFill xmlns:a="http://schemas.openxmlformats.org/drawingml/2006/main">
            <a:srgbClr val="EDEDED"/>
          </a:solidFill>
          <a:ln xmlns:a="http://schemas.openxmlformats.org/drawingml/2006/main" w="9525">
            <a:noFill/>
            <a:prstDash val="solid"/>
          </a:ln>
        </p:spPr>
      </p:sp>
      <p:sp>
        <p:nvSpPr>
          <p:cNvPr id="16" name="矩形 15">
            <a:extLst xmlns:a="http://schemas.openxmlformats.org/drawingml/2006/main">
              <a:ext uri="{FF2B5EF4-FFF2-40B4-BE49-F238E27FC236}">
                <a16:creationId xmlns:a16="http://schemas.microsoft.com/office/drawing/2014/main" id="{D2CAC4F1-E112-4539-843A-C1558DFAB4D7}"/>
              </a:ext>
            </a:extLst>
          </p:cNvPr>
          <p:cNvSpPr>
            <a:spLocks xmlns:a="http://schemas.openxmlformats.org/drawingml/2006/main" noGrp="1"/>
          </p:cNvSpPr>
          <p:nvPr/>
        </p:nvSpPr>
        <p:spPr>
          <a:xfrm xmlns:a="http://schemas.openxmlformats.org/drawingml/2006/main">
            <a:off x="7600950" y="2295525"/>
            <a:ext cx="1543050" cy="5524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725" b="1">
                <a:solidFill>
                  <a:srgbClr val="000000"/>
                </a:solidFill>
                <a:latin typeface="PingFang SC"/>
                <a:ea typeface="PingFang SC"/>
                <a:cs typeface="PingFang SC"/>
              </a:defRPr>
            </a:pPr>
            <a:r>
              <a:rPr sz="1725" b="1">
                <a:solidFill>
                  <a:srgbClr val="000000"/>
                </a:solidFill>
                <a:latin typeface="PingFang SC"/>
                <a:ea typeface="PingFang SC"/>
                <a:cs typeface="PingFang SC"/>
              </a:rPr>
              <a:t>成果沉淀</a:t>
            </a:r>
          </a:p>
        </p:txBody>
      </p:sp>
      <p:sp>
        <p:nvSpPr>
          <p:cNvPr id="17" name="矩形 16">
            <a:extLst xmlns:a="http://schemas.openxmlformats.org/drawingml/2006/main">
              <a:ext uri="{FF2B5EF4-FFF2-40B4-BE49-F238E27FC236}">
                <a16:creationId xmlns:a16="http://schemas.microsoft.com/office/drawing/2014/main" id="{7E053247-5596-4BC3-95AF-5AC552B4DC26}"/>
              </a:ext>
            </a:extLst>
          </p:cNvPr>
          <p:cNvSpPr>
            <a:spLocks xmlns:a="http://schemas.openxmlformats.org/drawingml/2006/main" noGrp="1"/>
          </p:cNvSpPr>
          <p:nvPr/>
        </p:nvSpPr>
        <p:spPr>
          <a:xfrm xmlns:a="http://schemas.openxmlformats.org/drawingml/2006/main">
            <a:off x="695325" y="3362325"/>
            <a:ext cx="476250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000000"/>
                </a:solidFill>
                <a:latin typeface="PingFang SC"/>
                <a:ea typeface="PingFang SC"/>
                <a:cs typeface="PingFang SC"/>
              </a:defRPr>
            </a:pPr>
            <a:r>
              <a:t>活动前明确发展目标、对象和外部来源组织，配置项目、活动、资源、报名审核、名额、权限和智能体。</a:t>
            </a:r>
          </a:p>
        </p:txBody>
      </p:sp>
      <p:sp>
        <p:nvSpPr>
          <p:cNvPr id="18" name="矩形 17">
            <a:extLst xmlns:a="http://schemas.openxmlformats.org/drawingml/2006/main">
              <a:ext uri="{FF2B5EF4-FFF2-40B4-BE49-F238E27FC236}">
                <a16:creationId xmlns:a16="http://schemas.microsoft.com/office/drawing/2014/main" id="{AE88B94F-918A-4BE1-B269-CEEB5FA3C0D8}"/>
              </a:ext>
            </a:extLst>
          </p:cNvPr>
          <p:cNvSpPr>
            <a:spLocks xmlns:a="http://schemas.openxmlformats.org/drawingml/2006/main" noGrp="1"/>
          </p:cNvSpPr>
          <p:nvPr/>
        </p:nvSpPr>
        <p:spPr>
          <a:xfrm xmlns:a="http://schemas.openxmlformats.org/drawingml/2006/main">
            <a:off x="6734175" y="3362325"/>
            <a:ext cx="4762500" cy="857250"/>
          </a:xfrm>
          <a:prstGeom xmlns:a="http://schemas.openxmlformats.org/drawingml/2006/main" prst="rect">
            <a:avLst/>
          </a:prstGeom>
        </p:spPr>
        <p:txBody>
          <a:bodyPr xmlns:a="http://schemas.openxmlformats.org/drawingml/2006/main" lIns="0" tIns="0" rIns="0" bIns="0" anchor="t">
            <a:normAutofit fontScale="96894"/>
          </a:bodyPr>
          <a:lstStyle xmlns:a="http://schemas.openxmlformats.org/drawingml/2006/main"/>
          <a:p xmlns:a="http://schemas.openxmlformats.org/drawingml/2006/main">
            <a:pPr algn="l">
              <a:buNone/>
              <a:defRPr sz="1800" b="1">
                <a:solidFill>
                  <a:srgbClr val="000000"/>
                </a:solidFill>
                <a:latin typeface="PingFang SC"/>
                <a:ea typeface="PingFang SC"/>
                <a:cs typeface="PingFang SC"/>
              </a:defRPr>
            </a:pPr>
            <a:r>
              <a:t>活动中记录签到、互动、点评、任务、问卷、AI 使用和运营动作；活动后输出个人证明、组织报告、成果案例和复训建议。</a:t>
            </a:r>
          </a:p>
        </p:txBody>
      </p:sp>
      <p:sp>
        <p:nvSpPr>
          <p:cNvPr id="19" name="矩形 18">
            <a:extLst xmlns:a="http://schemas.openxmlformats.org/drawingml/2006/main">
              <a:ext uri="{FF2B5EF4-FFF2-40B4-BE49-F238E27FC236}">
                <a16:creationId xmlns:a16="http://schemas.microsoft.com/office/drawing/2014/main" id="{70E76A41-9C86-46F3-A9F7-305A2018DAAD}"/>
              </a:ext>
            </a:extLst>
          </p:cNvPr>
          <p:cNvSpPr>
            <a:spLocks xmlns:a="http://schemas.openxmlformats.org/drawingml/2006/main" noGrp="1"/>
          </p:cNvSpPr>
          <p:nvPr/>
        </p:nvSpPr>
        <p:spPr>
          <a:xfrm xmlns:a="http://schemas.openxmlformats.org/drawingml/2006/main">
            <a:off x="733425" y="4905375"/>
            <a:ext cx="971550" cy="400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20" name="矩形 19">
            <a:extLst xmlns:a="http://schemas.openxmlformats.org/drawingml/2006/main">
              <a:ext uri="{FF2B5EF4-FFF2-40B4-BE49-F238E27FC236}">
                <a16:creationId xmlns:a16="http://schemas.microsoft.com/office/drawing/2014/main" id="{538DF815-D513-47EA-AF50-55F707BCE3DA}"/>
              </a:ext>
            </a:extLst>
          </p:cNvPr>
          <p:cNvSpPr>
            <a:spLocks xmlns:a="http://schemas.openxmlformats.org/drawingml/2006/main" noGrp="1"/>
          </p:cNvSpPr>
          <p:nvPr/>
        </p:nvSpPr>
        <p:spPr>
          <a:xfrm xmlns:a="http://schemas.openxmlformats.org/drawingml/2006/main">
            <a:off x="828675" y="4962525"/>
            <a:ext cx="781050"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PingFang SC"/>
                <a:ea typeface="PingFang SC"/>
                <a:cs typeface="PingFang SC"/>
              </a:defRPr>
            </a:pPr>
            <a:r>
              <a:t>项目</a:t>
            </a:r>
          </a:p>
        </p:txBody>
      </p:sp>
      <p:sp>
        <p:nvSpPr>
          <p:cNvPr id="21" name="矩形 20">
            <a:extLst xmlns:a="http://schemas.openxmlformats.org/drawingml/2006/main">
              <a:ext uri="{FF2B5EF4-FFF2-40B4-BE49-F238E27FC236}">
                <a16:creationId xmlns:a16="http://schemas.microsoft.com/office/drawing/2014/main" id="{F21ED7A5-8F3A-4395-B72D-085508AF048B}"/>
              </a:ext>
            </a:extLst>
          </p:cNvPr>
          <p:cNvSpPr>
            <a:spLocks xmlns:a="http://schemas.openxmlformats.org/drawingml/2006/main" noGrp="1"/>
          </p:cNvSpPr>
          <p:nvPr/>
        </p:nvSpPr>
        <p:spPr>
          <a:xfrm xmlns:a="http://schemas.openxmlformats.org/drawingml/2006/main">
            <a:off x="2066925" y="4905375"/>
            <a:ext cx="971550" cy="400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22" name="矩形 21">
            <a:extLst xmlns:a="http://schemas.openxmlformats.org/drawingml/2006/main">
              <a:ext uri="{FF2B5EF4-FFF2-40B4-BE49-F238E27FC236}">
                <a16:creationId xmlns:a16="http://schemas.microsoft.com/office/drawing/2014/main" id="{EE62588D-DB9E-461E-B08A-531539D4A94B}"/>
              </a:ext>
            </a:extLst>
          </p:cNvPr>
          <p:cNvSpPr>
            <a:spLocks xmlns:a="http://schemas.openxmlformats.org/drawingml/2006/main" noGrp="1"/>
          </p:cNvSpPr>
          <p:nvPr/>
        </p:nvSpPr>
        <p:spPr>
          <a:xfrm xmlns:a="http://schemas.openxmlformats.org/drawingml/2006/main">
            <a:off x="2162175" y="4962525"/>
            <a:ext cx="781050"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PingFang SC"/>
                <a:ea typeface="PingFang SC"/>
                <a:cs typeface="PingFang SC"/>
              </a:defRPr>
            </a:pPr>
            <a:r>
              <a:t>活动</a:t>
            </a:r>
          </a:p>
        </p:txBody>
      </p:sp>
      <p:sp>
        <p:nvSpPr>
          <p:cNvPr id="23" name="矩形 22">
            <a:extLst xmlns:a="http://schemas.openxmlformats.org/drawingml/2006/main">
              <a:ext uri="{FF2B5EF4-FFF2-40B4-BE49-F238E27FC236}">
                <a16:creationId xmlns:a16="http://schemas.microsoft.com/office/drawing/2014/main" id="{246CA0E8-354A-475B-A07C-B1D5E3EF1034}"/>
              </a:ext>
            </a:extLst>
          </p:cNvPr>
          <p:cNvSpPr>
            <a:spLocks xmlns:a="http://schemas.openxmlformats.org/drawingml/2006/main" noGrp="1"/>
          </p:cNvSpPr>
          <p:nvPr/>
        </p:nvSpPr>
        <p:spPr>
          <a:xfrm xmlns:a="http://schemas.openxmlformats.org/drawingml/2006/main">
            <a:off x="3400425" y="4905375"/>
            <a:ext cx="971550" cy="400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24" name="矩形 23">
            <a:extLst xmlns:a="http://schemas.openxmlformats.org/drawingml/2006/main">
              <a:ext uri="{FF2B5EF4-FFF2-40B4-BE49-F238E27FC236}">
                <a16:creationId xmlns:a16="http://schemas.microsoft.com/office/drawing/2014/main" id="{9F0C73FD-421A-4BC8-8D7A-F43FEAFDE1D2}"/>
              </a:ext>
            </a:extLst>
          </p:cNvPr>
          <p:cNvSpPr>
            <a:spLocks xmlns:a="http://schemas.openxmlformats.org/drawingml/2006/main" noGrp="1"/>
          </p:cNvSpPr>
          <p:nvPr/>
        </p:nvSpPr>
        <p:spPr>
          <a:xfrm xmlns:a="http://schemas.openxmlformats.org/drawingml/2006/main">
            <a:off x="3495675" y="4962525"/>
            <a:ext cx="781050"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PingFang SC"/>
                <a:ea typeface="PingFang SC"/>
                <a:cs typeface="PingFang SC"/>
              </a:defRPr>
            </a:pPr>
            <a:r>
              <a:t>报名</a:t>
            </a:r>
          </a:p>
        </p:txBody>
      </p:sp>
      <p:sp>
        <p:nvSpPr>
          <p:cNvPr id="25" name="矩形 24">
            <a:extLst xmlns:a="http://schemas.openxmlformats.org/drawingml/2006/main">
              <a:ext uri="{FF2B5EF4-FFF2-40B4-BE49-F238E27FC236}">
                <a16:creationId xmlns:a16="http://schemas.microsoft.com/office/drawing/2014/main" id="{2E49D92E-B869-4EBF-8DDB-FAE543AB8E07}"/>
              </a:ext>
            </a:extLst>
          </p:cNvPr>
          <p:cNvSpPr>
            <a:spLocks xmlns:a="http://schemas.openxmlformats.org/drawingml/2006/main" noGrp="1"/>
          </p:cNvSpPr>
          <p:nvPr/>
        </p:nvSpPr>
        <p:spPr>
          <a:xfrm xmlns:a="http://schemas.openxmlformats.org/drawingml/2006/main">
            <a:off x="4733925" y="4905375"/>
            <a:ext cx="971550" cy="400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26" name="矩形 25">
            <a:extLst xmlns:a="http://schemas.openxmlformats.org/drawingml/2006/main">
              <a:ext uri="{FF2B5EF4-FFF2-40B4-BE49-F238E27FC236}">
                <a16:creationId xmlns:a16="http://schemas.microsoft.com/office/drawing/2014/main" id="{88063027-8C2B-41BF-A0D6-D4DBD03AB106}"/>
              </a:ext>
            </a:extLst>
          </p:cNvPr>
          <p:cNvSpPr>
            <a:spLocks xmlns:a="http://schemas.openxmlformats.org/drawingml/2006/main" noGrp="1"/>
          </p:cNvSpPr>
          <p:nvPr/>
        </p:nvSpPr>
        <p:spPr>
          <a:xfrm xmlns:a="http://schemas.openxmlformats.org/drawingml/2006/main">
            <a:off x="4829175" y="4962525"/>
            <a:ext cx="781050"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PingFang SC"/>
                <a:ea typeface="PingFang SC"/>
                <a:cs typeface="PingFang SC"/>
              </a:defRPr>
            </a:pPr>
            <a:r>
              <a:t>参与者</a:t>
            </a:r>
          </a:p>
        </p:txBody>
      </p:sp>
      <p:sp>
        <p:nvSpPr>
          <p:cNvPr id="27" name="矩形 26">
            <a:extLst xmlns:a="http://schemas.openxmlformats.org/drawingml/2006/main">
              <a:ext uri="{FF2B5EF4-FFF2-40B4-BE49-F238E27FC236}">
                <a16:creationId xmlns:a16="http://schemas.microsoft.com/office/drawing/2014/main" id="{0A530434-8D23-46EF-8FC2-A1902F596A2E}"/>
              </a:ext>
            </a:extLst>
          </p:cNvPr>
          <p:cNvSpPr>
            <a:spLocks xmlns:a="http://schemas.openxmlformats.org/drawingml/2006/main" noGrp="1"/>
          </p:cNvSpPr>
          <p:nvPr/>
        </p:nvSpPr>
        <p:spPr>
          <a:xfrm xmlns:a="http://schemas.openxmlformats.org/drawingml/2006/main">
            <a:off x="6067425" y="4905375"/>
            <a:ext cx="971550" cy="400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28" name="矩形 27">
            <a:extLst xmlns:a="http://schemas.openxmlformats.org/drawingml/2006/main">
              <a:ext uri="{FF2B5EF4-FFF2-40B4-BE49-F238E27FC236}">
                <a16:creationId xmlns:a16="http://schemas.microsoft.com/office/drawing/2014/main" id="{492EE751-800E-4104-9FF7-5A4BB4830430}"/>
              </a:ext>
            </a:extLst>
          </p:cNvPr>
          <p:cNvSpPr>
            <a:spLocks xmlns:a="http://schemas.openxmlformats.org/drawingml/2006/main" noGrp="1"/>
          </p:cNvSpPr>
          <p:nvPr/>
        </p:nvSpPr>
        <p:spPr>
          <a:xfrm xmlns:a="http://schemas.openxmlformats.org/drawingml/2006/main">
            <a:off x="6162675" y="4962525"/>
            <a:ext cx="781050"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PingFang SC"/>
                <a:ea typeface="PingFang SC"/>
                <a:cs typeface="PingFang SC"/>
              </a:defRPr>
            </a:pPr>
            <a:r>
              <a:t>任务</a:t>
            </a:r>
          </a:p>
        </p:txBody>
      </p:sp>
      <p:sp>
        <p:nvSpPr>
          <p:cNvPr id="29" name="矩形 28">
            <a:extLst xmlns:a="http://schemas.openxmlformats.org/drawingml/2006/main">
              <a:ext uri="{FF2B5EF4-FFF2-40B4-BE49-F238E27FC236}">
                <a16:creationId xmlns:a16="http://schemas.microsoft.com/office/drawing/2014/main" id="{CB952C08-9960-469E-9A30-CA7CA76888EE}"/>
              </a:ext>
            </a:extLst>
          </p:cNvPr>
          <p:cNvSpPr>
            <a:spLocks xmlns:a="http://schemas.openxmlformats.org/drawingml/2006/main" noGrp="1"/>
          </p:cNvSpPr>
          <p:nvPr/>
        </p:nvSpPr>
        <p:spPr>
          <a:xfrm xmlns:a="http://schemas.openxmlformats.org/drawingml/2006/main">
            <a:off x="7400925" y="4905375"/>
            <a:ext cx="971550" cy="400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30" name="矩形 29">
            <a:extLst xmlns:a="http://schemas.openxmlformats.org/drawingml/2006/main">
              <a:ext uri="{FF2B5EF4-FFF2-40B4-BE49-F238E27FC236}">
                <a16:creationId xmlns:a16="http://schemas.microsoft.com/office/drawing/2014/main" id="{EC5F8035-996F-43CB-9C09-50AE3143E0B5}"/>
              </a:ext>
            </a:extLst>
          </p:cNvPr>
          <p:cNvSpPr>
            <a:spLocks xmlns:a="http://schemas.openxmlformats.org/drawingml/2006/main" noGrp="1"/>
          </p:cNvSpPr>
          <p:nvPr/>
        </p:nvSpPr>
        <p:spPr>
          <a:xfrm xmlns:a="http://schemas.openxmlformats.org/drawingml/2006/main">
            <a:off x="7496175" y="4962525"/>
            <a:ext cx="781050"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PingFang SC"/>
                <a:ea typeface="PingFang SC"/>
                <a:cs typeface="PingFang SC"/>
              </a:defRPr>
            </a:pPr>
            <a:r>
              <a:t>评价</a:t>
            </a:r>
          </a:p>
        </p:txBody>
      </p:sp>
      <p:sp>
        <p:nvSpPr>
          <p:cNvPr id="31" name="矩形 30">
            <a:extLst xmlns:a="http://schemas.openxmlformats.org/drawingml/2006/main">
              <a:ext uri="{FF2B5EF4-FFF2-40B4-BE49-F238E27FC236}">
                <a16:creationId xmlns:a16="http://schemas.microsoft.com/office/drawing/2014/main" id="{E3C2C31F-DA14-4059-8B9E-A49A2193675E}"/>
              </a:ext>
            </a:extLst>
          </p:cNvPr>
          <p:cNvSpPr>
            <a:spLocks xmlns:a="http://schemas.openxmlformats.org/drawingml/2006/main" noGrp="1"/>
          </p:cNvSpPr>
          <p:nvPr/>
        </p:nvSpPr>
        <p:spPr>
          <a:xfrm xmlns:a="http://schemas.openxmlformats.org/drawingml/2006/main">
            <a:off x="8734425" y="4905375"/>
            <a:ext cx="971550" cy="400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32" name="矩形 31">
            <a:extLst xmlns:a="http://schemas.openxmlformats.org/drawingml/2006/main">
              <a:ext uri="{FF2B5EF4-FFF2-40B4-BE49-F238E27FC236}">
                <a16:creationId xmlns:a16="http://schemas.microsoft.com/office/drawing/2014/main" id="{CDC4F7B6-E1BF-458A-9474-817C7C31FC3B}"/>
              </a:ext>
            </a:extLst>
          </p:cNvPr>
          <p:cNvSpPr>
            <a:spLocks xmlns:a="http://schemas.openxmlformats.org/drawingml/2006/main" noGrp="1"/>
          </p:cNvSpPr>
          <p:nvPr/>
        </p:nvSpPr>
        <p:spPr>
          <a:xfrm xmlns:a="http://schemas.openxmlformats.org/drawingml/2006/main">
            <a:off x="8829675" y="4962525"/>
            <a:ext cx="781050"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PingFang SC"/>
                <a:ea typeface="PingFang SC"/>
                <a:cs typeface="PingFang SC"/>
              </a:defRPr>
            </a:pPr>
            <a:r>
              <a:t>成果</a:t>
            </a:r>
          </a:p>
        </p:txBody>
      </p:sp>
      <p:sp>
        <p:nvSpPr>
          <p:cNvPr id="33" name="矩形 32">
            <a:extLst xmlns:a="http://schemas.openxmlformats.org/drawingml/2006/main">
              <a:ext uri="{FF2B5EF4-FFF2-40B4-BE49-F238E27FC236}">
                <a16:creationId xmlns:a16="http://schemas.microsoft.com/office/drawing/2014/main" id="{09047D73-7265-448E-80DE-01325840773D}"/>
              </a:ext>
            </a:extLst>
          </p:cNvPr>
          <p:cNvSpPr>
            <a:spLocks xmlns:a="http://schemas.openxmlformats.org/drawingml/2006/main" noGrp="1"/>
          </p:cNvSpPr>
          <p:nvPr/>
        </p:nvSpPr>
        <p:spPr>
          <a:xfrm xmlns:a="http://schemas.openxmlformats.org/drawingml/2006/main">
            <a:off x="10067925" y="4905375"/>
            <a:ext cx="971550" cy="400050"/>
          </a:xfrm>
          <a:prstGeom xmlns:a="http://schemas.openxmlformats.org/drawingml/2006/main" prst="rect">
            <a:avLst/>
          </a:prstGeom>
          <a:solidFill xmlns:a="http://schemas.openxmlformats.org/drawingml/2006/main">
            <a:srgbClr val="000000"/>
          </a:solidFill>
          <a:ln xmlns:a="http://schemas.openxmlformats.org/drawingml/2006/main" w="9525">
            <a:solidFill>
              <a:srgbClr val="B8BCC4"/>
            </a:solidFill>
            <a:prstDash val="solid"/>
          </a:ln>
        </p:spPr>
      </p:sp>
      <p:sp>
        <p:nvSpPr>
          <p:cNvPr id="34" name="矩形 33">
            <a:extLst xmlns:a="http://schemas.openxmlformats.org/drawingml/2006/main">
              <a:ext uri="{FF2B5EF4-FFF2-40B4-BE49-F238E27FC236}">
                <a16:creationId xmlns:a16="http://schemas.microsoft.com/office/drawing/2014/main" id="{6C9ABFC3-2C12-4BB9-A94B-6D0B23C226CC}"/>
              </a:ext>
            </a:extLst>
          </p:cNvPr>
          <p:cNvSpPr>
            <a:spLocks xmlns:a="http://schemas.openxmlformats.org/drawingml/2006/main" noGrp="1"/>
          </p:cNvSpPr>
          <p:nvPr/>
        </p:nvSpPr>
        <p:spPr>
          <a:xfrm xmlns:a="http://schemas.openxmlformats.org/drawingml/2006/main">
            <a:off x="10163175" y="4962525"/>
            <a:ext cx="781050"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FFFFFF"/>
                </a:solidFill>
                <a:latin typeface="PingFang SC"/>
                <a:ea typeface="PingFang SC"/>
                <a:cs typeface="PingFang SC"/>
              </a:defRPr>
            </a:pPr>
            <a:r>
              <a:t>报告</a:t>
            </a:r>
          </a:p>
        </p:txBody>
      </p:sp>
      <p:sp>
        <p:nvSpPr>
          <p:cNvPr id="35" name="流程箭头">
            <a:extLst xmlns:a="http://schemas.openxmlformats.org/drawingml/2006/main">
              <a:ext uri="{FF2B5EF4-FFF2-40B4-BE49-F238E27FC236}">
                <a16:creationId xmlns:a16="http://schemas.microsoft.com/office/drawing/2014/main" id="{0887AD3D-E7D5-4099-8D69-A6EB6E495696}"/>
              </a:ext>
            </a:extLst>
          </p:cNvPr>
          <p:cNvSpPr>
            <a:spLocks xmlns:a="http://schemas.openxmlformats.org/drawingml/2006/main" noGrp="1"/>
          </p:cNvSpPr>
          <p:nvPr/>
        </p:nvSpPr>
        <p:spPr>
          <a:xfrm xmlns:a="http://schemas.openxmlformats.org/drawingml/2006/main">
            <a:off x="9429750" y="2400300"/>
            <a:ext cx="476250" cy="342900"/>
          </a:xfrm>
          <a:prstGeom xmlns:a="http://schemas.openxmlformats.org/drawingml/2006/main" prst="rightArrow">
            <a:avLst/>
          </a:prstGeom>
          <a:solidFill xmlns:a="http://schemas.openxmlformats.org/drawingml/2006/main">
            <a:srgbClr val="B8BCC4"/>
          </a:solidFill>
          <a:ln xmlns:a="http://schemas.openxmlformats.org/drawingml/2006/main" w="0">
            <a:noFill/>
            <a:prstDash val="solid"/>
          </a:ln>
        </p:spPr>
      </p:sp>
      <p:sp>
        <p:nvSpPr>
          <p:cNvPr id="36" name="流程节点-效果改进">
            <a:extLst xmlns:a="http://schemas.openxmlformats.org/drawingml/2006/main">
              <a:ext uri="{FF2B5EF4-FFF2-40B4-BE49-F238E27FC236}">
                <a16:creationId xmlns:a16="http://schemas.microsoft.com/office/drawing/2014/main" id="{446D60A3-4A18-41F9-84B4-55C91A04A3A4}"/>
              </a:ext>
            </a:extLst>
          </p:cNvPr>
          <p:cNvSpPr>
            <a:spLocks xmlns:a="http://schemas.openxmlformats.org/drawingml/2006/main" noGrp="1"/>
          </p:cNvSpPr>
          <p:nvPr/>
        </p:nvSpPr>
        <p:spPr>
          <a:xfrm xmlns:a="http://schemas.openxmlformats.org/drawingml/2006/main">
            <a:off x="9858375" y="2238375"/>
            <a:ext cx="1695450" cy="66675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37" name="流程文本-效果改进">
            <a:extLst xmlns:a="http://schemas.openxmlformats.org/drawingml/2006/main">
              <a:ext uri="{FF2B5EF4-FFF2-40B4-BE49-F238E27FC236}">
                <a16:creationId xmlns:a16="http://schemas.microsoft.com/office/drawing/2014/main" id="{6425A14C-B7A0-4DE8-BC1A-CB8F0D81E7CA}"/>
              </a:ext>
            </a:extLst>
          </p:cNvPr>
          <p:cNvSpPr>
            <a:spLocks xmlns:a="http://schemas.openxmlformats.org/drawingml/2006/main" noGrp="1"/>
          </p:cNvSpPr>
          <p:nvPr/>
        </p:nvSpPr>
        <p:spPr>
          <a:xfrm xmlns:a="http://schemas.openxmlformats.org/drawingml/2006/main">
            <a:off x="9934575" y="2295525"/>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FFFFFF"/>
                </a:solidFill>
                <a:latin typeface="PingFang SC"/>
                <a:ea typeface="PingFang SC"/>
                <a:cs typeface="PingFang SC"/>
              </a:defRPr>
            </a:pPr>
            <a:r>
              <a:rPr sz="1725" b="1">
                <a:solidFill>
                  <a:srgbClr val="FFFFFF"/>
                </a:solidFill>
                <a:latin typeface="PingFang SC"/>
                <a:ea typeface="PingFang SC"/>
                <a:cs typeface="PingFang SC"/>
              </a:rPr>
              <a:t>效果改进</a:t>
            </a:r>
          </a:p>
        </p:txBody>
      </p:sp>
    </p:spTree>
    <p:extLst>
      <p:ext uri="{BB962C8B-B14F-4D97-AF65-F5344CB8AC3E}">
        <p14:creationId xmlns:p14="http://schemas.microsoft.com/office/powerpoint/2010/main" val="36576290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167AD117-CAB3-48C6-95A0-5C2CA79483D7}"/>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核心对象</a:t>
            </a:r>
          </a:p>
        </p:txBody>
      </p:sp>
      <p:sp>
        <p:nvSpPr>
          <p:cNvPr id="3" name="矩形 2">
            <a:extLst xmlns:a="http://schemas.openxmlformats.org/drawingml/2006/main">
              <a:ext uri="{FF2B5EF4-FFF2-40B4-BE49-F238E27FC236}">
                <a16:creationId xmlns:a16="http://schemas.microsoft.com/office/drawing/2014/main" id="{E1488235-5010-4D73-8BEA-1C8BB4465E72}"/>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25" b="1">
                <a:solidFill>
                  <a:srgbClr val="000000"/>
                </a:solidFill>
                <a:latin typeface="PingFang SC"/>
                <a:ea typeface="PingFang SC"/>
                <a:cs typeface="PingFang SC"/>
              </a:defRPr>
            </a:pPr>
            <a:r>
              <a:t>统一数据模型让内外部参与者围绕同一发展活动运行</a:t>
            </a:r>
          </a:p>
        </p:txBody>
      </p:sp>
      <p:sp>
        <p:nvSpPr>
          <p:cNvPr id="4" name="矩形 3">
            <a:extLst xmlns:a="http://schemas.openxmlformats.org/drawingml/2006/main">
              <a:ext uri="{FF2B5EF4-FFF2-40B4-BE49-F238E27FC236}">
                <a16:creationId xmlns:a16="http://schemas.microsoft.com/office/drawing/2014/main" id="{65FE147A-1788-4659-9F22-448D112C0DC6}"/>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F41828B8-B179-492A-A2FC-4F013BE7BCB1}"/>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10</a:t>
            </a:r>
          </a:p>
        </p:txBody>
      </p:sp>
      <p:sp>
        <p:nvSpPr>
          <p:cNvPr id="6" name="矩形 5">
            <a:extLst xmlns:a="http://schemas.openxmlformats.org/drawingml/2006/main">
              <a:ext uri="{FF2B5EF4-FFF2-40B4-BE49-F238E27FC236}">
                <a16:creationId xmlns:a16="http://schemas.microsoft.com/office/drawing/2014/main" id="{FF5EC397-E672-419F-BB35-BBFA066A5B38}"/>
              </a:ext>
            </a:extLst>
          </p:cNvPr>
          <p:cNvSpPr>
            <a:spLocks xmlns:a="http://schemas.openxmlformats.org/drawingml/2006/main" noGrp="1"/>
          </p:cNvSpPr>
          <p:nvPr/>
        </p:nvSpPr>
        <p:spPr>
          <a:xfrm xmlns:a="http://schemas.openxmlformats.org/drawingml/2006/main">
            <a:off x="390525" y="2038350"/>
            <a:ext cx="2476500" cy="30670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矩形 6">
            <a:extLst xmlns:a="http://schemas.openxmlformats.org/drawingml/2006/main">
              <a:ext uri="{FF2B5EF4-FFF2-40B4-BE49-F238E27FC236}">
                <a16:creationId xmlns:a16="http://schemas.microsoft.com/office/drawing/2014/main" id="{30934069-DEFA-4978-B18C-0750D2B9809A}"/>
              </a:ext>
            </a:extLst>
          </p:cNvPr>
          <p:cNvSpPr>
            <a:spLocks xmlns:a="http://schemas.openxmlformats.org/drawingml/2006/main" noGrp="1"/>
          </p:cNvSpPr>
          <p:nvPr/>
        </p:nvSpPr>
        <p:spPr>
          <a:xfrm xmlns:a="http://schemas.openxmlformats.org/drawingml/2006/main">
            <a:off x="619125" y="2266950"/>
            <a:ext cx="2019300" cy="342900"/>
          </a:xfrm>
          <a:prstGeom xmlns:a="http://schemas.openxmlformats.org/drawingml/2006/main" prst="rect">
            <a:avLst/>
          </a:prstGeom>
        </p:spPr>
        <p:txBody>
          <a:bodyPr xmlns:a="http://schemas.openxmlformats.org/drawingml/2006/main" lIns="0" tIns="0" rIns="0" bIns="0" anchor="ctr">
            <a:normAutofit fontScale="67452"/>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Development Program</a:t>
            </a:r>
          </a:p>
        </p:txBody>
      </p:sp>
      <p:sp>
        <p:nvSpPr>
          <p:cNvPr id="8" name="矩形 7">
            <a:extLst xmlns:a="http://schemas.openxmlformats.org/drawingml/2006/main">
              <a:ext uri="{FF2B5EF4-FFF2-40B4-BE49-F238E27FC236}">
                <a16:creationId xmlns:a16="http://schemas.microsoft.com/office/drawing/2014/main" id="{A8EF3A0C-490D-49C0-9EB4-ACF7A4D0777C}"/>
              </a:ext>
            </a:extLst>
          </p:cNvPr>
          <p:cNvSpPr>
            <a:spLocks xmlns:a="http://schemas.openxmlformats.org/drawingml/2006/main" noGrp="1"/>
          </p:cNvSpPr>
          <p:nvPr/>
        </p:nvSpPr>
        <p:spPr>
          <a:xfrm xmlns:a="http://schemas.openxmlformats.org/drawingml/2006/main">
            <a:off x="619125" y="2724150"/>
            <a:ext cx="2019300" cy="2190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000000"/>
                </a:solidFill>
                <a:latin typeface="PingFang SC"/>
                <a:ea typeface="PingFang SC"/>
                <a:cs typeface="PingFang SC"/>
              </a:defRPr>
            </a:pPr>
            <a:r>
              <a:t>发展项目</a:t>
            </a:r>
          </a:p>
          <a:p xmlns:a="http://schemas.openxmlformats.org/drawingml/2006/main">
            <a:pPr algn="l">
              <a:buNone/>
              <a:defRPr sz="1500" b="0">
                <a:solidFill>
                  <a:srgbClr val="000000"/>
                </a:solidFill>
                <a:latin typeface="PingFang SC"/>
                <a:ea typeface="PingFang SC"/>
                <a:cs typeface="PingFang SC"/>
              </a:defRPr>
            </a:pPr>
            <a:r>
              <a:t>承接目标、周期、负责人、对象范围、内训/外训属性和启用模块。</a:t>
            </a:r>
          </a:p>
        </p:txBody>
      </p:sp>
      <p:sp>
        <p:nvSpPr>
          <p:cNvPr id="9" name="矩形 8">
            <a:extLst xmlns:a="http://schemas.openxmlformats.org/drawingml/2006/main">
              <a:ext uri="{FF2B5EF4-FFF2-40B4-BE49-F238E27FC236}">
                <a16:creationId xmlns:a16="http://schemas.microsoft.com/office/drawing/2014/main" id="{71F66FA5-ACBA-4D64-B02F-907CF0B78D29}"/>
              </a:ext>
            </a:extLst>
          </p:cNvPr>
          <p:cNvSpPr>
            <a:spLocks xmlns:a="http://schemas.openxmlformats.org/drawingml/2006/main" noGrp="1"/>
          </p:cNvSpPr>
          <p:nvPr/>
        </p:nvSpPr>
        <p:spPr>
          <a:xfrm xmlns:a="http://schemas.openxmlformats.org/drawingml/2006/main">
            <a:off x="3248025" y="2038350"/>
            <a:ext cx="2476500" cy="30670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矩形 9">
            <a:extLst xmlns:a="http://schemas.openxmlformats.org/drawingml/2006/main">
              <a:ext uri="{FF2B5EF4-FFF2-40B4-BE49-F238E27FC236}">
                <a16:creationId xmlns:a16="http://schemas.microsoft.com/office/drawing/2014/main" id="{54982A19-0272-44EE-BF3B-51175B657068}"/>
              </a:ext>
            </a:extLst>
          </p:cNvPr>
          <p:cNvSpPr>
            <a:spLocks xmlns:a="http://schemas.openxmlformats.org/drawingml/2006/main" noGrp="1"/>
          </p:cNvSpPr>
          <p:nvPr/>
        </p:nvSpPr>
        <p:spPr>
          <a:xfrm xmlns:a="http://schemas.openxmlformats.org/drawingml/2006/main">
            <a:off x="3476625" y="2266950"/>
            <a:ext cx="2019300" cy="342900"/>
          </a:xfrm>
          <a:prstGeom xmlns:a="http://schemas.openxmlformats.org/drawingml/2006/main" prst="rect">
            <a:avLst/>
          </a:prstGeom>
        </p:spPr>
        <p:txBody>
          <a:bodyPr xmlns:a="http://schemas.openxmlformats.org/drawingml/2006/main" lIns="0" tIns="0" rIns="0" bIns="0" anchor="ctr">
            <a:normAutofit fontScale="70495"/>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Development Activity</a:t>
            </a:r>
          </a:p>
        </p:txBody>
      </p:sp>
      <p:sp>
        <p:nvSpPr>
          <p:cNvPr id="11" name="矩形 10">
            <a:extLst xmlns:a="http://schemas.openxmlformats.org/drawingml/2006/main">
              <a:ext uri="{FF2B5EF4-FFF2-40B4-BE49-F238E27FC236}">
                <a16:creationId xmlns:a16="http://schemas.microsoft.com/office/drawing/2014/main" id="{759C8134-C8E6-4D76-B576-D4263DC862CF}"/>
              </a:ext>
            </a:extLst>
          </p:cNvPr>
          <p:cNvSpPr>
            <a:spLocks xmlns:a="http://schemas.openxmlformats.org/drawingml/2006/main" noGrp="1"/>
          </p:cNvSpPr>
          <p:nvPr/>
        </p:nvSpPr>
        <p:spPr>
          <a:xfrm xmlns:a="http://schemas.openxmlformats.org/drawingml/2006/main">
            <a:off x="3476625" y="2724150"/>
            <a:ext cx="2019300" cy="2190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000000"/>
                </a:solidFill>
                <a:latin typeface="PingFang SC"/>
                <a:ea typeface="PingFang SC"/>
                <a:cs typeface="PingFang SC"/>
              </a:defRPr>
            </a:pPr>
            <a:r>
              <a:t>发展活动</a:t>
            </a:r>
          </a:p>
          <a:p xmlns:a="http://schemas.openxmlformats.org/drawingml/2006/main">
            <a:pPr algn="l">
              <a:buNone/>
              <a:defRPr sz="1500" b="0">
                <a:solidFill>
                  <a:srgbClr val="000000"/>
                </a:solidFill>
                <a:latin typeface="PingFang SC"/>
                <a:ea typeface="PingFang SC"/>
                <a:cs typeface="PingFang SC"/>
              </a:defRPr>
            </a:pPr>
            <a:r>
              <a:t>承接课程、研讨、评课、工作坊、客户培训、伙伴培训等活动类型。</a:t>
            </a:r>
          </a:p>
        </p:txBody>
      </p:sp>
      <p:sp>
        <p:nvSpPr>
          <p:cNvPr id="12" name="矩形 11">
            <a:extLst xmlns:a="http://schemas.openxmlformats.org/drawingml/2006/main">
              <a:ext uri="{FF2B5EF4-FFF2-40B4-BE49-F238E27FC236}">
                <a16:creationId xmlns:a16="http://schemas.microsoft.com/office/drawing/2014/main" id="{C2A862E1-4849-43C2-8E79-5ECC15AF8EC6}"/>
              </a:ext>
            </a:extLst>
          </p:cNvPr>
          <p:cNvSpPr>
            <a:spLocks xmlns:a="http://schemas.openxmlformats.org/drawingml/2006/main" noGrp="1"/>
          </p:cNvSpPr>
          <p:nvPr/>
        </p:nvSpPr>
        <p:spPr>
          <a:xfrm xmlns:a="http://schemas.openxmlformats.org/drawingml/2006/main">
            <a:off x="6105525" y="2038350"/>
            <a:ext cx="2476500" cy="30670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矩形 12">
            <a:extLst xmlns:a="http://schemas.openxmlformats.org/drawingml/2006/main">
              <a:ext uri="{FF2B5EF4-FFF2-40B4-BE49-F238E27FC236}">
                <a16:creationId xmlns:a16="http://schemas.microsoft.com/office/drawing/2014/main" id="{8CF82C7D-9CCF-4A3F-847B-131FEFED34BC}"/>
              </a:ext>
            </a:extLst>
          </p:cNvPr>
          <p:cNvSpPr>
            <a:spLocks xmlns:a="http://schemas.openxmlformats.org/drawingml/2006/main" noGrp="1"/>
          </p:cNvSpPr>
          <p:nvPr/>
        </p:nvSpPr>
        <p:spPr>
          <a:xfrm xmlns:a="http://schemas.openxmlformats.org/drawingml/2006/main">
            <a:off x="6334125" y="2266950"/>
            <a:ext cx="2019300" cy="342900"/>
          </a:xfrm>
          <a:prstGeom xmlns:a="http://schemas.openxmlformats.org/drawingml/2006/main" prst="rect">
            <a:avLst/>
          </a:prstGeom>
        </p:spPr>
        <p:txBody>
          <a:bodyPr xmlns:a="http://schemas.openxmlformats.org/drawingml/2006/main" lIns="0" tIns="0" rIns="0" bIns="0" anchor="ctr">
            <a:normAutofit fontScale="79627"/>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Participant Record</a:t>
            </a:r>
          </a:p>
        </p:txBody>
      </p:sp>
      <p:sp>
        <p:nvSpPr>
          <p:cNvPr id="14" name="矩形 13">
            <a:extLst xmlns:a="http://schemas.openxmlformats.org/drawingml/2006/main">
              <a:ext uri="{FF2B5EF4-FFF2-40B4-BE49-F238E27FC236}">
                <a16:creationId xmlns:a16="http://schemas.microsoft.com/office/drawing/2014/main" id="{9E647F38-4960-4077-A690-0B1A32AB6F32}"/>
              </a:ext>
            </a:extLst>
          </p:cNvPr>
          <p:cNvSpPr>
            <a:spLocks xmlns:a="http://schemas.openxmlformats.org/drawingml/2006/main" noGrp="1"/>
          </p:cNvSpPr>
          <p:nvPr/>
        </p:nvSpPr>
        <p:spPr>
          <a:xfrm xmlns:a="http://schemas.openxmlformats.org/drawingml/2006/main">
            <a:off x="6334125" y="2724150"/>
            <a:ext cx="2019300" cy="2190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000000"/>
                </a:solidFill>
                <a:latin typeface="PingFang SC"/>
                <a:ea typeface="PingFang SC"/>
                <a:cs typeface="PingFang SC"/>
              </a:defRPr>
            </a:pPr>
            <a:r>
              <a:t>参与者记录</a:t>
            </a:r>
          </a:p>
          <a:p xmlns:a="http://schemas.openxmlformats.org/drawingml/2006/main">
            <a:pPr algn="l">
              <a:buNone/>
              <a:defRPr sz="1500" b="0">
                <a:solidFill>
                  <a:srgbClr val="000000"/>
                </a:solidFill>
                <a:latin typeface="PingFang SC"/>
                <a:ea typeface="PingFang SC"/>
                <a:cs typeface="PingFang SC"/>
              </a:defRPr>
            </a:pPr>
            <a:r>
              <a:t>区分内部成员与外部人员，记录来源组织、报名、签到、互动、任务和成果。</a:t>
            </a:r>
          </a:p>
        </p:txBody>
      </p:sp>
      <p:sp>
        <p:nvSpPr>
          <p:cNvPr id="15" name="矩形 14">
            <a:extLst xmlns:a="http://schemas.openxmlformats.org/drawingml/2006/main">
              <a:ext uri="{FF2B5EF4-FFF2-40B4-BE49-F238E27FC236}">
                <a16:creationId xmlns:a16="http://schemas.microsoft.com/office/drawing/2014/main" id="{02C67C4C-1037-42BF-A86A-891E9B6D0083}"/>
              </a:ext>
            </a:extLst>
          </p:cNvPr>
          <p:cNvSpPr>
            <a:spLocks xmlns:a="http://schemas.openxmlformats.org/drawingml/2006/main" noGrp="1"/>
          </p:cNvSpPr>
          <p:nvPr/>
        </p:nvSpPr>
        <p:spPr>
          <a:xfrm xmlns:a="http://schemas.openxmlformats.org/drawingml/2006/main">
            <a:off x="8963025" y="2038350"/>
            <a:ext cx="2476500" cy="3067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6" name="矩形 15">
            <a:extLst xmlns:a="http://schemas.openxmlformats.org/drawingml/2006/main">
              <a:ext uri="{FF2B5EF4-FFF2-40B4-BE49-F238E27FC236}">
                <a16:creationId xmlns:a16="http://schemas.microsoft.com/office/drawing/2014/main" id="{CF5F8954-C151-47EC-900A-F87A1245D2B7}"/>
              </a:ext>
            </a:extLst>
          </p:cNvPr>
          <p:cNvSpPr>
            <a:spLocks xmlns:a="http://schemas.openxmlformats.org/drawingml/2006/main" noGrp="1"/>
          </p:cNvSpPr>
          <p:nvPr/>
        </p:nvSpPr>
        <p:spPr>
          <a:xfrm xmlns:a="http://schemas.openxmlformats.org/drawingml/2006/main">
            <a:off x="9191625" y="2266950"/>
            <a:ext cx="2019300" cy="342900"/>
          </a:xfrm>
          <a:prstGeom xmlns:a="http://schemas.openxmlformats.org/drawingml/2006/main" prst="rect">
            <a:avLst/>
          </a:prstGeom>
        </p:spPr>
        <p:txBody>
          <a:bodyPr xmlns:a="http://schemas.openxmlformats.org/drawingml/2006/main" lIns="0" tIns="0" rIns="0" bIns="0" anchor="ctr">
            <a:normAutofit fontScale="80080"/>
          </a:bodyPr>
          <a:lstStyle xmlns:a="http://schemas.openxmlformats.org/drawingml/2006/main"/>
          <a:p xmlns:a="http://schemas.openxmlformats.org/drawingml/2006/main">
            <a:pPr algn="l">
              <a:buNone/>
              <a:defRPr sz="2100" b="1">
                <a:solidFill>
                  <a:srgbClr val="FFFFFF"/>
                </a:solidFill>
                <a:latin typeface="PingFang SC"/>
                <a:ea typeface="PingFang SC"/>
                <a:cs typeface="PingFang SC"/>
              </a:defRPr>
            </a:pPr>
            <a:r>
              <a:t>Evidence &amp; Report</a:t>
            </a:r>
          </a:p>
        </p:txBody>
      </p:sp>
      <p:sp>
        <p:nvSpPr>
          <p:cNvPr id="17" name="矩形 16">
            <a:extLst xmlns:a="http://schemas.openxmlformats.org/drawingml/2006/main">
              <a:ext uri="{FF2B5EF4-FFF2-40B4-BE49-F238E27FC236}">
                <a16:creationId xmlns:a16="http://schemas.microsoft.com/office/drawing/2014/main" id="{B7B1E8B5-102B-4751-8CC6-5CB3145EC360}"/>
              </a:ext>
            </a:extLst>
          </p:cNvPr>
          <p:cNvSpPr>
            <a:spLocks xmlns:a="http://schemas.openxmlformats.org/drawingml/2006/main" noGrp="1"/>
          </p:cNvSpPr>
          <p:nvPr/>
        </p:nvSpPr>
        <p:spPr>
          <a:xfrm xmlns:a="http://schemas.openxmlformats.org/drawingml/2006/main">
            <a:off x="9191625" y="2724150"/>
            <a:ext cx="2019300" cy="2190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FFFFFF"/>
                </a:solidFill>
                <a:latin typeface="PingFang SC"/>
                <a:ea typeface="PingFang SC"/>
                <a:cs typeface="PingFang SC"/>
              </a:defRPr>
            </a:pPr>
            <a:r>
              <a:t>证明与报告</a:t>
            </a:r>
          </a:p>
          <a:p xmlns:a="http://schemas.openxmlformats.org/drawingml/2006/main">
            <a:pPr algn="l">
              <a:buNone/>
              <a:defRPr sz="1500" b="0">
                <a:solidFill>
                  <a:srgbClr val="FFFFFF"/>
                </a:solidFill>
                <a:latin typeface="PingFang SC"/>
                <a:ea typeface="PingFang SC"/>
                <a:cs typeface="PingFang SC"/>
              </a:defRPr>
            </a:pPr>
            <a:r>
              <a:t>按个人、活动、项目、来源组织生成证书/证明、效果报告和改进建议。</a:t>
            </a:r>
          </a:p>
        </p:txBody>
      </p:sp>
      <p:sp>
        <p:nvSpPr>
          <p:cNvPr id="18" name="矩形 17">
            <a:extLst xmlns:a="http://schemas.openxmlformats.org/drawingml/2006/main">
              <a:ext uri="{FF2B5EF4-FFF2-40B4-BE49-F238E27FC236}">
                <a16:creationId xmlns:a16="http://schemas.microsoft.com/office/drawing/2014/main" id="{A7445B7D-99C6-4470-B44E-8C0DBA85D757}"/>
              </a:ext>
            </a:extLst>
          </p:cNvPr>
          <p:cNvSpPr>
            <a:spLocks xmlns:a="http://schemas.openxmlformats.org/drawingml/2006/main" noGrp="1"/>
          </p:cNvSpPr>
          <p:nvPr/>
        </p:nvSpPr>
        <p:spPr>
          <a:xfrm xmlns:a="http://schemas.openxmlformats.org/drawingml/2006/main">
            <a:off x="390525" y="5524500"/>
            <a:ext cx="74295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000000"/>
                </a:solidFill>
                <a:latin typeface="PingFang SC"/>
                <a:ea typeface="PingFang SC"/>
                <a:cs typeface="PingFang SC"/>
              </a:defRPr>
            </a:pPr>
            <a:r>
              <a:t>对象统一，内外训管理才不割裂。</a:t>
            </a:r>
          </a:p>
        </p:txBody>
      </p:sp>
      <p:sp>
        <p:nvSpPr>
          <p:cNvPr id="19" name="矩形 18">
            <a:extLst xmlns:a="http://schemas.openxmlformats.org/drawingml/2006/main">
              <a:ext uri="{FF2B5EF4-FFF2-40B4-BE49-F238E27FC236}">
                <a16:creationId xmlns:a16="http://schemas.microsoft.com/office/drawing/2014/main" id="{78E28F72-85DA-4090-81DF-B36E28EF18C4}"/>
              </a:ext>
            </a:extLst>
          </p:cNvPr>
          <p:cNvSpPr>
            <a:spLocks xmlns:a="http://schemas.openxmlformats.org/drawingml/2006/main" noGrp="1"/>
          </p:cNvSpPr>
          <p:nvPr/>
        </p:nvSpPr>
        <p:spPr>
          <a:xfrm xmlns:a="http://schemas.openxmlformats.org/drawingml/2006/main">
            <a:off x="6257925" y="5562600"/>
            <a:ext cx="51435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500" b="0">
                <a:solidFill>
                  <a:srgbClr val="555555"/>
                </a:solidFill>
                <a:latin typeface="PingFang SC"/>
                <a:ea typeface="PingFang SC"/>
                <a:cs typeface="PingFang SC"/>
              </a:defRPr>
            </a:pPr>
            <a:r>
              <a:t>参与者类型和来源组织，是外训关键扩展。</a:t>
            </a:r>
          </a:p>
        </p:txBody>
      </p:sp>
    </p:spTree>
    <p:extLst>
      <p:ext uri="{BB962C8B-B14F-4D97-AF65-F5344CB8AC3E}">
        <p14:creationId xmlns:p14="http://schemas.microsoft.com/office/powerpoint/2010/main" val="133735773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8098CFD8-C6EA-470F-A7AD-FB7099EAED52}"/>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AI 原生能力</a:t>
            </a:r>
          </a:p>
        </p:txBody>
      </p:sp>
      <p:sp>
        <p:nvSpPr>
          <p:cNvPr id="3" name="矩形 2">
            <a:extLst xmlns:a="http://schemas.openxmlformats.org/drawingml/2006/main">
              <a:ext uri="{FF2B5EF4-FFF2-40B4-BE49-F238E27FC236}">
                <a16:creationId xmlns:a16="http://schemas.microsoft.com/office/drawing/2014/main" id="{B516BB9D-7ECA-4398-8617-91CF704708D8}"/>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25" b="1">
                <a:solidFill>
                  <a:srgbClr val="000000"/>
                </a:solidFill>
                <a:latin typeface="PingFang SC"/>
                <a:ea typeface="PingFang SC"/>
                <a:cs typeface="PingFang SC"/>
              </a:defRPr>
            </a:pPr>
            <a:r>
              <a:t>Lucky 智能体矩阵覆盖内外训活动前、中、后的关键工作</a:t>
            </a:r>
          </a:p>
        </p:txBody>
      </p:sp>
      <p:sp>
        <p:nvSpPr>
          <p:cNvPr id="4" name="矩形 3">
            <a:extLst xmlns:a="http://schemas.openxmlformats.org/drawingml/2006/main">
              <a:ext uri="{FF2B5EF4-FFF2-40B4-BE49-F238E27FC236}">
                <a16:creationId xmlns:a16="http://schemas.microsoft.com/office/drawing/2014/main" id="{0D45A5CE-A619-4B69-9E95-CA5CBB6A5860}"/>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A364EEB8-337F-4859-BA27-24761EC1FAF7}"/>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11</a:t>
            </a:r>
          </a:p>
        </p:txBody>
      </p:sp>
      <p:sp>
        <p:nvSpPr>
          <p:cNvPr id="6" name="矩形 5">
            <a:extLst xmlns:a="http://schemas.openxmlformats.org/drawingml/2006/main">
              <a:ext uri="{FF2B5EF4-FFF2-40B4-BE49-F238E27FC236}">
                <a16:creationId xmlns:a16="http://schemas.microsoft.com/office/drawing/2014/main" id="{5875843E-1B21-4D5D-9E81-A4B4884E2D39}"/>
              </a:ext>
            </a:extLst>
          </p:cNvPr>
          <p:cNvSpPr>
            <a:spLocks xmlns:a="http://schemas.openxmlformats.org/drawingml/2006/main" noGrp="1"/>
          </p:cNvSpPr>
          <p:nvPr/>
        </p:nvSpPr>
        <p:spPr>
          <a:xfrm xmlns:a="http://schemas.openxmlformats.org/drawingml/2006/main">
            <a:off x="390525" y="2057400"/>
            <a:ext cx="2476500" cy="19621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矩形 6">
            <a:extLst xmlns:a="http://schemas.openxmlformats.org/drawingml/2006/main">
              <a:ext uri="{FF2B5EF4-FFF2-40B4-BE49-F238E27FC236}">
                <a16:creationId xmlns:a16="http://schemas.microsoft.com/office/drawing/2014/main" id="{83437AA3-FBEE-48C9-8177-BC5AB341F97D}"/>
              </a:ext>
            </a:extLst>
          </p:cNvPr>
          <p:cNvSpPr>
            <a:spLocks xmlns:a="http://schemas.openxmlformats.org/drawingml/2006/main" noGrp="1"/>
          </p:cNvSpPr>
          <p:nvPr/>
        </p:nvSpPr>
        <p:spPr>
          <a:xfrm xmlns:a="http://schemas.openxmlformats.org/drawingml/2006/main">
            <a:off x="619125" y="2286000"/>
            <a:ext cx="2019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250" b="1">
                <a:solidFill>
                  <a:srgbClr val="000000"/>
                </a:solidFill>
                <a:latin typeface="PingFang SC"/>
                <a:ea typeface="PingFang SC"/>
                <a:cs typeface="PingFang SC"/>
              </a:defRPr>
            </a:pPr>
            <a:r>
              <a:t>外训策划助手</a:t>
            </a:r>
          </a:p>
        </p:txBody>
      </p:sp>
      <p:sp>
        <p:nvSpPr>
          <p:cNvPr id="8" name="矩形 7">
            <a:extLst xmlns:a="http://schemas.openxmlformats.org/drawingml/2006/main">
              <a:ext uri="{FF2B5EF4-FFF2-40B4-BE49-F238E27FC236}">
                <a16:creationId xmlns:a16="http://schemas.microsoft.com/office/drawing/2014/main" id="{7237357F-0B13-4D9B-8083-21A1EF03D77C}"/>
              </a:ext>
            </a:extLst>
          </p:cNvPr>
          <p:cNvSpPr>
            <a:spLocks xmlns:a="http://schemas.openxmlformats.org/drawingml/2006/main" noGrp="1"/>
          </p:cNvSpPr>
          <p:nvPr/>
        </p:nvSpPr>
        <p:spPr>
          <a:xfrm xmlns:a="http://schemas.openxmlformats.org/drawingml/2006/main">
            <a:off x="619125" y="2743200"/>
            <a:ext cx="201930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000000"/>
                </a:solidFill>
                <a:latin typeface="PingFang SC"/>
                <a:ea typeface="PingFang SC"/>
                <a:cs typeface="PingFang SC"/>
              </a:defRPr>
            </a:pPr>
            <a:r>
              <a:t>生成客户培训、伙伴培训、认证培训、公开工作坊方案和报名规则建议。</a:t>
            </a:r>
          </a:p>
        </p:txBody>
      </p:sp>
      <p:sp>
        <p:nvSpPr>
          <p:cNvPr id="9" name="矩形 8">
            <a:extLst xmlns:a="http://schemas.openxmlformats.org/drawingml/2006/main">
              <a:ext uri="{FF2B5EF4-FFF2-40B4-BE49-F238E27FC236}">
                <a16:creationId xmlns:a16="http://schemas.microsoft.com/office/drawing/2014/main" id="{824A6943-9334-4EEB-B9CB-D689A271E077}"/>
              </a:ext>
            </a:extLst>
          </p:cNvPr>
          <p:cNvSpPr>
            <a:spLocks xmlns:a="http://schemas.openxmlformats.org/drawingml/2006/main" noGrp="1"/>
          </p:cNvSpPr>
          <p:nvPr/>
        </p:nvSpPr>
        <p:spPr>
          <a:xfrm xmlns:a="http://schemas.openxmlformats.org/drawingml/2006/main">
            <a:off x="3248025" y="2057400"/>
            <a:ext cx="2476500" cy="19621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矩形 9">
            <a:extLst xmlns:a="http://schemas.openxmlformats.org/drawingml/2006/main">
              <a:ext uri="{FF2B5EF4-FFF2-40B4-BE49-F238E27FC236}">
                <a16:creationId xmlns:a16="http://schemas.microsoft.com/office/drawing/2014/main" id="{F137416D-31F4-4F61-B7C4-20A57BB00F87}"/>
              </a:ext>
            </a:extLst>
          </p:cNvPr>
          <p:cNvSpPr>
            <a:spLocks xmlns:a="http://schemas.openxmlformats.org/drawingml/2006/main" noGrp="1"/>
          </p:cNvSpPr>
          <p:nvPr/>
        </p:nvSpPr>
        <p:spPr>
          <a:xfrm xmlns:a="http://schemas.openxmlformats.org/drawingml/2006/main">
            <a:off x="3476625" y="2286000"/>
            <a:ext cx="2019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250" b="1">
                <a:solidFill>
                  <a:srgbClr val="000000"/>
                </a:solidFill>
                <a:latin typeface="PingFang SC"/>
                <a:ea typeface="PingFang SC"/>
                <a:cs typeface="PingFang SC"/>
              </a:defRPr>
            </a:pPr>
            <a:r>
              <a:t>报名问答助手</a:t>
            </a:r>
          </a:p>
        </p:txBody>
      </p:sp>
      <p:sp>
        <p:nvSpPr>
          <p:cNvPr id="11" name="矩形 10">
            <a:extLst xmlns:a="http://schemas.openxmlformats.org/drawingml/2006/main">
              <a:ext uri="{FF2B5EF4-FFF2-40B4-BE49-F238E27FC236}">
                <a16:creationId xmlns:a16="http://schemas.microsoft.com/office/drawing/2014/main" id="{5DA2906F-AEA7-4557-BA78-9B46D91894AE}"/>
              </a:ext>
            </a:extLst>
          </p:cNvPr>
          <p:cNvSpPr>
            <a:spLocks xmlns:a="http://schemas.openxmlformats.org/drawingml/2006/main" noGrp="1"/>
          </p:cNvSpPr>
          <p:nvPr/>
        </p:nvSpPr>
        <p:spPr>
          <a:xfrm xmlns:a="http://schemas.openxmlformats.org/drawingml/2006/main">
            <a:off x="3476625" y="2743200"/>
            <a:ext cx="201930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000000"/>
                </a:solidFill>
                <a:latin typeface="PingFang SC"/>
                <a:ea typeface="PingFang SC"/>
                <a:cs typeface="PingFang SC"/>
              </a:defRPr>
            </a:pPr>
            <a:r>
              <a:t>回答活动介绍、报名条件、日程安排、资料权限和证书获取问题。</a:t>
            </a:r>
          </a:p>
        </p:txBody>
      </p:sp>
      <p:sp>
        <p:nvSpPr>
          <p:cNvPr id="12" name="矩形 11">
            <a:extLst xmlns:a="http://schemas.openxmlformats.org/drawingml/2006/main">
              <a:ext uri="{FF2B5EF4-FFF2-40B4-BE49-F238E27FC236}">
                <a16:creationId xmlns:a16="http://schemas.microsoft.com/office/drawing/2014/main" id="{5FCDB309-7B8D-47CA-9C03-B767F4A38694}"/>
              </a:ext>
            </a:extLst>
          </p:cNvPr>
          <p:cNvSpPr>
            <a:spLocks xmlns:a="http://schemas.openxmlformats.org/drawingml/2006/main" noGrp="1"/>
          </p:cNvSpPr>
          <p:nvPr/>
        </p:nvSpPr>
        <p:spPr>
          <a:xfrm xmlns:a="http://schemas.openxmlformats.org/drawingml/2006/main">
            <a:off x="6105525" y="2057400"/>
            <a:ext cx="2476500" cy="19621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矩形 12">
            <a:extLst xmlns:a="http://schemas.openxmlformats.org/drawingml/2006/main">
              <a:ext uri="{FF2B5EF4-FFF2-40B4-BE49-F238E27FC236}">
                <a16:creationId xmlns:a16="http://schemas.microsoft.com/office/drawing/2014/main" id="{2E6F5FA2-6E78-4865-99AD-BF820375CA9F}"/>
              </a:ext>
            </a:extLst>
          </p:cNvPr>
          <p:cNvSpPr>
            <a:spLocks xmlns:a="http://schemas.openxmlformats.org/drawingml/2006/main" noGrp="1"/>
          </p:cNvSpPr>
          <p:nvPr/>
        </p:nvSpPr>
        <p:spPr>
          <a:xfrm xmlns:a="http://schemas.openxmlformats.org/drawingml/2006/main">
            <a:off x="6334125" y="2286000"/>
            <a:ext cx="2019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250" b="1">
                <a:solidFill>
                  <a:srgbClr val="000000"/>
                </a:solidFill>
                <a:latin typeface="PingFang SC"/>
                <a:ea typeface="PingFang SC"/>
                <a:cs typeface="PingFang SC"/>
              </a:defRPr>
            </a:pPr>
            <a:r>
              <a:t>过程分析助手</a:t>
            </a:r>
          </a:p>
        </p:txBody>
      </p:sp>
      <p:sp>
        <p:nvSpPr>
          <p:cNvPr id="14" name="矩形 13">
            <a:extLst xmlns:a="http://schemas.openxmlformats.org/drawingml/2006/main">
              <a:ext uri="{FF2B5EF4-FFF2-40B4-BE49-F238E27FC236}">
                <a16:creationId xmlns:a16="http://schemas.microsoft.com/office/drawing/2014/main" id="{2DB43F07-F192-4634-BDE0-180C3B2CD0DA}"/>
              </a:ext>
            </a:extLst>
          </p:cNvPr>
          <p:cNvSpPr>
            <a:spLocks xmlns:a="http://schemas.openxmlformats.org/drawingml/2006/main" noGrp="1"/>
          </p:cNvSpPr>
          <p:nvPr/>
        </p:nvSpPr>
        <p:spPr>
          <a:xfrm xmlns:a="http://schemas.openxmlformats.org/drawingml/2006/main">
            <a:off x="6334125" y="2743200"/>
            <a:ext cx="201930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000000"/>
                </a:solidFill>
                <a:latin typeface="PingFang SC"/>
                <a:ea typeface="PingFang SC"/>
                <a:cs typeface="PingFang SC"/>
              </a:defRPr>
            </a:pPr>
            <a:r>
              <a:t>整理研讨观点、评课意见、外部人员互动和问卷反馈，识别低活跃风险。</a:t>
            </a:r>
          </a:p>
        </p:txBody>
      </p:sp>
      <p:sp>
        <p:nvSpPr>
          <p:cNvPr id="15" name="矩形 14">
            <a:extLst xmlns:a="http://schemas.openxmlformats.org/drawingml/2006/main">
              <a:ext uri="{FF2B5EF4-FFF2-40B4-BE49-F238E27FC236}">
                <a16:creationId xmlns:a16="http://schemas.microsoft.com/office/drawing/2014/main" id="{36A596EE-3583-41B3-997D-EDE1C8B0F9F8}"/>
              </a:ext>
            </a:extLst>
          </p:cNvPr>
          <p:cNvSpPr>
            <a:spLocks xmlns:a="http://schemas.openxmlformats.org/drawingml/2006/main" noGrp="1"/>
          </p:cNvSpPr>
          <p:nvPr/>
        </p:nvSpPr>
        <p:spPr>
          <a:xfrm xmlns:a="http://schemas.openxmlformats.org/drawingml/2006/main">
            <a:off x="8963025" y="2057400"/>
            <a:ext cx="2476500" cy="19621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6" name="矩形 15">
            <a:extLst xmlns:a="http://schemas.openxmlformats.org/drawingml/2006/main">
              <a:ext uri="{FF2B5EF4-FFF2-40B4-BE49-F238E27FC236}">
                <a16:creationId xmlns:a16="http://schemas.microsoft.com/office/drawing/2014/main" id="{B7FB4F22-6728-4522-9CE8-905004ADE356}"/>
              </a:ext>
            </a:extLst>
          </p:cNvPr>
          <p:cNvSpPr>
            <a:spLocks xmlns:a="http://schemas.openxmlformats.org/drawingml/2006/main" noGrp="1"/>
          </p:cNvSpPr>
          <p:nvPr/>
        </p:nvSpPr>
        <p:spPr>
          <a:xfrm xmlns:a="http://schemas.openxmlformats.org/drawingml/2006/main">
            <a:off x="9191625" y="2286000"/>
            <a:ext cx="2019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250" b="1">
                <a:solidFill>
                  <a:srgbClr val="FFFFFF"/>
                </a:solidFill>
                <a:latin typeface="PingFang SC"/>
                <a:ea typeface="PingFang SC"/>
                <a:cs typeface="PingFang SC"/>
              </a:defRPr>
            </a:pPr>
            <a:r>
              <a:t>客户报告助手</a:t>
            </a:r>
          </a:p>
        </p:txBody>
      </p:sp>
      <p:sp>
        <p:nvSpPr>
          <p:cNvPr id="17" name="矩形 16">
            <a:extLst xmlns:a="http://schemas.openxmlformats.org/drawingml/2006/main">
              <a:ext uri="{FF2B5EF4-FFF2-40B4-BE49-F238E27FC236}">
                <a16:creationId xmlns:a16="http://schemas.microsoft.com/office/drawing/2014/main" id="{070EDC53-F17B-4C23-AF33-7D808BA38ABD}"/>
              </a:ext>
            </a:extLst>
          </p:cNvPr>
          <p:cNvSpPr>
            <a:spLocks xmlns:a="http://schemas.openxmlformats.org/drawingml/2006/main" noGrp="1"/>
          </p:cNvSpPr>
          <p:nvPr/>
        </p:nvSpPr>
        <p:spPr>
          <a:xfrm xmlns:a="http://schemas.openxmlformats.org/drawingml/2006/main">
            <a:off x="9191625" y="2743200"/>
            <a:ext cx="201930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FFFFFF"/>
                </a:solidFill>
                <a:latin typeface="PingFang SC"/>
                <a:ea typeface="PingFang SC"/>
                <a:cs typeface="PingFang SC"/>
              </a:defRPr>
            </a:pPr>
            <a:r>
              <a:t>汇总参与记录、成果材料、满意度和完成率，生成个人证明与组织报告。</a:t>
            </a:r>
          </a:p>
        </p:txBody>
      </p:sp>
      <p:sp>
        <p:nvSpPr>
          <p:cNvPr id="18" name="矩形 17">
            <a:extLst xmlns:a="http://schemas.openxmlformats.org/drawingml/2006/main">
              <a:ext uri="{FF2B5EF4-FFF2-40B4-BE49-F238E27FC236}">
                <a16:creationId xmlns:a16="http://schemas.microsoft.com/office/drawing/2014/main" id="{046AD55A-B384-48F4-A8F7-2DF614A0CA30}"/>
              </a:ext>
            </a:extLst>
          </p:cNvPr>
          <p:cNvSpPr>
            <a:spLocks xmlns:a="http://schemas.openxmlformats.org/drawingml/2006/main" noGrp="1"/>
          </p:cNvSpPr>
          <p:nvPr/>
        </p:nvSpPr>
        <p:spPr>
          <a:xfrm xmlns:a="http://schemas.openxmlformats.org/drawingml/2006/main">
            <a:off x="390525" y="4762500"/>
            <a:ext cx="11401425" cy="76200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9" name="矩形 18">
            <a:extLst xmlns:a="http://schemas.openxmlformats.org/drawingml/2006/main">
              <a:ext uri="{FF2B5EF4-FFF2-40B4-BE49-F238E27FC236}">
                <a16:creationId xmlns:a16="http://schemas.microsoft.com/office/drawing/2014/main" id="{D5EF3D0E-239D-4987-9A29-F9BA8C8EEA63}"/>
              </a:ext>
            </a:extLst>
          </p:cNvPr>
          <p:cNvSpPr>
            <a:spLocks xmlns:a="http://schemas.openxmlformats.org/drawingml/2006/main" noGrp="1"/>
          </p:cNvSpPr>
          <p:nvPr/>
        </p:nvSpPr>
        <p:spPr>
          <a:xfrm xmlns:a="http://schemas.openxmlformats.org/drawingml/2006/main">
            <a:off x="685800" y="4895850"/>
            <a:ext cx="10810875" cy="5143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725" b="1">
                <a:solidFill>
                  <a:srgbClr val="000000"/>
                </a:solidFill>
                <a:latin typeface="PingFang SC"/>
                <a:ea typeface="PingFang SC"/>
                <a:cs typeface="PingFang SC"/>
              </a:defRPr>
            </a:pPr>
            <a:r>
              <a:t>AI 输出作为建议稿进入人工确认；外部人员评价、证书/证明、客户报告和数据结论保留人工审核。</a:t>
            </a:r>
          </a:p>
        </p:txBody>
      </p:sp>
    </p:spTree>
    <p:extLst>
      <p:ext uri="{BB962C8B-B14F-4D97-AF65-F5344CB8AC3E}">
        <p14:creationId xmlns:p14="http://schemas.microsoft.com/office/powerpoint/2010/main" val="111654296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12899CDD-80BF-4332-9E1B-80F55CE9FF0A}"/>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数据与分析</a:t>
            </a:r>
          </a:p>
        </p:txBody>
      </p:sp>
      <p:sp>
        <p:nvSpPr>
          <p:cNvPr id="3" name="矩形 2">
            <a:extLst xmlns:a="http://schemas.openxmlformats.org/drawingml/2006/main">
              <a:ext uri="{FF2B5EF4-FFF2-40B4-BE49-F238E27FC236}">
                <a16:creationId xmlns:a16="http://schemas.microsoft.com/office/drawing/2014/main" id="{445584CE-043C-484A-9CD1-997437DAB8B7}"/>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25" b="1">
                <a:solidFill>
                  <a:srgbClr val="000000"/>
                </a:solidFill>
                <a:latin typeface="PingFang SC"/>
                <a:ea typeface="PingFang SC"/>
                <a:cs typeface="PingFang SC"/>
              </a:defRPr>
            </a:pPr>
            <a:r>
              <a:t>内外训数据进入分析模型，输出可交付的发展效果</a:t>
            </a:r>
          </a:p>
        </p:txBody>
      </p:sp>
      <p:sp>
        <p:nvSpPr>
          <p:cNvPr id="4" name="矩形 3">
            <a:extLst xmlns:a="http://schemas.openxmlformats.org/drawingml/2006/main">
              <a:ext uri="{FF2B5EF4-FFF2-40B4-BE49-F238E27FC236}">
                <a16:creationId xmlns:a16="http://schemas.microsoft.com/office/drawing/2014/main" id="{BB0763D6-4FA9-4D42-A46E-BB6464AB7F8A}"/>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4C6043DA-375F-4BD8-B477-0854E9C0A9E2}"/>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12</a:t>
            </a:r>
          </a:p>
        </p:txBody>
      </p:sp>
      <p:sp>
        <p:nvSpPr>
          <p:cNvPr id="6" name="矩形 5">
            <a:extLst xmlns:a="http://schemas.openxmlformats.org/drawingml/2006/main">
              <a:ext uri="{FF2B5EF4-FFF2-40B4-BE49-F238E27FC236}">
                <a16:creationId xmlns:a16="http://schemas.microsoft.com/office/drawing/2014/main" id="{E70403E6-143C-4CDD-B8EC-2803EB54E26B}"/>
              </a:ext>
            </a:extLst>
          </p:cNvPr>
          <p:cNvSpPr>
            <a:spLocks xmlns:a="http://schemas.openxmlformats.org/drawingml/2006/main" noGrp="1"/>
          </p:cNvSpPr>
          <p:nvPr/>
        </p:nvSpPr>
        <p:spPr>
          <a:xfrm xmlns:a="http://schemas.openxmlformats.org/drawingml/2006/main">
            <a:off x="581025" y="2343150"/>
            <a:ext cx="1619250" cy="6096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7" name="矩形 6">
            <a:extLst xmlns:a="http://schemas.openxmlformats.org/drawingml/2006/main">
              <a:ext uri="{FF2B5EF4-FFF2-40B4-BE49-F238E27FC236}">
                <a16:creationId xmlns:a16="http://schemas.microsoft.com/office/drawing/2014/main" id="{A2B6893E-69D5-4FDF-8B2E-638581CE312E}"/>
              </a:ext>
            </a:extLst>
          </p:cNvPr>
          <p:cNvSpPr>
            <a:spLocks xmlns:a="http://schemas.openxmlformats.org/drawingml/2006/main" noGrp="1"/>
          </p:cNvSpPr>
          <p:nvPr/>
        </p:nvSpPr>
        <p:spPr>
          <a:xfrm xmlns:a="http://schemas.openxmlformats.org/drawingml/2006/main">
            <a:off x="676275" y="2400300"/>
            <a:ext cx="1428750" cy="4953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800" b="1">
                <a:solidFill>
                  <a:srgbClr val="000000"/>
                </a:solidFill>
                <a:latin typeface="PingFang SC"/>
                <a:ea typeface="PingFang SC"/>
                <a:cs typeface="PingFang SC"/>
              </a:defRPr>
            </a:pPr>
            <a:r>
              <a:t>活动记录</a:t>
            </a:r>
          </a:p>
        </p:txBody>
      </p:sp>
      <p:sp>
        <p:nvSpPr>
          <p:cNvPr id="8" name="右箭头 7">
            <a:extLst xmlns:a="http://schemas.openxmlformats.org/drawingml/2006/main">
              <a:ext uri="{FF2B5EF4-FFF2-40B4-BE49-F238E27FC236}">
                <a16:creationId xmlns:a16="http://schemas.microsoft.com/office/drawing/2014/main" id="{6BD117B6-183C-458E-B722-EFBA604F7F31}"/>
              </a:ext>
            </a:extLst>
          </p:cNvPr>
          <p:cNvSpPr>
            <a:spLocks xmlns:a="http://schemas.openxmlformats.org/drawingml/2006/main" noGrp="1"/>
          </p:cNvSpPr>
          <p:nvPr/>
        </p:nvSpPr>
        <p:spPr>
          <a:xfrm xmlns:a="http://schemas.openxmlformats.org/drawingml/2006/main">
            <a:off x="2457450" y="2476500"/>
            <a:ext cx="704850" cy="342900"/>
          </a:xfrm>
          <a:prstGeom xmlns:a="http://schemas.openxmlformats.org/drawingml/2006/main" prst="rightArrow">
            <a:avLst/>
          </a:prstGeom>
          <a:solidFill xmlns:a="http://schemas.openxmlformats.org/drawingml/2006/main">
            <a:srgbClr val="B8BCC4"/>
          </a:solidFill>
          <a:ln xmlns:a="http://schemas.openxmlformats.org/drawingml/2006/main" w="0">
            <a:noFill/>
            <a:prstDash val="solid"/>
          </a:ln>
        </p:spPr>
      </p:sp>
      <p:sp>
        <p:nvSpPr>
          <p:cNvPr id="9" name="矩形 8">
            <a:extLst xmlns:a="http://schemas.openxmlformats.org/drawingml/2006/main">
              <a:ext uri="{FF2B5EF4-FFF2-40B4-BE49-F238E27FC236}">
                <a16:creationId xmlns:a16="http://schemas.microsoft.com/office/drawing/2014/main" id="{E6265274-BBBA-43AC-B535-D3BD40BC9AF5}"/>
              </a:ext>
            </a:extLst>
          </p:cNvPr>
          <p:cNvSpPr>
            <a:spLocks xmlns:a="http://schemas.openxmlformats.org/drawingml/2006/main" noGrp="1"/>
          </p:cNvSpPr>
          <p:nvPr/>
        </p:nvSpPr>
        <p:spPr>
          <a:xfrm xmlns:a="http://schemas.openxmlformats.org/drawingml/2006/main">
            <a:off x="3429000" y="2343150"/>
            <a:ext cx="1809750" cy="6096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0" name="矩形 9">
            <a:extLst xmlns:a="http://schemas.openxmlformats.org/drawingml/2006/main">
              <a:ext uri="{FF2B5EF4-FFF2-40B4-BE49-F238E27FC236}">
                <a16:creationId xmlns:a16="http://schemas.microsoft.com/office/drawing/2014/main" id="{8CA0E22C-7383-4FC0-8049-4A999169364D}"/>
              </a:ext>
            </a:extLst>
          </p:cNvPr>
          <p:cNvSpPr>
            <a:spLocks xmlns:a="http://schemas.openxmlformats.org/drawingml/2006/main" noGrp="1"/>
          </p:cNvSpPr>
          <p:nvPr/>
        </p:nvSpPr>
        <p:spPr>
          <a:xfrm xmlns:a="http://schemas.openxmlformats.org/drawingml/2006/main">
            <a:off x="3524250" y="2400300"/>
            <a:ext cx="1619250" cy="4953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800" b="1">
                <a:solidFill>
                  <a:srgbClr val="000000"/>
                </a:solidFill>
                <a:latin typeface="PingFang SC"/>
                <a:ea typeface="PingFang SC"/>
                <a:cs typeface="PingFang SC"/>
              </a:defRPr>
            </a:pPr>
            <a:r>
              <a:t>指标计算</a:t>
            </a:r>
          </a:p>
        </p:txBody>
      </p:sp>
      <p:sp>
        <p:nvSpPr>
          <p:cNvPr id="11" name="右箭头 10">
            <a:extLst xmlns:a="http://schemas.openxmlformats.org/drawingml/2006/main">
              <a:ext uri="{FF2B5EF4-FFF2-40B4-BE49-F238E27FC236}">
                <a16:creationId xmlns:a16="http://schemas.microsoft.com/office/drawing/2014/main" id="{48013BA5-DF49-443C-9C99-5E307D72E09A}"/>
              </a:ext>
            </a:extLst>
          </p:cNvPr>
          <p:cNvSpPr>
            <a:spLocks xmlns:a="http://schemas.openxmlformats.org/drawingml/2006/main" noGrp="1"/>
          </p:cNvSpPr>
          <p:nvPr/>
        </p:nvSpPr>
        <p:spPr>
          <a:xfrm xmlns:a="http://schemas.openxmlformats.org/drawingml/2006/main">
            <a:off x="5505450" y="2476500"/>
            <a:ext cx="704850" cy="342900"/>
          </a:xfrm>
          <a:prstGeom xmlns:a="http://schemas.openxmlformats.org/drawingml/2006/main" prst="rightArrow">
            <a:avLst/>
          </a:prstGeom>
          <a:solidFill xmlns:a="http://schemas.openxmlformats.org/drawingml/2006/main">
            <a:srgbClr val="B8BCC4"/>
          </a:solidFill>
          <a:ln xmlns:a="http://schemas.openxmlformats.org/drawingml/2006/main" w="0">
            <a:noFill/>
            <a:prstDash val="solid"/>
          </a:ln>
        </p:spPr>
      </p:sp>
      <p:sp>
        <p:nvSpPr>
          <p:cNvPr id="12" name="矩形 11">
            <a:extLst xmlns:a="http://schemas.openxmlformats.org/drawingml/2006/main">
              <a:ext uri="{FF2B5EF4-FFF2-40B4-BE49-F238E27FC236}">
                <a16:creationId xmlns:a16="http://schemas.microsoft.com/office/drawing/2014/main" id="{6369E8C3-A531-4D33-8502-9B77B2153391}"/>
              </a:ext>
            </a:extLst>
          </p:cNvPr>
          <p:cNvSpPr>
            <a:spLocks xmlns:a="http://schemas.openxmlformats.org/drawingml/2006/main" noGrp="1"/>
          </p:cNvSpPr>
          <p:nvPr/>
        </p:nvSpPr>
        <p:spPr>
          <a:xfrm xmlns:a="http://schemas.openxmlformats.org/drawingml/2006/main">
            <a:off x="6477000" y="2343150"/>
            <a:ext cx="1809750" cy="609600"/>
          </a:xfrm>
          <a:prstGeom xmlns:a="http://schemas.openxmlformats.org/drawingml/2006/main" prst="rect">
            <a:avLst/>
          </a:prstGeom>
          <a:solidFill xmlns:a="http://schemas.openxmlformats.org/drawingml/2006/main">
            <a:srgbClr val="000000"/>
          </a:solidFill>
          <a:ln xmlns:a="http://schemas.openxmlformats.org/drawingml/2006/main" w="9525">
            <a:solidFill>
              <a:srgbClr val="B8BCC4"/>
            </a:solidFill>
            <a:prstDash val="solid"/>
          </a:ln>
        </p:spPr>
      </p:sp>
      <p:sp>
        <p:nvSpPr>
          <p:cNvPr id="13" name="矩形 12">
            <a:extLst xmlns:a="http://schemas.openxmlformats.org/drawingml/2006/main">
              <a:ext uri="{FF2B5EF4-FFF2-40B4-BE49-F238E27FC236}">
                <a16:creationId xmlns:a16="http://schemas.microsoft.com/office/drawing/2014/main" id="{9FAA1ADD-83C9-440F-ABB6-3F966874B71A}"/>
              </a:ext>
            </a:extLst>
          </p:cNvPr>
          <p:cNvSpPr>
            <a:spLocks xmlns:a="http://schemas.openxmlformats.org/drawingml/2006/main" noGrp="1"/>
          </p:cNvSpPr>
          <p:nvPr/>
        </p:nvSpPr>
        <p:spPr>
          <a:xfrm xmlns:a="http://schemas.openxmlformats.org/drawingml/2006/main">
            <a:off x="6572250" y="2400300"/>
            <a:ext cx="1619250" cy="4953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800" b="1">
                <a:solidFill>
                  <a:srgbClr val="FFFFFF"/>
                </a:solidFill>
                <a:latin typeface="PingFang SC"/>
                <a:ea typeface="PingFang SC"/>
                <a:cs typeface="PingFang SC"/>
              </a:defRPr>
            </a:pPr>
            <a:r>
              <a:t>客户报告</a:t>
            </a:r>
          </a:p>
        </p:txBody>
      </p:sp>
      <p:sp>
        <p:nvSpPr>
          <p:cNvPr id="14" name="右箭头 13">
            <a:extLst xmlns:a="http://schemas.openxmlformats.org/drawingml/2006/main">
              <a:ext uri="{FF2B5EF4-FFF2-40B4-BE49-F238E27FC236}">
                <a16:creationId xmlns:a16="http://schemas.microsoft.com/office/drawing/2014/main" id="{FBE25CBB-C835-42A3-BF54-B18FE85A55A6}"/>
              </a:ext>
            </a:extLst>
          </p:cNvPr>
          <p:cNvSpPr>
            <a:spLocks xmlns:a="http://schemas.openxmlformats.org/drawingml/2006/main" noGrp="1"/>
          </p:cNvSpPr>
          <p:nvPr/>
        </p:nvSpPr>
        <p:spPr>
          <a:xfrm xmlns:a="http://schemas.openxmlformats.org/drawingml/2006/main">
            <a:off x="8553450" y="2476500"/>
            <a:ext cx="704850" cy="342900"/>
          </a:xfrm>
          <a:prstGeom xmlns:a="http://schemas.openxmlformats.org/drawingml/2006/main" prst="rightArrow">
            <a:avLst/>
          </a:prstGeom>
          <a:solidFill xmlns:a="http://schemas.openxmlformats.org/drawingml/2006/main">
            <a:srgbClr val="B8BCC4"/>
          </a:solidFill>
          <a:ln xmlns:a="http://schemas.openxmlformats.org/drawingml/2006/main" w="0">
            <a:noFill/>
            <a:prstDash val="solid"/>
          </a:ln>
        </p:spPr>
      </p:sp>
      <p:sp>
        <p:nvSpPr>
          <p:cNvPr id="15" name="矩形 14">
            <a:extLst xmlns:a="http://schemas.openxmlformats.org/drawingml/2006/main">
              <a:ext uri="{FF2B5EF4-FFF2-40B4-BE49-F238E27FC236}">
                <a16:creationId xmlns:a16="http://schemas.microsoft.com/office/drawing/2014/main" id="{ED6C392F-88ED-4785-8B68-5D51E33472E6}"/>
              </a:ext>
            </a:extLst>
          </p:cNvPr>
          <p:cNvSpPr>
            <a:spLocks xmlns:a="http://schemas.openxmlformats.org/drawingml/2006/main" noGrp="1"/>
          </p:cNvSpPr>
          <p:nvPr/>
        </p:nvSpPr>
        <p:spPr>
          <a:xfrm xmlns:a="http://schemas.openxmlformats.org/drawingml/2006/main">
            <a:off x="9525000" y="2343150"/>
            <a:ext cx="1809750" cy="609600"/>
          </a:xfrm>
          <a:prstGeom xmlns:a="http://schemas.openxmlformats.org/drawingml/2006/main" prst="rect">
            <a:avLst/>
          </a:prstGeom>
          <a:solidFill xmlns:a="http://schemas.openxmlformats.org/drawingml/2006/main">
            <a:srgbClr val="FF6B35"/>
          </a:solidFill>
          <a:ln xmlns:a="http://schemas.openxmlformats.org/drawingml/2006/main" w="9525">
            <a:noFill/>
            <a:prstDash val="solid"/>
          </a:ln>
        </p:spPr>
      </p:sp>
      <p:sp>
        <p:nvSpPr>
          <p:cNvPr id="16" name="矩形 15">
            <a:extLst xmlns:a="http://schemas.openxmlformats.org/drawingml/2006/main">
              <a:ext uri="{FF2B5EF4-FFF2-40B4-BE49-F238E27FC236}">
                <a16:creationId xmlns:a16="http://schemas.microsoft.com/office/drawing/2014/main" id="{1FDDF41F-18DA-4AAE-98CB-70AB149C78A9}"/>
              </a:ext>
            </a:extLst>
          </p:cNvPr>
          <p:cNvSpPr>
            <a:spLocks xmlns:a="http://schemas.openxmlformats.org/drawingml/2006/main" noGrp="1"/>
          </p:cNvSpPr>
          <p:nvPr/>
        </p:nvSpPr>
        <p:spPr>
          <a:xfrm xmlns:a="http://schemas.openxmlformats.org/drawingml/2006/main">
            <a:off x="9620250" y="2400300"/>
            <a:ext cx="1619250" cy="4953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800" b="1">
                <a:solidFill>
                  <a:srgbClr val="FFFFFF"/>
                </a:solidFill>
                <a:latin typeface="PingFang SC"/>
                <a:ea typeface="PingFang SC"/>
                <a:cs typeface="PingFang SC"/>
              </a:defRPr>
            </a:pPr>
            <a:r>
              <a:t>改进行动</a:t>
            </a:r>
          </a:p>
        </p:txBody>
      </p:sp>
      <p:sp>
        <p:nvSpPr>
          <p:cNvPr id="17" name="矩形 16">
            <a:extLst xmlns:a="http://schemas.openxmlformats.org/drawingml/2006/main">
              <a:ext uri="{FF2B5EF4-FFF2-40B4-BE49-F238E27FC236}">
                <a16:creationId xmlns:a16="http://schemas.microsoft.com/office/drawing/2014/main" id="{D4755076-5BAE-4FF7-8D99-80F40F324B83}"/>
              </a:ext>
            </a:extLst>
          </p:cNvPr>
          <p:cNvSpPr>
            <a:spLocks xmlns:a="http://schemas.openxmlformats.org/drawingml/2006/main" noGrp="1"/>
          </p:cNvSpPr>
          <p:nvPr/>
        </p:nvSpPr>
        <p:spPr>
          <a:xfrm xmlns:a="http://schemas.openxmlformats.org/drawingml/2006/main">
            <a:off x="1047750" y="3543300"/>
            <a:ext cx="10096500" cy="8763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950" b="1">
                <a:solidFill>
                  <a:srgbClr val="000000"/>
                </a:solidFill>
                <a:latin typeface="PingFang SC"/>
                <a:ea typeface="PingFang SC"/>
                <a:cs typeface="PingFang SC"/>
              </a:defRPr>
            </a:pPr>
            <a:r>
              <a:t>内部成员、外部参与者、来源组织、报名、签到、互动、任务、成果、问卷、证书和 AI 使用记录统一归集，形成发展数据资产。</a:t>
            </a:r>
          </a:p>
        </p:txBody>
      </p:sp>
      <p:sp>
        <p:nvSpPr>
          <p:cNvPr id="18" name="矩形 17">
            <a:extLst xmlns:a="http://schemas.openxmlformats.org/drawingml/2006/main">
              <a:ext uri="{FF2B5EF4-FFF2-40B4-BE49-F238E27FC236}">
                <a16:creationId xmlns:a16="http://schemas.microsoft.com/office/drawing/2014/main" id="{9BAAEE99-F6D6-4AB5-92CC-805884F84ED9}"/>
              </a:ext>
            </a:extLst>
          </p:cNvPr>
          <p:cNvSpPr>
            <a:spLocks xmlns:a="http://schemas.openxmlformats.org/drawingml/2006/main" noGrp="1"/>
          </p:cNvSpPr>
          <p:nvPr/>
        </p:nvSpPr>
        <p:spPr>
          <a:xfrm xmlns:a="http://schemas.openxmlformats.org/drawingml/2006/main">
            <a:off x="2381250" y="4914900"/>
            <a:ext cx="1000125" cy="400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9" name="矩形 18">
            <a:extLst xmlns:a="http://schemas.openxmlformats.org/drawingml/2006/main">
              <a:ext uri="{FF2B5EF4-FFF2-40B4-BE49-F238E27FC236}">
                <a16:creationId xmlns:a16="http://schemas.microsoft.com/office/drawing/2014/main" id="{D55D9E1E-CF55-4FC4-BDD4-3101D3E4AD2D}"/>
              </a:ext>
            </a:extLst>
          </p:cNvPr>
          <p:cNvSpPr>
            <a:spLocks xmlns:a="http://schemas.openxmlformats.org/drawingml/2006/main" noGrp="1"/>
          </p:cNvSpPr>
          <p:nvPr/>
        </p:nvSpPr>
        <p:spPr>
          <a:xfrm xmlns:a="http://schemas.openxmlformats.org/drawingml/2006/main">
            <a:off x="2476500" y="4972050"/>
            <a:ext cx="809625"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PingFang SC"/>
                <a:ea typeface="PingFang SC"/>
                <a:cs typeface="PingFang SC"/>
              </a:defRPr>
            </a:pPr>
            <a:r>
              <a:t>租户</a:t>
            </a:r>
          </a:p>
        </p:txBody>
      </p:sp>
      <p:sp>
        <p:nvSpPr>
          <p:cNvPr id="20" name="矩形 19">
            <a:extLst xmlns:a="http://schemas.openxmlformats.org/drawingml/2006/main">
              <a:ext uri="{FF2B5EF4-FFF2-40B4-BE49-F238E27FC236}">
                <a16:creationId xmlns:a16="http://schemas.microsoft.com/office/drawing/2014/main" id="{01F91180-79E5-4755-812C-78907AF947A1}"/>
              </a:ext>
            </a:extLst>
          </p:cNvPr>
          <p:cNvSpPr>
            <a:spLocks xmlns:a="http://schemas.openxmlformats.org/drawingml/2006/main" noGrp="1"/>
          </p:cNvSpPr>
          <p:nvPr/>
        </p:nvSpPr>
        <p:spPr>
          <a:xfrm xmlns:a="http://schemas.openxmlformats.org/drawingml/2006/main">
            <a:off x="3905250" y="4914900"/>
            <a:ext cx="1000125" cy="400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21" name="矩形 20">
            <a:extLst xmlns:a="http://schemas.openxmlformats.org/drawingml/2006/main">
              <a:ext uri="{FF2B5EF4-FFF2-40B4-BE49-F238E27FC236}">
                <a16:creationId xmlns:a16="http://schemas.microsoft.com/office/drawing/2014/main" id="{9F4D1DC0-1794-4D1A-A4E8-B633B6F0FC61}"/>
              </a:ext>
            </a:extLst>
          </p:cNvPr>
          <p:cNvSpPr>
            <a:spLocks xmlns:a="http://schemas.openxmlformats.org/drawingml/2006/main" noGrp="1"/>
          </p:cNvSpPr>
          <p:nvPr/>
        </p:nvSpPr>
        <p:spPr>
          <a:xfrm xmlns:a="http://schemas.openxmlformats.org/drawingml/2006/main">
            <a:off x="4000500" y="4972050"/>
            <a:ext cx="809625"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PingFang SC"/>
                <a:ea typeface="PingFang SC"/>
                <a:cs typeface="PingFang SC"/>
              </a:defRPr>
            </a:pPr>
            <a:r>
              <a:t>项目</a:t>
            </a:r>
          </a:p>
        </p:txBody>
      </p:sp>
      <p:sp>
        <p:nvSpPr>
          <p:cNvPr id="22" name="矩形 21">
            <a:extLst xmlns:a="http://schemas.openxmlformats.org/drawingml/2006/main">
              <a:ext uri="{FF2B5EF4-FFF2-40B4-BE49-F238E27FC236}">
                <a16:creationId xmlns:a16="http://schemas.microsoft.com/office/drawing/2014/main" id="{FD1BD375-C2CF-4D7A-89BD-4A9B05E75B3B}"/>
              </a:ext>
            </a:extLst>
          </p:cNvPr>
          <p:cNvSpPr>
            <a:spLocks xmlns:a="http://schemas.openxmlformats.org/drawingml/2006/main" noGrp="1"/>
          </p:cNvSpPr>
          <p:nvPr/>
        </p:nvSpPr>
        <p:spPr>
          <a:xfrm xmlns:a="http://schemas.openxmlformats.org/drawingml/2006/main">
            <a:off x="5429250" y="4914900"/>
            <a:ext cx="1000125" cy="400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23" name="矩形 22">
            <a:extLst xmlns:a="http://schemas.openxmlformats.org/drawingml/2006/main">
              <a:ext uri="{FF2B5EF4-FFF2-40B4-BE49-F238E27FC236}">
                <a16:creationId xmlns:a16="http://schemas.microsoft.com/office/drawing/2014/main" id="{46AA548E-B56A-4C5C-AB66-CA752EFF6943}"/>
              </a:ext>
            </a:extLst>
          </p:cNvPr>
          <p:cNvSpPr>
            <a:spLocks xmlns:a="http://schemas.openxmlformats.org/drawingml/2006/main" noGrp="1"/>
          </p:cNvSpPr>
          <p:nvPr/>
        </p:nvSpPr>
        <p:spPr>
          <a:xfrm xmlns:a="http://schemas.openxmlformats.org/drawingml/2006/main">
            <a:off x="5524500" y="4972050"/>
            <a:ext cx="809625"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PingFang SC"/>
                <a:ea typeface="PingFang SC"/>
                <a:cs typeface="PingFang SC"/>
              </a:defRPr>
            </a:pPr>
            <a:r>
              <a:t>活动</a:t>
            </a:r>
          </a:p>
        </p:txBody>
      </p:sp>
      <p:sp>
        <p:nvSpPr>
          <p:cNvPr id="24" name="矩形 23">
            <a:extLst xmlns:a="http://schemas.openxmlformats.org/drawingml/2006/main">
              <a:ext uri="{FF2B5EF4-FFF2-40B4-BE49-F238E27FC236}">
                <a16:creationId xmlns:a16="http://schemas.microsoft.com/office/drawing/2014/main" id="{0B01FE1C-68FA-47DF-B6A6-079E6514B406}"/>
              </a:ext>
            </a:extLst>
          </p:cNvPr>
          <p:cNvSpPr>
            <a:spLocks xmlns:a="http://schemas.openxmlformats.org/drawingml/2006/main" noGrp="1"/>
          </p:cNvSpPr>
          <p:nvPr/>
        </p:nvSpPr>
        <p:spPr>
          <a:xfrm xmlns:a="http://schemas.openxmlformats.org/drawingml/2006/main">
            <a:off x="6953250" y="4914900"/>
            <a:ext cx="1000125" cy="400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25" name="矩形 24">
            <a:extLst xmlns:a="http://schemas.openxmlformats.org/drawingml/2006/main">
              <a:ext uri="{FF2B5EF4-FFF2-40B4-BE49-F238E27FC236}">
                <a16:creationId xmlns:a16="http://schemas.microsoft.com/office/drawing/2014/main" id="{6E5A8804-BF92-4C65-9433-F9C16C381D01}"/>
              </a:ext>
            </a:extLst>
          </p:cNvPr>
          <p:cNvSpPr>
            <a:spLocks xmlns:a="http://schemas.openxmlformats.org/drawingml/2006/main" noGrp="1"/>
          </p:cNvSpPr>
          <p:nvPr/>
        </p:nvSpPr>
        <p:spPr>
          <a:xfrm xmlns:a="http://schemas.openxmlformats.org/drawingml/2006/main">
            <a:off x="7048500" y="4972050"/>
            <a:ext cx="809625"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PingFang SC"/>
                <a:ea typeface="PingFang SC"/>
                <a:cs typeface="PingFang SC"/>
              </a:defRPr>
            </a:pPr>
            <a:r>
              <a:t>参与者</a:t>
            </a:r>
          </a:p>
        </p:txBody>
      </p:sp>
      <p:sp>
        <p:nvSpPr>
          <p:cNvPr id="26" name="矩形 25">
            <a:extLst xmlns:a="http://schemas.openxmlformats.org/drawingml/2006/main">
              <a:ext uri="{FF2B5EF4-FFF2-40B4-BE49-F238E27FC236}">
                <a16:creationId xmlns:a16="http://schemas.microsoft.com/office/drawing/2014/main" id="{AC628781-27E0-4DD9-80BF-638FDE6A9776}"/>
              </a:ext>
            </a:extLst>
          </p:cNvPr>
          <p:cNvSpPr>
            <a:spLocks xmlns:a="http://schemas.openxmlformats.org/drawingml/2006/main" noGrp="1"/>
          </p:cNvSpPr>
          <p:nvPr/>
        </p:nvSpPr>
        <p:spPr>
          <a:xfrm xmlns:a="http://schemas.openxmlformats.org/drawingml/2006/main">
            <a:off x="8477250" y="4914900"/>
            <a:ext cx="1000125" cy="400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27" name="矩形 26">
            <a:extLst xmlns:a="http://schemas.openxmlformats.org/drawingml/2006/main">
              <a:ext uri="{FF2B5EF4-FFF2-40B4-BE49-F238E27FC236}">
                <a16:creationId xmlns:a16="http://schemas.microsoft.com/office/drawing/2014/main" id="{5167FA7C-3B54-437E-8933-C5136F0C7938}"/>
              </a:ext>
            </a:extLst>
          </p:cNvPr>
          <p:cNvSpPr>
            <a:spLocks xmlns:a="http://schemas.openxmlformats.org/drawingml/2006/main" noGrp="1"/>
          </p:cNvSpPr>
          <p:nvPr/>
        </p:nvSpPr>
        <p:spPr>
          <a:xfrm xmlns:a="http://schemas.openxmlformats.org/drawingml/2006/main">
            <a:off x="8572500" y="4972050"/>
            <a:ext cx="809625"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PingFang SC"/>
                <a:ea typeface="PingFang SC"/>
                <a:cs typeface="PingFang SC"/>
              </a:defRPr>
            </a:pPr>
            <a:r>
              <a:t>来源组织</a:t>
            </a:r>
          </a:p>
        </p:txBody>
      </p:sp>
      <p:sp>
        <p:nvSpPr>
          <p:cNvPr id="28" name="矩形 27">
            <a:extLst xmlns:a="http://schemas.openxmlformats.org/drawingml/2006/main">
              <a:ext uri="{FF2B5EF4-FFF2-40B4-BE49-F238E27FC236}">
                <a16:creationId xmlns:a16="http://schemas.microsoft.com/office/drawing/2014/main" id="{7E6C09C5-44BD-4F33-B0AF-8EB84ACDC468}"/>
              </a:ext>
            </a:extLst>
          </p:cNvPr>
          <p:cNvSpPr>
            <a:spLocks xmlns:a="http://schemas.openxmlformats.org/drawingml/2006/main" noGrp="1"/>
          </p:cNvSpPr>
          <p:nvPr/>
        </p:nvSpPr>
        <p:spPr>
          <a:xfrm xmlns:a="http://schemas.openxmlformats.org/drawingml/2006/main">
            <a:off x="2590800" y="5467350"/>
            <a:ext cx="7048500" cy="304800"/>
          </a:xfrm>
          <a:prstGeom xmlns:a="http://schemas.openxmlformats.org/drawingml/2006/main" prst="rect">
            <a:avLst/>
          </a:prstGeom>
        </p:spPr>
        <p:txBody>
          <a:bodyPr xmlns:a="http://schemas.openxmlformats.org/drawingml/2006/main" lIns="0" tIns="0" rIns="0" bIns="0" anchor="t">
            <a:normAutofit fontScale="88577"/>
          </a:bodyPr>
          <a:lstStyle xmlns:a="http://schemas.openxmlformats.org/drawingml/2006/main"/>
          <a:p xmlns:a="http://schemas.openxmlformats.org/drawingml/2006/main">
            <a:pPr algn="ctr">
              <a:buNone/>
              <a:defRPr sz="1500" b="0">
                <a:solidFill>
                  <a:srgbClr val="555555"/>
                </a:solidFill>
                <a:latin typeface="PingFang SC"/>
                <a:ea typeface="PingFang SC"/>
                <a:cs typeface="PingFang SC"/>
              </a:defRPr>
            </a:pPr>
            <a:r>
              <a:t>指标覆盖报名转化、到场率、完成率、互动质量、成果质量、满意度、组织报告和复训建议。</a:t>
            </a:r>
          </a:p>
        </p:txBody>
      </p:sp>
    </p:spTree>
    <p:extLst>
      <p:ext uri="{BB962C8B-B14F-4D97-AF65-F5344CB8AC3E}">
        <p14:creationId xmlns:p14="http://schemas.microsoft.com/office/powerpoint/2010/main" val="148202271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162602DD-880E-4969-B819-9051B52399D0}"/>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产品化交付</a:t>
            </a:r>
          </a:p>
        </p:txBody>
      </p:sp>
      <p:sp>
        <p:nvSpPr>
          <p:cNvPr id="3" name="矩形 2">
            <a:extLst xmlns:a="http://schemas.openxmlformats.org/drawingml/2006/main">
              <a:ext uri="{FF2B5EF4-FFF2-40B4-BE49-F238E27FC236}">
                <a16:creationId xmlns:a16="http://schemas.microsoft.com/office/drawing/2014/main" id="{37F4A11B-6CEF-48DD-A8C2-D74597676F29}"/>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25" b="1">
                <a:solidFill>
                  <a:srgbClr val="000000"/>
                </a:solidFill>
                <a:latin typeface="PingFang SC"/>
                <a:ea typeface="PingFang SC"/>
                <a:cs typeface="PingFang SC"/>
              </a:defRPr>
            </a:pPr>
            <a:r>
              <a:t>解决方案、套餐和租户把内外训能力转成可交付产品</a:t>
            </a:r>
          </a:p>
        </p:txBody>
      </p:sp>
      <p:sp>
        <p:nvSpPr>
          <p:cNvPr id="4" name="矩形 3">
            <a:extLst xmlns:a="http://schemas.openxmlformats.org/drawingml/2006/main">
              <a:ext uri="{FF2B5EF4-FFF2-40B4-BE49-F238E27FC236}">
                <a16:creationId xmlns:a16="http://schemas.microsoft.com/office/drawing/2014/main" id="{A53F683C-6F34-468E-9D93-146EAED8919C}"/>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7670F9F0-1533-441B-95EE-FC63F9D8B2CA}"/>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13</a:t>
            </a:r>
          </a:p>
        </p:txBody>
      </p:sp>
      <p:sp>
        <p:nvSpPr>
          <p:cNvPr id="6" name="矩形 5">
            <a:extLst xmlns:a="http://schemas.openxmlformats.org/drawingml/2006/main">
              <a:ext uri="{FF2B5EF4-FFF2-40B4-BE49-F238E27FC236}">
                <a16:creationId xmlns:a16="http://schemas.microsoft.com/office/drawing/2014/main" id="{2D1916AB-CC65-4957-BBB2-01FD799C995D}"/>
              </a:ext>
            </a:extLst>
          </p:cNvPr>
          <p:cNvSpPr>
            <a:spLocks xmlns:a="http://schemas.openxmlformats.org/drawingml/2006/main" noGrp="1"/>
          </p:cNvSpPr>
          <p:nvPr/>
        </p:nvSpPr>
        <p:spPr>
          <a:xfrm xmlns:a="http://schemas.openxmlformats.org/drawingml/2006/main">
            <a:off x="390525" y="2038350"/>
            <a:ext cx="3238500" cy="31623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矩形 6">
            <a:extLst xmlns:a="http://schemas.openxmlformats.org/drawingml/2006/main">
              <a:ext uri="{FF2B5EF4-FFF2-40B4-BE49-F238E27FC236}">
                <a16:creationId xmlns:a16="http://schemas.microsoft.com/office/drawing/2014/main" id="{82438B06-3CE9-45DA-B46B-E1441AF548E7}"/>
              </a:ext>
            </a:extLst>
          </p:cNvPr>
          <p:cNvSpPr>
            <a:spLocks xmlns:a="http://schemas.openxmlformats.org/drawingml/2006/main" noGrp="1"/>
          </p:cNvSpPr>
          <p:nvPr/>
        </p:nvSpPr>
        <p:spPr>
          <a:xfrm xmlns:a="http://schemas.openxmlformats.org/drawingml/2006/main">
            <a:off x="619125" y="2266950"/>
            <a:ext cx="2781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250" b="1">
                <a:solidFill>
                  <a:srgbClr val="000000"/>
                </a:solidFill>
                <a:latin typeface="PingFang SC"/>
                <a:ea typeface="PingFang SC"/>
                <a:cs typeface="PingFang SC"/>
              </a:defRPr>
            </a:pPr>
            <a:r>
              <a:t>解决方案</a:t>
            </a:r>
          </a:p>
        </p:txBody>
      </p:sp>
      <p:sp>
        <p:nvSpPr>
          <p:cNvPr id="8" name="矩形 7">
            <a:extLst xmlns:a="http://schemas.openxmlformats.org/drawingml/2006/main">
              <a:ext uri="{FF2B5EF4-FFF2-40B4-BE49-F238E27FC236}">
                <a16:creationId xmlns:a16="http://schemas.microsoft.com/office/drawing/2014/main" id="{9AF9F9E2-F910-4FEB-B7C9-1223AF4324D5}"/>
              </a:ext>
            </a:extLst>
          </p:cNvPr>
          <p:cNvSpPr>
            <a:spLocks xmlns:a="http://schemas.openxmlformats.org/drawingml/2006/main" noGrp="1"/>
          </p:cNvSpPr>
          <p:nvPr/>
        </p:nvSpPr>
        <p:spPr>
          <a:xfrm xmlns:a="http://schemas.openxmlformats.org/drawingml/2006/main">
            <a:off x="619125" y="2724150"/>
            <a:ext cx="2781300" cy="2286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000000"/>
                </a:solidFill>
                <a:latin typeface="PingFang SC"/>
                <a:ea typeface="PingFang SC"/>
                <a:cs typeface="PingFang SC"/>
              </a:defRPr>
            </a:pPr>
            <a:r>
              <a:t>定义发展场景和业务价值：企业内训、客户培训、伙伴培训、认证培训、跨校教师研修、公开工作坊等。</a:t>
            </a:r>
          </a:p>
        </p:txBody>
      </p:sp>
      <p:sp>
        <p:nvSpPr>
          <p:cNvPr id="9" name="矩形 8">
            <a:extLst xmlns:a="http://schemas.openxmlformats.org/drawingml/2006/main">
              <a:ext uri="{FF2B5EF4-FFF2-40B4-BE49-F238E27FC236}">
                <a16:creationId xmlns:a16="http://schemas.microsoft.com/office/drawing/2014/main" id="{3FE023AE-43EE-4D9B-BA94-BEDE3F6E0DCD}"/>
              </a:ext>
            </a:extLst>
          </p:cNvPr>
          <p:cNvSpPr>
            <a:spLocks xmlns:a="http://schemas.openxmlformats.org/drawingml/2006/main" noGrp="1"/>
          </p:cNvSpPr>
          <p:nvPr/>
        </p:nvSpPr>
        <p:spPr>
          <a:xfrm xmlns:a="http://schemas.openxmlformats.org/drawingml/2006/main">
            <a:off x="4476750" y="2038350"/>
            <a:ext cx="3238500" cy="31623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矩形 9">
            <a:extLst xmlns:a="http://schemas.openxmlformats.org/drawingml/2006/main">
              <a:ext uri="{FF2B5EF4-FFF2-40B4-BE49-F238E27FC236}">
                <a16:creationId xmlns:a16="http://schemas.microsoft.com/office/drawing/2014/main" id="{92AA3A17-F566-48AB-B6C1-CD3E40CDF8DD}"/>
              </a:ext>
            </a:extLst>
          </p:cNvPr>
          <p:cNvSpPr>
            <a:spLocks xmlns:a="http://schemas.openxmlformats.org/drawingml/2006/main" noGrp="1"/>
          </p:cNvSpPr>
          <p:nvPr/>
        </p:nvSpPr>
        <p:spPr>
          <a:xfrm xmlns:a="http://schemas.openxmlformats.org/drawingml/2006/main">
            <a:off x="4705350" y="2266950"/>
            <a:ext cx="2781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250" b="1">
                <a:solidFill>
                  <a:srgbClr val="000000"/>
                </a:solidFill>
                <a:latin typeface="PingFang SC"/>
                <a:ea typeface="PingFang SC"/>
                <a:cs typeface="PingFang SC"/>
              </a:defRPr>
            </a:pPr>
            <a:r>
              <a:t>套餐</a:t>
            </a:r>
          </a:p>
        </p:txBody>
      </p:sp>
      <p:sp>
        <p:nvSpPr>
          <p:cNvPr id="11" name="矩形 10">
            <a:extLst xmlns:a="http://schemas.openxmlformats.org/drawingml/2006/main">
              <a:ext uri="{FF2B5EF4-FFF2-40B4-BE49-F238E27FC236}">
                <a16:creationId xmlns:a16="http://schemas.microsoft.com/office/drawing/2014/main" id="{6B6BA735-0A52-4ADA-B0F4-83ED726A66DE}"/>
              </a:ext>
            </a:extLst>
          </p:cNvPr>
          <p:cNvSpPr>
            <a:spLocks xmlns:a="http://schemas.openxmlformats.org/drawingml/2006/main" noGrp="1"/>
          </p:cNvSpPr>
          <p:nvPr/>
        </p:nvSpPr>
        <p:spPr>
          <a:xfrm xmlns:a="http://schemas.openxmlformats.org/drawingml/2006/main">
            <a:off x="4705350" y="2724150"/>
            <a:ext cx="2781300" cy="2286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000000"/>
                </a:solidFill>
                <a:latin typeface="PingFang SC"/>
                <a:ea typeface="PingFang SC"/>
                <a:cs typeface="PingFang SC"/>
              </a:defRPr>
            </a:pPr>
            <a:r>
              <a:t>定义内部/外部用户数、活动数、空间数、资料容量、AI 调用、报名审核、证书、报表和服务等级。</a:t>
            </a:r>
          </a:p>
        </p:txBody>
      </p:sp>
      <p:sp>
        <p:nvSpPr>
          <p:cNvPr id="12" name="矩形 11">
            <a:extLst xmlns:a="http://schemas.openxmlformats.org/drawingml/2006/main">
              <a:ext uri="{FF2B5EF4-FFF2-40B4-BE49-F238E27FC236}">
                <a16:creationId xmlns:a16="http://schemas.microsoft.com/office/drawing/2014/main" id="{818F910C-EACC-4AF0-98F1-C62EA93F542D}"/>
              </a:ext>
            </a:extLst>
          </p:cNvPr>
          <p:cNvSpPr>
            <a:spLocks xmlns:a="http://schemas.openxmlformats.org/drawingml/2006/main" noGrp="1"/>
          </p:cNvSpPr>
          <p:nvPr/>
        </p:nvSpPr>
        <p:spPr>
          <a:xfrm xmlns:a="http://schemas.openxmlformats.org/drawingml/2006/main">
            <a:off x="8562975" y="2038350"/>
            <a:ext cx="3238500" cy="31623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矩形 12">
            <a:extLst xmlns:a="http://schemas.openxmlformats.org/drawingml/2006/main">
              <a:ext uri="{FF2B5EF4-FFF2-40B4-BE49-F238E27FC236}">
                <a16:creationId xmlns:a16="http://schemas.microsoft.com/office/drawing/2014/main" id="{E99FE403-DC98-4492-BE5C-BB0D7B35033C}"/>
              </a:ext>
            </a:extLst>
          </p:cNvPr>
          <p:cNvSpPr>
            <a:spLocks xmlns:a="http://schemas.openxmlformats.org/drawingml/2006/main" noGrp="1"/>
          </p:cNvSpPr>
          <p:nvPr/>
        </p:nvSpPr>
        <p:spPr>
          <a:xfrm xmlns:a="http://schemas.openxmlformats.org/drawingml/2006/main">
            <a:off x="8791575" y="2266950"/>
            <a:ext cx="2781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250" b="1">
                <a:solidFill>
                  <a:srgbClr val="000000"/>
                </a:solidFill>
                <a:latin typeface="PingFang SC"/>
                <a:ea typeface="PingFang SC"/>
                <a:cs typeface="PingFang SC"/>
              </a:defRPr>
            </a:pPr>
            <a:r>
              <a:t>租户</a:t>
            </a:r>
          </a:p>
        </p:txBody>
      </p:sp>
      <p:sp>
        <p:nvSpPr>
          <p:cNvPr id="14" name="矩形 13">
            <a:extLst xmlns:a="http://schemas.openxmlformats.org/drawingml/2006/main">
              <a:ext uri="{FF2B5EF4-FFF2-40B4-BE49-F238E27FC236}">
                <a16:creationId xmlns:a16="http://schemas.microsoft.com/office/drawing/2014/main" id="{930B5D84-8850-469F-918B-12CFF00BF5C5}"/>
              </a:ext>
            </a:extLst>
          </p:cNvPr>
          <p:cNvSpPr>
            <a:spLocks xmlns:a="http://schemas.openxmlformats.org/drawingml/2006/main" noGrp="1"/>
          </p:cNvSpPr>
          <p:nvPr/>
        </p:nvSpPr>
        <p:spPr>
          <a:xfrm xmlns:a="http://schemas.openxmlformats.org/drawingml/2006/main">
            <a:off x="8791575" y="2724150"/>
            <a:ext cx="2781300" cy="2286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000000"/>
                </a:solidFill>
                <a:latin typeface="PingFang SC"/>
                <a:ea typeface="PingFang SC"/>
                <a:cs typeface="PingFang SC"/>
              </a:defRPr>
            </a:pPr>
            <a:r>
              <a:t>承接客户主体、组织架构、外部来源组织、数据隔离、权限边界、服务周期和客户成功运营。</a:t>
            </a:r>
          </a:p>
        </p:txBody>
      </p:sp>
      <p:sp>
        <p:nvSpPr>
          <p:cNvPr id="15" name="矩形 14">
            <a:extLst xmlns:a="http://schemas.openxmlformats.org/drawingml/2006/main">
              <a:ext uri="{FF2B5EF4-FFF2-40B4-BE49-F238E27FC236}">
                <a16:creationId xmlns:a16="http://schemas.microsoft.com/office/drawing/2014/main" id="{8447E6C4-D5BC-4C7B-BEB9-47162D65D3D9}"/>
              </a:ext>
            </a:extLst>
          </p:cNvPr>
          <p:cNvSpPr>
            <a:spLocks xmlns:a="http://schemas.openxmlformats.org/drawingml/2006/main" noGrp="1"/>
          </p:cNvSpPr>
          <p:nvPr/>
        </p:nvSpPr>
        <p:spPr>
          <a:xfrm xmlns:a="http://schemas.openxmlformats.org/drawingml/2006/main">
            <a:off x="390525" y="5600700"/>
            <a:ext cx="8096250" cy="342900"/>
          </a:xfrm>
          <a:prstGeom xmlns:a="http://schemas.openxmlformats.org/drawingml/2006/main" prst="rect">
            <a:avLst/>
          </a:prstGeom>
        </p:spPr>
        <p:txBody>
          <a:bodyPr xmlns:a="http://schemas.openxmlformats.org/drawingml/2006/main" lIns="0" tIns="0" rIns="0" bIns="0" anchor="t">
            <a:normAutofit fontScale="78014"/>
          </a:bodyPr>
          <a:lstStyle xmlns:a="http://schemas.openxmlformats.org/drawingml/2006/main"/>
          <a:p xmlns:a="http://schemas.openxmlformats.org/drawingml/2006/main">
            <a:pPr algn="l">
              <a:buNone/>
              <a:defRPr sz="1875" b="1">
                <a:solidFill>
                  <a:srgbClr val="000000"/>
                </a:solidFill>
                <a:latin typeface="PingFang SC"/>
                <a:ea typeface="PingFang SC"/>
                <a:cs typeface="PingFang SC"/>
              </a:defRPr>
            </a:pPr>
            <a:r>
              <a:t>解决方案定义“服务谁和发展什么”，套餐定义“按什么额度交付”，租户定义“给谁运营和隔离”。</a:t>
            </a:r>
          </a:p>
        </p:txBody>
      </p:sp>
    </p:spTree>
    <p:extLst>
      <p:ext uri="{BB962C8B-B14F-4D97-AF65-F5344CB8AC3E}">
        <p14:creationId xmlns:p14="http://schemas.microsoft.com/office/powerpoint/2010/main" val="8013382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9637F405-E560-4260-B01E-CCDA39179D0D}"/>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场景包</a:t>
            </a:r>
          </a:p>
        </p:txBody>
      </p:sp>
      <p:sp>
        <p:nvSpPr>
          <p:cNvPr id="3" name="矩形 2">
            <a:extLst xmlns:a="http://schemas.openxmlformats.org/drawingml/2006/main">
              <a:ext uri="{FF2B5EF4-FFF2-40B4-BE49-F238E27FC236}">
                <a16:creationId xmlns:a16="http://schemas.microsoft.com/office/drawing/2014/main" id="{7DECC312-ED01-45A7-843E-C04490EBC32A}"/>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775" b="1">
                <a:solidFill>
                  <a:srgbClr val="000000"/>
                </a:solidFill>
                <a:latin typeface="PingFang SC"/>
                <a:ea typeface="PingFang SC"/>
                <a:cs typeface="PingFang SC"/>
              </a:defRPr>
            </a:pPr>
            <a:r>
              <a:t>发展活动平台以场景包方式适配内训与外训需求</a:t>
            </a:r>
          </a:p>
        </p:txBody>
      </p:sp>
      <p:sp>
        <p:nvSpPr>
          <p:cNvPr id="4" name="矩形 3">
            <a:extLst xmlns:a="http://schemas.openxmlformats.org/drawingml/2006/main">
              <a:ext uri="{FF2B5EF4-FFF2-40B4-BE49-F238E27FC236}">
                <a16:creationId xmlns:a16="http://schemas.microsoft.com/office/drawing/2014/main" id="{8F71566C-5E52-4327-A64A-DB924AA43568}"/>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C37660A1-23C5-4F58-9A91-B53934A7EE04}"/>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14</a:t>
            </a:r>
          </a:p>
        </p:txBody>
      </p:sp>
      <p:sp>
        <p:nvSpPr>
          <p:cNvPr id="6" name="矩形 5">
            <a:extLst xmlns:a="http://schemas.openxmlformats.org/drawingml/2006/main">
              <a:ext uri="{FF2B5EF4-FFF2-40B4-BE49-F238E27FC236}">
                <a16:creationId xmlns:a16="http://schemas.microsoft.com/office/drawing/2014/main" id="{764C014D-1432-4E5D-ACCE-B23C3EC4CCBA}"/>
              </a:ext>
            </a:extLst>
          </p:cNvPr>
          <p:cNvSpPr>
            <a:spLocks xmlns:a="http://schemas.openxmlformats.org/drawingml/2006/main" noGrp="1"/>
          </p:cNvSpPr>
          <p:nvPr/>
        </p:nvSpPr>
        <p:spPr>
          <a:xfrm xmlns:a="http://schemas.openxmlformats.org/drawingml/2006/main">
            <a:off x="390525" y="1885950"/>
            <a:ext cx="17145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555555"/>
                </a:solidFill>
                <a:latin typeface="PingFang SC"/>
                <a:ea typeface="PingFang SC"/>
                <a:cs typeface="PingFang SC"/>
              </a:defRPr>
            </a:pPr>
            <a:r>
              <a:t>典型场景</a:t>
            </a:r>
          </a:p>
        </p:txBody>
      </p:sp>
      <p:sp>
        <p:nvSpPr>
          <p:cNvPr id="7" name="矩形 6">
            <a:extLst xmlns:a="http://schemas.openxmlformats.org/drawingml/2006/main">
              <a:ext uri="{FF2B5EF4-FFF2-40B4-BE49-F238E27FC236}">
                <a16:creationId xmlns:a16="http://schemas.microsoft.com/office/drawing/2014/main" id="{5A1B040D-2F0D-461E-BB0F-EB68D6631923}"/>
              </a:ext>
            </a:extLst>
          </p:cNvPr>
          <p:cNvSpPr>
            <a:spLocks xmlns:a="http://schemas.openxmlformats.org/drawingml/2006/main" noGrp="1"/>
          </p:cNvSpPr>
          <p:nvPr/>
        </p:nvSpPr>
        <p:spPr>
          <a:xfrm xmlns:a="http://schemas.openxmlformats.org/drawingml/2006/main">
            <a:off x="390525" y="2362200"/>
            <a:ext cx="5334000" cy="19621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8" name="矩形 7">
            <a:extLst xmlns:a="http://schemas.openxmlformats.org/drawingml/2006/main">
              <a:ext uri="{FF2B5EF4-FFF2-40B4-BE49-F238E27FC236}">
                <a16:creationId xmlns:a16="http://schemas.microsoft.com/office/drawing/2014/main" id="{92231CAE-A639-4464-A06B-020E87FD7EA4}"/>
              </a:ext>
            </a:extLst>
          </p:cNvPr>
          <p:cNvSpPr>
            <a:spLocks xmlns:a="http://schemas.openxmlformats.org/drawingml/2006/main" noGrp="1"/>
          </p:cNvSpPr>
          <p:nvPr/>
        </p:nvSpPr>
        <p:spPr>
          <a:xfrm xmlns:a="http://schemas.openxmlformats.org/drawingml/2006/main">
            <a:off x="619125" y="259080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组织内训 / 岗位提升</a:t>
            </a:r>
          </a:p>
        </p:txBody>
      </p:sp>
      <p:sp>
        <p:nvSpPr>
          <p:cNvPr id="9" name="矩形 8">
            <a:extLst xmlns:a="http://schemas.openxmlformats.org/drawingml/2006/main">
              <a:ext uri="{FF2B5EF4-FFF2-40B4-BE49-F238E27FC236}">
                <a16:creationId xmlns:a16="http://schemas.microsoft.com/office/drawing/2014/main" id="{1C8FF9FF-DD98-4AF1-9BA1-3B5AD83F3595}"/>
              </a:ext>
            </a:extLst>
          </p:cNvPr>
          <p:cNvSpPr>
            <a:spLocks xmlns:a="http://schemas.openxmlformats.org/drawingml/2006/main" noGrp="1"/>
          </p:cNvSpPr>
          <p:nvPr/>
        </p:nvSpPr>
        <p:spPr>
          <a:xfrm xmlns:a="http://schemas.openxmlformats.org/drawingml/2006/main">
            <a:off x="619125" y="3048000"/>
            <a:ext cx="487680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000000"/>
                </a:solidFill>
                <a:latin typeface="PingFang SC"/>
                <a:ea typeface="PingFang SC"/>
                <a:cs typeface="PingFang SC"/>
              </a:defRPr>
            </a:pPr>
            <a:r>
              <a:t>面向本组织成员，承接新人上手、制度合规、复盘会、导师制、岗位实践和案例萃取。</a:t>
            </a:r>
          </a:p>
        </p:txBody>
      </p:sp>
      <p:sp>
        <p:nvSpPr>
          <p:cNvPr id="10" name="矩形 9">
            <a:extLst xmlns:a="http://schemas.openxmlformats.org/drawingml/2006/main">
              <a:ext uri="{FF2B5EF4-FFF2-40B4-BE49-F238E27FC236}">
                <a16:creationId xmlns:a16="http://schemas.microsoft.com/office/drawing/2014/main" id="{9CB72B89-0266-4382-9831-7850F014A718}"/>
              </a:ext>
            </a:extLst>
          </p:cNvPr>
          <p:cNvSpPr>
            <a:spLocks xmlns:a="http://schemas.openxmlformats.org/drawingml/2006/main" noGrp="1"/>
          </p:cNvSpPr>
          <p:nvPr/>
        </p:nvSpPr>
        <p:spPr>
          <a:xfrm xmlns:a="http://schemas.openxmlformats.org/drawingml/2006/main">
            <a:off x="6457950" y="2362200"/>
            <a:ext cx="5334000" cy="19621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1" name="矩形 10">
            <a:extLst xmlns:a="http://schemas.openxmlformats.org/drawingml/2006/main">
              <a:ext uri="{FF2B5EF4-FFF2-40B4-BE49-F238E27FC236}">
                <a16:creationId xmlns:a16="http://schemas.microsoft.com/office/drawing/2014/main" id="{FD00E0CE-38DA-4A3D-B749-4EFA16B8A1A1}"/>
              </a:ext>
            </a:extLst>
          </p:cNvPr>
          <p:cNvSpPr>
            <a:spLocks xmlns:a="http://schemas.openxmlformats.org/drawingml/2006/main" noGrp="1"/>
          </p:cNvSpPr>
          <p:nvPr/>
        </p:nvSpPr>
        <p:spPr>
          <a:xfrm xmlns:a="http://schemas.openxmlformats.org/drawingml/2006/main">
            <a:off x="6686550" y="259080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FF6B35"/>
                </a:solidFill>
                <a:latin typeface="PingFang SC"/>
                <a:ea typeface="PingFang SC"/>
                <a:cs typeface="PingFang SC"/>
              </a:defRPr>
            </a:pPr>
            <a:r>
              <a:t>外训 / 外部人员发展</a:t>
            </a:r>
          </a:p>
        </p:txBody>
      </p:sp>
      <p:sp>
        <p:nvSpPr>
          <p:cNvPr id="12" name="矩形 11">
            <a:extLst xmlns:a="http://schemas.openxmlformats.org/drawingml/2006/main">
              <a:ext uri="{FF2B5EF4-FFF2-40B4-BE49-F238E27FC236}">
                <a16:creationId xmlns:a16="http://schemas.microsoft.com/office/drawing/2014/main" id="{5EDB0A08-9FC2-49DF-A1C9-44F6A9AA598F}"/>
              </a:ext>
            </a:extLst>
          </p:cNvPr>
          <p:cNvSpPr>
            <a:spLocks xmlns:a="http://schemas.openxmlformats.org/drawingml/2006/main" noGrp="1"/>
          </p:cNvSpPr>
          <p:nvPr/>
        </p:nvSpPr>
        <p:spPr>
          <a:xfrm xmlns:a="http://schemas.openxmlformats.org/drawingml/2006/main">
            <a:off x="6686550" y="3048000"/>
            <a:ext cx="487680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FFFFFF"/>
                </a:solidFill>
                <a:latin typeface="PingFang SC"/>
                <a:ea typeface="PingFang SC"/>
                <a:cs typeface="PingFang SC"/>
              </a:defRPr>
            </a:pPr>
            <a:r>
              <a:t>面向客户、伙伴、外校教师和专家社群，承接认证培训、公开工作坊、跨校教师研修、产品赋能和社群共学。</a:t>
            </a:r>
          </a:p>
        </p:txBody>
      </p:sp>
      <p:sp>
        <p:nvSpPr>
          <p:cNvPr id="13" name="矩形 12">
            <a:extLst xmlns:a="http://schemas.openxmlformats.org/drawingml/2006/main">
              <a:ext uri="{FF2B5EF4-FFF2-40B4-BE49-F238E27FC236}">
                <a16:creationId xmlns:a16="http://schemas.microsoft.com/office/drawing/2014/main" id="{809EE8AA-44D7-423A-B7EC-2E5CB6390005}"/>
              </a:ext>
            </a:extLst>
          </p:cNvPr>
          <p:cNvSpPr>
            <a:spLocks xmlns:a="http://schemas.openxmlformats.org/drawingml/2006/main" noGrp="1"/>
          </p:cNvSpPr>
          <p:nvPr/>
        </p:nvSpPr>
        <p:spPr>
          <a:xfrm xmlns:a="http://schemas.openxmlformats.org/drawingml/2006/main">
            <a:off x="390525" y="4933950"/>
            <a:ext cx="11401425" cy="8191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4" name="矩形 13">
            <a:extLst xmlns:a="http://schemas.openxmlformats.org/drawingml/2006/main">
              <a:ext uri="{FF2B5EF4-FFF2-40B4-BE49-F238E27FC236}">
                <a16:creationId xmlns:a16="http://schemas.microsoft.com/office/drawing/2014/main" id="{1C184E3D-2C69-43BC-8CB1-05524777594A}"/>
              </a:ext>
            </a:extLst>
          </p:cNvPr>
          <p:cNvSpPr>
            <a:spLocks xmlns:a="http://schemas.openxmlformats.org/drawingml/2006/main" noGrp="1"/>
          </p:cNvSpPr>
          <p:nvPr/>
        </p:nvSpPr>
        <p:spPr>
          <a:xfrm xmlns:a="http://schemas.openxmlformats.org/drawingml/2006/main">
            <a:off x="685800" y="5143500"/>
            <a:ext cx="10810875" cy="381000"/>
          </a:xfrm>
          <a:prstGeom xmlns:a="http://schemas.openxmlformats.org/drawingml/2006/main" prst="rect">
            <a:avLst/>
          </a:prstGeom>
        </p:spPr>
        <p:txBody>
          <a:bodyPr xmlns:a="http://schemas.openxmlformats.org/drawingml/2006/main" lIns="0" tIns="0" rIns="0" bIns="0" anchor="ctr">
            <a:normAutofit fontScale="90450"/>
          </a:bodyPr>
          <a:lstStyle xmlns:a="http://schemas.openxmlformats.org/drawingml/2006/main"/>
          <a:p xmlns:a="http://schemas.openxmlformats.org/drawingml/2006/main">
            <a:pPr algn="ctr">
              <a:buNone/>
              <a:defRPr sz="1875" b="1">
                <a:solidFill>
                  <a:srgbClr val="000000"/>
                </a:solidFill>
                <a:latin typeface="PingFang SC"/>
                <a:ea typeface="PingFang SC"/>
                <a:cs typeface="PingFang SC"/>
              </a:defRPr>
            </a:pPr>
            <a:r>
              <a:t>外训不是员工外出培训，而是平台管理外部非本组织人员参训；同样形成发展证据、组织报告和可复用场景包。</a:t>
            </a:r>
          </a:p>
        </p:txBody>
      </p:sp>
    </p:spTree>
    <p:extLst>
      <p:ext uri="{BB962C8B-B14F-4D97-AF65-F5344CB8AC3E}">
        <p14:creationId xmlns:p14="http://schemas.microsoft.com/office/powerpoint/2010/main" val="181187972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71EBD627-D5F6-4040-867F-D8E10C3240B0}"/>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实施路线</a:t>
            </a:r>
          </a:p>
        </p:txBody>
      </p:sp>
      <p:sp>
        <p:nvSpPr>
          <p:cNvPr id="3" name="矩形 2">
            <a:extLst xmlns:a="http://schemas.openxmlformats.org/drawingml/2006/main">
              <a:ext uri="{FF2B5EF4-FFF2-40B4-BE49-F238E27FC236}">
                <a16:creationId xmlns:a16="http://schemas.microsoft.com/office/drawing/2014/main" id="{DC71BC9A-84E2-4699-A8A5-DF808A38BEC3}"/>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625" b="1">
                <a:solidFill>
                  <a:srgbClr val="000000"/>
                </a:solidFill>
                <a:latin typeface="PingFang SC"/>
                <a:ea typeface="PingFang SC"/>
                <a:cs typeface="PingFang SC"/>
              </a:defRPr>
            </a:pPr>
            <a:r>
              <a:t>从基础闭环到商业增长，分五阶段落地内外训产品</a:t>
            </a:r>
          </a:p>
        </p:txBody>
      </p:sp>
      <p:sp>
        <p:nvSpPr>
          <p:cNvPr id="4" name="矩形 3">
            <a:extLst xmlns:a="http://schemas.openxmlformats.org/drawingml/2006/main">
              <a:ext uri="{FF2B5EF4-FFF2-40B4-BE49-F238E27FC236}">
                <a16:creationId xmlns:a16="http://schemas.microsoft.com/office/drawing/2014/main" id="{BC0F10E7-D2D6-409D-BD1F-E7E59121E32B}"/>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F994A347-9772-4A5A-9FF3-70503ADA6E89}"/>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15</a:t>
            </a:r>
          </a:p>
        </p:txBody>
      </p:sp>
      <p:sp>
        <p:nvSpPr>
          <p:cNvPr id="6" name="矩形 5">
            <a:extLst xmlns:a="http://schemas.openxmlformats.org/drawingml/2006/main">
              <a:ext uri="{FF2B5EF4-FFF2-40B4-BE49-F238E27FC236}">
                <a16:creationId xmlns:a16="http://schemas.microsoft.com/office/drawing/2014/main" id="{D4AECF60-953E-472E-AFB6-21A50F33F7EC}"/>
              </a:ext>
            </a:extLst>
          </p:cNvPr>
          <p:cNvSpPr>
            <a:spLocks xmlns:a="http://schemas.openxmlformats.org/drawingml/2006/main" noGrp="1"/>
          </p:cNvSpPr>
          <p:nvPr/>
        </p:nvSpPr>
        <p:spPr>
          <a:xfrm xmlns:a="http://schemas.openxmlformats.org/drawingml/2006/main">
            <a:off x="390525" y="1866900"/>
            <a:ext cx="1714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555555"/>
                </a:solidFill>
                <a:latin typeface="PingFang SC"/>
                <a:ea typeface="PingFang SC"/>
                <a:cs typeface="PingFang SC"/>
              </a:defRPr>
            </a:pPr>
            <a:r>
              <a:t>路线图</a:t>
            </a:r>
          </a:p>
        </p:txBody>
      </p:sp>
      <p:sp>
        <p:nvSpPr>
          <p:cNvPr id="7" name="矩形 6">
            <a:extLst xmlns:a="http://schemas.openxmlformats.org/drawingml/2006/main">
              <a:ext uri="{FF2B5EF4-FFF2-40B4-BE49-F238E27FC236}">
                <a16:creationId xmlns:a16="http://schemas.microsoft.com/office/drawing/2014/main" id="{2EC8CEB8-9C6C-47F2-8895-4C09082D1487}"/>
              </a:ext>
            </a:extLst>
          </p:cNvPr>
          <p:cNvSpPr>
            <a:spLocks xmlns:a="http://schemas.openxmlformats.org/drawingml/2006/main" noGrp="1"/>
          </p:cNvSpPr>
          <p:nvPr/>
        </p:nvSpPr>
        <p:spPr>
          <a:xfrm xmlns:a="http://schemas.openxmlformats.org/drawingml/2006/main">
            <a:off x="552450" y="2190750"/>
            <a:ext cx="552450" cy="266700"/>
          </a:xfrm>
          <a:prstGeom xmlns:a="http://schemas.openxmlformats.org/drawingml/2006/main" prst="rect">
            <a:avLst/>
          </a:prstGeom>
        </p:spPr>
        <p:txBody>
          <a:bodyPr xmlns:a="http://schemas.openxmlformats.org/drawingml/2006/main" lIns="0" tIns="0" rIns="0" bIns="0" anchor="ctr">
            <a:normAutofit fontScale="93333"/>
          </a:bodyPr>
          <a:lstStyle xmlns:a="http://schemas.openxmlformats.org/drawingml/2006/main"/>
          <a:p xmlns:a="http://schemas.openxmlformats.org/drawingml/2006/main">
            <a:pPr algn="ctr">
              <a:buNone/>
              <a:defRPr sz="1875" b="1">
                <a:solidFill>
                  <a:srgbClr val="FF6B35"/>
                </a:solidFill>
                <a:latin typeface="PingFang SC"/>
                <a:ea typeface="PingFang SC"/>
                <a:cs typeface="PingFang SC"/>
              </a:defRPr>
            </a:pPr>
            <a:r>
              <a:t>01</a:t>
            </a:r>
          </a:p>
        </p:txBody>
      </p:sp>
      <p:sp>
        <p:nvSpPr>
          <p:cNvPr id="8" name="矩形 7">
            <a:extLst xmlns:a="http://schemas.openxmlformats.org/drawingml/2006/main">
              <a:ext uri="{FF2B5EF4-FFF2-40B4-BE49-F238E27FC236}">
                <a16:creationId xmlns:a16="http://schemas.microsoft.com/office/drawing/2014/main" id="{FE1FE599-A4AE-4D70-8EA2-0E0AFECC8D3D}"/>
              </a:ext>
            </a:extLst>
          </p:cNvPr>
          <p:cNvSpPr>
            <a:spLocks xmlns:a="http://schemas.openxmlformats.org/drawingml/2006/main" noGrp="1"/>
          </p:cNvSpPr>
          <p:nvPr/>
        </p:nvSpPr>
        <p:spPr>
          <a:xfrm xmlns:a="http://schemas.openxmlformats.org/drawingml/2006/main">
            <a:off x="1257300" y="2133600"/>
            <a:ext cx="3905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000000"/>
                </a:solidFill>
                <a:latin typeface="PingFang SC"/>
                <a:ea typeface="PingFang SC"/>
                <a:cs typeface="PingFang SC"/>
              </a:defRPr>
            </a:pPr>
            <a:r>
              <a:t>V1 基础闭环</a:t>
            </a:r>
          </a:p>
        </p:txBody>
      </p:sp>
      <p:sp>
        <p:nvSpPr>
          <p:cNvPr id="9" name="矩形 8">
            <a:extLst xmlns:a="http://schemas.openxmlformats.org/drawingml/2006/main">
              <a:ext uri="{FF2B5EF4-FFF2-40B4-BE49-F238E27FC236}">
                <a16:creationId xmlns:a16="http://schemas.microsoft.com/office/drawing/2014/main" id="{431218A3-DE49-4174-A5DD-304CAAB4C4EC}"/>
              </a:ext>
            </a:extLst>
          </p:cNvPr>
          <p:cNvSpPr>
            <a:spLocks xmlns:a="http://schemas.openxmlformats.org/drawingml/2006/main" noGrp="1"/>
          </p:cNvSpPr>
          <p:nvPr/>
        </p:nvSpPr>
        <p:spPr>
          <a:xfrm xmlns:a="http://schemas.openxmlformats.org/drawingml/2006/main">
            <a:off x="1257300" y="2457450"/>
            <a:ext cx="4286250" cy="247650"/>
          </a:xfrm>
          <a:prstGeom xmlns:a="http://schemas.openxmlformats.org/drawingml/2006/main" prst="rect">
            <a:avLst/>
          </a:prstGeom>
        </p:spPr>
        <p:txBody>
          <a:bodyPr xmlns:a="http://schemas.openxmlformats.org/drawingml/2006/main" lIns="0" tIns="0" rIns="0" bIns="0" anchor="t">
            <a:normAutofit fontScale="73008"/>
          </a:bodyPr>
          <a:lstStyle xmlns:a="http://schemas.openxmlformats.org/drawingml/2006/main"/>
          <a:p xmlns:a="http://schemas.openxmlformats.org/drawingml/2006/main">
            <a:pPr algn="l">
              <a:buNone/>
              <a:defRPr sz="1350" b="0">
                <a:solidFill>
                  <a:srgbClr val="555555"/>
                </a:solidFill>
                <a:latin typeface="PingFang SC"/>
                <a:ea typeface="PingFang SC"/>
                <a:cs typeface="PingFang SC"/>
              </a:defRPr>
            </a:pPr>
            <a:r>
              <a:t>项目、活动、内部成员、外部参与者、报名审核、问卷、证书/证明和台账。</a:t>
            </a:r>
          </a:p>
        </p:txBody>
      </p:sp>
      <p:sp>
        <p:nvSpPr>
          <p:cNvPr id="10" name="矩形 9">
            <a:extLst xmlns:a="http://schemas.openxmlformats.org/drawingml/2006/main">
              <a:ext uri="{FF2B5EF4-FFF2-40B4-BE49-F238E27FC236}">
                <a16:creationId xmlns:a16="http://schemas.microsoft.com/office/drawing/2014/main" id="{D00E1B55-BF39-4C49-AE05-D1ADCB3AF416}"/>
              </a:ext>
            </a:extLst>
          </p:cNvPr>
          <p:cNvSpPr>
            <a:spLocks xmlns:a="http://schemas.openxmlformats.org/drawingml/2006/main" noGrp="1"/>
          </p:cNvSpPr>
          <p:nvPr/>
        </p:nvSpPr>
        <p:spPr>
          <a:xfrm xmlns:a="http://schemas.openxmlformats.org/drawingml/2006/main">
            <a:off x="552450" y="2933700"/>
            <a:ext cx="552450" cy="266700"/>
          </a:xfrm>
          <a:prstGeom xmlns:a="http://schemas.openxmlformats.org/drawingml/2006/main" prst="rect">
            <a:avLst/>
          </a:prstGeom>
        </p:spPr>
        <p:txBody>
          <a:bodyPr xmlns:a="http://schemas.openxmlformats.org/drawingml/2006/main" lIns="0" tIns="0" rIns="0" bIns="0" anchor="ctr">
            <a:normAutofit fontScale="93333"/>
          </a:bodyPr>
          <a:lstStyle xmlns:a="http://schemas.openxmlformats.org/drawingml/2006/main"/>
          <a:p xmlns:a="http://schemas.openxmlformats.org/drawingml/2006/main">
            <a:pPr algn="ctr">
              <a:buNone/>
              <a:defRPr sz="1875" b="1">
                <a:solidFill>
                  <a:srgbClr val="FF6B35"/>
                </a:solidFill>
                <a:latin typeface="PingFang SC"/>
                <a:ea typeface="PingFang SC"/>
                <a:cs typeface="PingFang SC"/>
              </a:defRPr>
            </a:pPr>
            <a:r>
              <a:t>02</a:t>
            </a:r>
          </a:p>
        </p:txBody>
      </p:sp>
      <p:sp>
        <p:nvSpPr>
          <p:cNvPr id="11" name="矩形 10">
            <a:extLst xmlns:a="http://schemas.openxmlformats.org/drawingml/2006/main">
              <a:ext uri="{FF2B5EF4-FFF2-40B4-BE49-F238E27FC236}">
                <a16:creationId xmlns:a16="http://schemas.microsoft.com/office/drawing/2014/main" id="{9C3358B7-475B-4D13-9E9B-9EE18F2C6B97}"/>
              </a:ext>
            </a:extLst>
          </p:cNvPr>
          <p:cNvSpPr>
            <a:spLocks xmlns:a="http://schemas.openxmlformats.org/drawingml/2006/main" noGrp="1"/>
          </p:cNvSpPr>
          <p:nvPr/>
        </p:nvSpPr>
        <p:spPr>
          <a:xfrm xmlns:a="http://schemas.openxmlformats.org/drawingml/2006/main">
            <a:off x="1257300" y="2876550"/>
            <a:ext cx="3905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000000"/>
                </a:solidFill>
                <a:latin typeface="PingFang SC"/>
                <a:ea typeface="PingFang SC"/>
                <a:cs typeface="PingFang SC"/>
              </a:defRPr>
            </a:pPr>
            <a:r>
              <a:t>V2 AI 增强</a:t>
            </a:r>
          </a:p>
        </p:txBody>
      </p:sp>
      <p:sp>
        <p:nvSpPr>
          <p:cNvPr id="12" name="矩形 11">
            <a:extLst xmlns:a="http://schemas.openxmlformats.org/drawingml/2006/main">
              <a:ext uri="{FF2B5EF4-FFF2-40B4-BE49-F238E27FC236}">
                <a16:creationId xmlns:a16="http://schemas.microsoft.com/office/drawing/2014/main" id="{EE04C6DD-895B-49B0-A8EF-5AADC262C387}"/>
              </a:ext>
            </a:extLst>
          </p:cNvPr>
          <p:cNvSpPr>
            <a:spLocks xmlns:a="http://schemas.openxmlformats.org/drawingml/2006/main" noGrp="1"/>
          </p:cNvSpPr>
          <p:nvPr/>
        </p:nvSpPr>
        <p:spPr>
          <a:xfrm xmlns:a="http://schemas.openxmlformats.org/drawingml/2006/main">
            <a:off x="1257300" y="3200400"/>
            <a:ext cx="4286250" cy="247650"/>
          </a:xfrm>
          <a:prstGeom xmlns:a="http://schemas.openxmlformats.org/drawingml/2006/main" prst="rect">
            <a:avLst/>
          </a:prstGeom>
        </p:spPr>
        <p:txBody>
          <a:bodyPr xmlns:a="http://schemas.openxmlformats.org/drawingml/2006/main" lIns="0" tIns="0" rIns="0" bIns="0" anchor="t">
            <a:normAutofit fontScale="76658"/>
          </a:bodyPr>
          <a:lstStyle xmlns:a="http://schemas.openxmlformats.org/drawingml/2006/main"/>
          <a:p xmlns:a="http://schemas.openxmlformats.org/drawingml/2006/main">
            <a:pPr algn="l">
              <a:buNone/>
              <a:defRPr sz="1350" b="0">
                <a:solidFill>
                  <a:srgbClr val="555555"/>
                </a:solidFill>
                <a:latin typeface="PingFang SC"/>
                <a:ea typeface="PingFang SC"/>
                <a:cs typeface="PingFang SC"/>
              </a:defRPr>
            </a:pPr>
            <a:r>
              <a:t>外训方案生成、报名问答、资料问答、研讨纪要、评课分析和运营预警。</a:t>
            </a:r>
          </a:p>
        </p:txBody>
      </p:sp>
      <p:sp>
        <p:nvSpPr>
          <p:cNvPr id="13" name="矩形 12">
            <a:extLst xmlns:a="http://schemas.openxmlformats.org/drawingml/2006/main">
              <a:ext uri="{FF2B5EF4-FFF2-40B4-BE49-F238E27FC236}">
                <a16:creationId xmlns:a16="http://schemas.microsoft.com/office/drawing/2014/main" id="{5B374D9F-235D-473A-BBFB-28019D831980}"/>
              </a:ext>
            </a:extLst>
          </p:cNvPr>
          <p:cNvSpPr>
            <a:spLocks xmlns:a="http://schemas.openxmlformats.org/drawingml/2006/main" noGrp="1"/>
          </p:cNvSpPr>
          <p:nvPr/>
        </p:nvSpPr>
        <p:spPr>
          <a:xfrm xmlns:a="http://schemas.openxmlformats.org/drawingml/2006/main">
            <a:off x="552450" y="3676650"/>
            <a:ext cx="552450" cy="266700"/>
          </a:xfrm>
          <a:prstGeom xmlns:a="http://schemas.openxmlformats.org/drawingml/2006/main" prst="rect">
            <a:avLst/>
          </a:prstGeom>
        </p:spPr>
        <p:txBody>
          <a:bodyPr xmlns:a="http://schemas.openxmlformats.org/drawingml/2006/main" lIns="0" tIns="0" rIns="0" bIns="0" anchor="ctr">
            <a:normAutofit fontScale="93333"/>
          </a:bodyPr>
          <a:lstStyle xmlns:a="http://schemas.openxmlformats.org/drawingml/2006/main"/>
          <a:p xmlns:a="http://schemas.openxmlformats.org/drawingml/2006/main">
            <a:pPr algn="ctr">
              <a:buNone/>
              <a:defRPr sz="1875" b="1">
                <a:solidFill>
                  <a:srgbClr val="FF6B35"/>
                </a:solidFill>
                <a:latin typeface="PingFang SC"/>
                <a:ea typeface="PingFang SC"/>
                <a:cs typeface="PingFang SC"/>
              </a:defRPr>
            </a:pPr>
            <a:r>
              <a:t>03</a:t>
            </a:r>
          </a:p>
        </p:txBody>
      </p:sp>
      <p:sp>
        <p:nvSpPr>
          <p:cNvPr id="14" name="矩形 13">
            <a:extLst xmlns:a="http://schemas.openxmlformats.org/drawingml/2006/main">
              <a:ext uri="{FF2B5EF4-FFF2-40B4-BE49-F238E27FC236}">
                <a16:creationId xmlns:a16="http://schemas.microsoft.com/office/drawing/2014/main" id="{8DEE9E36-68D3-4976-9F9C-D587E9A7589B}"/>
              </a:ext>
            </a:extLst>
          </p:cNvPr>
          <p:cNvSpPr>
            <a:spLocks xmlns:a="http://schemas.openxmlformats.org/drawingml/2006/main" noGrp="1"/>
          </p:cNvSpPr>
          <p:nvPr/>
        </p:nvSpPr>
        <p:spPr>
          <a:xfrm xmlns:a="http://schemas.openxmlformats.org/drawingml/2006/main">
            <a:off x="1257300" y="3619500"/>
            <a:ext cx="3905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000000"/>
                </a:solidFill>
                <a:latin typeface="PingFang SC"/>
                <a:ea typeface="PingFang SC"/>
                <a:cs typeface="PingFang SC"/>
              </a:defRPr>
            </a:pPr>
            <a:r>
              <a:t>V3 效果运营</a:t>
            </a:r>
          </a:p>
        </p:txBody>
      </p:sp>
      <p:sp>
        <p:nvSpPr>
          <p:cNvPr id="15" name="矩形 14">
            <a:extLst xmlns:a="http://schemas.openxmlformats.org/drawingml/2006/main">
              <a:ext uri="{FF2B5EF4-FFF2-40B4-BE49-F238E27FC236}">
                <a16:creationId xmlns:a16="http://schemas.microsoft.com/office/drawing/2014/main" id="{9A56C8E4-02FE-40B6-879C-34CB2DBFABCA}"/>
              </a:ext>
            </a:extLst>
          </p:cNvPr>
          <p:cNvSpPr>
            <a:spLocks xmlns:a="http://schemas.openxmlformats.org/drawingml/2006/main" noGrp="1"/>
          </p:cNvSpPr>
          <p:nvPr/>
        </p:nvSpPr>
        <p:spPr>
          <a:xfrm xmlns:a="http://schemas.openxmlformats.org/drawingml/2006/main">
            <a:off x="1257300" y="3943350"/>
            <a:ext cx="4286250" cy="247650"/>
          </a:xfrm>
          <a:prstGeom xmlns:a="http://schemas.openxmlformats.org/drawingml/2006/main" prst="rect">
            <a:avLst/>
          </a:prstGeom>
        </p:spPr>
        <p:txBody>
          <a:bodyPr xmlns:a="http://schemas.openxmlformats.org/drawingml/2006/main" lIns="0" tIns="0" rIns="0" bIns="0" anchor="t">
            <a:normAutofit fontScale="79375"/>
          </a:bodyPr>
          <a:lstStyle xmlns:a="http://schemas.openxmlformats.org/drawingml/2006/main"/>
          <a:p xmlns:a="http://schemas.openxmlformats.org/drawingml/2006/main">
            <a:pPr algn="l">
              <a:buNone/>
              <a:defRPr sz="1350" b="0">
                <a:solidFill>
                  <a:srgbClr val="555555"/>
                </a:solidFill>
                <a:latin typeface="PingFang SC"/>
                <a:ea typeface="PingFang SC"/>
                <a:cs typeface="PingFang SC"/>
              </a:defRPr>
            </a:pPr>
            <a:r>
              <a:t>活动前/后对比、客户/伙伴组织报告、转化线索、复训建议和驾驶舱。</a:t>
            </a:r>
          </a:p>
        </p:txBody>
      </p:sp>
      <p:sp>
        <p:nvSpPr>
          <p:cNvPr id="16" name="矩形 15">
            <a:extLst xmlns:a="http://schemas.openxmlformats.org/drawingml/2006/main">
              <a:ext uri="{FF2B5EF4-FFF2-40B4-BE49-F238E27FC236}">
                <a16:creationId xmlns:a16="http://schemas.microsoft.com/office/drawing/2014/main" id="{95215A30-234C-4328-AC96-C9C95E6FC87A}"/>
              </a:ext>
            </a:extLst>
          </p:cNvPr>
          <p:cNvSpPr>
            <a:spLocks xmlns:a="http://schemas.openxmlformats.org/drawingml/2006/main" noGrp="1"/>
          </p:cNvSpPr>
          <p:nvPr/>
        </p:nvSpPr>
        <p:spPr>
          <a:xfrm xmlns:a="http://schemas.openxmlformats.org/drawingml/2006/main">
            <a:off x="552450" y="4419600"/>
            <a:ext cx="552450" cy="266700"/>
          </a:xfrm>
          <a:prstGeom xmlns:a="http://schemas.openxmlformats.org/drawingml/2006/main" prst="rect">
            <a:avLst/>
          </a:prstGeom>
        </p:spPr>
        <p:txBody>
          <a:bodyPr xmlns:a="http://schemas.openxmlformats.org/drawingml/2006/main" lIns="0" tIns="0" rIns="0" bIns="0" anchor="ctr">
            <a:normAutofit fontScale="93333"/>
          </a:bodyPr>
          <a:lstStyle xmlns:a="http://schemas.openxmlformats.org/drawingml/2006/main"/>
          <a:p xmlns:a="http://schemas.openxmlformats.org/drawingml/2006/main">
            <a:pPr algn="ctr">
              <a:buNone/>
              <a:defRPr sz="1875" b="1">
                <a:solidFill>
                  <a:srgbClr val="FF6B35"/>
                </a:solidFill>
                <a:latin typeface="PingFang SC"/>
                <a:ea typeface="PingFang SC"/>
                <a:cs typeface="PingFang SC"/>
              </a:defRPr>
            </a:pPr>
            <a:r>
              <a:t>04</a:t>
            </a:r>
          </a:p>
        </p:txBody>
      </p:sp>
      <p:sp>
        <p:nvSpPr>
          <p:cNvPr id="17" name="矩形 16">
            <a:extLst xmlns:a="http://schemas.openxmlformats.org/drawingml/2006/main">
              <a:ext uri="{FF2B5EF4-FFF2-40B4-BE49-F238E27FC236}">
                <a16:creationId xmlns:a16="http://schemas.microsoft.com/office/drawing/2014/main" id="{C6285AAA-BF78-468C-A55C-59EC5789C3AE}"/>
              </a:ext>
            </a:extLst>
          </p:cNvPr>
          <p:cNvSpPr>
            <a:spLocks xmlns:a="http://schemas.openxmlformats.org/drawingml/2006/main" noGrp="1"/>
          </p:cNvSpPr>
          <p:nvPr/>
        </p:nvSpPr>
        <p:spPr>
          <a:xfrm xmlns:a="http://schemas.openxmlformats.org/drawingml/2006/main">
            <a:off x="1257300" y="4362450"/>
            <a:ext cx="3905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000000"/>
                </a:solidFill>
                <a:latin typeface="PingFang SC"/>
                <a:ea typeface="PingFang SC"/>
                <a:cs typeface="PingFang SC"/>
              </a:defRPr>
            </a:pPr>
            <a:r>
              <a:t>V4 场景复制</a:t>
            </a:r>
          </a:p>
        </p:txBody>
      </p:sp>
      <p:sp>
        <p:nvSpPr>
          <p:cNvPr id="18" name="矩形 17">
            <a:extLst xmlns:a="http://schemas.openxmlformats.org/drawingml/2006/main">
              <a:ext uri="{FF2B5EF4-FFF2-40B4-BE49-F238E27FC236}">
                <a16:creationId xmlns:a16="http://schemas.microsoft.com/office/drawing/2014/main" id="{7D2C58A1-6CDD-48A1-B405-679A009C3704}"/>
              </a:ext>
            </a:extLst>
          </p:cNvPr>
          <p:cNvSpPr>
            <a:spLocks xmlns:a="http://schemas.openxmlformats.org/drawingml/2006/main" noGrp="1"/>
          </p:cNvSpPr>
          <p:nvPr/>
        </p:nvSpPr>
        <p:spPr>
          <a:xfrm xmlns:a="http://schemas.openxmlformats.org/drawingml/2006/main">
            <a:off x="1257300" y="4686300"/>
            <a:ext cx="4286250" cy="247650"/>
          </a:xfrm>
          <a:prstGeom xmlns:a="http://schemas.openxmlformats.org/drawingml/2006/main" prst="rect">
            <a:avLst/>
          </a:prstGeom>
        </p:spPr>
        <p:txBody>
          <a:bodyPr xmlns:a="http://schemas.openxmlformats.org/drawingml/2006/main" lIns="0" tIns="0" rIns="0" bIns="0" anchor="t">
            <a:normAutofit fontScale="73903"/>
          </a:bodyPr>
          <a:lstStyle xmlns:a="http://schemas.openxmlformats.org/drawingml/2006/main"/>
          <a:p xmlns:a="http://schemas.openxmlformats.org/drawingml/2006/main">
            <a:pPr algn="l">
              <a:buNone/>
              <a:defRPr sz="1350" b="0">
                <a:solidFill>
                  <a:srgbClr val="555555"/>
                </a:solidFill>
                <a:latin typeface="PingFang SC"/>
                <a:ea typeface="PingFang SC"/>
                <a:cs typeface="PingFang SC"/>
              </a:defRPr>
            </a:pPr>
            <a:r>
              <a:t>沉淀企业内训、客户培训、伙伴培训、认证培训、跨校教师研修等场景包。</a:t>
            </a:r>
          </a:p>
        </p:txBody>
      </p:sp>
      <p:sp>
        <p:nvSpPr>
          <p:cNvPr id="19" name="矩形 18">
            <a:extLst xmlns:a="http://schemas.openxmlformats.org/drawingml/2006/main">
              <a:ext uri="{FF2B5EF4-FFF2-40B4-BE49-F238E27FC236}">
                <a16:creationId xmlns:a16="http://schemas.microsoft.com/office/drawing/2014/main" id="{6A030BC2-970D-4EA5-97E9-35D870B04B15}"/>
              </a:ext>
            </a:extLst>
          </p:cNvPr>
          <p:cNvSpPr>
            <a:spLocks xmlns:a="http://schemas.openxmlformats.org/drawingml/2006/main" noGrp="1"/>
          </p:cNvSpPr>
          <p:nvPr/>
        </p:nvSpPr>
        <p:spPr>
          <a:xfrm xmlns:a="http://schemas.openxmlformats.org/drawingml/2006/main">
            <a:off x="552450" y="5162550"/>
            <a:ext cx="552450" cy="266700"/>
          </a:xfrm>
          <a:prstGeom xmlns:a="http://schemas.openxmlformats.org/drawingml/2006/main" prst="rect">
            <a:avLst/>
          </a:prstGeom>
        </p:spPr>
        <p:txBody>
          <a:bodyPr xmlns:a="http://schemas.openxmlformats.org/drawingml/2006/main" lIns="0" tIns="0" rIns="0" bIns="0" anchor="ctr">
            <a:normAutofit fontScale="93333"/>
          </a:bodyPr>
          <a:lstStyle xmlns:a="http://schemas.openxmlformats.org/drawingml/2006/main"/>
          <a:p xmlns:a="http://schemas.openxmlformats.org/drawingml/2006/main">
            <a:pPr algn="ctr">
              <a:buNone/>
              <a:defRPr sz="1875" b="1">
                <a:solidFill>
                  <a:srgbClr val="FF6B35"/>
                </a:solidFill>
                <a:latin typeface="PingFang SC"/>
                <a:ea typeface="PingFang SC"/>
                <a:cs typeface="PingFang SC"/>
              </a:defRPr>
            </a:pPr>
            <a:r>
              <a:t>05</a:t>
            </a:r>
          </a:p>
        </p:txBody>
      </p:sp>
      <p:sp>
        <p:nvSpPr>
          <p:cNvPr id="20" name="矩形 19">
            <a:extLst xmlns:a="http://schemas.openxmlformats.org/drawingml/2006/main">
              <a:ext uri="{FF2B5EF4-FFF2-40B4-BE49-F238E27FC236}">
                <a16:creationId xmlns:a16="http://schemas.microsoft.com/office/drawing/2014/main" id="{8D056F5C-7429-41E2-8A3B-C5118FC31E69}"/>
              </a:ext>
            </a:extLst>
          </p:cNvPr>
          <p:cNvSpPr>
            <a:spLocks xmlns:a="http://schemas.openxmlformats.org/drawingml/2006/main" noGrp="1"/>
          </p:cNvSpPr>
          <p:nvPr/>
        </p:nvSpPr>
        <p:spPr>
          <a:xfrm xmlns:a="http://schemas.openxmlformats.org/drawingml/2006/main">
            <a:off x="1257300" y="5105400"/>
            <a:ext cx="3905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000000"/>
                </a:solidFill>
                <a:latin typeface="PingFang SC"/>
                <a:ea typeface="PingFang SC"/>
                <a:cs typeface="PingFang SC"/>
              </a:defRPr>
            </a:pPr>
            <a:r>
              <a:t>V5 商业化增长</a:t>
            </a:r>
          </a:p>
        </p:txBody>
      </p:sp>
      <p:sp>
        <p:nvSpPr>
          <p:cNvPr id="21" name="矩形 20">
            <a:extLst xmlns:a="http://schemas.openxmlformats.org/drawingml/2006/main">
              <a:ext uri="{FF2B5EF4-FFF2-40B4-BE49-F238E27FC236}">
                <a16:creationId xmlns:a16="http://schemas.microsoft.com/office/drawing/2014/main" id="{559CA98E-2248-4CF6-821F-0ED736C0D92D}"/>
              </a:ext>
            </a:extLst>
          </p:cNvPr>
          <p:cNvSpPr>
            <a:spLocks xmlns:a="http://schemas.openxmlformats.org/drawingml/2006/main" noGrp="1"/>
          </p:cNvSpPr>
          <p:nvPr/>
        </p:nvSpPr>
        <p:spPr>
          <a:xfrm xmlns:a="http://schemas.openxmlformats.org/drawingml/2006/main">
            <a:off x="1257300" y="5429250"/>
            <a:ext cx="4286250" cy="247650"/>
          </a:xfrm>
          <a:prstGeom xmlns:a="http://schemas.openxmlformats.org/drawingml/2006/main" prst="rect">
            <a:avLst/>
          </a:prstGeom>
        </p:spPr>
        <p:txBody>
          <a:bodyPr xmlns:a="http://schemas.openxmlformats.org/drawingml/2006/main" lIns="0" tIns="0" rIns="0" bIns="0" anchor="t">
            <a:normAutofit fontScale="86581"/>
          </a:bodyPr>
          <a:lstStyle xmlns:a="http://schemas.openxmlformats.org/drawingml/2006/main"/>
          <a:p xmlns:a="http://schemas.openxmlformats.org/drawingml/2006/main">
            <a:pPr algn="l">
              <a:buNone/>
              <a:defRPr sz="1350" b="0">
                <a:solidFill>
                  <a:srgbClr val="555555"/>
                </a:solidFill>
                <a:latin typeface="PingFang SC"/>
                <a:ea typeface="PingFang SC"/>
                <a:cs typeface="PingFang SC"/>
              </a:defRPr>
            </a:pPr>
            <a:r>
              <a:t>套餐、资源包、外训服务、Token 流量、运营服务和渠道合作。</a:t>
            </a:r>
          </a:p>
        </p:txBody>
      </p:sp>
      <p:sp>
        <p:nvSpPr>
          <p:cNvPr id="22" name="矩形 21">
            <a:extLst xmlns:a="http://schemas.openxmlformats.org/drawingml/2006/main">
              <a:ext uri="{FF2B5EF4-FFF2-40B4-BE49-F238E27FC236}">
                <a16:creationId xmlns:a16="http://schemas.microsoft.com/office/drawing/2014/main" id="{3D67FE7E-8104-4CE8-A589-D934BF42301D}"/>
              </a:ext>
            </a:extLst>
          </p:cNvPr>
          <p:cNvSpPr>
            <a:spLocks xmlns:a="http://schemas.openxmlformats.org/drawingml/2006/main" noGrp="1"/>
          </p:cNvSpPr>
          <p:nvPr/>
        </p:nvSpPr>
        <p:spPr>
          <a:xfrm xmlns:a="http://schemas.openxmlformats.org/drawingml/2006/main">
            <a:off x="6553200" y="2076450"/>
            <a:ext cx="4953000" cy="33718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23" name="矩形 22">
            <a:extLst xmlns:a="http://schemas.openxmlformats.org/drawingml/2006/main">
              <a:ext uri="{FF2B5EF4-FFF2-40B4-BE49-F238E27FC236}">
                <a16:creationId xmlns:a16="http://schemas.microsoft.com/office/drawing/2014/main" id="{437F77B2-B936-4488-A7D4-3C20FC52F0F6}"/>
              </a:ext>
            </a:extLst>
          </p:cNvPr>
          <p:cNvSpPr>
            <a:spLocks xmlns:a="http://schemas.openxmlformats.org/drawingml/2006/main" noGrp="1"/>
          </p:cNvSpPr>
          <p:nvPr/>
        </p:nvSpPr>
        <p:spPr>
          <a:xfrm xmlns:a="http://schemas.openxmlformats.org/drawingml/2006/main">
            <a:off x="6953250" y="2457450"/>
            <a:ext cx="4171950" cy="3619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100" b="1">
                <a:solidFill>
                  <a:srgbClr val="FFFFFF"/>
                </a:solidFill>
                <a:latin typeface="PingFang SC"/>
                <a:ea typeface="PingFang SC"/>
                <a:cs typeface="PingFang SC"/>
              </a:defRPr>
            </a:pPr>
            <a:r>
              <a:t>实施重点</a:t>
            </a:r>
          </a:p>
        </p:txBody>
      </p:sp>
      <p:sp>
        <p:nvSpPr>
          <p:cNvPr id="24" name="矩形 23">
            <a:extLst xmlns:a="http://schemas.openxmlformats.org/drawingml/2006/main">
              <a:ext uri="{FF2B5EF4-FFF2-40B4-BE49-F238E27FC236}">
                <a16:creationId xmlns:a16="http://schemas.microsoft.com/office/drawing/2014/main" id="{AB43872B-21A1-4B96-B770-5CDC54C87E57}"/>
              </a:ext>
            </a:extLst>
          </p:cNvPr>
          <p:cNvSpPr>
            <a:spLocks xmlns:a="http://schemas.openxmlformats.org/drawingml/2006/main" noGrp="1"/>
          </p:cNvSpPr>
          <p:nvPr/>
        </p:nvSpPr>
        <p:spPr>
          <a:xfrm xmlns:a="http://schemas.openxmlformats.org/drawingml/2006/main">
            <a:off x="7067550" y="3181350"/>
            <a:ext cx="3924300" cy="1676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FFFFFF"/>
                </a:solidFill>
                <a:latin typeface="PingFang SC"/>
                <a:ea typeface="PingFang SC"/>
                <a:cs typeface="PingFang SC"/>
              </a:defRPr>
            </a:pPr>
            <a:r>
              <a:t>先跑通一个标准外训活动，再把报名、权限、数据、智能体和模板沉淀为可复制能力。</a:t>
            </a:r>
          </a:p>
          <a:p xmlns:a="http://schemas.openxmlformats.org/drawingml/2006/main">
            <a:pPr algn="l">
              <a:buNone/>
              <a:defRPr sz="1500" b="0">
                <a:solidFill>
                  <a:srgbClr val="FFFFFF"/>
                </a:solidFill>
                <a:latin typeface="PingFang SC"/>
                <a:ea typeface="PingFang SC"/>
                <a:cs typeface="PingFang SC"/>
              </a:defRPr>
            </a:pPr>
            <a:r>
              <a:t>每个阶段都保留人工审核、数据隔离、成本监控和账号有效期。</a:t>
            </a:r>
          </a:p>
        </p:txBody>
      </p:sp>
      <p:sp>
        <p:nvSpPr>
          <p:cNvPr id="25" name="矩形 24">
            <a:extLst xmlns:a="http://schemas.openxmlformats.org/drawingml/2006/main">
              <a:ext uri="{FF2B5EF4-FFF2-40B4-BE49-F238E27FC236}">
                <a16:creationId xmlns:a16="http://schemas.microsoft.com/office/drawing/2014/main" id="{E056D5F7-E528-4B5E-B6B0-18C70AC0AEB5}"/>
              </a:ext>
            </a:extLst>
          </p:cNvPr>
          <p:cNvSpPr>
            <a:spLocks xmlns:a="http://schemas.openxmlformats.org/drawingml/2006/main" noGrp="1"/>
          </p:cNvSpPr>
          <p:nvPr/>
        </p:nvSpPr>
        <p:spPr>
          <a:xfrm xmlns:a="http://schemas.openxmlformats.org/drawingml/2006/main">
            <a:off x="838200" y="5772150"/>
            <a:ext cx="10515600"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725" b="1">
                <a:solidFill>
                  <a:srgbClr val="000000"/>
                </a:solidFill>
                <a:latin typeface="PingFang SC"/>
                <a:ea typeface="PingFang SC"/>
                <a:cs typeface="PingFang SC"/>
              </a:defRPr>
            </a:pPr>
            <a:r>
              <a:t>价值：让内外训发展活动从项目制人力驱动，逐步升级为平台化、智能化、可规模复制的产品能力。</a:t>
            </a:r>
          </a:p>
        </p:txBody>
      </p:sp>
    </p:spTree>
    <p:extLst>
      <p:ext uri="{BB962C8B-B14F-4D97-AF65-F5344CB8AC3E}">
        <p14:creationId xmlns:p14="http://schemas.microsoft.com/office/powerpoint/2010/main" val="21177667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1FAAFE91-C5DB-4806-B18F-74CF96947103}"/>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商业化套件</a:t>
            </a:r>
          </a:p>
        </p:txBody>
      </p:sp>
      <p:sp>
        <p:nvSpPr>
          <p:cNvPr id="3" name="矩形 2">
            <a:extLst xmlns:a="http://schemas.openxmlformats.org/drawingml/2006/main">
              <a:ext uri="{FF2B5EF4-FFF2-40B4-BE49-F238E27FC236}">
                <a16:creationId xmlns:a16="http://schemas.microsoft.com/office/drawing/2014/main" id="{8239F66D-7E13-45EA-9925-9DBBC743DB69}"/>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700" b="1">
                <a:solidFill>
                  <a:srgbClr val="000000"/>
                </a:solidFill>
                <a:latin typeface="PingFang SC"/>
                <a:ea typeface="PingFang SC"/>
                <a:cs typeface="PingFang SC"/>
              </a:defRPr>
            </a:pPr>
            <a:r>
              <a:t>围绕内外训发展活动形成“平台 + 资源 + 服务 + 算力”的组合包</a:t>
            </a:r>
          </a:p>
        </p:txBody>
      </p:sp>
      <p:sp>
        <p:nvSpPr>
          <p:cNvPr id="4" name="矩形 3">
            <a:extLst xmlns:a="http://schemas.openxmlformats.org/drawingml/2006/main">
              <a:ext uri="{FF2B5EF4-FFF2-40B4-BE49-F238E27FC236}">
                <a16:creationId xmlns:a16="http://schemas.microsoft.com/office/drawing/2014/main" id="{1842B12F-19AD-4098-ABC2-9F95C60CC62C}"/>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E058A598-445F-45F7-B2D3-7E20CB256E3A}"/>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16</a:t>
            </a:r>
          </a:p>
        </p:txBody>
      </p:sp>
      <p:sp>
        <p:nvSpPr>
          <p:cNvPr id="6" name="矩形 5">
            <a:extLst xmlns:a="http://schemas.openxmlformats.org/drawingml/2006/main">
              <a:ext uri="{FF2B5EF4-FFF2-40B4-BE49-F238E27FC236}">
                <a16:creationId xmlns:a16="http://schemas.microsoft.com/office/drawing/2014/main" id="{4F4D457B-DCAB-4BBC-858D-BBD65D139741}"/>
              </a:ext>
            </a:extLst>
          </p:cNvPr>
          <p:cNvSpPr>
            <a:spLocks xmlns:a="http://schemas.openxmlformats.org/drawingml/2006/main" noGrp="1"/>
          </p:cNvSpPr>
          <p:nvPr/>
        </p:nvSpPr>
        <p:spPr>
          <a:xfrm xmlns:a="http://schemas.openxmlformats.org/drawingml/2006/main">
            <a:off x="390525" y="1866900"/>
            <a:ext cx="2095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555555"/>
                </a:solidFill>
                <a:latin typeface="PingFang SC"/>
                <a:ea typeface="PingFang SC"/>
                <a:cs typeface="PingFang SC"/>
              </a:defRPr>
            </a:pPr>
            <a:r>
              <a:t>套件结构</a:t>
            </a:r>
          </a:p>
        </p:txBody>
      </p:sp>
      <p:sp>
        <p:nvSpPr>
          <p:cNvPr id="7" name="矩形 6">
            <a:extLst xmlns:a="http://schemas.openxmlformats.org/drawingml/2006/main">
              <a:ext uri="{FF2B5EF4-FFF2-40B4-BE49-F238E27FC236}">
                <a16:creationId xmlns:a16="http://schemas.microsoft.com/office/drawing/2014/main" id="{356CCF7C-F039-48BB-A08E-AFB7ADD8831B}"/>
              </a:ext>
            </a:extLst>
          </p:cNvPr>
          <p:cNvSpPr>
            <a:spLocks xmlns:a="http://schemas.openxmlformats.org/drawingml/2006/main" noGrp="1"/>
          </p:cNvSpPr>
          <p:nvPr/>
        </p:nvSpPr>
        <p:spPr>
          <a:xfrm xmlns:a="http://schemas.openxmlformats.org/drawingml/2006/main">
            <a:off x="390525" y="2324100"/>
            <a:ext cx="5334000" cy="23812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8" name="矩形 7">
            <a:extLst xmlns:a="http://schemas.openxmlformats.org/drawingml/2006/main">
              <a:ext uri="{FF2B5EF4-FFF2-40B4-BE49-F238E27FC236}">
                <a16:creationId xmlns:a16="http://schemas.microsoft.com/office/drawing/2014/main" id="{78978A75-2723-43FA-9354-84FD1E528659}"/>
              </a:ext>
            </a:extLst>
          </p:cNvPr>
          <p:cNvSpPr>
            <a:spLocks xmlns:a="http://schemas.openxmlformats.org/drawingml/2006/main" noGrp="1"/>
          </p:cNvSpPr>
          <p:nvPr/>
        </p:nvSpPr>
        <p:spPr>
          <a:xfrm xmlns:a="http://schemas.openxmlformats.org/drawingml/2006/main">
            <a:off x="619125" y="255270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025" b="1">
                <a:solidFill>
                  <a:srgbClr val="000000"/>
                </a:solidFill>
                <a:latin typeface="PingFang SC"/>
                <a:ea typeface="PingFang SC"/>
                <a:cs typeface="PingFang SC"/>
              </a:defRPr>
            </a:pPr>
            <a:r>
              <a:t>基础平台包</a:t>
            </a:r>
          </a:p>
        </p:txBody>
      </p:sp>
      <p:sp>
        <p:nvSpPr>
          <p:cNvPr id="9" name="矩形 8">
            <a:extLst xmlns:a="http://schemas.openxmlformats.org/drawingml/2006/main">
              <a:ext uri="{FF2B5EF4-FFF2-40B4-BE49-F238E27FC236}">
                <a16:creationId xmlns:a16="http://schemas.microsoft.com/office/drawing/2014/main" id="{8C7C8A22-2034-4C19-80E9-9A4846165106}"/>
              </a:ext>
            </a:extLst>
          </p:cNvPr>
          <p:cNvSpPr>
            <a:spLocks xmlns:a="http://schemas.openxmlformats.org/drawingml/2006/main" noGrp="1"/>
          </p:cNvSpPr>
          <p:nvPr/>
        </p:nvSpPr>
        <p:spPr>
          <a:xfrm xmlns:a="http://schemas.openxmlformats.org/drawingml/2006/main">
            <a:off x="619125" y="3009900"/>
            <a:ext cx="4876800" cy="1504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PingFang SC"/>
                <a:ea typeface="PingFang SC"/>
                <a:cs typeface="PingFang SC"/>
              </a:defRPr>
            </a:pPr>
            <a:r>
              <a:t>租户、组织、外部人员、空间、资料库、研习社、任务、消息、问卷、证书和发展档案等基础能力。</a:t>
            </a:r>
          </a:p>
        </p:txBody>
      </p:sp>
      <p:sp>
        <p:nvSpPr>
          <p:cNvPr id="10" name="矩形 9">
            <a:extLst xmlns:a="http://schemas.openxmlformats.org/drawingml/2006/main">
              <a:ext uri="{FF2B5EF4-FFF2-40B4-BE49-F238E27FC236}">
                <a16:creationId xmlns:a16="http://schemas.microsoft.com/office/drawing/2014/main" id="{20D1BAFD-009A-4025-B6F0-B298CED6B49E}"/>
              </a:ext>
            </a:extLst>
          </p:cNvPr>
          <p:cNvSpPr>
            <a:spLocks xmlns:a="http://schemas.openxmlformats.org/drawingml/2006/main" noGrp="1"/>
          </p:cNvSpPr>
          <p:nvPr/>
        </p:nvSpPr>
        <p:spPr>
          <a:xfrm xmlns:a="http://schemas.openxmlformats.org/drawingml/2006/main">
            <a:off x="6457950" y="2324100"/>
            <a:ext cx="5334000" cy="23812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1" name="矩形 10">
            <a:extLst xmlns:a="http://schemas.openxmlformats.org/drawingml/2006/main">
              <a:ext uri="{FF2B5EF4-FFF2-40B4-BE49-F238E27FC236}">
                <a16:creationId xmlns:a16="http://schemas.microsoft.com/office/drawing/2014/main" id="{3A19BBBB-F2D1-4F6E-B1F7-C645D0E35BA7}"/>
              </a:ext>
            </a:extLst>
          </p:cNvPr>
          <p:cNvSpPr>
            <a:spLocks xmlns:a="http://schemas.openxmlformats.org/drawingml/2006/main" noGrp="1"/>
          </p:cNvSpPr>
          <p:nvPr/>
        </p:nvSpPr>
        <p:spPr>
          <a:xfrm xmlns:a="http://schemas.openxmlformats.org/drawingml/2006/main">
            <a:off x="6686550" y="2514600"/>
            <a:ext cx="4876800" cy="571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875" b="1">
                <a:solidFill>
                  <a:srgbClr val="FF6B35"/>
                </a:solidFill>
                <a:latin typeface="PingFang SC"/>
                <a:ea typeface="PingFang SC"/>
                <a:cs typeface="PingFang SC"/>
              </a:defRPr>
            </a:pPr>
            <a:r>
              <a:t>内外训场景包</a:t>
            </a:r>
          </a:p>
          <a:p xmlns:a="http://schemas.openxmlformats.org/drawingml/2006/main">
            <a:pPr algn="l">
              <a:buNone/>
              <a:defRPr sz="1875" b="1">
                <a:solidFill>
                  <a:srgbClr val="FF6B35"/>
                </a:solidFill>
                <a:latin typeface="PingFang SC"/>
                <a:ea typeface="PingFang SC"/>
                <a:cs typeface="PingFang SC"/>
              </a:defRPr>
            </a:pPr>
            <a:r>
              <a:t>智能体底座</a:t>
            </a:r>
          </a:p>
        </p:txBody>
      </p:sp>
      <p:sp>
        <p:nvSpPr>
          <p:cNvPr id="12" name="矩形 11">
            <a:extLst xmlns:a="http://schemas.openxmlformats.org/drawingml/2006/main">
              <a:ext uri="{FF2B5EF4-FFF2-40B4-BE49-F238E27FC236}">
                <a16:creationId xmlns:a16="http://schemas.microsoft.com/office/drawing/2014/main" id="{D7BE789E-D005-4119-BA03-324C2258A80C}"/>
              </a:ext>
            </a:extLst>
          </p:cNvPr>
          <p:cNvSpPr>
            <a:spLocks xmlns:a="http://schemas.openxmlformats.org/drawingml/2006/main" noGrp="1"/>
          </p:cNvSpPr>
          <p:nvPr/>
        </p:nvSpPr>
        <p:spPr>
          <a:xfrm xmlns:a="http://schemas.openxmlformats.org/drawingml/2006/main">
            <a:off x="6686550" y="3200400"/>
            <a:ext cx="4876800" cy="1219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FFFFFF"/>
                </a:solidFill>
                <a:latin typeface="PingFang SC"/>
                <a:ea typeface="PingFang SC"/>
                <a:cs typeface="PingFang SC"/>
              </a:defRPr>
            </a:pPr>
            <a:r>
              <a:t>企业内训、客户培训、伙伴培训、认证培训、公开工作坊、跨校教师研修等模板，内置报名、任务、问卷、报告和智能体。</a:t>
            </a:r>
          </a:p>
        </p:txBody>
      </p:sp>
      <p:sp>
        <p:nvSpPr>
          <p:cNvPr id="13" name="矩形 12">
            <a:extLst xmlns:a="http://schemas.openxmlformats.org/drawingml/2006/main">
              <a:ext uri="{FF2B5EF4-FFF2-40B4-BE49-F238E27FC236}">
                <a16:creationId xmlns:a16="http://schemas.microsoft.com/office/drawing/2014/main" id="{149C2C60-6AD8-4EE3-95F9-867F3D357E7C}"/>
              </a:ext>
            </a:extLst>
          </p:cNvPr>
          <p:cNvSpPr>
            <a:spLocks xmlns:a="http://schemas.openxmlformats.org/drawingml/2006/main" noGrp="1"/>
          </p:cNvSpPr>
          <p:nvPr/>
        </p:nvSpPr>
        <p:spPr>
          <a:xfrm xmlns:a="http://schemas.openxmlformats.org/drawingml/2006/main">
            <a:off x="390525" y="5086350"/>
            <a:ext cx="11401425" cy="781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4" name="矩形 13">
            <a:extLst xmlns:a="http://schemas.openxmlformats.org/drawingml/2006/main">
              <a:ext uri="{FF2B5EF4-FFF2-40B4-BE49-F238E27FC236}">
                <a16:creationId xmlns:a16="http://schemas.microsoft.com/office/drawing/2014/main" id="{8AE856C6-343D-4FB4-9974-826910E8CBFE}"/>
              </a:ext>
            </a:extLst>
          </p:cNvPr>
          <p:cNvSpPr>
            <a:spLocks xmlns:a="http://schemas.openxmlformats.org/drawingml/2006/main" noGrp="1"/>
          </p:cNvSpPr>
          <p:nvPr/>
        </p:nvSpPr>
        <p:spPr>
          <a:xfrm xmlns:a="http://schemas.openxmlformats.org/drawingml/2006/main">
            <a:off x="695325" y="5276850"/>
            <a:ext cx="2000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PingFang SC"/>
                <a:ea typeface="PingFang SC"/>
                <a:cs typeface="PingFang SC"/>
              </a:defRPr>
            </a:pPr>
            <a:r>
              <a:t>商业化组件</a:t>
            </a:r>
          </a:p>
        </p:txBody>
      </p:sp>
      <p:sp>
        <p:nvSpPr>
          <p:cNvPr id="15" name="矩形 14">
            <a:extLst xmlns:a="http://schemas.openxmlformats.org/drawingml/2006/main">
              <a:ext uri="{FF2B5EF4-FFF2-40B4-BE49-F238E27FC236}">
                <a16:creationId xmlns:a16="http://schemas.microsoft.com/office/drawing/2014/main" id="{5B7EA9D2-067D-404B-8D57-F9D7651E992D}"/>
              </a:ext>
            </a:extLst>
          </p:cNvPr>
          <p:cNvSpPr>
            <a:spLocks xmlns:a="http://schemas.openxmlformats.org/drawingml/2006/main" noGrp="1"/>
          </p:cNvSpPr>
          <p:nvPr/>
        </p:nvSpPr>
        <p:spPr>
          <a:xfrm xmlns:a="http://schemas.openxmlformats.org/drawingml/2006/main">
            <a:off x="2800350" y="5200650"/>
            <a:ext cx="8477250" cy="457200"/>
          </a:xfrm>
          <a:prstGeom xmlns:a="http://schemas.openxmlformats.org/drawingml/2006/main" prst="rect">
            <a:avLst/>
          </a:prstGeom>
        </p:spPr>
        <p:txBody>
          <a:bodyPr xmlns:a="http://schemas.openxmlformats.org/drawingml/2006/main" lIns="0" tIns="0" rIns="0" bIns="0" anchor="ctr">
            <a:normAutofit fontScale="95211"/>
          </a:bodyPr>
          <a:lstStyle xmlns:a="http://schemas.openxmlformats.org/drawingml/2006/main"/>
          <a:p xmlns:a="http://schemas.openxmlformats.org/drawingml/2006/main">
            <a:pPr algn="l">
              <a:buNone/>
              <a:defRPr sz="1650" b="1">
                <a:solidFill>
                  <a:srgbClr val="000000"/>
                </a:solidFill>
                <a:latin typeface="PingFang SC"/>
                <a:ea typeface="PingFang SC"/>
                <a:cs typeface="PingFang SC"/>
              </a:defRPr>
            </a:pPr>
            <a:r>
              <a:t>以解决方案、套餐、资源包、外训运营服务和 Token 算力组合报价，支持试用、升级和增购。</a:t>
            </a:r>
          </a:p>
        </p:txBody>
      </p:sp>
      <p:sp>
        <p:nvSpPr>
          <p:cNvPr id="16" name="矩形 15">
            <a:extLst xmlns:a="http://schemas.openxmlformats.org/drawingml/2006/main">
              <a:ext uri="{FF2B5EF4-FFF2-40B4-BE49-F238E27FC236}">
                <a16:creationId xmlns:a16="http://schemas.microsoft.com/office/drawing/2014/main" id="{A9ABC284-8A93-4355-83B1-A6049912EEEE}"/>
              </a:ext>
            </a:extLst>
          </p:cNvPr>
          <p:cNvSpPr>
            <a:spLocks xmlns:a="http://schemas.openxmlformats.org/drawingml/2006/main" noGrp="1"/>
          </p:cNvSpPr>
          <p:nvPr/>
        </p:nvSpPr>
        <p:spPr>
          <a:xfrm xmlns:a="http://schemas.openxmlformats.org/drawingml/2006/main">
            <a:off x="1323975" y="6010275"/>
            <a:ext cx="1428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7" name="矩形 16">
            <a:extLst xmlns:a="http://schemas.openxmlformats.org/drawingml/2006/main">
              <a:ext uri="{FF2B5EF4-FFF2-40B4-BE49-F238E27FC236}">
                <a16:creationId xmlns:a16="http://schemas.microsoft.com/office/drawing/2014/main" id="{E0442BC8-6EFA-4503-AC4D-04731F24C47D}"/>
              </a:ext>
            </a:extLst>
          </p:cNvPr>
          <p:cNvSpPr>
            <a:spLocks xmlns:a="http://schemas.openxmlformats.org/drawingml/2006/main" noGrp="1"/>
          </p:cNvSpPr>
          <p:nvPr/>
        </p:nvSpPr>
        <p:spPr>
          <a:xfrm xmlns:a="http://schemas.openxmlformats.org/drawingml/2006/main">
            <a:off x="1419225" y="6067425"/>
            <a:ext cx="1238250" cy="2286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000000"/>
                </a:solidFill>
                <a:latin typeface="PingFang SC"/>
                <a:ea typeface="PingFang SC"/>
                <a:cs typeface="PingFang SC"/>
              </a:defRPr>
            </a:pPr>
            <a:r>
              <a:t>平台底座</a:t>
            </a:r>
          </a:p>
        </p:txBody>
      </p:sp>
      <p:sp>
        <p:nvSpPr>
          <p:cNvPr id="18" name="矩形 17">
            <a:extLst xmlns:a="http://schemas.openxmlformats.org/drawingml/2006/main">
              <a:ext uri="{FF2B5EF4-FFF2-40B4-BE49-F238E27FC236}">
                <a16:creationId xmlns:a16="http://schemas.microsoft.com/office/drawing/2014/main" id="{49C7E572-B117-4B52-B1C7-B9FC1319A75E}"/>
              </a:ext>
            </a:extLst>
          </p:cNvPr>
          <p:cNvSpPr>
            <a:spLocks xmlns:a="http://schemas.openxmlformats.org/drawingml/2006/main" noGrp="1"/>
          </p:cNvSpPr>
          <p:nvPr/>
        </p:nvSpPr>
        <p:spPr>
          <a:xfrm xmlns:a="http://schemas.openxmlformats.org/drawingml/2006/main">
            <a:off x="3248025" y="6010275"/>
            <a:ext cx="1428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9" name="矩形 18">
            <a:extLst xmlns:a="http://schemas.openxmlformats.org/drawingml/2006/main">
              <a:ext uri="{FF2B5EF4-FFF2-40B4-BE49-F238E27FC236}">
                <a16:creationId xmlns:a16="http://schemas.microsoft.com/office/drawing/2014/main" id="{6A57A9E2-A23E-49E7-A609-A2E8ED009539}"/>
              </a:ext>
            </a:extLst>
          </p:cNvPr>
          <p:cNvSpPr>
            <a:spLocks xmlns:a="http://schemas.openxmlformats.org/drawingml/2006/main" noGrp="1"/>
          </p:cNvSpPr>
          <p:nvPr/>
        </p:nvSpPr>
        <p:spPr>
          <a:xfrm xmlns:a="http://schemas.openxmlformats.org/drawingml/2006/main">
            <a:off x="3343275" y="6067425"/>
            <a:ext cx="1238250" cy="2286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000000"/>
                </a:solidFill>
                <a:latin typeface="PingFang SC"/>
                <a:ea typeface="PingFang SC"/>
                <a:cs typeface="PingFang SC"/>
              </a:defRPr>
            </a:pPr>
            <a:r>
              <a:t>外训资源包</a:t>
            </a:r>
          </a:p>
        </p:txBody>
      </p:sp>
      <p:sp>
        <p:nvSpPr>
          <p:cNvPr id="20" name="矩形 19">
            <a:extLst xmlns:a="http://schemas.openxmlformats.org/drawingml/2006/main">
              <a:ext uri="{FF2B5EF4-FFF2-40B4-BE49-F238E27FC236}">
                <a16:creationId xmlns:a16="http://schemas.microsoft.com/office/drawing/2014/main" id="{CADA7FCD-A8E7-4C37-ABCB-D49C21BCBFD7}"/>
              </a:ext>
            </a:extLst>
          </p:cNvPr>
          <p:cNvSpPr>
            <a:spLocks xmlns:a="http://schemas.openxmlformats.org/drawingml/2006/main" noGrp="1"/>
          </p:cNvSpPr>
          <p:nvPr/>
        </p:nvSpPr>
        <p:spPr>
          <a:xfrm xmlns:a="http://schemas.openxmlformats.org/drawingml/2006/main">
            <a:off x="5172075" y="6010275"/>
            <a:ext cx="1428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1" name="矩形 20">
            <a:extLst xmlns:a="http://schemas.openxmlformats.org/drawingml/2006/main">
              <a:ext uri="{FF2B5EF4-FFF2-40B4-BE49-F238E27FC236}">
                <a16:creationId xmlns:a16="http://schemas.microsoft.com/office/drawing/2014/main" id="{470FB79C-2F0A-40D9-940F-4794828BCB4F}"/>
              </a:ext>
            </a:extLst>
          </p:cNvPr>
          <p:cNvSpPr>
            <a:spLocks xmlns:a="http://schemas.openxmlformats.org/drawingml/2006/main" noGrp="1"/>
          </p:cNvSpPr>
          <p:nvPr/>
        </p:nvSpPr>
        <p:spPr>
          <a:xfrm xmlns:a="http://schemas.openxmlformats.org/drawingml/2006/main">
            <a:off x="5267325" y="6067425"/>
            <a:ext cx="1238250" cy="2286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000000"/>
                </a:solidFill>
                <a:latin typeface="PingFang SC"/>
                <a:ea typeface="PingFang SC"/>
                <a:cs typeface="PingFang SC"/>
              </a:defRPr>
            </a:pPr>
            <a:r>
              <a:t>智能体包</a:t>
            </a:r>
          </a:p>
        </p:txBody>
      </p:sp>
      <p:sp>
        <p:nvSpPr>
          <p:cNvPr id="22" name="矩形 21">
            <a:extLst xmlns:a="http://schemas.openxmlformats.org/drawingml/2006/main">
              <a:ext uri="{FF2B5EF4-FFF2-40B4-BE49-F238E27FC236}">
                <a16:creationId xmlns:a16="http://schemas.microsoft.com/office/drawing/2014/main" id="{957610B1-3D6E-433E-9A8B-114660037B6F}"/>
              </a:ext>
            </a:extLst>
          </p:cNvPr>
          <p:cNvSpPr>
            <a:spLocks xmlns:a="http://schemas.openxmlformats.org/drawingml/2006/main" noGrp="1"/>
          </p:cNvSpPr>
          <p:nvPr/>
        </p:nvSpPr>
        <p:spPr>
          <a:xfrm xmlns:a="http://schemas.openxmlformats.org/drawingml/2006/main">
            <a:off x="7096125" y="6010275"/>
            <a:ext cx="1428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3" name="矩形 22">
            <a:extLst xmlns:a="http://schemas.openxmlformats.org/drawingml/2006/main">
              <a:ext uri="{FF2B5EF4-FFF2-40B4-BE49-F238E27FC236}">
                <a16:creationId xmlns:a16="http://schemas.microsoft.com/office/drawing/2014/main" id="{3152A744-78F4-4A1A-82F5-3307E0233B4C}"/>
              </a:ext>
            </a:extLst>
          </p:cNvPr>
          <p:cNvSpPr>
            <a:spLocks xmlns:a="http://schemas.openxmlformats.org/drawingml/2006/main" noGrp="1"/>
          </p:cNvSpPr>
          <p:nvPr/>
        </p:nvSpPr>
        <p:spPr>
          <a:xfrm xmlns:a="http://schemas.openxmlformats.org/drawingml/2006/main">
            <a:off x="7191375" y="6067425"/>
            <a:ext cx="1238250" cy="2286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000000"/>
                </a:solidFill>
                <a:latin typeface="PingFang SC"/>
                <a:ea typeface="PingFang SC"/>
                <a:cs typeface="PingFang SC"/>
              </a:defRPr>
            </a:pPr>
            <a:r>
              <a:t>运营服务包</a:t>
            </a:r>
          </a:p>
        </p:txBody>
      </p:sp>
      <p:sp>
        <p:nvSpPr>
          <p:cNvPr id="24" name="矩形 23">
            <a:extLst xmlns:a="http://schemas.openxmlformats.org/drawingml/2006/main">
              <a:ext uri="{FF2B5EF4-FFF2-40B4-BE49-F238E27FC236}">
                <a16:creationId xmlns:a16="http://schemas.microsoft.com/office/drawing/2014/main" id="{55DBA1C4-0454-4335-8FFB-834B386663E8}"/>
              </a:ext>
            </a:extLst>
          </p:cNvPr>
          <p:cNvSpPr>
            <a:spLocks xmlns:a="http://schemas.openxmlformats.org/drawingml/2006/main" noGrp="1"/>
          </p:cNvSpPr>
          <p:nvPr/>
        </p:nvSpPr>
        <p:spPr>
          <a:xfrm xmlns:a="http://schemas.openxmlformats.org/drawingml/2006/main">
            <a:off x="9020175" y="6010275"/>
            <a:ext cx="1428750" cy="342900"/>
          </a:xfrm>
          <a:prstGeom xmlns:a="http://schemas.openxmlformats.org/drawingml/2006/main" prst="rect">
            <a:avLst/>
          </a:prstGeom>
          <a:solidFill xmlns:a="http://schemas.openxmlformats.org/drawingml/2006/main">
            <a:srgbClr val="FF6B35"/>
          </a:solidFill>
          <a:ln xmlns:a="http://schemas.openxmlformats.org/drawingml/2006/main" w="9525">
            <a:noFill/>
            <a:prstDash val="solid"/>
          </a:ln>
        </p:spPr>
      </p:sp>
      <p:sp>
        <p:nvSpPr>
          <p:cNvPr id="25" name="矩形 24">
            <a:extLst xmlns:a="http://schemas.openxmlformats.org/drawingml/2006/main">
              <a:ext uri="{FF2B5EF4-FFF2-40B4-BE49-F238E27FC236}">
                <a16:creationId xmlns:a16="http://schemas.microsoft.com/office/drawing/2014/main" id="{E65BEB6B-BBE7-4AA5-BE33-483E25DAC796}"/>
              </a:ext>
            </a:extLst>
          </p:cNvPr>
          <p:cNvSpPr>
            <a:spLocks xmlns:a="http://schemas.openxmlformats.org/drawingml/2006/main" noGrp="1"/>
          </p:cNvSpPr>
          <p:nvPr/>
        </p:nvSpPr>
        <p:spPr>
          <a:xfrm xmlns:a="http://schemas.openxmlformats.org/drawingml/2006/main">
            <a:off x="9115425" y="6067425"/>
            <a:ext cx="1238250" cy="2286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FFFFFF"/>
                </a:solidFill>
                <a:latin typeface="PingFang SC"/>
                <a:ea typeface="PingFang SC"/>
                <a:cs typeface="PingFang SC"/>
              </a:defRPr>
            </a:pPr>
            <a:r>
              <a:t>Token 算力包</a:t>
            </a:r>
          </a:p>
        </p:txBody>
      </p:sp>
    </p:spTree>
    <p:extLst>
      <p:ext uri="{BB962C8B-B14F-4D97-AF65-F5344CB8AC3E}">
        <p14:creationId xmlns:p14="http://schemas.microsoft.com/office/powerpoint/2010/main" val="183220912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53F92383-4772-4372-A565-B1AE0ABEF208}"/>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治理与边界</a:t>
            </a:r>
          </a:p>
        </p:txBody>
      </p:sp>
      <p:sp>
        <p:nvSpPr>
          <p:cNvPr id="3" name="矩形 2">
            <a:extLst xmlns:a="http://schemas.openxmlformats.org/drawingml/2006/main">
              <a:ext uri="{FF2B5EF4-FFF2-40B4-BE49-F238E27FC236}">
                <a16:creationId xmlns:a16="http://schemas.microsoft.com/office/drawing/2014/main" id="{955D6AF1-D74B-4EFE-BFF4-B42093F30E5E}"/>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775" b="1">
                <a:solidFill>
                  <a:srgbClr val="000000"/>
                </a:solidFill>
                <a:latin typeface="PingFang SC"/>
                <a:ea typeface="PingFang SC"/>
                <a:cs typeface="PingFang SC"/>
              </a:defRPr>
            </a:pPr>
            <a:r>
              <a:t>内外训产品需要同时处理外部身份、权限、质量和合规边界</a:t>
            </a:r>
          </a:p>
        </p:txBody>
      </p:sp>
      <p:sp>
        <p:nvSpPr>
          <p:cNvPr id="4" name="矩形 3">
            <a:extLst xmlns:a="http://schemas.openxmlformats.org/drawingml/2006/main">
              <a:ext uri="{FF2B5EF4-FFF2-40B4-BE49-F238E27FC236}">
                <a16:creationId xmlns:a16="http://schemas.microsoft.com/office/drawing/2014/main" id="{8BD0548E-E020-4C7E-BA14-562FBAA97550}"/>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F48C33D6-62F9-44CC-9C7A-68BD1F77D89F}"/>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17</a:t>
            </a:r>
          </a:p>
        </p:txBody>
      </p:sp>
      <p:sp>
        <p:nvSpPr>
          <p:cNvPr id="6" name="矩形 5">
            <a:extLst xmlns:a="http://schemas.openxmlformats.org/drawingml/2006/main">
              <a:ext uri="{FF2B5EF4-FFF2-40B4-BE49-F238E27FC236}">
                <a16:creationId xmlns:a16="http://schemas.microsoft.com/office/drawing/2014/main" id="{FBBFF39D-AFDE-4475-953A-8E28706B4A56}"/>
              </a:ext>
            </a:extLst>
          </p:cNvPr>
          <p:cNvSpPr>
            <a:spLocks xmlns:a="http://schemas.openxmlformats.org/drawingml/2006/main" noGrp="1"/>
          </p:cNvSpPr>
          <p:nvPr/>
        </p:nvSpPr>
        <p:spPr>
          <a:xfrm xmlns:a="http://schemas.openxmlformats.org/drawingml/2006/main">
            <a:off x="390525" y="1962150"/>
            <a:ext cx="5334000" cy="13525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7" name="矩形 6">
            <a:extLst xmlns:a="http://schemas.openxmlformats.org/drawingml/2006/main">
              <a:ext uri="{FF2B5EF4-FFF2-40B4-BE49-F238E27FC236}">
                <a16:creationId xmlns:a16="http://schemas.microsoft.com/office/drawing/2014/main" id="{293BCEDB-EB05-42CA-B786-4AC6984B713B}"/>
              </a:ext>
            </a:extLst>
          </p:cNvPr>
          <p:cNvSpPr>
            <a:spLocks xmlns:a="http://schemas.openxmlformats.org/drawingml/2006/main" noGrp="1"/>
          </p:cNvSpPr>
          <p:nvPr/>
        </p:nvSpPr>
        <p:spPr>
          <a:xfrm xmlns:a="http://schemas.openxmlformats.org/drawingml/2006/main">
            <a:off x="619125" y="219075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权限隔离</a:t>
            </a:r>
          </a:p>
        </p:txBody>
      </p:sp>
      <p:sp>
        <p:nvSpPr>
          <p:cNvPr id="8" name="矩形 7">
            <a:extLst xmlns:a="http://schemas.openxmlformats.org/drawingml/2006/main">
              <a:ext uri="{FF2B5EF4-FFF2-40B4-BE49-F238E27FC236}">
                <a16:creationId xmlns:a16="http://schemas.microsoft.com/office/drawing/2014/main" id="{86906E12-F90C-4636-BF0C-F3144CE3275E}"/>
              </a:ext>
            </a:extLst>
          </p:cNvPr>
          <p:cNvSpPr>
            <a:spLocks xmlns:a="http://schemas.openxmlformats.org/drawingml/2006/main" noGrp="1"/>
          </p:cNvSpPr>
          <p:nvPr/>
        </p:nvSpPr>
        <p:spPr>
          <a:xfrm xmlns:a="http://schemas.openxmlformats.org/drawingml/2006/main">
            <a:off x="619125" y="2647950"/>
            <a:ext cx="4876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PingFang SC"/>
                <a:ea typeface="PingFang SC"/>
                <a:cs typeface="PingFang SC"/>
              </a:defRPr>
            </a:pPr>
            <a:r>
              <a:t>按租户、项目、活动、角色、来源组织和资料范围控制访问，活动结束后回收外部权限。</a:t>
            </a:r>
          </a:p>
        </p:txBody>
      </p:sp>
      <p:sp>
        <p:nvSpPr>
          <p:cNvPr id="9" name="矩形 8">
            <a:extLst xmlns:a="http://schemas.openxmlformats.org/drawingml/2006/main">
              <a:ext uri="{FF2B5EF4-FFF2-40B4-BE49-F238E27FC236}">
                <a16:creationId xmlns:a16="http://schemas.microsoft.com/office/drawing/2014/main" id="{31F5564E-BCCC-4A1C-9E43-FFB1945E3FD1}"/>
              </a:ext>
            </a:extLst>
          </p:cNvPr>
          <p:cNvSpPr>
            <a:spLocks xmlns:a="http://schemas.openxmlformats.org/drawingml/2006/main" noGrp="1"/>
          </p:cNvSpPr>
          <p:nvPr/>
        </p:nvSpPr>
        <p:spPr>
          <a:xfrm xmlns:a="http://schemas.openxmlformats.org/drawingml/2006/main">
            <a:off x="6457950" y="1962150"/>
            <a:ext cx="5334000" cy="13525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0" name="矩形 9">
            <a:extLst xmlns:a="http://schemas.openxmlformats.org/drawingml/2006/main">
              <a:ext uri="{FF2B5EF4-FFF2-40B4-BE49-F238E27FC236}">
                <a16:creationId xmlns:a16="http://schemas.microsoft.com/office/drawing/2014/main" id="{5738BAB9-0D28-40EA-B606-C6E77E0708BB}"/>
              </a:ext>
            </a:extLst>
          </p:cNvPr>
          <p:cNvSpPr>
            <a:spLocks xmlns:a="http://schemas.openxmlformats.org/drawingml/2006/main" noGrp="1"/>
          </p:cNvSpPr>
          <p:nvPr/>
        </p:nvSpPr>
        <p:spPr>
          <a:xfrm xmlns:a="http://schemas.openxmlformats.org/drawingml/2006/main">
            <a:off x="6686550" y="219075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质量审核</a:t>
            </a:r>
          </a:p>
        </p:txBody>
      </p:sp>
      <p:sp>
        <p:nvSpPr>
          <p:cNvPr id="11" name="矩形 10">
            <a:extLst xmlns:a="http://schemas.openxmlformats.org/drawingml/2006/main">
              <a:ext uri="{FF2B5EF4-FFF2-40B4-BE49-F238E27FC236}">
                <a16:creationId xmlns:a16="http://schemas.microsoft.com/office/drawing/2014/main" id="{3E65A6DE-5A01-4A86-BFB2-76B105F8F698}"/>
              </a:ext>
            </a:extLst>
          </p:cNvPr>
          <p:cNvSpPr>
            <a:spLocks xmlns:a="http://schemas.openxmlformats.org/drawingml/2006/main" noGrp="1"/>
          </p:cNvSpPr>
          <p:nvPr/>
        </p:nvSpPr>
        <p:spPr>
          <a:xfrm xmlns:a="http://schemas.openxmlformats.org/drawingml/2006/main">
            <a:off x="6686550" y="2647950"/>
            <a:ext cx="4876800" cy="476250"/>
          </a:xfrm>
          <a:prstGeom xmlns:a="http://schemas.openxmlformats.org/drawingml/2006/main" prst="rect">
            <a:avLst/>
          </a:prstGeom>
        </p:spPr>
        <p:txBody>
          <a:bodyPr xmlns:a="http://schemas.openxmlformats.org/drawingml/2006/main" lIns="0" tIns="0" rIns="0" bIns="0" anchor="t">
            <a:normAutofit fontScale="76871"/>
          </a:bodyPr>
          <a:lstStyle xmlns:a="http://schemas.openxmlformats.org/drawingml/2006/main"/>
          <a:p xmlns:a="http://schemas.openxmlformats.org/drawingml/2006/main">
            <a:pPr algn="l">
              <a:buNone/>
              <a:defRPr sz="1425" b="0">
                <a:solidFill>
                  <a:srgbClr val="000000"/>
                </a:solidFill>
                <a:latin typeface="PingFang SC"/>
                <a:ea typeface="PingFang SC"/>
                <a:cs typeface="PingFang SC"/>
              </a:defRPr>
            </a:pPr>
            <a:r>
              <a:t>AI 生成外训方案、报名问答、报告、证书/证明和评价建议均进入人工确认流程。</a:t>
            </a:r>
          </a:p>
        </p:txBody>
      </p:sp>
      <p:sp>
        <p:nvSpPr>
          <p:cNvPr id="12" name="矩形 11">
            <a:extLst xmlns:a="http://schemas.openxmlformats.org/drawingml/2006/main">
              <a:ext uri="{FF2B5EF4-FFF2-40B4-BE49-F238E27FC236}">
                <a16:creationId xmlns:a16="http://schemas.microsoft.com/office/drawing/2014/main" id="{E657AABA-92E8-4DBA-B6A5-0F3DDAB24EE9}"/>
              </a:ext>
            </a:extLst>
          </p:cNvPr>
          <p:cNvSpPr>
            <a:spLocks xmlns:a="http://schemas.openxmlformats.org/drawingml/2006/main" noGrp="1"/>
          </p:cNvSpPr>
          <p:nvPr/>
        </p:nvSpPr>
        <p:spPr>
          <a:xfrm xmlns:a="http://schemas.openxmlformats.org/drawingml/2006/main">
            <a:off x="390525" y="3676650"/>
            <a:ext cx="5334000" cy="13525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3" name="矩形 12">
            <a:extLst xmlns:a="http://schemas.openxmlformats.org/drawingml/2006/main">
              <a:ext uri="{FF2B5EF4-FFF2-40B4-BE49-F238E27FC236}">
                <a16:creationId xmlns:a16="http://schemas.microsoft.com/office/drawing/2014/main" id="{F2486FDF-5CDA-44E4-9CD3-F0824E1BFA19}"/>
              </a:ext>
            </a:extLst>
          </p:cNvPr>
          <p:cNvSpPr>
            <a:spLocks xmlns:a="http://schemas.openxmlformats.org/drawingml/2006/main" noGrp="1"/>
          </p:cNvSpPr>
          <p:nvPr/>
        </p:nvSpPr>
        <p:spPr>
          <a:xfrm xmlns:a="http://schemas.openxmlformats.org/drawingml/2006/main">
            <a:off x="619125" y="390525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成本治理</a:t>
            </a:r>
          </a:p>
        </p:txBody>
      </p:sp>
      <p:sp>
        <p:nvSpPr>
          <p:cNvPr id="14" name="矩形 13">
            <a:extLst xmlns:a="http://schemas.openxmlformats.org/drawingml/2006/main">
              <a:ext uri="{FF2B5EF4-FFF2-40B4-BE49-F238E27FC236}">
                <a16:creationId xmlns:a16="http://schemas.microsoft.com/office/drawing/2014/main" id="{49460BA9-CAA7-4ACF-A888-2B3B6E42A9D3}"/>
              </a:ext>
            </a:extLst>
          </p:cNvPr>
          <p:cNvSpPr>
            <a:spLocks xmlns:a="http://schemas.openxmlformats.org/drawingml/2006/main" noGrp="1"/>
          </p:cNvSpPr>
          <p:nvPr/>
        </p:nvSpPr>
        <p:spPr>
          <a:xfrm xmlns:a="http://schemas.openxmlformats.org/drawingml/2006/main">
            <a:off x="619125" y="4362450"/>
            <a:ext cx="4876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PingFang SC"/>
                <a:ea typeface="PingFang SC"/>
                <a:cs typeface="PingFang SC"/>
              </a:defRPr>
            </a:pPr>
            <a:r>
              <a:t>按租户、项目、活动、外部人数、智能体和模型统计 Token 消耗，支撑预警、对账和套餐设计。</a:t>
            </a:r>
          </a:p>
        </p:txBody>
      </p:sp>
      <p:sp>
        <p:nvSpPr>
          <p:cNvPr id="15" name="矩形 14">
            <a:extLst xmlns:a="http://schemas.openxmlformats.org/drawingml/2006/main">
              <a:ext uri="{FF2B5EF4-FFF2-40B4-BE49-F238E27FC236}">
                <a16:creationId xmlns:a16="http://schemas.microsoft.com/office/drawing/2014/main" id="{6D60747C-9F01-4653-BA19-EFE786B9BCE2}"/>
              </a:ext>
            </a:extLst>
          </p:cNvPr>
          <p:cNvSpPr>
            <a:spLocks xmlns:a="http://schemas.openxmlformats.org/drawingml/2006/main" noGrp="1"/>
          </p:cNvSpPr>
          <p:nvPr/>
        </p:nvSpPr>
        <p:spPr>
          <a:xfrm xmlns:a="http://schemas.openxmlformats.org/drawingml/2006/main">
            <a:off x="6457950" y="3676650"/>
            <a:ext cx="5334000" cy="13525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6" name="矩形 15">
            <a:extLst xmlns:a="http://schemas.openxmlformats.org/drawingml/2006/main">
              <a:ext uri="{FF2B5EF4-FFF2-40B4-BE49-F238E27FC236}">
                <a16:creationId xmlns:a16="http://schemas.microsoft.com/office/drawing/2014/main" id="{729D9C91-D8B1-492D-9A16-FD8E348E5818}"/>
              </a:ext>
            </a:extLst>
          </p:cNvPr>
          <p:cNvSpPr>
            <a:spLocks xmlns:a="http://schemas.openxmlformats.org/drawingml/2006/main" noGrp="1"/>
          </p:cNvSpPr>
          <p:nvPr/>
        </p:nvSpPr>
        <p:spPr>
          <a:xfrm xmlns:a="http://schemas.openxmlformats.org/drawingml/2006/main">
            <a:off x="6686550" y="390525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FF6B35"/>
                </a:solidFill>
                <a:latin typeface="PingFang SC"/>
                <a:ea typeface="PingFang SC"/>
                <a:cs typeface="PingFang SC"/>
              </a:defRPr>
            </a:pPr>
            <a:r>
              <a:t>数据沉淀</a:t>
            </a:r>
          </a:p>
        </p:txBody>
      </p:sp>
      <p:sp>
        <p:nvSpPr>
          <p:cNvPr id="17" name="矩形 16">
            <a:extLst xmlns:a="http://schemas.openxmlformats.org/drawingml/2006/main">
              <a:ext uri="{FF2B5EF4-FFF2-40B4-BE49-F238E27FC236}">
                <a16:creationId xmlns:a16="http://schemas.microsoft.com/office/drawing/2014/main" id="{8EA3B50A-B27C-4231-A8E4-053ABAA6B373}"/>
              </a:ext>
            </a:extLst>
          </p:cNvPr>
          <p:cNvSpPr>
            <a:spLocks xmlns:a="http://schemas.openxmlformats.org/drawingml/2006/main" noGrp="1"/>
          </p:cNvSpPr>
          <p:nvPr/>
        </p:nvSpPr>
        <p:spPr>
          <a:xfrm xmlns:a="http://schemas.openxmlformats.org/drawingml/2006/main">
            <a:off x="6686550" y="4362450"/>
            <a:ext cx="4876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FFFFFF"/>
                </a:solidFill>
                <a:latin typeface="PingFang SC"/>
                <a:ea typeface="PingFang SC"/>
                <a:cs typeface="PingFang SC"/>
              </a:defRPr>
            </a:pPr>
            <a:r>
              <a:t>外部人员档案、参与记录、成果、证书/证明和效果报告进入档案，跨组织报告脱敏输出。</a:t>
            </a:r>
          </a:p>
        </p:txBody>
      </p:sp>
      <p:sp>
        <p:nvSpPr>
          <p:cNvPr id="18" name="矩形 17">
            <a:extLst xmlns:a="http://schemas.openxmlformats.org/drawingml/2006/main">
              <a:ext uri="{FF2B5EF4-FFF2-40B4-BE49-F238E27FC236}">
                <a16:creationId xmlns:a16="http://schemas.microsoft.com/office/drawing/2014/main" id="{3F9CE01D-188B-44E9-819E-128499D964CD}"/>
              </a:ext>
            </a:extLst>
          </p:cNvPr>
          <p:cNvSpPr>
            <a:spLocks xmlns:a="http://schemas.openxmlformats.org/drawingml/2006/main" noGrp="1"/>
          </p:cNvSpPr>
          <p:nvPr/>
        </p:nvSpPr>
        <p:spPr>
          <a:xfrm xmlns:a="http://schemas.openxmlformats.org/drawingml/2006/main">
            <a:off x="390525" y="5476875"/>
            <a:ext cx="11401425" cy="5143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9" name="矩形 18">
            <a:extLst xmlns:a="http://schemas.openxmlformats.org/drawingml/2006/main">
              <a:ext uri="{FF2B5EF4-FFF2-40B4-BE49-F238E27FC236}">
                <a16:creationId xmlns:a16="http://schemas.microsoft.com/office/drawing/2014/main" id="{95A41E37-AFEA-426B-AD7D-E3B3F985DB36}"/>
              </a:ext>
            </a:extLst>
          </p:cNvPr>
          <p:cNvSpPr>
            <a:spLocks xmlns:a="http://schemas.openxmlformats.org/drawingml/2006/main" noGrp="1"/>
          </p:cNvSpPr>
          <p:nvPr/>
        </p:nvSpPr>
        <p:spPr>
          <a:xfrm xmlns:a="http://schemas.openxmlformats.org/drawingml/2006/main">
            <a:off x="666750" y="5600700"/>
            <a:ext cx="10839450" cy="2667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650" b="1">
                <a:solidFill>
                  <a:srgbClr val="000000"/>
                </a:solidFill>
                <a:latin typeface="PingFang SC"/>
                <a:ea typeface="PingFang SC"/>
                <a:cs typeface="PingFang SC"/>
              </a:defRPr>
            </a:pPr>
            <a:r>
              <a:t>治理目标：让外部人员可参与、资料可授权、账号有期限、报告可脱敏，数据安全和商业成本可控。</a:t>
            </a:r>
          </a:p>
        </p:txBody>
      </p:sp>
    </p:spTree>
    <p:extLst>
      <p:ext uri="{BB962C8B-B14F-4D97-AF65-F5344CB8AC3E}">
        <p14:creationId xmlns:p14="http://schemas.microsoft.com/office/powerpoint/2010/main" val="150025766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EAE69035-3F95-4EF3-AF36-FC3A12F7D995}"/>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总结</a:t>
            </a:r>
          </a:p>
        </p:txBody>
      </p:sp>
      <p:sp>
        <p:nvSpPr>
          <p:cNvPr id="3" name="矩形 2">
            <a:extLst xmlns:a="http://schemas.openxmlformats.org/drawingml/2006/main">
              <a:ext uri="{FF2B5EF4-FFF2-40B4-BE49-F238E27FC236}">
                <a16:creationId xmlns:a16="http://schemas.microsoft.com/office/drawing/2014/main" id="{A3B5455C-532E-47E1-B5AF-F462D00C4FF4}"/>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83665"/>
          </a:bodyPr>
          <a:lstStyle xmlns:a="http://schemas.openxmlformats.org/drawingml/2006/main"/>
          <a:p xmlns:a="http://schemas.openxmlformats.org/drawingml/2006/main">
            <a:pPr algn="l">
              <a:buNone/>
              <a:defRPr sz="2925" b="1">
                <a:solidFill>
                  <a:srgbClr val="000000"/>
                </a:solidFill>
                <a:latin typeface="PingFang SC"/>
                <a:ea typeface="PingFang SC"/>
                <a:cs typeface="PingFang SC"/>
              </a:defRPr>
            </a:pPr>
            <a:r>
              <a:t>果仁培训产品最终形成“底座复用 + 内外训发展活动闭环 + 效果运营”的产品体系</a:t>
            </a:r>
          </a:p>
        </p:txBody>
      </p:sp>
      <p:sp>
        <p:nvSpPr>
          <p:cNvPr id="4" name="矩形 3">
            <a:extLst xmlns:a="http://schemas.openxmlformats.org/drawingml/2006/main">
              <a:ext uri="{FF2B5EF4-FFF2-40B4-BE49-F238E27FC236}">
                <a16:creationId xmlns:a16="http://schemas.microsoft.com/office/drawing/2014/main" id="{CEFC33A9-53C3-40EF-AB16-1E76BA1E5010}"/>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9F66DA6A-6915-4D1C-8581-96AE32826F82}"/>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18</a:t>
            </a:r>
          </a:p>
        </p:txBody>
      </p:sp>
      <p:sp>
        <p:nvSpPr>
          <p:cNvPr id="6" name="矩形 5">
            <a:extLst xmlns:a="http://schemas.openxmlformats.org/drawingml/2006/main">
              <a:ext uri="{FF2B5EF4-FFF2-40B4-BE49-F238E27FC236}">
                <a16:creationId xmlns:a16="http://schemas.microsoft.com/office/drawing/2014/main" id="{447E214B-B2A7-4A65-B551-08C84B61BC95}"/>
              </a:ext>
            </a:extLst>
          </p:cNvPr>
          <p:cNvSpPr>
            <a:spLocks xmlns:a="http://schemas.openxmlformats.org/drawingml/2006/main" noGrp="1"/>
          </p:cNvSpPr>
          <p:nvPr/>
        </p:nvSpPr>
        <p:spPr>
          <a:xfrm xmlns:a="http://schemas.openxmlformats.org/drawingml/2006/main">
            <a:off x="390525" y="2038350"/>
            <a:ext cx="3238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矩形 6">
            <a:extLst xmlns:a="http://schemas.openxmlformats.org/drawingml/2006/main">
              <a:ext uri="{FF2B5EF4-FFF2-40B4-BE49-F238E27FC236}">
                <a16:creationId xmlns:a16="http://schemas.microsoft.com/office/drawing/2014/main" id="{E42E8ED9-13EF-437F-8A38-FDCAADA12FE5}"/>
              </a:ext>
            </a:extLst>
          </p:cNvPr>
          <p:cNvSpPr>
            <a:spLocks xmlns:a="http://schemas.openxmlformats.org/drawingml/2006/main" noGrp="1"/>
          </p:cNvSpPr>
          <p:nvPr/>
        </p:nvSpPr>
        <p:spPr>
          <a:xfrm xmlns:a="http://schemas.openxmlformats.org/drawingml/2006/main">
            <a:off x="619125" y="2266950"/>
            <a:ext cx="2781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底座复用</a:t>
            </a:r>
          </a:p>
        </p:txBody>
      </p:sp>
      <p:sp>
        <p:nvSpPr>
          <p:cNvPr id="8" name="矩形 7">
            <a:extLst xmlns:a="http://schemas.openxmlformats.org/drawingml/2006/main">
              <a:ext uri="{FF2B5EF4-FFF2-40B4-BE49-F238E27FC236}">
                <a16:creationId xmlns:a16="http://schemas.microsoft.com/office/drawing/2014/main" id="{1AB46D67-E50D-4619-9827-480C8A344818}"/>
              </a:ext>
            </a:extLst>
          </p:cNvPr>
          <p:cNvSpPr>
            <a:spLocks xmlns:a="http://schemas.openxmlformats.org/drawingml/2006/main" noGrp="1"/>
          </p:cNvSpPr>
          <p:nvPr/>
        </p:nvSpPr>
        <p:spPr>
          <a:xfrm xmlns:a="http://schemas.openxmlformats.org/drawingml/2006/main">
            <a:off x="619125" y="2724150"/>
            <a:ext cx="2781300" cy="1504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000000"/>
                </a:solidFill>
                <a:latin typeface="PingFang SC"/>
                <a:ea typeface="PingFang SC"/>
                <a:cs typeface="PingFang SC"/>
              </a:defRPr>
            </a:pPr>
            <a:r>
              <a:t>复用果仁的租户、解决方案、套餐、空间、资料库、Lucky、任务、问卷、证书、外部人员和统计能力。</a:t>
            </a:r>
          </a:p>
        </p:txBody>
      </p:sp>
      <p:sp>
        <p:nvSpPr>
          <p:cNvPr id="9" name="矩形 8">
            <a:extLst xmlns:a="http://schemas.openxmlformats.org/drawingml/2006/main">
              <a:ext uri="{FF2B5EF4-FFF2-40B4-BE49-F238E27FC236}">
                <a16:creationId xmlns:a16="http://schemas.microsoft.com/office/drawing/2014/main" id="{B0CA60DE-F2E3-4783-A2D9-8A2BC8628DDE}"/>
              </a:ext>
            </a:extLst>
          </p:cNvPr>
          <p:cNvSpPr>
            <a:spLocks xmlns:a="http://schemas.openxmlformats.org/drawingml/2006/main" noGrp="1"/>
          </p:cNvSpPr>
          <p:nvPr/>
        </p:nvSpPr>
        <p:spPr>
          <a:xfrm xmlns:a="http://schemas.openxmlformats.org/drawingml/2006/main">
            <a:off x="4476750" y="2038350"/>
            <a:ext cx="3238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矩形 9">
            <a:extLst xmlns:a="http://schemas.openxmlformats.org/drawingml/2006/main">
              <a:ext uri="{FF2B5EF4-FFF2-40B4-BE49-F238E27FC236}">
                <a16:creationId xmlns:a16="http://schemas.microsoft.com/office/drawing/2014/main" id="{A01BCF2C-9067-4172-8759-2B41AA5BC003}"/>
              </a:ext>
            </a:extLst>
          </p:cNvPr>
          <p:cNvSpPr>
            <a:spLocks xmlns:a="http://schemas.openxmlformats.org/drawingml/2006/main" noGrp="1"/>
          </p:cNvSpPr>
          <p:nvPr/>
        </p:nvSpPr>
        <p:spPr>
          <a:xfrm xmlns:a="http://schemas.openxmlformats.org/drawingml/2006/main">
            <a:off x="4705350" y="2266950"/>
            <a:ext cx="2781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内外训活动闭环</a:t>
            </a:r>
          </a:p>
        </p:txBody>
      </p:sp>
      <p:sp>
        <p:nvSpPr>
          <p:cNvPr id="11" name="矩形 10">
            <a:extLst xmlns:a="http://schemas.openxmlformats.org/drawingml/2006/main">
              <a:ext uri="{FF2B5EF4-FFF2-40B4-BE49-F238E27FC236}">
                <a16:creationId xmlns:a16="http://schemas.microsoft.com/office/drawing/2014/main" id="{2FBDB2A6-32EB-436D-BD72-2B95FF852D99}"/>
              </a:ext>
            </a:extLst>
          </p:cNvPr>
          <p:cNvSpPr>
            <a:spLocks xmlns:a="http://schemas.openxmlformats.org/drawingml/2006/main" noGrp="1"/>
          </p:cNvSpPr>
          <p:nvPr/>
        </p:nvSpPr>
        <p:spPr>
          <a:xfrm xmlns:a="http://schemas.openxmlformats.org/drawingml/2006/main">
            <a:off x="4705350" y="2724150"/>
            <a:ext cx="2781300" cy="1504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000000"/>
                </a:solidFill>
                <a:latin typeface="PingFang SC"/>
                <a:ea typeface="PingFang SC"/>
                <a:cs typeface="PingFang SC"/>
              </a:defRPr>
            </a:pPr>
            <a:r>
              <a:t>围绕发展项目贯通信息管理、过程运营、效果评估、外部人员准入和成果沉淀。</a:t>
            </a:r>
          </a:p>
        </p:txBody>
      </p:sp>
      <p:sp>
        <p:nvSpPr>
          <p:cNvPr id="12" name="矩形 11">
            <a:extLst xmlns:a="http://schemas.openxmlformats.org/drawingml/2006/main">
              <a:ext uri="{FF2B5EF4-FFF2-40B4-BE49-F238E27FC236}">
                <a16:creationId xmlns:a16="http://schemas.microsoft.com/office/drawing/2014/main" id="{5B88C326-7F23-4A87-8EAC-C8D09E411F14}"/>
              </a:ext>
            </a:extLst>
          </p:cNvPr>
          <p:cNvSpPr>
            <a:spLocks xmlns:a="http://schemas.openxmlformats.org/drawingml/2006/main" noGrp="1"/>
          </p:cNvSpPr>
          <p:nvPr/>
        </p:nvSpPr>
        <p:spPr>
          <a:xfrm xmlns:a="http://schemas.openxmlformats.org/drawingml/2006/main">
            <a:off x="8562975" y="2038350"/>
            <a:ext cx="3238500" cy="23812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3" name="矩形 12">
            <a:extLst xmlns:a="http://schemas.openxmlformats.org/drawingml/2006/main">
              <a:ext uri="{FF2B5EF4-FFF2-40B4-BE49-F238E27FC236}">
                <a16:creationId xmlns:a16="http://schemas.microsoft.com/office/drawing/2014/main" id="{19049C6C-4F6D-4317-8198-6DA2F1357A90}"/>
              </a:ext>
            </a:extLst>
          </p:cNvPr>
          <p:cNvSpPr>
            <a:spLocks xmlns:a="http://schemas.openxmlformats.org/drawingml/2006/main" noGrp="1"/>
          </p:cNvSpPr>
          <p:nvPr/>
        </p:nvSpPr>
        <p:spPr>
          <a:xfrm xmlns:a="http://schemas.openxmlformats.org/drawingml/2006/main">
            <a:off x="8791575" y="2266950"/>
            <a:ext cx="2781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FFFFFF"/>
                </a:solidFill>
                <a:latin typeface="PingFang SC"/>
                <a:ea typeface="PingFang SC"/>
                <a:cs typeface="PingFang SC"/>
              </a:defRPr>
            </a:pPr>
            <a:r>
              <a:t>效果运营</a:t>
            </a:r>
          </a:p>
        </p:txBody>
      </p:sp>
      <p:sp>
        <p:nvSpPr>
          <p:cNvPr id="14" name="矩形 13">
            <a:extLst xmlns:a="http://schemas.openxmlformats.org/drawingml/2006/main">
              <a:ext uri="{FF2B5EF4-FFF2-40B4-BE49-F238E27FC236}">
                <a16:creationId xmlns:a16="http://schemas.microsoft.com/office/drawing/2014/main" id="{AF5C4016-F906-4A07-B4EB-3F42CE6864AE}"/>
              </a:ext>
            </a:extLst>
          </p:cNvPr>
          <p:cNvSpPr>
            <a:spLocks xmlns:a="http://schemas.openxmlformats.org/drawingml/2006/main" noGrp="1"/>
          </p:cNvSpPr>
          <p:nvPr/>
        </p:nvSpPr>
        <p:spPr>
          <a:xfrm xmlns:a="http://schemas.openxmlformats.org/drawingml/2006/main">
            <a:off x="8791575" y="2724150"/>
            <a:ext cx="2781300" cy="1504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FFFFFF"/>
                </a:solidFill>
                <a:latin typeface="PingFang SC"/>
                <a:ea typeface="PingFang SC"/>
                <a:cs typeface="PingFang SC"/>
              </a:defRPr>
            </a:pPr>
            <a:r>
              <a:t>用数据和 AI 把活动结果转化为个人证明、组织报告、复训建议、资源复用和持续增购。</a:t>
            </a:r>
          </a:p>
        </p:txBody>
      </p:sp>
      <p:sp>
        <p:nvSpPr>
          <p:cNvPr id="15" name="矩形 14">
            <a:extLst xmlns:a="http://schemas.openxmlformats.org/drawingml/2006/main">
              <a:ext uri="{FF2B5EF4-FFF2-40B4-BE49-F238E27FC236}">
                <a16:creationId xmlns:a16="http://schemas.microsoft.com/office/drawing/2014/main" id="{3DD0D712-E1FA-48F8-8338-F9B3E2F362D5}"/>
              </a:ext>
            </a:extLst>
          </p:cNvPr>
          <p:cNvSpPr>
            <a:spLocks xmlns:a="http://schemas.openxmlformats.org/drawingml/2006/main" noGrp="1"/>
          </p:cNvSpPr>
          <p:nvPr/>
        </p:nvSpPr>
        <p:spPr>
          <a:xfrm xmlns:a="http://schemas.openxmlformats.org/drawingml/2006/main">
            <a:off x="390525" y="5067300"/>
            <a:ext cx="18097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555555"/>
                </a:solidFill>
                <a:latin typeface="PingFang SC"/>
                <a:ea typeface="PingFang SC"/>
                <a:cs typeface="PingFang SC"/>
              </a:defRPr>
            </a:pPr>
            <a:r>
              <a:t>建议下一步</a:t>
            </a:r>
          </a:p>
        </p:txBody>
      </p:sp>
      <p:sp>
        <p:nvSpPr>
          <p:cNvPr id="16" name="矩形 15">
            <a:extLst xmlns:a="http://schemas.openxmlformats.org/drawingml/2006/main">
              <a:ext uri="{FF2B5EF4-FFF2-40B4-BE49-F238E27FC236}">
                <a16:creationId xmlns:a16="http://schemas.microsoft.com/office/drawing/2014/main" id="{04F0E3D5-0688-4C6B-82EB-1DADFEC3E559}"/>
              </a:ext>
            </a:extLst>
          </p:cNvPr>
          <p:cNvSpPr>
            <a:spLocks xmlns:a="http://schemas.openxmlformats.org/drawingml/2006/main" noGrp="1"/>
          </p:cNvSpPr>
          <p:nvPr/>
        </p:nvSpPr>
        <p:spPr>
          <a:xfrm xmlns:a="http://schemas.openxmlformats.org/drawingml/2006/main">
            <a:off x="2209800" y="4914900"/>
            <a:ext cx="8858250" cy="666750"/>
          </a:xfrm>
          <a:prstGeom xmlns:a="http://schemas.openxmlformats.org/drawingml/2006/main" prst="rect">
            <a:avLst/>
          </a:prstGeom>
        </p:spPr>
        <p:txBody>
          <a:bodyPr xmlns:a="http://schemas.openxmlformats.org/drawingml/2006/main" lIns="0" tIns="0" rIns="0" bIns="0" anchor="t">
            <a:normAutofit fontScale="81018"/>
          </a:bodyPr>
          <a:lstStyle xmlns:a="http://schemas.openxmlformats.org/drawingml/2006/main"/>
          <a:p xmlns:a="http://schemas.openxmlformats.org/drawingml/2006/main">
            <a:pPr algn="l">
              <a:buNone/>
              <a:defRPr sz="1800" b="1">
                <a:solidFill>
                  <a:srgbClr val="000000"/>
                </a:solidFill>
                <a:latin typeface="PingFang SC"/>
                <a:ea typeface="PingFang SC"/>
                <a:cs typeface="PingFang SC"/>
              </a:defRPr>
            </a:pPr>
            <a:r>
              <a:t>选取一个标准外训活动做 MVP：先跑通报名审核、外部账号、资料授权、过程记录、证书/证明和组织报告，再叠加智能体和效果驾驶舱。</a:t>
            </a:r>
          </a:p>
        </p:txBody>
      </p:sp>
    </p:spTree>
    <p:extLst>
      <p:ext uri="{BB962C8B-B14F-4D97-AF65-F5344CB8AC3E}">
        <p14:creationId xmlns:p14="http://schemas.microsoft.com/office/powerpoint/2010/main" val="18211086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2026-07-27T05:50:11.3670000Z</dcterms:created>
  <dcterms:modified xsi:type="dcterms:W3CDTF">2026-07-27T05:50:11.3670000Z</dcterms:modified>
</coreProperties>
</file>