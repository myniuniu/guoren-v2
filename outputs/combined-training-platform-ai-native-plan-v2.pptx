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90" r:id="rId35"/>
    <p:sldId id="288" r:id="rId36"/>
    <p:sldId id="289" r:id="rId3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cover-title"/>
          <p:cNvSpPr>
            <a:spLocks noGrp="1"/>
          </p:cNvSpPr>
          <p:nvPr/>
        </p:nvSpPr>
        <p:spPr>
          <a:xfrm>
            <a:off x="552450" y="876300"/>
            <a:ext cx="6572250" cy="10306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4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培训平台建设方案</a:t>
            </a:r>
            <a:endParaRPr sz="43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  <a:p>
            <a:pPr algn="l">
              <a:buNone/>
              <a:defRPr sz="4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5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 注：“培训”是一个泛化概念，不限</a:t>
            </a:r>
            <a:r>
              <a:rPr sz="155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于组织</a:t>
            </a:r>
            <a:r>
              <a:rPr sz="155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</a:t>
            </a:r>
            <a:endParaRPr sz="155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  <a:p>
            <a:pPr algn="l">
              <a:buNone/>
              <a:defRPr sz="4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</a:p>
        </p:txBody>
      </p:sp>
      <p:sp>
        <p:nvSpPr>
          <p:cNvPr id="3" name="cover-body"/>
          <p:cNvSpPr>
            <a:spLocks noGrp="1"/>
          </p:cNvSpPr>
          <p:nvPr/>
        </p:nvSpPr>
        <p:spPr>
          <a:xfrm>
            <a:off x="609600" y="2143125"/>
            <a:ext cx="6667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第一部分讲培训平台如何组织培训、</a:t>
            </a: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培训、</a:t>
            </a: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评估、档案和推荐；第二部分讲AI 原生底座如何通过 Lucky智能体、资料库、空间、场景模板和模型</a:t>
            </a: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治理</a:t>
            </a:r>
            <a:r>
              <a:rPr sz="1800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为系统赋能。</a:t>
            </a:r>
            <a:endParaRPr sz="1800" b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ight-panel"/>
          <p:cNvSpPr>
            <a:spLocks noGrp="1"/>
          </p:cNvSpPr>
          <p:nvPr/>
        </p:nvSpPr>
        <p:spPr>
          <a:xfrm>
            <a:off x="8229600" y="781050"/>
            <a:ext cx="3562350" cy="4772025"/>
          </a:xfrm>
          <a:prstGeom prst="rect">
            <a:avLst/>
          </a:prstGeom>
          <a:solidFill>
            <a:srgbClr val="111111"/>
          </a:solidFill>
          <a:ln w="0">
            <a:noFill/>
            <a:prstDash val="solid"/>
          </a:ln>
        </p:spPr>
      </p:sp>
      <p:sp>
        <p:nvSpPr>
          <p:cNvPr id="5" name="part1"/>
          <p:cNvSpPr>
            <a:spLocks noGrp="1"/>
          </p:cNvSpPr>
          <p:nvPr/>
        </p:nvSpPr>
        <p:spPr>
          <a:xfrm>
            <a:off x="8591550" y="1314450"/>
            <a:ext cx="28003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Part 01</a:t>
            </a:r>
            <a:endParaRPr sz="24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  <a:p>
            <a:pPr algn="l">
              <a:buNone/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培训平台本体</a:t>
            </a:r>
            <a:endParaRPr sz="24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rail-line"/>
          <p:cNvSpPr>
            <a:spLocks noGrp="1"/>
          </p:cNvSpPr>
          <p:nvPr/>
        </p:nvSpPr>
        <p:spPr>
          <a:xfrm>
            <a:off x="8591550" y="2705100"/>
            <a:ext cx="27241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7" name="part2"/>
          <p:cNvSpPr>
            <a:spLocks noGrp="1"/>
          </p:cNvSpPr>
          <p:nvPr/>
        </p:nvSpPr>
        <p:spPr>
          <a:xfrm>
            <a:off x="8591550" y="3190875"/>
            <a:ext cx="28003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Part 02</a:t>
            </a:r>
            <a:endParaRPr sz="24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  <a:p>
            <a:pPr algn="l">
              <a:buNone/>
              <a:def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 原生底座赋能</a:t>
            </a:r>
            <a:endParaRPr sz="24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tag"/>
          <p:cNvSpPr>
            <a:spLocks noGrp="1"/>
          </p:cNvSpPr>
          <p:nvPr/>
        </p:nvSpPr>
        <p:spPr>
          <a:xfrm>
            <a:off x="8591550" y="48577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从业务闭环到智能底座</a:t>
            </a:r>
            <a:endParaRPr sz="1575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global-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01</a:t>
            </a:r>
            <a:endParaRPr sz="975" b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00050" y="838200"/>
            <a:ext cx="9906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3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培训平台整体建设方案</a:t>
            </a:r>
            <a:endParaRPr sz="33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400050" y="1566545"/>
            <a:ext cx="11391900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left"/>
          <p:cNvSpPr>
            <a:spLocks noGrp="1"/>
          </p:cNvSpPr>
          <p:nvPr/>
        </p:nvSpPr>
        <p:spPr>
          <a:xfrm>
            <a:off x="800100" y="2171700"/>
            <a:ext cx="4762500" cy="1504950"/>
          </a:xfrm>
          <a:prstGeom prst="roundRect">
            <a:avLst>
              <a:gd name="adj" fmla="val 3797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5" name="label1"/>
          <p:cNvSpPr>
            <a:spLocks noGrp="1"/>
          </p:cNvSpPr>
          <p:nvPr/>
        </p:nvSpPr>
        <p:spPr>
          <a:xfrm>
            <a:off x="1143000" y="243840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第一部分</a:t>
            </a:r>
            <a:endParaRPr sz="1275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head1"/>
          <p:cNvSpPr>
            <a:spLocks noGrp="1"/>
          </p:cNvSpPr>
          <p:nvPr/>
        </p:nvSpPr>
        <p:spPr>
          <a:xfrm>
            <a:off x="1143000" y="2762250"/>
            <a:ext cx="4076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培训平台建设方案</a:t>
            </a:r>
            <a:endParaRPr sz="18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body1"/>
          <p:cNvSpPr>
            <a:spLocks noGrp="1"/>
          </p:cNvSpPr>
          <p:nvPr/>
        </p:nvSpPr>
        <p:spPr>
          <a:xfrm>
            <a:off x="1143000" y="3200400"/>
            <a:ext cx="4076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说明平台的业务闭环、子系统职责、核心模块、数据流转、建设阶段和预期成效。</a:t>
            </a:r>
            <a:endParaRPr sz="1200" b="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right"/>
          <p:cNvSpPr>
            <a:spLocks noGrp="1"/>
          </p:cNvSpPr>
          <p:nvPr/>
        </p:nvSpPr>
        <p:spPr>
          <a:xfrm>
            <a:off x="6629400" y="2171700"/>
            <a:ext cx="4762500" cy="1504950"/>
          </a:xfrm>
          <a:prstGeom prst="roundRect">
            <a:avLst>
              <a:gd name="adj" fmla="val 3797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9" name="label2"/>
          <p:cNvSpPr>
            <a:spLocks noGrp="1"/>
          </p:cNvSpPr>
          <p:nvPr/>
        </p:nvSpPr>
        <p:spPr>
          <a:xfrm>
            <a:off x="6972300" y="243840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第二部分</a:t>
            </a:r>
            <a:endParaRPr sz="1275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head2"/>
          <p:cNvSpPr>
            <a:spLocks noGrp="1"/>
          </p:cNvSpPr>
          <p:nvPr/>
        </p:nvSpPr>
        <p:spPr>
          <a:xfrm>
            <a:off x="6972300" y="2762250"/>
            <a:ext cx="4076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AI 原生底座赋能方案</a:t>
            </a:r>
            <a:endParaRPr sz="18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body2"/>
          <p:cNvSpPr>
            <a:spLocks noGrp="1"/>
          </p:cNvSpPr>
          <p:nvPr/>
        </p:nvSpPr>
        <p:spPr>
          <a:xfrm>
            <a:off x="6972300" y="3200400"/>
            <a:ext cx="4076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4941"/>
          </a:bodyPr>
          <a:lstStyle/>
          <a:p>
            <a:pPr algn="l">
              <a:buNone/>
              <a:def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说明 AI 原生底座如何横向赋能培训信息、研修活动、培训评估、教师档案和用户推荐。</a:t>
            </a:r>
            <a:endParaRPr sz="1200" b="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global-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02</a:t>
            </a:r>
            <a:endParaRPr sz="975" b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agenda-card-3"/>
          <p:cNvSpPr>
            <a:spLocks noGrp="1"/>
          </p:cNvSpPr>
          <p:nvPr/>
        </p:nvSpPr>
        <p:spPr>
          <a:xfrm>
            <a:off x="800100" y="4095750"/>
            <a:ext cx="4762500" cy="1504950"/>
          </a:xfrm>
          <a:prstGeom prst="roundRect">
            <a:avLst>
              <a:gd name="adj" fmla="val 3797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15" name="agenda-label-3"/>
          <p:cNvSpPr>
            <a:spLocks noGrp="1"/>
          </p:cNvSpPr>
          <p:nvPr/>
        </p:nvSpPr>
        <p:spPr>
          <a:xfrm>
            <a:off x="1143000" y="436245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0392"/>
          </a:bodyPr>
          <a:lstStyle/>
          <a:p>
            <a:pPr algn="l">
              <a:buNone/>
              <a:defRPr sz="127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第三部分</a:t>
            </a:r>
            <a:endParaRPr sz="1275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agenda-head-3"/>
          <p:cNvSpPr>
            <a:spLocks noGrp="1"/>
          </p:cNvSpPr>
          <p:nvPr/>
        </p:nvSpPr>
        <p:spPr>
          <a:xfrm>
            <a:off x="1143000" y="4686300"/>
            <a:ext cx="4076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4722"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基于 AI 原生底座</a:t>
            </a: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交付</a:t>
            </a: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模式的特点</a:t>
            </a:r>
            <a:endParaRPr sz="18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agenda-body-3"/>
          <p:cNvSpPr>
            <a:spLocks noGrp="1"/>
          </p:cNvSpPr>
          <p:nvPr/>
        </p:nvSpPr>
        <p:spPr>
          <a:xfrm>
            <a:off x="1143000" y="5124450"/>
            <a:ext cx="4076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4375"/>
          </a:bodyPr>
          <a:lstStyle/>
          <a:p>
            <a:pPr algn="l">
              <a:buNone/>
              <a:def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说明快速迭代、三层协同和实践验证，呈现 AI 原生开发模式的交付优势。</a:t>
            </a:r>
            <a:endParaRPr sz="120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agenda-card-4"/>
          <p:cNvSpPr>
            <a:spLocks noGrp="1"/>
          </p:cNvSpPr>
          <p:nvPr/>
        </p:nvSpPr>
        <p:spPr>
          <a:xfrm>
            <a:off x="6629400" y="4095750"/>
            <a:ext cx="4762500" cy="1504950"/>
          </a:xfrm>
          <a:prstGeom prst="roundRect">
            <a:avLst>
              <a:gd name="adj" fmla="val 3797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19" name="agenda-label-4"/>
          <p:cNvSpPr>
            <a:spLocks noGrp="1"/>
          </p:cNvSpPr>
          <p:nvPr/>
        </p:nvSpPr>
        <p:spPr>
          <a:xfrm>
            <a:off x="6972300" y="4362450"/>
            <a:ext cx="152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0392"/>
          </a:bodyPr>
          <a:lstStyle/>
          <a:p>
            <a:pPr algn="l">
              <a:buNone/>
              <a:defRPr sz="127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第四部分</a:t>
            </a:r>
            <a:endParaRPr sz="1275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0" name="agenda-head-4"/>
          <p:cNvSpPr>
            <a:spLocks noGrp="1"/>
          </p:cNvSpPr>
          <p:nvPr/>
        </p:nvSpPr>
        <p:spPr>
          <a:xfrm>
            <a:off x="6972300" y="4686300"/>
            <a:ext cx="4076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4722"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平台关系与产品化判断</a:t>
            </a:r>
            <a:endParaRPr sz="18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1" name="agenda-body-4"/>
          <p:cNvSpPr>
            <a:spLocks noGrp="1"/>
          </p:cNvSpPr>
          <p:nvPr/>
        </p:nvSpPr>
        <p:spPr>
          <a:xfrm>
            <a:off x="6972300" y="5124450"/>
            <a:ext cx="4076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8816"/>
          </a:bodyPr>
          <a:lstStyle/>
          <a:p>
            <a:pPr algn="l">
              <a:buNone/>
              <a:defRPr sz="114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4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说明三个平台关系、底座构建逻辑，以及 AI 时代产品矩阵快速迭代的核心判断。</a:t>
            </a:r>
            <a:endParaRPr sz="1140" b="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agenda-page-pill-1"/>
          <p:cNvSpPr>
            <a:spLocks noGrp="1"/>
          </p:cNvSpPr>
          <p:nvPr/>
        </p:nvSpPr>
        <p:spPr>
          <a:xfrm>
            <a:off x="4495800" y="2419350"/>
            <a:ext cx="723900" cy="2667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sp>
        <p:nvSpPr>
          <p:cNvPr id="23" name="agenda-page-text-1"/>
          <p:cNvSpPr>
            <a:spLocks noGrp="1"/>
          </p:cNvSpPr>
          <p:nvPr/>
        </p:nvSpPr>
        <p:spPr>
          <a:xfrm>
            <a:off x="4591050" y="24669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53846"/>
          </a:bodyPr>
          <a:lstStyle/>
          <a:p>
            <a:pPr algn="ctr">
              <a:buNone/>
              <a:defRPr sz="9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P03-P15</a:t>
            </a:r>
            <a:endParaRPr sz="97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4" name="agenda-page-pill-2"/>
          <p:cNvSpPr>
            <a:spLocks noGrp="1"/>
          </p:cNvSpPr>
          <p:nvPr/>
        </p:nvSpPr>
        <p:spPr>
          <a:xfrm>
            <a:off x="10325100" y="2419350"/>
            <a:ext cx="723900" cy="2667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sp>
        <p:nvSpPr>
          <p:cNvPr id="25" name="agenda-page-text-2"/>
          <p:cNvSpPr>
            <a:spLocks noGrp="1"/>
          </p:cNvSpPr>
          <p:nvPr/>
        </p:nvSpPr>
        <p:spPr>
          <a:xfrm>
            <a:off x="10420350" y="246697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53846"/>
          </a:bodyPr>
          <a:lstStyle/>
          <a:p>
            <a:pPr algn="ctr">
              <a:buNone/>
              <a:defRPr sz="9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P16-P27</a:t>
            </a:r>
            <a:endParaRPr sz="97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6" name="agenda-page-pill-3"/>
          <p:cNvSpPr>
            <a:spLocks noGrp="1"/>
          </p:cNvSpPr>
          <p:nvPr/>
        </p:nvSpPr>
        <p:spPr>
          <a:xfrm>
            <a:off x="4495800" y="4343400"/>
            <a:ext cx="723900" cy="2667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sp>
        <p:nvSpPr>
          <p:cNvPr id="27" name="agenda-page-text-3"/>
          <p:cNvSpPr>
            <a:spLocks noGrp="1"/>
          </p:cNvSpPr>
          <p:nvPr/>
        </p:nvSpPr>
        <p:spPr>
          <a:xfrm>
            <a:off x="4591050" y="439102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53846"/>
          </a:bodyPr>
          <a:lstStyle/>
          <a:p>
            <a:pPr algn="ctr">
              <a:buNone/>
              <a:defRPr sz="9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P28-P31</a:t>
            </a:r>
            <a:endParaRPr sz="97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8" name="agenda-page-pill-4"/>
          <p:cNvSpPr>
            <a:spLocks noGrp="1"/>
          </p:cNvSpPr>
          <p:nvPr/>
        </p:nvSpPr>
        <p:spPr>
          <a:xfrm>
            <a:off x="10325100" y="4343400"/>
            <a:ext cx="723900" cy="2667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sp>
        <p:nvSpPr>
          <p:cNvPr id="29" name="agenda-page-text-4"/>
          <p:cNvSpPr>
            <a:spLocks noGrp="1"/>
          </p:cNvSpPr>
          <p:nvPr/>
        </p:nvSpPr>
        <p:spPr>
          <a:xfrm>
            <a:off x="10420350" y="439102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53846"/>
          </a:bodyPr>
          <a:lstStyle/>
          <a:p>
            <a:pPr algn="ctr">
              <a:buNone/>
              <a:defRPr sz="9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P32-P34</a:t>
            </a:r>
            <a:endParaRPr sz="97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part"/>
          <p:cNvSpPr>
            <a:spLocks noGrp="1"/>
          </p:cNvSpPr>
          <p:nvPr/>
        </p:nvSpPr>
        <p:spPr>
          <a:xfrm>
            <a:off x="552450" y="7810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2F83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F83FF"/>
                </a:solidFill>
                <a:latin typeface="PingFang SC"/>
                <a:ea typeface="PingFang SC"/>
                <a:cs typeface="PingFang SC"/>
              </a:rPr>
              <a:t>Part 01</a:t>
            </a:r>
            <a:endParaRPr sz="1800" b="1">
              <a:solidFill>
                <a:srgbClr val="2F83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" name="section-title"/>
          <p:cNvSpPr>
            <a:spLocks noGrp="1"/>
          </p:cNvSpPr>
          <p:nvPr/>
        </p:nvSpPr>
        <p:spPr>
          <a:xfrm>
            <a:off x="552450" y="1695450"/>
            <a:ext cx="8096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4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培训平台建设方案</a:t>
            </a:r>
            <a:endParaRPr sz="43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section-subtitle"/>
          <p:cNvSpPr>
            <a:spLocks noGrp="1"/>
          </p:cNvSpPr>
          <p:nvPr/>
        </p:nvSpPr>
        <p:spPr>
          <a:xfrm>
            <a:off x="590550" y="2952750"/>
            <a:ext cx="8989695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9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围绕培训组织、研修活动、培训评估、教师档案和用户推荐，形成一体化业务闭环。</a:t>
            </a:r>
            <a:endParaRPr sz="1950" b="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ection-line"/>
          <p:cNvSpPr>
            <a:spLocks noGrp="1"/>
          </p:cNvSpPr>
          <p:nvPr/>
        </p:nvSpPr>
        <p:spPr>
          <a:xfrm>
            <a:off x="590550" y="4629150"/>
            <a:ext cx="600075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keywords"/>
          <p:cNvSpPr>
            <a:spLocks noGrp="1"/>
          </p:cNvSpPr>
          <p:nvPr/>
        </p:nvSpPr>
        <p:spPr>
          <a:xfrm>
            <a:off x="590550" y="499110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培训信息 / 研修活动 / 培训评估 / 教师档案 / 用户推荐</a:t>
            </a:r>
            <a:endParaRPr sz="16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global-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03</a:t>
            </a:r>
            <a:endParaRPr sz="975" b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/>
          <p:cNvSpPr>
            <a:spLocks noGrp="1"/>
          </p:cNvSpPr>
          <p:nvPr/>
        </p:nvSpPr>
        <p:spPr>
          <a:xfrm>
            <a:off x="400050" y="742950"/>
            <a:ext cx="10572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1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1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培训业务需要从活动组织升级为持续发展服务</a:t>
            </a:r>
            <a:endParaRPr sz="315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title-rule"/>
          <p:cNvSpPr>
            <a:spLocks noGrp="1"/>
          </p:cNvSpPr>
          <p:nvPr/>
        </p:nvSpPr>
        <p:spPr>
          <a:xfrm>
            <a:off x="400050" y="15049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lead"/>
          <p:cNvSpPr>
            <a:spLocks noGrp="1"/>
          </p:cNvSpPr>
          <p:nvPr/>
        </p:nvSpPr>
        <p:spPr>
          <a:xfrm>
            <a:off x="438150" y="1809750"/>
            <a:ext cx="10858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传统培训管理以报名、签到、学习统计为主，难以完整呈现教师的参与表现、成果质量和后续发展需求。培训平台要把一次性活动转化为可追踪、可评价、可沉淀、可推荐的业务闭环。</a:t>
            </a:r>
            <a:endParaRPr sz="180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card-过程难追踪"/>
          <p:cNvSpPr>
            <a:spLocks noGrp="1"/>
          </p:cNvSpPr>
          <p:nvPr/>
        </p:nvSpPr>
        <p:spPr>
          <a:xfrm>
            <a:off x="400050" y="3048000"/>
            <a:ext cx="3429000" cy="1676400"/>
          </a:xfrm>
          <a:prstGeom prst="roundRect">
            <a:avLst>
              <a:gd name="adj" fmla="val 3409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6" name="num-01"/>
          <p:cNvSpPr>
            <a:spLocks noGrp="1"/>
          </p:cNvSpPr>
          <p:nvPr/>
        </p:nvSpPr>
        <p:spPr>
          <a:xfrm>
            <a:off x="609600" y="3257550"/>
            <a:ext cx="323850" cy="32385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7" name="num-text-01"/>
          <p:cNvSpPr>
            <a:spLocks noGrp="1"/>
          </p:cNvSpPr>
          <p:nvPr/>
        </p:nvSpPr>
        <p:spPr>
          <a:xfrm>
            <a:off x="609600" y="329565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01</a:t>
            </a:r>
            <a:endParaRPr sz="1200" b="1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8" name="card-title-过程难追踪"/>
          <p:cNvSpPr>
            <a:spLocks noGrp="1"/>
          </p:cNvSpPr>
          <p:nvPr/>
        </p:nvSpPr>
        <p:spPr>
          <a:xfrm>
            <a:off x="1066800" y="3257550"/>
            <a:ext cx="2552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过程难追踪</a:t>
            </a:r>
            <a:endParaRPr sz="18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card-body-过程难追踪"/>
          <p:cNvSpPr>
            <a:spLocks noGrp="1"/>
          </p:cNvSpPr>
          <p:nvPr/>
        </p:nvSpPr>
        <p:spPr>
          <a:xfrm>
            <a:off x="1066800" y="3676650"/>
            <a:ext cx="25527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线上线下活动分散，学习、互动、任务和成果数据缺少统一归集。</a:t>
            </a:r>
            <a:endParaRPr sz="135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card-评价难统一"/>
          <p:cNvSpPr>
            <a:spLocks noGrp="1"/>
          </p:cNvSpPr>
          <p:nvPr/>
        </p:nvSpPr>
        <p:spPr>
          <a:xfrm>
            <a:off x="4381500" y="3048000"/>
            <a:ext cx="3429000" cy="1676400"/>
          </a:xfrm>
          <a:prstGeom prst="roundRect">
            <a:avLst>
              <a:gd name="adj" fmla="val 3409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num-02"/>
          <p:cNvSpPr>
            <a:spLocks noGrp="1"/>
          </p:cNvSpPr>
          <p:nvPr/>
        </p:nvSpPr>
        <p:spPr>
          <a:xfrm>
            <a:off x="4591050" y="3257550"/>
            <a:ext cx="323850" cy="32385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2" name="num-text-02"/>
          <p:cNvSpPr>
            <a:spLocks noGrp="1"/>
          </p:cNvSpPr>
          <p:nvPr/>
        </p:nvSpPr>
        <p:spPr>
          <a:xfrm>
            <a:off x="4591050" y="329565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02</a:t>
            </a:r>
            <a:endParaRPr sz="1200" b="1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card-title-评价难统一"/>
          <p:cNvSpPr>
            <a:spLocks noGrp="1"/>
          </p:cNvSpPr>
          <p:nvPr/>
        </p:nvSpPr>
        <p:spPr>
          <a:xfrm>
            <a:off x="5048250" y="3257550"/>
            <a:ext cx="2552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评价难统一</a:t>
            </a:r>
            <a:endParaRPr sz="18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4" name="card-body-评价难统一"/>
          <p:cNvSpPr>
            <a:spLocks noGrp="1"/>
          </p:cNvSpPr>
          <p:nvPr/>
        </p:nvSpPr>
        <p:spPr>
          <a:xfrm>
            <a:off x="5048250" y="3676650"/>
            <a:ext cx="25527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不同项目评价口径不一致，过程表现和成果质量难以综合呈现。</a:t>
            </a:r>
            <a:endParaRPr sz="135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card-发展难延续"/>
          <p:cNvSpPr>
            <a:spLocks noGrp="1"/>
          </p:cNvSpPr>
          <p:nvPr/>
        </p:nvSpPr>
        <p:spPr>
          <a:xfrm>
            <a:off x="8362950" y="3048000"/>
            <a:ext cx="3429000" cy="1676400"/>
          </a:xfrm>
          <a:prstGeom prst="roundRect">
            <a:avLst>
              <a:gd name="adj" fmla="val 3409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6" name="num-03"/>
          <p:cNvSpPr>
            <a:spLocks noGrp="1"/>
          </p:cNvSpPr>
          <p:nvPr/>
        </p:nvSpPr>
        <p:spPr>
          <a:xfrm>
            <a:off x="8572500" y="3257550"/>
            <a:ext cx="323850" cy="32385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7" name="num-text-03"/>
          <p:cNvSpPr>
            <a:spLocks noGrp="1"/>
          </p:cNvSpPr>
          <p:nvPr/>
        </p:nvSpPr>
        <p:spPr>
          <a:xfrm>
            <a:off x="8572500" y="329565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03</a:t>
            </a:r>
            <a:endParaRPr sz="1200" b="1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8" name="card-title-发展难延续"/>
          <p:cNvSpPr>
            <a:spLocks noGrp="1"/>
          </p:cNvSpPr>
          <p:nvPr/>
        </p:nvSpPr>
        <p:spPr>
          <a:xfrm>
            <a:off x="9029700" y="3257550"/>
            <a:ext cx="2552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发展难延续</a:t>
            </a:r>
            <a:endParaRPr sz="18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9" name="card-body-发展难延续"/>
          <p:cNvSpPr>
            <a:spLocks noGrp="1"/>
          </p:cNvSpPr>
          <p:nvPr/>
        </p:nvSpPr>
        <p:spPr>
          <a:xfrm>
            <a:off x="9029700" y="3676650"/>
            <a:ext cx="25527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培训结束后缺少档案沉淀和个性化推荐，后续改进路径不清晰。</a:t>
            </a:r>
            <a:endParaRPr sz="135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0" name="bottom"/>
          <p:cNvSpPr>
            <a:spLocks noGrp="1"/>
          </p:cNvSpPr>
          <p:nvPr/>
        </p:nvSpPr>
        <p:spPr>
          <a:xfrm>
            <a:off x="476250" y="5391150"/>
            <a:ext cx="108585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210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建设方向：统一平台入口 + 全过程数据 + 评价模型 + 教师档案 + 精准推荐</a:t>
            </a:r>
            <a:endParaRPr sz="210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1" name="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04</a:t>
            </a:r>
            <a:endParaRPr sz="975" b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/>
          <p:cNvSpPr>
            <a:spLocks noGrp="1"/>
          </p:cNvSpPr>
          <p:nvPr/>
        </p:nvSpPr>
        <p:spPr>
          <a:xfrm>
            <a:off x="400050" y="742950"/>
            <a:ext cx="10572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1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1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六个目标共同支撑培训平台的一体化能力</a:t>
            </a:r>
            <a:endParaRPr sz="315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title-rule"/>
          <p:cNvSpPr>
            <a:spLocks noGrp="1"/>
          </p:cNvSpPr>
          <p:nvPr/>
        </p:nvSpPr>
        <p:spPr>
          <a:xfrm>
            <a:off x="400050" y="15049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card-统一培训入口"/>
          <p:cNvSpPr>
            <a:spLocks noGrp="1"/>
          </p:cNvSpPr>
          <p:nvPr/>
        </p:nvSpPr>
        <p:spPr>
          <a:xfrm>
            <a:off x="400050" y="1924050"/>
            <a:ext cx="3429000" cy="142875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num-01"/>
          <p:cNvSpPr>
            <a:spLocks noGrp="1"/>
          </p:cNvSpPr>
          <p:nvPr/>
        </p:nvSpPr>
        <p:spPr>
          <a:xfrm>
            <a:off x="609600" y="2133600"/>
            <a:ext cx="323850" cy="32385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6" name="num-text-01"/>
          <p:cNvSpPr>
            <a:spLocks noGrp="1"/>
          </p:cNvSpPr>
          <p:nvPr/>
        </p:nvSpPr>
        <p:spPr>
          <a:xfrm>
            <a:off x="609600" y="21717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01</a:t>
            </a:r>
            <a:endParaRPr sz="1200" b="1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card-title-统一培训入口"/>
          <p:cNvSpPr>
            <a:spLocks noGrp="1"/>
          </p:cNvSpPr>
          <p:nvPr/>
        </p:nvSpPr>
        <p:spPr>
          <a:xfrm>
            <a:off x="1066800" y="2133600"/>
            <a:ext cx="2552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统一培训入口</a:t>
            </a:r>
            <a:endParaRPr sz="18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8" name="card-body-统一培训入口"/>
          <p:cNvSpPr>
            <a:spLocks noGrp="1"/>
          </p:cNvSpPr>
          <p:nvPr/>
        </p:nvSpPr>
        <p:spPr>
          <a:xfrm>
            <a:off x="1066800" y="2552700"/>
            <a:ext cx="2552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项目、课程、报名、审核、计划和人员组织集中管理。</a:t>
            </a:r>
            <a:endParaRPr sz="135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card-贯通研修场景"/>
          <p:cNvSpPr>
            <a:spLocks noGrp="1"/>
          </p:cNvSpPr>
          <p:nvPr/>
        </p:nvSpPr>
        <p:spPr>
          <a:xfrm>
            <a:off x="4305300" y="1924050"/>
            <a:ext cx="3429000" cy="142875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num-02"/>
          <p:cNvSpPr>
            <a:spLocks noGrp="1"/>
          </p:cNvSpPr>
          <p:nvPr/>
        </p:nvSpPr>
        <p:spPr>
          <a:xfrm>
            <a:off x="4514850" y="2133600"/>
            <a:ext cx="323850" cy="32385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1" name="num-text-02"/>
          <p:cNvSpPr>
            <a:spLocks noGrp="1"/>
          </p:cNvSpPr>
          <p:nvPr/>
        </p:nvSpPr>
        <p:spPr>
          <a:xfrm>
            <a:off x="4514850" y="21717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02</a:t>
            </a:r>
            <a:endParaRPr sz="1200" b="1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2" name="card-title-贯通研修场景"/>
          <p:cNvSpPr>
            <a:spLocks noGrp="1"/>
          </p:cNvSpPr>
          <p:nvPr/>
        </p:nvSpPr>
        <p:spPr>
          <a:xfrm>
            <a:off x="4972050" y="2114550"/>
            <a:ext cx="2857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贯通研训场景</a:t>
            </a:r>
            <a:endParaRPr sz="16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  <a:p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（研训一体化）</a:t>
            </a:r>
            <a:endParaRPr sz="16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card-body-贯通研修场景"/>
          <p:cNvSpPr>
            <a:spLocks noGrp="1"/>
          </p:cNvSpPr>
          <p:nvPr/>
        </p:nvSpPr>
        <p:spPr>
          <a:xfrm>
            <a:off x="4655820" y="2780665"/>
            <a:ext cx="2857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覆盖线上学习、线下工作坊、任务活动、课题研究和成果共创。</a:t>
            </a:r>
            <a:endParaRPr sz="1275" b="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card-建立评价模型"/>
          <p:cNvSpPr>
            <a:spLocks noGrp="1"/>
          </p:cNvSpPr>
          <p:nvPr/>
        </p:nvSpPr>
        <p:spPr>
          <a:xfrm>
            <a:off x="8210550" y="1924050"/>
            <a:ext cx="3429000" cy="142875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15" name="num-03"/>
          <p:cNvSpPr>
            <a:spLocks noGrp="1"/>
          </p:cNvSpPr>
          <p:nvPr/>
        </p:nvSpPr>
        <p:spPr>
          <a:xfrm>
            <a:off x="8420100" y="2133600"/>
            <a:ext cx="323850" cy="3238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16" name="num-text-03"/>
          <p:cNvSpPr>
            <a:spLocks noGrp="1"/>
          </p:cNvSpPr>
          <p:nvPr/>
        </p:nvSpPr>
        <p:spPr>
          <a:xfrm>
            <a:off x="8420100" y="21717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  <a:endParaRPr sz="97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card-title-建立评价模型"/>
          <p:cNvSpPr>
            <a:spLocks noGrp="1"/>
          </p:cNvSpPr>
          <p:nvPr/>
        </p:nvSpPr>
        <p:spPr>
          <a:xfrm>
            <a:off x="8877300" y="2133600"/>
            <a:ext cx="2552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建立评价模型</a:t>
            </a:r>
            <a:endParaRPr sz="18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8" name="card-body-建立评价模型"/>
          <p:cNvSpPr>
            <a:spLocks noGrp="1"/>
          </p:cNvSpPr>
          <p:nvPr/>
        </p:nvSpPr>
        <p:spPr>
          <a:xfrm>
            <a:off x="8877300" y="2552700"/>
            <a:ext cx="2552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765"/>
          </a:bodyPr>
          <a:lstStyle/>
          <a:p>
            <a:pPr algn="l">
              <a:buNone/>
              <a:defRPr sz="135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围绕参与度、完成度、学习表现、成果质量和专家评价形成综合评价。</a:t>
            </a:r>
            <a:endParaRPr sz="135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9" name="card-沉淀教师档案"/>
          <p:cNvSpPr>
            <a:spLocks noGrp="1"/>
          </p:cNvSpPr>
          <p:nvPr/>
        </p:nvSpPr>
        <p:spPr>
          <a:xfrm>
            <a:off x="400050" y="3752850"/>
            <a:ext cx="3429000" cy="142875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num-04"/>
          <p:cNvSpPr>
            <a:spLocks noGrp="1"/>
          </p:cNvSpPr>
          <p:nvPr/>
        </p:nvSpPr>
        <p:spPr>
          <a:xfrm>
            <a:off x="609600" y="3962400"/>
            <a:ext cx="323850" cy="32385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1" name="num-text-04"/>
          <p:cNvSpPr>
            <a:spLocks noGrp="1"/>
          </p:cNvSpPr>
          <p:nvPr/>
        </p:nvSpPr>
        <p:spPr>
          <a:xfrm>
            <a:off x="609600" y="40005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04</a:t>
            </a:r>
            <a:endParaRPr sz="1200" b="1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2" name="card-title-沉淀教师档案"/>
          <p:cNvSpPr>
            <a:spLocks noGrp="1"/>
          </p:cNvSpPr>
          <p:nvPr/>
        </p:nvSpPr>
        <p:spPr>
          <a:xfrm>
            <a:off x="1066800" y="3962400"/>
            <a:ext cx="2552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沉淀教师档案</a:t>
            </a:r>
            <a:endParaRPr sz="18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3" name="card-body-沉淀教师档案"/>
          <p:cNvSpPr>
            <a:spLocks noGrp="1"/>
          </p:cNvSpPr>
          <p:nvPr/>
        </p:nvSpPr>
        <p:spPr>
          <a:xfrm>
            <a:off x="1066800" y="4362450"/>
            <a:ext cx="2781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自动归集与手动上传培训记录、学习过程、成果材料、评价结果和成长轨迹。</a:t>
            </a:r>
            <a:endParaRPr sz="1275" b="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4" name="card-支持个性推荐"/>
          <p:cNvSpPr>
            <a:spLocks noGrp="1"/>
          </p:cNvSpPr>
          <p:nvPr/>
        </p:nvSpPr>
        <p:spPr>
          <a:xfrm>
            <a:off x="4305300" y="3752850"/>
            <a:ext cx="3429000" cy="1428750"/>
          </a:xfrm>
          <a:prstGeom prst="roundRect">
            <a:avLst>
              <a:gd name="adj" fmla="val 4000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25" name="num-05"/>
          <p:cNvSpPr>
            <a:spLocks noGrp="1"/>
          </p:cNvSpPr>
          <p:nvPr/>
        </p:nvSpPr>
        <p:spPr>
          <a:xfrm>
            <a:off x="4514850" y="3962400"/>
            <a:ext cx="323850" cy="3238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26" name="num-text-05"/>
          <p:cNvSpPr>
            <a:spLocks noGrp="1"/>
          </p:cNvSpPr>
          <p:nvPr/>
        </p:nvSpPr>
        <p:spPr>
          <a:xfrm>
            <a:off x="4514850" y="40005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</a:t>
            </a:r>
            <a:endParaRPr sz="97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7" name="card-title-支持个性推荐"/>
          <p:cNvSpPr>
            <a:spLocks noGrp="1"/>
          </p:cNvSpPr>
          <p:nvPr/>
        </p:nvSpPr>
        <p:spPr>
          <a:xfrm>
            <a:off x="4972050" y="3962400"/>
            <a:ext cx="2552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支持个性推荐</a:t>
            </a:r>
            <a:endParaRPr sz="18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8" name="card-body-支持个性推荐"/>
          <p:cNvSpPr>
            <a:spLocks noGrp="1"/>
          </p:cNvSpPr>
          <p:nvPr/>
        </p:nvSpPr>
        <p:spPr>
          <a:xfrm>
            <a:off x="4972050" y="4381500"/>
            <a:ext cx="2552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基于教师画像和评价结果推荐课程、活动、资源和发展路径。</a:t>
            </a:r>
            <a:endParaRPr sz="135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9" name="card-服务管理决策"/>
          <p:cNvSpPr>
            <a:spLocks noGrp="1"/>
          </p:cNvSpPr>
          <p:nvPr/>
        </p:nvSpPr>
        <p:spPr>
          <a:xfrm>
            <a:off x="8210550" y="3752850"/>
            <a:ext cx="3429000" cy="1428750"/>
          </a:xfrm>
          <a:prstGeom prst="roundRect">
            <a:avLst>
              <a:gd name="adj" fmla="val 4000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0" name="num-06"/>
          <p:cNvSpPr>
            <a:spLocks noGrp="1"/>
          </p:cNvSpPr>
          <p:nvPr/>
        </p:nvSpPr>
        <p:spPr>
          <a:xfrm>
            <a:off x="8420100" y="3962400"/>
            <a:ext cx="323850" cy="32385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31" name="num-text-06"/>
          <p:cNvSpPr>
            <a:spLocks noGrp="1"/>
          </p:cNvSpPr>
          <p:nvPr/>
        </p:nvSpPr>
        <p:spPr>
          <a:xfrm>
            <a:off x="8420100" y="40005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06</a:t>
            </a:r>
            <a:endParaRPr sz="1200" b="1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2" name="card-title-服务管理决策"/>
          <p:cNvSpPr>
            <a:spLocks noGrp="1"/>
          </p:cNvSpPr>
          <p:nvPr/>
        </p:nvSpPr>
        <p:spPr>
          <a:xfrm>
            <a:off x="8877300" y="3962400"/>
            <a:ext cx="25527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服务管理决策</a:t>
            </a:r>
            <a:endParaRPr sz="18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3" name="card-body-服务管理决策"/>
          <p:cNvSpPr>
            <a:spLocks noGrp="1"/>
          </p:cNvSpPr>
          <p:nvPr/>
        </p:nvSpPr>
        <p:spPr>
          <a:xfrm>
            <a:off x="8877300" y="4381500"/>
            <a:ext cx="25527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为管理部门、学校、培训机构和教师个人提供数据支撑。</a:t>
            </a:r>
            <a:endParaRPr sz="135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4" name="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05</a:t>
            </a:r>
            <a:endParaRPr sz="975" b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/>
          <p:cNvSpPr>
            <a:spLocks noGrp="1"/>
          </p:cNvSpPr>
          <p:nvPr/>
        </p:nvSpPr>
        <p:spPr>
          <a:xfrm>
            <a:off x="400050" y="742950"/>
            <a:ext cx="10572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1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1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总体架构以子系统承载业务，以核心模块提供平台能力</a:t>
            </a:r>
            <a:endParaRPr sz="315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title-rule"/>
          <p:cNvSpPr>
            <a:spLocks noGrp="1"/>
          </p:cNvSpPr>
          <p:nvPr/>
        </p:nvSpPr>
        <p:spPr>
          <a:xfrm>
            <a:off x="400050" y="15049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sys-label"/>
          <p:cNvSpPr>
            <a:spLocks noGrp="1"/>
          </p:cNvSpPr>
          <p:nvPr/>
        </p:nvSpPr>
        <p:spPr>
          <a:xfrm>
            <a:off x="263525" y="206121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子系统层</a:t>
            </a:r>
            <a:endParaRPr sz="165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mod-label"/>
          <p:cNvSpPr>
            <a:spLocks noGrp="1"/>
          </p:cNvSpPr>
          <p:nvPr/>
        </p:nvSpPr>
        <p:spPr>
          <a:xfrm>
            <a:off x="95250" y="4419600"/>
            <a:ext cx="1333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核心模块层</a:t>
            </a:r>
            <a:endParaRPr sz="165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box-培训信息管理"/>
          <p:cNvSpPr>
            <a:spLocks noGrp="1"/>
          </p:cNvSpPr>
          <p:nvPr/>
        </p:nvSpPr>
        <p:spPr>
          <a:xfrm>
            <a:off x="1809750" y="1752600"/>
            <a:ext cx="1562100" cy="1123950"/>
          </a:xfrm>
          <a:prstGeom prst="roundRect">
            <a:avLst>
              <a:gd name="adj" fmla="val 5085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box-title-培训信息管理"/>
          <p:cNvSpPr>
            <a:spLocks noGrp="1"/>
          </p:cNvSpPr>
          <p:nvPr/>
        </p:nvSpPr>
        <p:spPr>
          <a:xfrm>
            <a:off x="1919605" y="1917065"/>
            <a:ext cx="137858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培训信息管理</a:t>
            </a:r>
            <a:endParaRPr sz="1575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8" name="box-body-培训信息管理"/>
          <p:cNvSpPr>
            <a:spLocks noGrp="1"/>
          </p:cNvSpPr>
          <p:nvPr/>
        </p:nvSpPr>
        <p:spPr>
          <a:xfrm>
            <a:off x="1981200" y="2400935"/>
            <a:ext cx="1219200" cy="3232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lnSpcReduction="20000"/>
          </a:bodyPr>
          <a:lstStyle/>
          <a:p>
            <a:pPr algn="l">
              <a:buNone/>
              <a:def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项目/课程/报名/计划</a:t>
            </a:r>
            <a:endParaRPr sz="120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box-研修活动"/>
          <p:cNvSpPr>
            <a:spLocks noGrp="1"/>
          </p:cNvSpPr>
          <p:nvPr/>
        </p:nvSpPr>
        <p:spPr>
          <a:xfrm>
            <a:off x="3733800" y="1752600"/>
            <a:ext cx="1562100" cy="1123950"/>
          </a:xfrm>
          <a:prstGeom prst="roundRect">
            <a:avLst>
              <a:gd name="adj" fmla="val 5085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box-title-研修活动"/>
          <p:cNvSpPr>
            <a:spLocks noGrp="1"/>
          </p:cNvSpPr>
          <p:nvPr/>
        </p:nvSpPr>
        <p:spPr>
          <a:xfrm>
            <a:off x="4048760" y="1924050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研修活动</a:t>
            </a:r>
            <a:endParaRPr sz="1575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box-body-研修活动"/>
          <p:cNvSpPr>
            <a:spLocks noGrp="1"/>
          </p:cNvSpPr>
          <p:nvPr/>
        </p:nvSpPr>
        <p:spPr>
          <a:xfrm>
            <a:off x="3816350" y="2286000"/>
            <a:ext cx="137858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线上/线下/任务/成果</a:t>
            </a:r>
            <a:endParaRPr sz="120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6" name="box-培训评估"/>
          <p:cNvSpPr>
            <a:spLocks noGrp="1"/>
          </p:cNvSpPr>
          <p:nvPr/>
        </p:nvSpPr>
        <p:spPr>
          <a:xfrm>
            <a:off x="5657850" y="1752600"/>
            <a:ext cx="1562100" cy="1123950"/>
          </a:xfrm>
          <a:prstGeom prst="roundRect">
            <a:avLst>
              <a:gd name="adj" fmla="val 5085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17" name="box-title-培训评估"/>
          <p:cNvSpPr>
            <a:spLocks noGrp="1"/>
          </p:cNvSpPr>
          <p:nvPr/>
        </p:nvSpPr>
        <p:spPr>
          <a:xfrm>
            <a:off x="5951855" y="1924050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培训评估</a:t>
            </a:r>
            <a:endParaRPr sz="1575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8" name="box-body-培训评估"/>
          <p:cNvSpPr>
            <a:spLocks noGrp="1"/>
          </p:cNvSpPr>
          <p:nvPr/>
        </p:nvSpPr>
        <p:spPr>
          <a:xfrm>
            <a:off x="5768340" y="2286000"/>
            <a:ext cx="137858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模型/数据/分析/报告</a:t>
            </a:r>
            <a:endParaRPr sz="120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1" name="box-教师档案"/>
          <p:cNvSpPr>
            <a:spLocks noGrp="1"/>
          </p:cNvSpPr>
          <p:nvPr/>
        </p:nvSpPr>
        <p:spPr>
          <a:xfrm>
            <a:off x="7581900" y="1752600"/>
            <a:ext cx="1562100" cy="1123950"/>
          </a:xfrm>
          <a:prstGeom prst="roundRect">
            <a:avLst>
              <a:gd name="adj" fmla="val 5085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2" name="box-title-教师档案"/>
          <p:cNvSpPr>
            <a:spLocks noGrp="1"/>
          </p:cNvSpPr>
          <p:nvPr/>
        </p:nvSpPr>
        <p:spPr>
          <a:xfrm>
            <a:off x="7753350" y="1924050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教师档案</a:t>
            </a:r>
            <a:endParaRPr sz="1575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3" name="box-body-教师档案"/>
          <p:cNvSpPr>
            <a:spLocks noGrp="1"/>
          </p:cNvSpPr>
          <p:nvPr/>
        </p:nvSpPr>
        <p:spPr>
          <a:xfrm>
            <a:off x="7753350" y="2286000"/>
            <a:ext cx="1219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记录/结果/成果/轨迹</a:t>
            </a:r>
            <a:endParaRPr sz="120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6" name="box-用户推荐"/>
          <p:cNvSpPr>
            <a:spLocks noGrp="1"/>
          </p:cNvSpPr>
          <p:nvPr/>
        </p:nvSpPr>
        <p:spPr>
          <a:xfrm>
            <a:off x="9505950" y="1752600"/>
            <a:ext cx="1562100" cy="1123950"/>
          </a:xfrm>
          <a:prstGeom prst="roundRect">
            <a:avLst>
              <a:gd name="adj" fmla="val 5085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7" name="box-title-用户推荐"/>
          <p:cNvSpPr>
            <a:spLocks noGrp="1"/>
          </p:cNvSpPr>
          <p:nvPr/>
        </p:nvSpPr>
        <p:spPr>
          <a:xfrm>
            <a:off x="9677400" y="1924050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用户推荐</a:t>
            </a:r>
            <a:endParaRPr sz="1575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8" name="box-body-用户推荐"/>
          <p:cNvSpPr>
            <a:spLocks noGrp="1"/>
          </p:cNvSpPr>
          <p:nvPr/>
        </p:nvSpPr>
        <p:spPr>
          <a:xfrm>
            <a:off x="9677400" y="2286000"/>
            <a:ext cx="12192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画像/课程/活动/路径</a:t>
            </a:r>
            <a:endParaRPr sz="120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9" name="box-网络研修"/>
          <p:cNvSpPr>
            <a:spLocks noGrp="1"/>
          </p:cNvSpPr>
          <p:nvPr/>
        </p:nvSpPr>
        <p:spPr>
          <a:xfrm>
            <a:off x="1428750" y="4038600"/>
            <a:ext cx="1333500" cy="1047750"/>
          </a:xfrm>
          <a:prstGeom prst="roundRect">
            <a:avLst>
              <a:gd name="adj" fmla="val 5455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0" name="box-title-网络研修"/>
          <p:cNvSpPr>
            <a:spLocks noGrp="1"/>
          </p:cNvSpPr>
          <p:nvPr/>
        </p:nvSpPr>
        <p:spPr>
          <a:xfrm>
            <a:off x="1600200" y="421005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网络研修</a:t>
            </a:r>
            <a:endParaRPr sz="1575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1" name="box-body-网络研修"/>
          <p:cNvSpPr>
            <a:spLocks noGrp="1"/>
          </p:cNvSpPr>
          <p:nvPr/>
        </p:nvSpPr>
        <p:spPr>
          <a:xfrm>
            <a:off x="1600200" y="4572000"/>
            <a:ext cx="990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训研一体</a:t>
            </a:r>
            <a:endParaRPr sz="120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2" name="box-评价模型"/>
          <p:cNvSpPr>
            <a:spLocks noGrp="1"/>
          </p:cNvSpPr>
          <p:nvPr/>
        </p:nvSpPr>
        <p:spPr>
          <a:xfrm>
            <a:off x="3105150" y="4038600"/>
            <a:ext cx="1333500" cy="1047750"/>
          </a:xfrm>
          <a:prstGeom prst="roundRect">
            <a:avLst>
              <a:gd name="adj" fmla="val 5455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3" name="box-title-评价模型"/>
          <p:cNvSpPr>
            <a:spLocks noGrp="1"/>
          </p:cNvSpPr>
          <p:nvPr/>
        </p:nvSpPr>
        <p:spPr>
          <a:xfrm>
            <a:off x="3276600" y="421005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评价模型</a:t>
            </a:r>
            <a:endParaRPr sz="1575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4" name="box-body-评价模型"/>
          <p:cNvSpPr>
            <a:spLocks noGrp="1"/>
          </p:cNvSpPr>
          <p:nvPr/>
        </p:nvSpPr>
        <p:spPr>
          <a:xfrm>
            <a:off x="3276600" y="4572000"/>
            <a:ext cx="990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指标规则</a:t>
            </a:r>
            <a:endParaRPr sz="120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5" name="box-数据归集"/>
          <p:cNvSpPr>
            <a:spLocks noGrp="1"/>
          </p:cNvSpPr>
          <p:nvPr/>
        </p:nvSpPr>
        <p:spPr>
          <a:xfrm>
            <a:off x="4781550" y="4038600"/>
            <a:ext cx="1333500" cy="1047750"/>
          </a:xfrm>
          <a:prstGeom prst="roundRect">
            <a:avLst>
              <a:gd name="adj" fmla="val 5455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36" name="box-title-数据归集"/>
          <p:cNvSpPr>
            <a:spLocks noGrp="1"/>
          </p:cNvSpPr>
          <p:nvPr/>
        </p:nvSpPr>
        <p:spPr>
          <a:xfrm>
            <a:off x="4953000" y="421005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数据归集</a:t>
            </a:r>
            <a:endParaRPr sz="1575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7" name="box-body-数据归集"/>
          <p:cNvSpPr>
            <a:spLocks noGrp="1"/>
          </p:cNvSpPr>
          <p:nvPr/>
        </p:nvSpPr>
        <p:spPr>
          <a:xfrm>
            <a:off x="4953000" y="4572000"/>
            <a:ext cx="990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时间窗口</a:t>
            </a:r>
            <a:endParaRPr sz="120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8" name="box-评估分析"/>
          <p:cNvSpPr>
            <a:spLocks noGrp="1"/>
          </p:cNvSpPr>
          <p:nvPr/>
        </p:nvSpPr>
        <p:spPr>
          <a:xfrm>
            <a:off x="6457950" y="4038600"/>
            <a:ext cx="1333500" cy="1047750"/>
          </a:xfrm>
          <a:prstGeom prst="roundRect">
            <a:avLst>
              <a:gd name="adj" fmla="val 5455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39" name="box-title-评估分析"/>
          <p:cNvSpPr>
            <a:spLocks noGrp="1"/>
          </p:cNvSpPr>
          <p:nvPr/>
        </p:nvSpPr>
        <p:spPr>
          <a:xfrm>
            <a:off x="6629400" y="421005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评估分析</a:t>
            </a:r>
            <a:endParaRPr sz="1575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0" name="box-body-评估分析"/>
          <p:cNvSpPr>
            <a:spLocks noGrp="1"/>
          </p:cNvSpPr>
          <p:nvPr/>
        </p:nvSpPr>
        <p:spPr>
          <a:xfrm>
            <a:off x="6629400" y="4572000"/>
            <a:ext cx="990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综合评价</a:t>
            </a:r>
            <a:endParaRPr sz="120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1" name="box-档案沉淀"/>
          <p:cNvSpPr>
            <a:spLocks noGrp="1"/>
          </p:cNvSpPr>
          <p:nvPr/>
        </p:nvSpPr>
        <p:spPr>
          <a:xfrm>
            <a:off x="8134350" y="4038600"/>
            <a:ext cx="1333500" cy="1047750"/>
          </a:xfrm>
          <a:prstGeom prst="roundRect">
            <a:avLst>
              <a:gd name="adj" fmla="val 5455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2" name="box-title-档案沉淀"/>
          <p:cNvSpPr>
            <a:spLocks noGrp="1"/>
          </p:cNvSpPr>
          <p:nvPr/>
        </p:nvSpPr>
        <p:spPr>
          <a:xfrm>
            <a:off x="8305800" y="421005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档案沉淀</a:t>
            </a:r>
            <a:endParaRPr sz="1575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3" name="box-body-档案沉淀"/>
          <p:cNvSpPr>
            <a:spLocks noGrp="1"/>
          </p:cNvSpPr>
          <p:nvPr/>
        </p:nvSpPr>
        <p:spPr>
          <a:xfrm>
            <a:off x="8305800" y="4572000"/>
            <a:ext cx="990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画像更新</a:t>
            </a:r>
            <a:endParaRPr sz="120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4" name="box-推荐服务"/>
          <p:cNvSpPr>
            <a:spLocks noGrp="1"/>
          </p:cNvSpPr>
          <p:nvPr/>
        </p:nvSpPr>
        <p:spPr>
          <a:xfrm>
            <a:off x="9810750" y="4038600"/>
            <a:ext cx="1333500" cy="1047750"/>
          </a:xfrm>
          <a:prstGeom prst="roundRect">
            <a:avLst>
              <a:gd name="adj" fmla="val 5455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5" name="box-title-推荐服务"/>
          <p:cNvSpPr>
            <a:spLocks noGrp="1"/>
          </p:cNvSpPr>
          <p:nvPr/>
        </p:nvSpPr>
        <p:spPr>
          <a:xfrm>
            <a:off x="9982200" y="4210050"/>
            <a:ext cx="990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推荐服务</a:t>
            </a:r>
            <a:endParaRPr sz="1575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6" name="box-body-推荐服务"/>
          <p:cNvSpPr>
            <a:spLocks noGrp="1"/>
          </p:cNvSpPr>
          <p:nvPr/>
        </p:nvSpPr>
        <p:spPr>
          <a:xfrm>
            <a:off x="9982200" y="4572000"/>
            <a:ext cx="990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精准推送</a:t>
            </a:r>
            <a:endParaRPr sz="120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7" name="flow"/>
          <p:cNvSpPr>
            <a:spLocks noGrp="1"/>
          </p:cNvSpPr>
          <p:nvPr/>
        </p:nvSpPr>
        <p:spPr>
          <a:xfrm>
            <a:off x="685800" y="5562600"/>
            <a:ext cx="1019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业务流：培训信息管理 → 研修活动组织 → 数据归集 → 培训评估 → 档案沉淀 → 用户推荐</a:t>
            </a:r>
            <a:endParaRPr sz="18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8" name="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06</a:t>
            </a:r>
            <a:endParaRPr sz="975" b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右箭头 8"/>
          <p:cNvSpPr>
            <a:spLocks noGrp="1"/>
          </p:cNvSpPr>
          <p:nvPr/>
        </p:nvSpPr>
        <p:spPr>
          <a:xfrm>
            <a:off x="3431540" y="2185035"/>
            <a:ext cx="276225" cy="2159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0" name="右箭头 49"/>
          <p:cNvSpPr>
            <a:spLocks noGrp="1"/>
          </p:cNvSpPr>
          <p:nvPr/>
        </p:nvSpPr>
        <p:spPr>
          <a:xfrm>
            <a:off x="5375275" y="2202815"/>
            <a:ext cx="276225" cy="2159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1" name="右箭头 50"/>
          <p:cNvSpPr>
            <a:spLocks noGrp="1"/>
          </p:cNvSpPr>
          <p:nvPr/>
        </p:nvSpPr>
        <p:spPr>
          <a:xfrm>
            <a:off x="7247890" y="2209800"/>
            <a:ext cx="276225" cy="2159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2" name="右箭头 51"/>
          <p:cNvSpPr>
            <a:spLocks noGrp="1"/>
          </p:cNvSpPr>
          <p:nvPr/>
        </p:nvSpPr>
        <p:spPr>
          <a:xfrm>
            <a:off x="9191625" y="2202815"/>
            <a:ext cx="276225" cy="21590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53" name="subsystem-composition-note"/>
          <p:cNvSpPr>
            <a:spLocks noGrp="1"/>
          </p:cNvSpPr>
          <p:nvPr/>
        </p:nvSpPr>
        <p:spPr>
          <a:xfrm>
            <a:off x="1047750" y="5924550"/>
            <a:ext cx="952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0952"/>
          </a:bodyPr>
          <a:lstStyle/>
          <a:p>
            <a:pPr algn="ctr">
              <a:buNone/>
              <a:defRPr sz="1575" b="1">
                <a:solidFill>
                  <a:srgbClr val="2F83FF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F83FF"/>
                </a:solidFill>
                <a:latin typeface="PingFang SC"/>
                <a:ea typeface="PingFang SC"/>
                <a:cs typeface="PingFang SC"/>
              </a:rPr>
              <a:t>组合原则：各子系统可独立成体系，也可按业务链条可插拔、可组装、可配置为解决方案。</a:t>
            </a:r>
            <a:endParaRPr sz="1575" b="1">
              <a:solidFill>
                <a:srgbClr val="2F83F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/>
          <p:cNvSpPr>
            <a:spLocks noGrp="1"/>
          </p:cNvSpPr>
          <p:nvPr/>
        </p:nvSpPr>
        <p:spPr>
          <a:xfrm>
            <a:off x="400050" y="742950"/>
            <a:ext cx="10572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1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1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平台闭环让培训结果回到下一轮精准供给</a:t>
            </a:r>
            <a:endParaRPr sz="315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title-rule"/>
          <p:cNvSpPr>
            <a:spLocks noGrp="1"/>
          </p:cNvSpPr>
          <p:nvPr/>
        </p:nvSpPr>
        <p:spPr>
          <a:xfrm>
            <a:off x="407035" y="132969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loop-0"/>
          <p:cNvSpPr>
            <a:spLocks noGrp="1"/>
          </p:cNvSpPr>
          <p:nvPr/>
        </p:nvSpPr>
        <p:spPr>
          <a:xfrm>
            <a:off x="5143500" y="1514475"/>
            <a:ext cx="1905000" cy="914400"/>
          </a:xfrm>
          <a:prstGeom prst="roundRect">
            <a:avLst>
              <a:gd name="adj" fmla="val 6250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loop-title-0"/>
          <p:cNvSpPr>
            <a:spLocks noGrp="1"/>
          </p:cNvSpPr>
          <p:nvPr/>
        </p:nvSpPr>
        <p:spPr>
          <a:xfrm>
            <a:off x="5276850" y="1666875"/>
            <a:ext cx="1638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培训信息管理</a:t>
            </a:r>
            <a:endParaRPr sz="15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loop-body-0"/>
          <p:cNvSpPr>
            <a:spLocks noGrp="1"/>
          </p:cNvSpPr>
          <p:nvPr/>
        </p:nvSpPr>
        <p:spPr>
          <a:xfrm>
            <a:off x="5276850" y="1990725"/>
            <a:ext cx="1638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05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项目、课程、对象、周期</a:t>
            </a:r>
            <a:endParaRPr sz="105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loop-1"/>
          <p:cNvSpPr>
            <a:spLocks noGrp="1"/>
          </p:cNvSpPr>
          <p:nvPr/>
        </p:nvSpPr>
        <p:spPr>
          <a:xfrm>
            <a:off x="8113101" y="2347913"/>
            <a:ext cx="1905000" cy="914400"/>
          </a:xfrm>
          <a:prstGeom prst="roundRect">
            <a:avLst>
              <a:gd name="adj" fmla="val 6250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loop-title-1"/>
          <p:cNvSpPr>
            <a:spLocks noGrp="1"/>
          </p:cNvSpPr>
          <p:nvPr/>
        </p:nvSpPr>
        <p:spPr>
          <a:xfrm>
            <a:off x="8246451" y="2500313"/>
            <a:ext cx="1638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研修活动组织</a:t>
            </a:r>
            <a:endParaRPr sz="15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loop-body-1"/>
          <p:cNvSpPr>
            <a:spLocks noGrp="1"/>
          </p:cNvSpPr>
          <p:nvPr/>
        </p:nvSpPr>
        <p:spPr>
          <a:xfrm>
            <a:off x="8246451" y="2824163"/>
            <a:ext cx="1638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05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学习、任务、协作、成果</a:t>
            </a:r>
            <a:endParaRPr sz="105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loop-2"/>
          <p:cNvSpPr>
            <a:spLocks noGrp="1"/>
          </p:cNvSpPr>
          <p:nvPr/>
        </p:nvSpPr>
        <p:spPr>
          <a:xfrm>
            <a:off x="8113101" y="4014788"/>
            <a:ext cx="1905000" cy="914400"/>
          </a:xfrm>
          <a:prstGeom prst="roundRect">
            <a:avLst>
              <a:gd name="adj" fmla="val 6250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loop-title-2"/>
          <p:cNvSpPr>
            <a:spLocks noGrp="1"/>
          </p:cNvSpPr>
          <p:nvPr/>
        </p:nvSpPr>
        <p:spPr>
          <a:xfrm>
            <a:off x="8246451" y="4167188"/>
            <a:ext cx="1638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数据归集</a:t>
            </a:r>
            <a:endParaRPr sz="15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2" name="loop-body-2"/>
          <p:cNvSpPr>
            <a:spLocks noGrp="1"/>
          </p:cNvSpPr>
          <p:nvPr/>
        </p:nvSpPr>
        <p:spPr>
          <a:xfrm>
            <a:off x="8246451" y="4491038"/>
            <a:ext cx="1638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9286"/>
          </a:bodyPr>
          <a:lstStyle/>
          <a:p>
            <a:pPr algn="ctr">
              <a:buNone/>
              <a:defRPr sz="105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过程数据、成果数据、评价数据</a:t>
            </a:r>
            <a:endParaRPr sz="105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loop-3"/>
          <p:cNvSpPr>
            <a:spLocks noGrp="1"/>
          </p:cNvSpPr>
          <p:nvPr/>
        </p:nvSpPr>
        <p:spPr>
          <a:xfrm>
            <a:off x="5143500" y="4848225"/>
            <a:ext cx="1905000" cy="914400"/>
          </a:xfrm>
          <a:prstGeom prst="roundRect">
            <a:avLst>
              <a:gd name="adj" fmla="val 6250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14" name="loop-title-3"/>
          <p:cNvSpPr>
            <a:spLocks noGrp="1"/>
          </p:cNvSpPr>
          <p:nvPr/>
        </p:nvSpPr>
        <p:spPr>
          <a:xfrm>
            <a:off x="5276850" y="5000625"/>
            <a:ext cx="1638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培训评估</a:t>
            </a:r>
            <a:endParaRPr sz="15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loop-body-3"/>
          <p:cNvSpPr>
            <a:spLocks noGrp="1"/>
          </p:cNvSpPr>
          <p:nvPr/>
        </p:nvSpPr>
        <p:spPr>
          <a:xfrm>
            <a:off x="5276850" y="5324475"/>
            <a:ext cx="1638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9286"/>
          </a:bodyPr>
          <a:lstStyle/>
          <a:p>
            <a:pPr algn="ctr">
              <a:buNone/>
              <a:def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系统初评、专家复核、报告输出</a:t>
            </a:r>
            <a:endParaRPr sz="1050" b="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loop-4"/>
          <p:cNvSpPr>
            <a:spLocks noGrp="1"/>
          </p:cNvSpPr>
          <p:nvPr/>
        </p:nvSpPr>
        <p:spPr>
          <a:xfrm>
            <a:off x="2173899" y="4014788"/>
            <a:ext cx="1905000" cy="914400"/>
          </a:xfrm>
          <a:prstGeom prst="roundRect">
            <a:avLst>
              <a:gd name="adj" fmla="val 6250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loop-title-4"/>
          <p:cNvSpPr>
            <a:spLocks noGrp="1"/>
          </p:cNvSpPr>
          <p:nvPr/>
        </p:nvSpPr>
        <p:spPr>
          <a:xfrm>
            <a:off x="2307249" y="4167188"/>
            <a:ext cx="1638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档案沉淀</a:t>
            </a:r>
            <a:endParaRPr sz="15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8" name="loop-body-4"/>
          <p:cNvSpPr>
            <a:spLocks noGrp="1"/>
          </p:cNvSpPr>
          <p:nvPr/>
        </p:nvSpPr>
        <p:spPr>
          <a:xfrm>
            <a:off x="2307249" y="4491038"/>
            <a:ext cx="1638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05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记录、结果、成果、轨迹</a:t>
            </a:r>
            <a:endParaRPr sz="105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9" name="loop-5"/>
          <p:cNvSpPr>
            <a:spLocks noGrp="1"/>
          </p:cNvSpPr>
          <p:nvPr/>
        </p:nvSpPr>
        <p:spPr>
          <a:xfrm>
            <a:off x="2173899" y="2347913"/>
            <a:ext cx="1905000" cy="914400"/>
          </a:xfrm>
          <a:prstGeom prst="roundRect">
            <a:avLst>
              <a:gd name="adj" fmla="val 6250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loop-title-5"/>
          <p:cNvSpPr>
            <a:spLocks noGrp="1"/>
          </p:cNvSpPr>
          <p:nvPr/>
        </p:nvSpPr>
        <p:spPr>
          <a:xfrm>
            <a:off x="2307249" y="2500313"/>
            <a:ext cx="1638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用户推荐</a:t>
            </a:r>
            <a:endParaRPr sz="15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1" name="loop-body-5"/>
          <p:cNvSpPr>
            <a:spLocks noGrp="1"/>
          </p:cNvSpPr>
          <p:nvPr/>
        </p:nvSpPr>
        <p:spPr>
          <a:xfrm>
            <a:off x="2307249" y="2824163"/>
            <a:ext cx="1638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05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05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课程、活动、资源、路径</a:t>
            </a:r>
            <a:endParaRPr sz="105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2" name="center"/>
          <p:cNvSpPr>
            <a:spLocks noGrp="1"/>
          </p:cNvSpPr>
          <p:nvPr/>
        </p:nvSpPr>
        <p:spPr>
          <a:xfrm>
            <a:off x="5143500" y="2905125"/>
            <a:ext cx="1905000" cy="1428750"/>
          </a:xfrm>
          <a:prstGeom prst="ellips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23" name="center-text"/>
          <p:cNvSpPr>
            <a:spLocks noGrp="1"/>
          </p:cNvSpPr>
          <p:nvPr/>
        </p:nvSpPr>
        <p:spPr>
          <a:xfrm>
            <a:off x="5429250" y="3257550"/>
            <a:ext cx="1333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7222" lnSpcReduction="10000"/>
          </a:bodyPr>
          <a:lstStyle/>
          <a:p>
            <a:pPr algn="ctr">
              <a:buNone/>
              <a:defRPr sz="2250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250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持续</a:t>
            </a:r>
            <a:endParaRPr sz="2250" b="1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ctr">
              <a:buNone/>
              <a:defRPr sz="2250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250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发展服务</a:t>
            </a:r>
            <a:endParaRPr sz="2250" b="1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4" name="bottom"/>
          <p:cNvSpPr>
            <a:spLocks noGrp="1"/>
          </p:cNvSpPr>
          <p:nvPr/>
        </p:nvSpPr>
        <p:spPr>
          <a:xfrm>
            <a:off x="1333500" y="6093460"/>
            <a:ext cx="952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9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95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关键价值：评价发现问题，推荐推动改进，培训继续提升。</a:t>
            </a:r>
            <a:endParaRPr sz="195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5" name="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07</a:t>
            </a:r>
            <a:endParaRPr sz="975" b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7" name="下箭头 26"/>
          <p:cNvSpPr>
            <a:spLocks noGrp="1"/>
          </p:cNvSpPr>
          <p:nvPr/>
        </p:nvSpPr>
        <p:spPr>
          <a:xfrm>
            <a:off x="8903970" y="3429000"/>
            <a:ext cx="432435" cy="504190"/>
          </a:xfrm>
          <a:prstGeom prst="downArrow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3" name="圆角右箭头 32"/>
          <p:cNvSpPr>
            <a:spLocks noGrp="1"/>
          </p:cNvSpPr>
          <p:nvPr/>
        </p:nvSpPr>
        <p:spPr>
          <a:xfrm rot="10800000">
            <a:off x="7221855" y="4979035"/>
            <a:ext cx="1978025" cy="627380"/>
          </a:xfrm>
          <a:prstGeom prst="bentArrow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7" name="圆角右箭头 36"/>
          <p:cNvSpPr>
            <a:spLocks noGrp="1"/>
          </p:cNvSpPr>
          <p:nvPr/>
        </p:nvSpPr>
        <p:spPr>
          <a:xfrm rot="16200000">
            <a:off x="3701415" y="4239895"/>
            <a:ext cx="575310" cy="1978660"/>
          </a:xfrm>
          <a:prstGeom prst="bentArrow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39" name="下箭头 38"/>
          <p:cNvSpPr>
            <a:spLocks noGrp="1"/>
          </p:cNvSpPr>
          <p:nvPr/>
        </p:nvSpPr>
        <p:spPr>
          <a:xfrm rot="10800000">
            <a:off x="2887980" y="3326130"/>
            <a:ext cx="432435" cy="625475"/>
          </a:xfrm>
          <a:prstGeom prst="downArrow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0" name="圆角右箭头 39"/>
          <p:cNvSpPr>
            <a:spLocks noGrp="1"/>
          </p:cNvSpPr>
          <p:nvPr/>
        </p:nvSpPr>
        <p:spPr>
          <a:xfrm>
            <a:off x="2947035" y="1717040"/>
            <a:ext cx="2030730" cy="627380"/>
          </a:xfrm>
          <a:prstGeom prst="bentArrow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1" name="圆角右箭头 40"/>
          <p:cNvSpPr>
            <a:spLocks noGrp="1"/>
          </p:cNvSpPr>
          <p:nvPr/>
        </p:nvSpPr>
        <p:spPr>
          <a:xfrm rot="5400000">
            <a:off x="7997190" y="1009650"/>
            <a:ext cx="606425" cy="2030730"/>
          </a:xfrm>
          <a:prstGeom prst="bentArrow">
            <a:avLst/>
          </a:prstGeom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/>
          <p:cNvSpPr>
            <a:spLocks noGrp="1"/>
          </p:cNvSpPr>
          <p:nvPr/>
        </p:nvSpPr>
        <p:spPr>
          <a:xfrm>
            <a:off x="400050" y="742950"/>
            <a:ext cx="10572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3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子系统既可自成体系，也可组装为生态价值链</a:t>
            </a:r>
            <a:endParaRPr sz="33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itle-rule"/>
          <p:cNvSpPr>
            <a:spLocks noGrp="1"/>
          </p:cNvSpPr>
          <p:nvPr/>
        </p:nvSpPr>
        <p:spPr>
          <a:xfrm>
            <a:off x="400050" y="15049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step-01"/>
          <p:cNvSpPr>
            <a:spLocks noGrp="1"/>
          </p:cNvSpPr>
          <p:nvPr/>
        </p:nvSpPr>
        <p:spPr>
          <a:xfrm>
            <a:off x="609600" y="2152650"/>
            <a:ext cx="1924050" cy="2476500"/>
          </a:xfrm>
          <a:prstGeom prst="roundRect">
            <a:avLst>
              <a:gd name="adj" fmla="val 2970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step-label-01"/>
          <p:cNvSpPr>
            <a:spLocks noGrp="1"/>
          </p:cNvSpPr>
          <p:nvPr/>
        </p:nvSpPr>
        <p:spPr>
          <a:xfrm>
            <a:off x="781050" y="23050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01</a:t>
            </a:r>
            <a:endParaRPr sz="1200" b="1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step-title-01"/>
          <p:cNvSpPr>
            <a:spLocks noGrp="1"/>
          </p:cNvSpPr>
          <p:nvPr/>
        </p:nvSpPr>
        <p:spPr>
          <a:xfrm>
            <a:off x="695325" y="2609850"/>
            <a:ext cx="172275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975"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培训信息管理子系统</a:t>
            </a:r>
            <a:endParaRPr sz="165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step-body-01"/>
          <p:cNvSpPr>
            <a:spLocks noGrp="1"/>
          </p:cNvSpPr>
          <p:nvPr/>
        </p:nvSpPr>
        <p:spPr>
          <a:xfrm>
            <a:off x="781050" y="2990850"/>
            <a:ext cx="158115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统一项目、课程、报名、审核、人员和培训计划，提供平台基础业务入口。</a:t>
            </a:r>
            <a:endParaRPr sz="120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8" name="step-02"/>
          <p:cNvSpPr>
            <a:spLocks noGrp="1"/>
          </p:cNvSpPr>
          <p:nvPr/>
        </p:nvSpPr>
        <p:spPr>
          <a:xfrm>
            <a:off x="2857500" y="2152650"/>
            <a:ext cx="1924050" cy="2476500"/>
          </a:xfrm>
          <a:prstGeom prst="roundRect">
            <a:avLst>
              <a:gd name="adj" fmla="val 2970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step-label-02"/>
          <p:cNvSpPr>
            <a:spLocks noGrp="1"/>
          </p:cNvSpPr>
          <p:nvPr/>
        </p:nvSpPr>
        <p:spPr>
          <a:xfrm>
            <a:off x="3028950" y="23050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02</a:t>
            </a:r>
            <a:endParaRPr sz="1200" b="1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step-title-02"/>
          <p:cNvSpPr>
            <a:spLocks noGrp="1"/>
          </p:cNvSpPr>
          <p:nvPr/>
        </p:nvSpPr>
        <p:spPr>
          <a:xfrm>
            <a:off x="3028950" y="2609850"/>
            <a:ext cx="1581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研修活动子系统</a:t>
            </a:r>
            <a:endParaRPr sz="165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step-body-02"/>
          <p:cNvSpPr>
            <a:spLocks noGrp="1"/>
          </p:cNvSpPr>
          <p:nvPr/>
        </p:nvSpPr>
        <p:spPr>
          <a:xfrm>
            <a:off x="3028950" y="2990850"/>
            <a:ext cx="158115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承载线上、线下和混合式培训活动，记录学习、互动、任务和成果过程。</a:t>
            </a:r>
            <a:endParaRPr sz="120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2" name="step-03"/>
          <p:cNvSpPr>
            <a:spLocks noGrp="1"/>
          </p:cNvSpPr>
          <p:nvPr/>
        </p:nvSpPr>
        <p:spPr>
          <a:xfrm>
            <a:off x="5105400" y="2152650"/>
            <a:ext cx="1924050" cy="2476500"/>
          </a:xfrm>
          <a:prstGeom prst="roundRect">
            <a:avLst>
              <a:gd name="adj" fmla="val 2970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13" name="step-label-03"/>
          <p:cNvSpPr>
            <a:spLocks noGrp="1"/>
          </p:cNvSpPr>
          <p:nvPr/>
        </p:nvSpPr>
        <p:spPr>
          <a:xfrm>
            <a:off x="5276850" y="23050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200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step-title-03"/>
          <p:cNvSpPr>
            <a:spLocks noGrp="1"/>
          </p:cNvSpPr>
          <p:nvPr/>
        </p:nvSpPr>
        <p:spPr>
          <a:xfrm>
            <a:off x="5276850" y="2609850"/>
            <a:ext cx="1581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培训评估子系统</a:t>
            </a:r>
            <a:endParaRPr sz="165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step-body-03"/>
          <p:cNvSpPr>
            <a:spLocks noGrp="1"/>
          </p:cNvSpPr>
          <p:nvPr/>
        </p:nvSpPr>
        <p:spPr>
          <a:xfrm>
            <a:off x="5276850" y="2990850"/>
            <a:ext cx="158115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基于评价模型和过程数据，形成个人、班级、项目和区域层面的评价结果。</a:t>
            </a:r>
            <a:endParaRPr sz="120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6" name="step-04"/>
          <p:cNvSpPr>
            <a:spLocks noGrp="1"/>
          </p:cNvSpPr>
          <p:nvPr/>
        </p:nvSpPr>
        <p:spPr>
          <a:xfrm>
            <a:off x="7353300" y="2152650"/>
            <a:ext cx="1924050" cy="2476500"/>
          </a:xfrm>
          <a:prstGeom prst="roundRect">
            <a:avLst>
              <a:gd name="adj" fmla="val 2970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step-label-04"/>
          <p:cNvSpPr>
            <a:spLocks noGrp="1"/>
          </p:cNvSpPr>
          <p:nvPr/>
        </p:nvSpPr>
        <p:spPr>
          <a:xfrm>
            <a:off x="7524750" y="23050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04</a:t>
            </a:r>
            <a:endParaRPr sz="1200" b="1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8" name="step-title-04"/>
          <p:cNvSpPr>
            <a:spLocks noGrp="1"/>
          </p:cNvSpPr>
          <p:nvPr/>
        </p:nvSpPr>
        <p:spPr>
          <a:xfrm>
            <a:off x="7524750" y="2609850"/>
            <a:ext cx="1581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教师档案子系统</a:t>
            </a:r>
            <a:endParaRPr sz="165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9" name="step-body-04"/>
          <p:cNvSpPr>
            <a:spLocks noGrp="1"/>
          </p:cNvSpPr>
          <p:nvPr/>
        </p:nvSpPr>
        <p:spPr>
          <a:xfrm>
            <a:off x="7524750" y="2990850"/>
            <a:ext cx="158115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沉淀培训记录、评价结果、成果材料、学时证书和成长轨迹。</a:t>
            </a:r>
            <a:endParaRPr sz="120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0" name="step-05"/>
          <p:cNvSpPr>
            <a:spLocks noGrp="1"/>
          </p:cNvSpPr>
          <p:nvPr/>
        </p:nvSpPr>
        <p:spPr>
          <a:xfrm>
            <a:off x="9601200" y="2152650"/>
            <a:ext cx="1924050" cy="2476500"/>
          </a:xfrm>
          <a:prstGeom prst="roundRect">
            <a:avLst>
              <a:gd name="adj" fmla="val 2970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step-label-05"/>
          <p:cNvSpPr>
            <a:spLocks noGrp="1"/>
          </p:cNvSpPr>
          <p:nvPr/>
        </p:nvSpPr>
        <p:spPr>
          <a:xfrm>
            <a:off x="9772650" y="23050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05</a:t>
            </a:r>
            <a:endParaRPr sz="1200" b="1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2" name="step-title-05"/>
          <p:cNvSpPr>
            <a:spLocks noGrp="1"/>
          </p:cNvSpPr>
          <p:nvPr/>
        </p:nvSpPr>
        <p:spPr>
          <a:xfrm>
            <a:off x="9772650" y="2609850"/>
            <a:ext cx="1581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6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用户推荐子系统</a:t>
            </a:r>
            <a:endParaRPr sz="165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3" name="step-body-05"/>
          <p:cNvSpPr>
            <a:spLocks noGrp="1"/>
          </p:cNvSpPr>
          <p:nvPr/>
        </p:nvSpPr>
        <p:spPr>
          <a:xfrm>
            <a:off x="9772650" y="2990850"/>
            <a:ext cx="1581150" cy="1485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基于教师画像和评估结果，推荐课程、活动、资源和发展路径。</a:t>
            </a:r>
            <a:endParaRPr sz="120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4" name="note"/>
          <p:cNvSpPr>
            <a:spLocks noGrp="1"/>
          </p:cNvSpPr>
          <p:nvPr/>
        </p:nvSpPr>
        <p:spPr>
          <a:xfrm>
            <a:off x="876300" y="5219700"/>
            <a:ext cx="1009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按场景选择子系统和模块，可插拔、可组装、可配置为教师发展、AI 教学、智能体等解决方案。</a:t>
            </a:r>
            <a:endParaRPr sz="1800" b="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5" name="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08</a:t>
            </a:r>
            <a:endParaRPr sz="975" b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/>
          <p:cNvSpPr>
            <a:spLocks noGrp="1"/>
          </p:cNvSpPr>
          <p:nvPr/>
        </p:nvSpPr>
        <p:spPr>
          <a:xfrm>
            <a:off x="400050" y="742950"/>
            <a:ext cx="10572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培训信息管理系统 -- 统一沉淀</a:t>
            </a:r>
            <a:r>
              <a: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组织</a:t>
            </a:r>
            <a:r>
              <a: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培训基础数据</a:t>
            </a:r>
            <a:endParaRPr sz="28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itle-rule"/>
          <p:cNvSpPr>
            <a:spLocks noGrp="1"/>
          </p:cNvSpPr>
          <p:nvPr/>
        </p:nvSpPr>
        <p:spPr>
          <a:xfrm>
            <a:off x="400050" y="1504950"/>
            <a:ext cx="11391900" cy="0"/>
          </a:xfrm>
          <a:prstGeom prst="line">
            <a:avLst/>
          </a:prstGeom>
          <a:noFill/>
          <a:ln w="11430">
            <a:solidFill>
              <a:srgbClr val="C9CED8"/>
            </a:solidFill>
            <a:prstDash val="solid"/>
          </a:ln>
        </p:spPr>
      </p:sp>
      <p:sp>
        <p:nvSpPr>
          <p:cNvPr id="4" name="training-info-system"/>
          <p:cNvSpPr>
            <a:spLocks noGrp="1"/>
          </p:cNvSpPr>
          <p:nvPr/>
        </p:nvSpPr>
        <p:spPr>
          <a:xfrm>
            <a:off x="1352550" y="2019300"/>
            <a:ext cx="6858000" cy="3048000"/>
          </a:xfrm>
          <a:prstGeom prst="roundRect">
            <a:avLst>
              <a:gd name="adj" fmla="val 1875"/>
            </a:avLst>
          </a:prstGeom>
          <a:solidFill>
            <a:srgbClr val="EAF5FB"/>
          </a:solidFill>
          <a:ln w="11430">
            <a:solidFill>
              <a:srgbClr val="A7D4FF"/>
            </a:solidFill>
            <a:prstDash val="solid"/>
          </a:ln>
        </p:spPr>
      </p:sp>
      <p:sp>
        <p:nvSpPr>
          <p:cNvPr id="5" name="system-badge"/>
          <p:cNvSpPr>
            <a:spLocks noGrp="1"/>
          </p:cNvSpPr>
          <p:nvPr/>
        </p:nvSpPr>
        <p:spPr>
          <a:xfrm>
            <a:off x="1695450" y="2266950"/>
            <a:ext cx="381000" cy="381000"/>
          </a:xfrm>
          <a:prstGeom prst="ellipse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6" name="system-badge-text"/>
          <p:cNvSpPr>
            <a:spLocks noGrp="1"/>
          </p:cNvSpPr>
          <p:nvPr/>
        </p:nvSpPr>
        <p:spPr>
          <a:xfrm>
            <a:off x="1695450" y="2324100"/>
            <a:ext cx="381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0196"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</a:t>
            </a:r>
            <a:endParaRPr sz="127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ystem-title"/>
          <p:cNvSpPr>
            <a:spLocks noGrp="1"/>
          </p:cNvSpPr>
          <p:nvPr/>
        </p:nvSpPr>
        <p:spPr>
          <a:xfrm>
            <a:off x="2247900" y="2209800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培训信息管理系统</a:t>
            </a:r>
            <a:endParaRPr sz="21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module-enroll"/>
          <p:cNvSpPr>
            <a:spLocks noGrp="1"/>
          </p:cNvSpPr>
          <p:nvPr/>
        </p:nvSpPr>
        <p:spPr>
          <a:xfrm>
            <a:off x="2000250" y="2835275"/>
            <a:ext cx="2266950" cy="9906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9" name="module-enroll-title"/>
          <p:cNvSpPr>
            <a:spLocks noGrp="1"/>
          </p:cNvSpPr>
          <p:nvPr/>
        </p:nvSpPr>
        <p:spPr>
          <a:xfrm>
            <a:off x="2171700" y="3000375"/>
            <a:ext cx="1924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000"/>
          </a:bodyPr>
          <a:lstStyle/>
          <a:p>
            <a:pPr algn="ctr">
              <a:buNone/>
              <a:def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招生</a:t>
            </a:r>
            <a:endParaRPr sz="15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module-enroll-body"/>
          <p:cNvSpPr>
            <a:spLocks noGrp="1"/>
          </p:cNvSpPr>
          <p:nvPr/>
        </p:nvSpPr>
        <p:spPr>
          <a:xfrm>
            <a:off x="2247900" y="3395980"/>
            <a:ext cx="1847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7778"/>
          </a:bodyPr>
          <a:lstStyle/>
          <a:p>
            <a:pPr algn="ctr">
              <a:buNone/>
              <a:def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报名、审核、</a:t>
            </a:r>
            <a:endParaRPr sz="1125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  <a:p>
            <a:pPr algn="ctr">
              <a:buNone/>
              <a:def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对象组织</a:t>
            </a:r>
            <a:endParaRPr sz="1125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module-fee"/>
          <p:cNvSpPr>
            <a:spLocks noGrp="1"/>
          </p:cNvSpPr>
          <p:nvPr/>
        </p:nvSpPr>
        <p:spPr>
          <a:xfrm>
            <a:off x="4857750" y="2857500"/>
            <a:ext cx="2266950" cy="9906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12" name="module-fee-title"/>
          <p:cNvSpPr>
            <a:spLocks noGrp="1"/>
          </p:cNvSpPr>
          <p:nvPr/>
        </p:nvSpPr>
        <p:spPr>
          <a:xfrm>
            <a:off x="5029200" y="3028950"/>
            <a:ext cx="1924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000"/>
          </a:bodyPr>
          <a:lstStyle/>
          <a:p>
            <a:pPr algn="ctr">
              <a:buNone/>
              <a:def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费用管理</a:t>
            </a:r>
            <a:endParaRPr sz="15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module-fee-body"/>
          <p:cNvSpPr>
            <a:spLocks noGrp="1"/>
          </p:cNvSpPr>
          <p:nvPr/>
        </p:nvSpPr>
        <p:spPr>
          <a:xfrm>
            <a:off x="5087620" y="3395345"/>
            <a:ext cx="1847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7778"/>
          </a:bodyPr>
          <a:lstStyle/>
          <a:p>
            <a:pPr algn="ctr">
              <a:buNone/>
              <a:def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收费、结算、</a:t>
            </a:r>
            <a:endParaRPr sz="1125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  <a:p>
            <a:pPr algn="ctr">
              <a:buNone/>
              <a:def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费用台账</a:t>
            </a:r>
            <a:endParaRPr sz="1125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module-project"/>
          <p:cNvSpPr>
            <a:spLocks noGrp="1"/>
          </p:cNvSpPr>
          <p:nvPr/>
        </p:nvSpPr>
        <p:spPr>
          <a:xfrm>
            <a:off x="1995170" y="3943350"/>
            <a:ext cx="2334895" cy="9906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15" name="module-project-title"/>
          <p:cNvSpPr>
            <a:spLocks noGrp="1"/>
          </p:cNvSpPr>
          <p:nvPr/>
        </p:nvSpPr>
        <p:spPr>
          <a:xfrm>
            <a:off x="2171700" y="4093210"/>
            <a:ext cx="1924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000"/>
          </a:bodyPr>
          <a:lstStyle/>
          <a:p>
            <a:pPr algn="ctr">
              <a:buNone/>
              <a:def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项目管理</a:t>
            </a:r>
            <a:endParaRPr sz="15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module-project-body"/>
          <p:cNvSpPr>
            <a:spLocks noGrp="1"/>
          </p:cNvSpPr>
          <p:nvPr/>
        </p:nvSpPr>
        <p:spPr>
          <a:xfrm>
            <a:off x="2207260" y="4509135"/>
            <a:ext cx="1847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7778"/>
          </a:bodyPr>
          <a:lstStyle/>
          <a:p>
            <a:pPr algn="ctr">
              <a:buNone/>
              <a:def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项目、课程、</a:t>
            </a:r>
            <a:endParaRPr sz="1125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  <a:p>
            <a:pPr algn="ctr">
              <a:buNone/>
              <a:def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计划周期</a:t>
            </a:r>
            <a:endParaRPr sz="1125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module-more"/>
          <p:cNvSpPr>
            <a:spLocks noGrp="1"/>
          </p:cNvSpPr>
          <p:nvPr/>
        </p:nvSpPr>
        <p:spPr>
          <a:xfrm>
            <a:off x="4857750" y="3933190"/>
            <a:ext cx="2266950" cy="9906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18" name="module-more-title"/>
          <p:cNvSpPr>
            <a:spLocks noGrp="1"/>
          </p:cNvSpPr>
          <p:nvPr/>
        </p:nvSpPr>
        <p:spPr>
          <a:xfrm>
            <a:off x="5029200" y="4104640"/>
            <a:ext cx="1924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000"/>
          </a:bodyPr>
          <a:lstStyle/>
          <a:p>
            <a:pPr algn="ctr">
              <a:buNone/>
              <a:def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…</a:t>
            </a:r>
            <a:endParaRPr sz="15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module-more-body"/>
          <p:cNvSpPr>
            <a:spLocks noGrp="1"/>
          </p:cNvSpPr>
          <p:nvPr/>
        </p:nvSpPr>
        <p:spPr>
          <a:xfrm>
            <a:off x="5067300" y="4743450"/>
            <a:ext cx="1847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</a:p>
        </p:txBody>
      </p:sp>
      <p:sp>
        <p:nvSpPr>
          <p:cNvPr id="20" name="data-output-arrow"/>
          <p:cNvSpPr>
            <a:spLocks noGrp="1"/>
          </p:cNvSpPr>
          <p:nvPr/>
        </p:nvSpPr>
        <p:spPr>
          <a:xfrm>
            <a:off x="8458200" y="3390900"/>
            <a:ext cx="857250" cy="247650"/>
          </a:xfrm>
          <a:prstGeom prst="rightArrow">
            <a:avLst/>
          </a:prstGeom>
          <a:solidFill>
            <a:srgbClr val="B7BDC8"/>
          </a:solidFill>
          <a:ln w="0">
            <a:solidFill>
              <a:srgbClr val="B7BDC8"/>
            </a:solidFill>
            <a:prstDash val="solid"/>
          </a:ln>
        </p:spPr>
      </p:sp>
      <p:sp>
        <p:nvSpPr>
          <p:cNvPr id="21" name="data-output-label"/>
          <p:cNvSpPr>
            <a:spLocks noGrp="1"/>
          </p:cNvSpPr>
          <p:nvPr/>
        </p:nvSpPr>
        <p:spPr>
          <a:xfrm>
            <a:off x="8458200" y="3028950"/>
            <a:ext cx="89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0000"/>
          </a:bodyPr>
          <a:lstStyle/>
          <a:p>
            <a:pPr algn="ctr">
              <a:buNone/>
              <a:defRPr sz="112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基础数据输出</a:t>
            </a:r>
            <a:endParaRPr sz="1125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downstream-panel"/>
          <p:cNvSpPr>
            <a:spLocks noGrp="1"/>
          </p:cNvSpPr>
          <p:nvPr/>
        </p:nvSpPr>
        <p:spPr>
          <a:xfrm>
            <a:off x="9563100" y="2781300"/>
            <a:ext cx="1885950" cy="14859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23" name="downstream-title"/>
          <p:cNvSpPr>
            <a:spLocks noGrp="1"/>
          </p:cNvSpPr>
          <p:nvPr/>
        </p:nvSpPr>
        <p:spPr>
          <a:xfrm>
            <a:off x="9734550" y="3048000"/>
            <a:ext cx="15430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8889"/>
          </a:bodyPr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进入研修活动</a:t>
            </a:r>
            <a:endParaRPr sz="157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4" name="downstream-body"/>
          <p:cNvSpPr>
            <a:spLocks noGrp="1"/>
          </p:cNvSpPr>
          <p:nvPr/>
        </p:nvSpPr>
        <p:spPr>
          <a:xfrm>
            <a:off x="9753600" y="3524250"/>
            <a:ext cx="15049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2222"/>
          </a:bodyPr>
          <a:lstStyle/>
          <a:p>
            <a:pPr algn="ctr">
              <a:buNone/>
              <a:defRPr sz="105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项目、课程、对象、周期</a:t>
            </a:r>
            <a:endParaRPr sz="105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  <a:p>
            <a:pPr algn="ctr">
              <a:buNone/>
              <a:defRPr sz="105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5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成为活动组织和过程归集的统一口径</a:t>
            </a:r>
            <a:endParaRPr sz="105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5" name="bottom-note-band"/>
          <p:cNvSpPr>
            <a:spLocks noGrp="1"/>
          </p:cNvSpPr>
          <p:nvPr/>
        </p:nvSpPr>
        <p:spPr>
          <a:xfrm>
            <a:off x="1066800" y="5562600"/>
            <a:ext cx="10058400" cy="438150"/>
          </a:xfrm>
          <a:prstGeom prst="roundRect">
            <a:avLst>
              <a:gd name="adj" fmla="val 13043"/>
            </a:avLst>
          </a:prstGeom>
          <a:solidFill>
            <a:srgbClr val="F4FAFF"/>
          </a:solidFill>
          <a:ln w="10478">
            <a:solidFill>
              <a:srgbClr val="D8ECFF"/>
            </a:solidFill>
            <a:prstDash val="solid"/>
          </a:ln>
        </p:spPr>
      </p:sp>
      <p:sp>
        <p:nvSpPr>
          <p:cNvPr id="26" name="bottom-note"/>
          <p:cNvSpPr>
            <a:spLocks noGrp="1"/>
          </p:cNvSpPr>
          <p:nvPr/>
        </p:nvSpPr>
        <p:spPr>
          <a:xfrm>
            <a:off x="1295400" y="5657850"/>
            <a:ext cx="9601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5926"/>
          </a:bodyPr>
          <a:lstStyle/>
          <a:p>
            <a:pPr algn="ctr">
              <a:buNone/>
              <a:defRPr sz="1350" b="1">
                <a:solidFill>
                  <a:srgbClr val="2F83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F83FF"/>
                </a:solidFill>
                <a:latin typeface="PingFang SC"/>
                <a:ea typeface="PingFang SC"/>
                <a:cs typeface="PingFang SC"/>
              </a:rPr>
              <a:t>关键价值：先把招生、费用、项目和权限等基础信息标准化，再支撑后续研修活动组织、数据归集和培训评估。</a:t>
            </a:r>
            <a:endParaRPr sz="1350" b="1">
              <a:solidFill>
                <a:srgbClr val="2F83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7" name="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rmAutofit fontScale="98718"/>
          </a:bodyPr>
          <a:lstStyle/>
          <a:p>
            <a:pPr algn="r">
              <a:buNone/>
              <a:def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09</a:t>
            </a:r>
            <a:endParaRPr sz="975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/>
          <p:cNvSpPr>
            <a:spLocks noGrp="1"/>
          </p:cNvSpPr>
          <p:nvPr/>
        </p:nvSpPr>
        <p:spPr>
          <a:xfrm>
            <a:off x="400050" y="742950"/>
            <a:ext cx="10572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研修活动系统 -- 支撑线下实训与网络研修一体化</a:t>
            </a:r>
            <a:endParaRPr sz="28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itle-rule"/>
          <p:cNvSpPr>
            <a:spLocks noGrp="1"/>
          </p:cNvSpPr>
          <p:nvPr/>
        </p:nvSpPr>
        <p:spPr>
          <a:xfrm>
            <a:off x="400050" y="1504950"/>
            <a:ext cx="11391900" cy="0"/>
          </a:xfrm>
          <a:prstGeom prst="line">
            <a:avLst/>
          </a:prstGeom>
          <a:noFill/>
          <a:ln w="11430">
            <a:solidFill>
              <a:srgbClr val="C9CED8"/>
            </a:solidFill>
            <a:prstDash val="solid"/>
          </a:ln>
        </p:spPr>
      </p:sp>
      <p:sp>
        <p:nvSpPr>
          <p:cNvPr id="4" name="online-research-panel"/>
          <p:cNvSpPr>
            <a:spLocks noGrp="1"/>
          </p:cNvSpPr>
          <p:nvPr/>
        </p:nvSpPr>
        <p:spPr>
          <a:xfrm>
            <a:off x="1924050" y="2038350"/>
            <a:ext cx="8191500" cy="3600450"/>
          </a:xfrm>
          <a:prstGeom prst="roundRect">
            <a:avLst>
              <a:gd name="adj" fmla="val 1587"/>
            </a:avLst>
          </a:prstGeom>
          <a:solidFill>
            <a:srgbClr val="FFFFFF"/>
          </a:solidFill>
          <a:ln w="11430">
            <a:solidFill>
              <a:srgbClr val="C9CED8"/>
            </a:solidFill>
            <a:prstDash val="solid"/>
          </a:ln>
        </p:spPr>
      </p:sp>
      <p:sp>
        <p:nvSpPr>
          <p:cNvPr id="5" name="online-research-title"/>
          <p:cNvSpPr>
            <a:spLocks noGrp="1"/>
          </p:cNvSpPr>
          <p:nvPr/>
        </p:nvSpPr>
        <p:spPr>
          <a:xfrm>
            <a:off x="2305050" y="2381250"/>
            <a:ext cx="7429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1667"/>
          </a:bodyPr>
          <a:lstStyle/>
          <a:p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网络研修【研训一体化】</a:t>
            </a:r>
            <a:endParaRPr sz="18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rain-column"/>
          <p:cNvSpPr>
            <a:spLocks noGrp="1"/>
          </p:cNvSpPr>
          <p:nvPr/>
        </p:nvSpPr>
        <p:spPr>
          <a:xfrm>
            <a:off x="3733800" y="3067050"/>
            <a:ext cx="1333500" cy="1752600"/>
          </a:xfrm>
          <a:prstGeom prst="roundRect">
            <a:avLst>
              <a:gd name="adj" fmla="val 4286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7" name="train-title"/>
          <p:cNvSpPr>
            <a:spLocks noGrp="1"/>
          </p:cNvSpPr>
          <p:nvPr/>
        </p:nvSpPr>
        <p:spPr>
          <a:xfrm>
            <a:off x="3886200" y="3238500"/>
            <a:ext cx="1028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8000"/>
          </a:bodyPr>
          <a:lstStyle/>
          <a:p>
            <a:pPr algn="ctr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训</a:t>
            </a:r>
            <a:endParaRPr sz="187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train-rule"/>
          <p:cNvSpPr>
            <a:spLocks noGrp="1"/>
          </p:cNvSpPr>
          <p:nvPr/>
        </p:nvSpPr>
        <p:spPr>
          <a:xfrm>
            <a:off x="3733800" y="3695700"/>
            <a:ext cx="1333500" cy="0"/>
          </a:xfrm>
          <a:prstGeom prst="line">
            <a:avLst/>
          </a:prstGeom>
          <a:noFill/>
          <a:ln w="9525">
            <a:solidFill>
              <a:srgbClr val="C9CED8"/>
            </a:solidFill>
            <a:prstDash val="solid"/>
          </a:ln>
        </p:spPr>
      </p:sp>
      <p:sp>
        <p:nvSpPr>
          <p:cNvPr id="9" name="train-pill-1"/>
          <p:cNvSpPr>
            <a:spLocks noGrp="1"/>
          </p:cNvSpPr>
          <p:nvPr/>
        </p:nvSpPr>
        <p:spPr>
          <a:xfrm>
            <a:off x="3962400" y="3905250"/>
            <a:ext cx="8763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sp>
        <p:nvSpPr>
          <p:cNvPr id="10" name="train-pill-1-text"/>
          <p:cNvSpPr>
            <a:spLocks noGrp="1"/>
          </p:cNvSpPr>
          <p:nvPr/>
        </p:nvSpPr>
        <p:spPr>
          <a:xfrm>
            <a:off x="4029075" y="39433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619"/>
          </a:bodyPr>
          <a:lstStyle/>
          <a:p>
            <a:pPr algn="ctr">
              <a:buNone/>
              <a:defRPr sz="10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组织培训</a:t>
            </a:r>
            <a:endParaRPr sz="10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train-pill-2"/>
          <p:cNvSpPr>
            <a:spLocks noGrp="1"/>
          </p:cNvSpPr>
          <p:nvPr/>
        </p:nvSpPr>
        <p:spPr>
          <a:xfrm>
            <a:off x="3962400" y="4324350"/>
            <a:ext cx="87630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sp>
        <p:nvSpPr>
          <p:cNvPr id="12" name="train-pill-2-text"/>
          <p:cNvSpPr>
            <a:spLocks noGrp="1"/>
          </p:cNvSpPr>
          <p:nvPr/>
        </p:nvSpPr>
        <p:spPr>
          <a:xfrm>
            <a:off x="4029075" y="4362450"/>
            <a:ext cx="742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619"/>
          </a:bodyPr>
          <a:lstStyle/>
          <a:p>
            <a:pPr algn="ctr">
              <a:buNone/>
              <a:defRPr sz="10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实训</a:t>
            </a:r>
            <a:endParaRPr sz="10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research-column"/>
          <p:cNvSpPr>
            <a:spLocks noGrp="1"/>
          </p:cNvSpPr>
          <p:nvPr/>
        </p:nvSpPr>
        <p:spPr>
          <a:xfrm>
            <a:off x="5410200" y="3067050"/>
            <a:ext cx="3051810" cy="1752600"/>
          </a:xfrm>
          <a:prstGeom prst="roundRect">
            <a:avLst>
              <a:gd name="adj" fmla="val 3261"/>
            </a:avLst>
          </a:prstGeom>
          <a:solidFill>
            <a:srgbClr val="EAF5FB"/>
          </a:solidFill>
          <a:ln w="10478">
            <a:solidFill>
              <a:srgbClr val="A7D4FF"/>
            </a:solidFill>
            <a:prstDash val="solid"/>
          </a:ln>
        </p:spPr>
      </p:sp>
      <p:sp>
        <p:nvSpPr>
          <p:cNvPr id="14" name="research-title"/>
          <p:cNvSpPr>
            <a:spLocks noGrp="1"/>
          </p:cNvSpPr>
          <p:nvPr/>
        </p:nvSpPr>
        <p:spPr>
          <a:xfrm>
            <a:off x="5581650" y="3238500"/>
            <a:ext cx="30861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8000"/>
          </a:bodyPr>
          <a:lstStyle/>
          <a:p>
            <a:pPr algn="ctr">
              <a:buNone/>
              <a:def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研</a:t>
            </a:r>
            <a:endParaRPr sz="187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research-rule"/>
          <p:cNvSpPr>
            <a:spLocks noGrp="1"/>
          </p:cNvSpPr>
          <p:nvPr/>
        </p:nvSpPr>
        <p:spPr>
          <a:xfrm>
            <a:off x="5410200" y="3695700"/>
            <a:ext cx="3048000" cy="0"/>
          </a:xfrm>
          <a:prstGeom prst="line">
            <a:avLst/>
          </a:prstGeom>
          <a:noFill/>
          <a:ln w="10478">
            <a:solidFill>
              <a:srgbClr val="A7D4FF"/>
            </a:solidFill>
            <a:prstDash val="solid"/>
          </a:ln>
        </p:spPr>
      </p:sp>
      <p:sp>
        <p:nvSpPr>
          <p:cNvPr id="16" name="research-pill-集体备课"/>
          <p:cNvSpPr>
            <a:spLocks noGrp="1"/>
          </p:cNvSpPr>
          <p:nvPr/>
        </p:nvSpPr>
        <p:spPr>
          <a:xfrm>
            <a:off x="5600700" y="3905250"/>
            <a:ext cx="8572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BFDFFF"/>
            </a:solidFill>
            <a:prstDash val="solid"/>
          </a:ln>
        </p:spPr>
      </p:sp>
      <p:sp>
        <p:nvSpPr>
          <p:cNvPr id="17" name="research-pill-集体备课-text"/>
          <p:cNvSpPr>
            <a:spLocks noGrp="1"/>
          </p:cNvSpPr>
          <p:nvPr/>
        </p:nvSpPr>
        <p:spPr>
          <a:xfrm>
            <a:off x="5667375" y="3943350"/>
            <a:ext cx="723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619"/>
          </a:bodyPr>
          <a:lstStyle/>
          <a:p>
            <a:pPr algn="ctr">
              <a:buNone/>
              <a:defRPr sz="10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集体备课</a:t>
            </a:r>
            <a:endParaRPr sz="10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research-pill-课例研讨"/>
          <p:cNvSpPr>
            <a:spLocks noGrp="1"/>
          </p:cNvSpPr>
          <p:nvPr/>
        </p:nvSpPr>
        <p:spPr>
          <a:xfrm>
            <a:off x="6457950" y="3905250"/>
            <a:ext cx="8572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BFDFFF"/>
            </a:solidFill>
            <a:prstDash val="solid"/>
          </a:ln>
        </p:spPr>
      </p:sp>
      <p:sp>
        <p:nvSpPr>
          <p:cNvPr id="19" name="research-pill-课例研讨-text"/>
          <p:cNvSpPr>
            <a:spLocks noGrp="1"/>
          </p:cNvSpPr>
          <p:nvPr/>
        </p:nvSpPr>
        <p:spPr>
          <a:xfrm>
            <a:off x="6524625" y="3943350"/>
            <a:ext cx="723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619"/>
          </a:bodyPr>
          <a:lstStyle/>
          <a:p>
            <a:pPr algn="ctr">
              <a:buNone/>
              <a:defRPr sz="10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课例研讨</a:t>
            </a:r>
            <a:endParaRPr sz="10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0" name="research-pill-课题研究"/>
          <p:cNvSpPr>
            <a:spLocks noGrp="1"/>
          </p:cNvSpPr>
          <p:nvPr/>
        </p:nvSpPr>
        <p:spPr>
          <a:xfrm>
            <a:off x="7315200" y="3905250"/>
            <a:ext cx="8572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BFDFFF"/>
            </a:solidFill>
            <a:prstDash val="solid"/>
          </a:ln>
        </p:spPr>
      </p:sp>
      <p:sp>
        <p:nvSpPr>
          <p:cNvPr id="21" name="research-pill-课题研究-text"/>
          <p:cNvSpPr>
            <a:spLocks noGrp="1"/>
          </p:cNvSpPr>
          <p:nvPr/>
        </p:nvSpPr>
        <p:spPr>
          <a:xfrm>
            <a:off x="7381875" y="3943350"/>
            <a:ext cx="723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619"/>
          </a:bodyPr>
          <a:lstStyle/>
          <a:p>
            <a:pPr algn="ctr">
              <a:buNone/>
              <a:defRPr sz="10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课题研究</a:t>
            </a:r>
            <a:endParaRPr sz="10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research-pill-课堂反思"/>
          <p:cNvSpPr>
            <a:spLocks noGrp="1"/>
          </p:cNvSpPr>
          <p:nvPr/>
        </p:nvSpPr>
        <p:spPr>
          <a:xfrm>
            <a:off x="5600700" y="4324350"/>
            <a:ext cx="8572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BFDFFF"/>
            </a:solidFill>
            <a:prstDash val="solid"/>
          </a:ln>
        </p:spPr>
      </p:sp>
      <p:sp>
        <p:nvSpPr>
          <p:cNvPr id="23" name="research-pill-课堂反思-text"/>
          <p:cNvSpPr>
            <a:spLocks noGrp="1"/>
          </p:cNvSpPr>
          <p:nvPr/>
        </p:nvSpPr>
        <p:spPr>
          <a:xfrm>
            <a:off x="5667375" y="4362450"/>
            <a:ext cx="723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619"/>
          </a:bodyPr>
          <a:lstStyle/>
          <a:p>
            <a:pPr algn="ctr">
              <a:buNone/>
              <a:defRPr sz="10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课堂反思</a:t>
            </a:r>
            <a:endParaRPr sz="10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4" name="research-pill-教学问题攻关"/>
          <p:cNvSpPr>
            <a:spLocks noGrp="1"/>
          </p:cNvSpPr>
          <p:nvPr/>
        </p:nvSpPr>
        <p:spPr>
          <a:xfrm>
            <a:off x="6457950" y="4324350"/>
            <a:ext cx="8572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BFDFFF"/>
            </a:solidFill>
            <a:prstDash val="solid"/>
          </a:ln>
        </p:spPr>
      </p:sp>
      <p:sp>
        <p:nvSpPr>
          <p:cNvPr id="25" name="research-pill-教学问题攻关-text"/>
          <p:cNvSpPr>
            <a:spLocks noGrp="1"/>
          </p:cNvSpPr>
          <p:nvPr/>
        </p:nvSpPr>
        <p:spPr>
          <a:xfrm>
            <a:off x="6524625" y="4362450"/>
            <a:ext cx="723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ctr">
              <a:buNone/>
              <a:defRPr sz="86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教学问题攻关</a:t>
            </a:r>
            <a:endParaRPr sz="10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6" name="research-pill-..."/>
          <p:cNvSpPr>
            <a:spLocks noGrp="1"/>
          </p:cNvSpPr>
          <p:nvPr/>
        </p:nvSpPr>
        <p:spPr>
          <a:xfrm>
            <a:off x="7315200" y="4324350"/>
            <a:ext cx="857250" cy="3238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BFDFFF"/>
            </a:solidFill>
            <a:prstDash val="solid"/>
          </a:ln>
        </p:spPr>
      </p:sp>
      <p:sp>
        <p:nvSpPr>
          <p:cNvPr id="27" name="research-pill-...-text"/>
          <p:cNvSpPr>
            <a:spLocks noGrp="1"/>
          </p:cNvSpPr>
          <p:nvPr/>
        </p:nvSpPr>
        <p:spPr>
          <a:xfrm>
            <a:off x="7381875" y="4362450"/>
            <a:ext cx="723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417"/>
          </a:bodyPr>
          <a:lstStyle/>
          <a:p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...</a:t>
            </a:r>
            <a:endParaRPr sz="12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8" name="bottom-note-band"/>
          <p:cNvSpPr>
            <a:spLocks noGrp="1"/>
          </p:cNvSpPr>
          <p:nvPr/>
        </p:nvSpPr>
        <p:spPr>
          <a:xfrm>
            <a:off x="1066800" y="5829300"/>
            <a:ext cx="10058400" cy="438150"/>
          </a:xfrm>
          <a:prstGeom prst="roundRect">
            <a:avLst>
              <a:gd name="adj" fmla="val 13043"/>
            </a:avLst>
          </a:prstGeom>
          <a:solidFill>
            <a:srgbClr val="F4FAFF"/>
          </a:solidFill>
          <a:ln w="10478">
            <a:solidFill>
              <a:srgbClr val="D8ECFF"/>
            </a:solidFill>
            <a:prstDash val="solid"/>
          </a:ln>
        </p:spPr>
      </p:sp>
      <p:sp>
        <p:nvSpPr>
          <p:cNvPr id="29" name="bottom-note"/>
          <p:cNvSpPr>
            <a:spLocks noGrp="1"/>
          </p:cNvSpPr>
          <p:nvPr/>
        </p:nvSpPr>
        <p:spPr>
          <a:xfrm>
            <a:off x="1295400" y="5924550"/>
            <a:ext cx="96012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5926"/>
          </a:bodyPr>
          <a:lstStyle/>
          <a:p>
            <a:pPr algn="ctr">
              <a:buNone/>
              <a:defRPr sz="1350" b="1">
                <a:solidFill>
                  <a:srgbClr val="2F83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F83FF"/>
                </a:solidFill>
                <a:latin typeface="PingFang SC"/>
                <a:ea typeface="PingFang SC"/>
                <a:cs typeface="PingFang SC"/>
              </a:rPr>
              <a:t>关键价值：研修活动从活动承载走向训研一体化，把学习、任务、协同、研究和成果沉淀到统一过程。</a:t>
            </a:r>
            <a:endParaRPr sz="1350" b="1">
              <a:solidFill>
                <a:srgbClr val="2F83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0" name="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rmAutofit fontScale="98718"/>
          </a:bodyPr>
          <a:lstStyle/>
          <a:p>
            <a:pPr algn="r">
              <a:buNone/>
              <a:def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10</a:t>
            </a:r>
            <a:endParaRPr sz="975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/>
          <p:cNvSpPr>
            <a:spLocks noGrp="1"/>
          </p:cNvSpPr>
          <p:nvPr/>
        </p:nvSpPr>
        <p:spPr>
          <a:xfrm>
            <a:off x="400050" y="742950"/>
            <a:ext cx="10572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1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1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培训评估系统</a:t>
            </a:r>
            <a:r>
              <a:rPr sz="31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 -- </a:t>
            </a:r>
            <a:r>
              <a:rPr sz="31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把过程数据转化为可解释结果</a:t>
            </a:r>
            <a:endParaRPr sz="315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title-rule"/>
          <p:cNvSpPr>
            <a:spLocks noGrp="1"/>
          </p:cNvSpPr>
          <p:nvPr/>
        </p:nvSpPr>
        <p:spPr>
          <a:xfrm>
            <a:off x="400050" y="15049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card-评价模型"/>
          <p:cNvSpPr>
            <a:spLocks noGrp="1"/>
          </p:cNvSpPr>
          <p:nvPr/>
        </p:nvSpPr>
        <p:spPr>
          <a:xfrm>
            <a:off x="762000" y="2152650"/>
            <a:ext cx="3143250" cy="2381250"/>
          </a:xfrm>
          <a:prstGeom prst="roundRect">
            <a:avLst>
              <a:gd name="adj" fmla="val 2400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num-01"/>
          <p:cNvSpPr>
            <a:spLocks noGrp="1"/>
          </p:cNvSpPr>
          <p:nvPr/>
        </p:nvSpPr>
        <p:spPr>
          <a:xfrm>
            <a:off x="971550" y="2362200"/>
            <a:ext cx="323850" cy="32385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6" name="num-text-01"/>
          <p:cNvSpPr>
            <a:spLocks noGrp="1"/>
          </p:cNvSpPr>
          <p:nvPr/>
        </p:nvSpPr>
        <p:spPr>
          <a:xfrm>
            <a:off x="971550" y="24003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01</a:t>
            </a:r>
            <a:endParaRPr sz="1200" b="1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card-title-评价模型"/>
          <p:cNvSpPr>
            <a:spLocks noGrp="1"/>
          </p:cNvSpPr>
          <p:nvPr/>
        </p:nvSpPr>
        <p:spPr>
          <a:xfrm>
            <a:off x="1428750" y="2362200"/>
            <a:ext cx="2266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评价模型</a:t>
            </a:r>
            <a:endParaRPr sz="18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8" name="card-body-评价模型"/>
          <p:cNvSpPr>
            <a:spLocks noGrp="1"/>
          </p:cNvSpPr>
          <p:nvPr/>
        </p:nvSpPr>
        <p:spPr>
          <a:xfrm>
            <a:off x="1428750" y="2781300"/>
            <a:ext cx="22669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维度、指标、权重、等级标准、评价主体和模型版本。</a:t>
            </a:r>
            <a:endParaRPr sz="135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card-数据归集"/>
          <p:cNvSpPr>
            <a:spLocks noGrp="1"/>
          </p:cNvSpPr>
          <p:nvPr/>
        </p:nvSpPr>
        <p:spPr>
          <a:xfrm>
            <a:off x="4572000" y="2152650"/>
            <a:ext cx="3143250" cy="2381250"/>
          </a:xfrm>
          <a:prstGeom prst="roundRect">
            <a:avLst>
              <a:gd name="adj" fmla="val 2400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10" name="num-02"/>
          <p:cNvSpPr>
            <a:spLocks noGrp="1"/>
          </p:cNvSpPr>
          <p:nvPr/>
        </p:nvSpPr>
        <p:spPr>
          <a:xfrm>
            <a:off x="4781550" y="2362200"/>
            <a:ext cx="323850" cy="3238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11" name="num-text-02"/>
          <p:cNvSpPr>
            <a:spLocks noGrp="1"/>
          </p:cNvSpPr>
          <p:nvPr/>
        </p:nvSpPr>
        <p:spPr>
          <a:xfrm>
            <a:off x="4781550" y="24003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  <a:endParaRPr sz="97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card-title-数据归集"/>
          <p:cNvSpPr>
            <a:spLocks noGrp="1"/>
          </p:cNvSpPr>
          <p:nvPr/>
        </p:nvSpPr>
        <p:spPr>
          <a:xfrm>
            <a:off x="5238750" y="2362200"/>
            <a:ext cx="2266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数据归集</a:t>
            </a:r>
            <a:endParaRPr sz="18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card-body-数据归集"/>
          <p:cNvSpPr>
            <a:spLocks noGrp="1"/>
          </p:cNvSpPr>
          <p:nvPr/>
        </p:nvSpPr>
        <p:spPr>
          <a:xfrm>
            <a:off x="5238750" y="2781300"/>
            <a:ext cx="22669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基础数据、过程数据、成果数据、评价数据和时间窗口。</a:t>
            </a:r>
            <a:endParaRPr sz="135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4" name="card-评估分析"/>
          <p:cNvSpPr>
            <a:spLocks noGrp="1"/>
          </p:cNvSpPr>
          <p:nvPr/>
        </p:nvSpPr>
        <p:spPr>
          <a:xfrm>
            <a:off x="8382000" y="2152650"/>
            <a:ext cx="3143250" cy="2381250"/>
          </a:xfrm>
          <a:prstGeom prst="roundRect">
            <a:avLst>
              <a:gd name="adj" fmla="val 2400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num-03"/>
          <p:cNvSpPr>
            <a:spLocks noGrp="1"/>
          </p:cNvSpPr>
          <p:nvPr/>
        </p:nvSpPr>
        <p:spPr>
          <a:xfrm>
            <a:off x="8591550" y="2362200"/>
            <a:ext cx="323850" cy="32385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6" name="num-text-03"/>
          <p:cNvSpPr>
            <a:spLocks noGrp="1"/>
          </p:cNvSpPr>
          <p:nvPr/>
        </p:nvSpPr>
        <p:spPr>
          <a:xfrm>
            <a:off x="8591550" y="2400300"/>
            <a:ext cx="323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03</a:t>
            </a:r>
            <a:endParaRPr sz="1200" b="1">
              <a:solidFill>
                <a:srgbClr val="FFFF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7" name="card-title-评估分析"/>
          <p:cNvSpPr>
            <a:spLocks noGrp="1"/>
          </p:cNvSpPr>
          <p:nvPr/>
        </p:nvSpPr>
        <p:spPr>
          <a:xfrm>
            <a:off x="9048750" y="2362200"/>
            <a:ext cx="2266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8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评估分析</a:t>
            </a:r>
            <a:endParaRPr sz="18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8" name="card-body-评估分析"/>
          <p:cNvSpPr>
            <a:spLocks noGrp="1"/>
          </p:cNvSpPr>
          <p:nvPr/>
        </p:nvSpPr>
        <p:spPr>
          <a:xfrm>
            <a:off x="9048750" y="2781300"/>
            <a:ext cx="2266950" cy="1562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个人评估、班级评估、项目评估、趋势分析和报告输出。</a:t>
            </a:r>
            <a:endParaRPr sz="135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0" name="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11</a:t>
            </a:r>
            <a:endParaRPr sz="975" b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eval-desc-panel"/>
          <p:cNvSpPr>
            <a:spLocks noGrp="1"/>
          </p:cNvSpPr>
          <p:nvPr/>
        </p:nvSpPr>
        <p:spPr>
          <a:xfrm>
            <a:off x="1257300" y="4876800"/>
            <a:ext cx="9620250" cy="9144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1430">
            <a:solidFill>
              <a:srgbClr val="D4D9E2"/>
            </a:solidFill>
            <a:prstDash val="solid"/>
          </a:ln>
        </p:spPr>
      </p:sp>
      <p:sp>
        <p:nvSpPr>
          <p:cNvPr id="23" name="eval-desc-badge"/>
          <p:cNvSpPr>
            <a:spLocks noGrp="1"/>
          </p:cNvSpPr>
          <p:nvPr/>
        </p:nvSpPr>
        <p:spPr>
          <a:xfrm>
            <a:off x="1600200" y="5095875"/>
            <a:ext cx="1200150" cy="476250"/>
          </a:xfrm>
          <a:prstGeom prst="roundRect">
            <a:avLst>
              <a:gd name="adj" fmla="val 12000"/>
            </a:avLst>
          </a:prstGeom>
          <a:solidFill>
            <a:srgbClr val="557BCB"/>
          </a:solidFill>
          <a:ln w="9525">
            <a:solidFill>
              <a:srgbClr val="557BCB"/>
            </a:solidFill>
            <a:prstDash val="solid"/>
          </a:ln>
        </p:spPr>
      </p:sp>
      <p:sp>
        <p:nvSpPr>
          <p:cNvPr id="24" name="eval-desc-badge-text"/>
          <p:cNvSpPr>
            <a:spLocks noGrp="1"/>
          </p:cNvSpPr>
          <p:nvPr/>
        </p:nvSpPr>
        <p:spPr>
          <a:xfrm>
            <a:off x="1600200" y="5162550"/>
            <a:ext cx="1200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1667"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评估</a:t>
            </a:r>
            <a:endParaRPr sz="18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5" name="eval-desc-join"/>
          <p:cNvSpPr>
            <a:spLocks noGrp="1"/>
          </p:cNvSpPr>
          <p:nvPr/>
        </p:nvSpPr>
        <p:spPr>
          <a:xfrm>
            <a:off x="2800350" y="5314950"/>
            <a:ext cx="552450" cy="38100"/>
          </a:xfrm>
          <a:prstGeom prst="rect">
            <a:avLst/>
          </a:prstGeom>
          <a:solidFill>
            <a:srgbClr val="557BCB"/>
          </a:solidFill>
          <a:ln w="0">
            <a:noFill/>
            <a:prstDash val="solid"/>
          </a:ln>
        </p:spPr>
      </p:sp>
      <p:sp>
        <p:nvSpPr>
          <p:cNvPr id="26" name="eval-desc-bracket"/>
          <p:cNvSpPr>
            <a:spLocks noGrp="1"/>
          </p:cNvSpPr>
          <p:nvPr/>
        </p:nvSpPr>
        <p:spPr>
          <a:xfrm>
            <a:off x="3257550" y="5010150"/>
            <a:ext cx="323850" cy="647700"/>
          </a:xfrm>
          <a:prstGeom prst="leftBrace">
            <a:avLst/>
          </a:prstGeom>
          <a:noFill/>
          <a:ln w="28575">
            <a:solidFill>
              <a:srgbClr val="557BCB"/>
            </a:solidFill>
            <a:prstDash val="solid"/>
          </a:ln>
        </p:spPr>
      </p:sp>
      <p:sp>
        <p:nvSpPr>
          <p:cNvPr id="27" name="eval-desc-row-process"/>
          <p:cNvSpPr>
            <a:spLocks noGrp="1"/>
          </p:cNvSpPr>
          <p:nvPr/>
        </p:nvSpPr>
        <p:spPr>
          <a:xfrm>
            <a:off x="3771900" y="5010150"/>
            <a:ext cx="676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7778"/>
          </a:bodyPr>
          <a:lstStyle/>
          <a:p>
            <a:pPr algn="l">
              <a:buNone/>
              <a:defRPr sz="1800">
                <a:solidFill>
                  <a:srgbClr val="2E3440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2E3440"/>
                </a:solidFill>
                <a:latin typeface="PingFang SC"/>
                <a:ea typeface="PingFang SC"/>
                <a:cs typeface="PingFang SC"/>
              </a:rPr>
              <a:t>过程评估：签到、互动、任务、问卷、课堂行为/研讨行为分析</a:t>
            </a:r>
            <a:endParaRPr sz="1800">
              <a:solidFill>
                <a:srgbClr val="2E344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8" name="eval-desc-row-result"/>
          <p:cNvSpPr>
            <a:spLocks noGrp="1"/>
          </p:cNvSpPr>
          <p:nvPr/>
        </p:nvSpPr>
        <p:spPr>
          <a:xfrm>
            <a:off x="3771900" y="5429250"/>
            <a:ext cx="6762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7778"/>
          </a:bodyPr>
          <a:lstStyle/>
          <a:p>
            <a:pPr algn="l">
              <a:buNone/>
              <a:defRPr sz="1800">
                <a:solidFill>
                  <a:srgbClr val="2E3440"/>
                </a:solidFill>
                <a:latin typeface="PingFang SC"/>
                <a:ea typeface="PingFang SC"/>
                <a:cs typeface="PingFang SC"/>
              </a:defRPr>
            </a:pPr>
            <a:r>
              <a:rPr sz="1800">
                <a:solidFill>
                  <a:srgbClr val="2E3440"/>
                </a:solidFill>
                <a:latin typeface="PingFang SC"/>
                <a:ea typeface="PingFang SC"/>
                <a:cs typeface="PingFang SC"/>
              </a:rPr>
              <a:t>结果评估：成果质量、专家评审、满意度、能力达成、学时学分/证书。</a:t>
            </a:r>
            <a:endParaRPr sz="1800">
              <a:solidFill>
                <a:srgbClr val="2E3440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/>
          <p:cNvSpPr>
            <a:spLocks noGrp="1"/>
          </p:cNvSpPr>
          <p:nvPr/>
        </p:nvSpPr>
        <p:spPr>
          <a:xfrm>
            <a:off x="400050" y="742950"/>
            <a:ext cx="10572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1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1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教师档案与岗位序列能力发展挂钩</a:t>
            </a:r>
            <a:endParaRPr sz="315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title-rule"/>
          <p:cNvSpPr>
            <a:spLocks noGrp="1"/>
          </p:cNvSpPr>
          <p:nvPr/>
        </p:nvSpPr>
        <p:spPr>
          <a:xfrm>
            <a:off x="400050" y="15049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30" name="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12</a:t>
            </a:r>
            <a:endParaRPr sz="975" b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2" name="jobseq-arrow-archive-to-model"/>
          <p:cNvSpPr>
            <a:spLocks noGrp="1"/>
          </p:cNvSpPr>
          <p:nvPr/>
        </p:nvSpPr>
        <p:spPr>
          <a:xfrm>
            <a:off x="3143250" y="3467100"/>
            <a:ext cx="742950" cy="171450"/>
          </a:xfrm>
          <a:prstGeom prst="rightArrow">
            <a:avLst/>
          </a:prstGeom>
          <a:solidFill>
            <a:srgbClr val="B7BDC8"/>
          </a:solidFill>
          <a:ln w="0">
            <a:solidFill>
              <a:srgbClr val="B7BDC8"/>
            </a:solidFill>
            <a:prstDash val="solid"/>
          </a:ln>
        </p:spPr>
      </p:sp>
      <p:sp>
        <p:nvSpPr>
          <p:cNvPr id="33" name="jobseq-arrow-model-to-path"/>
          <p:cNvSpPr>
            <a:spLocks noGrp="1"/>
          </p:cNvSpPr>
          <p:nvPr/>
        </p:nvSpPr>
        <p:spPr>
          <a:xfrm>
            <a:off x="8648700" y="3467100"/>
            <a:ext cx="552450" cy="171450"/>
          </a:xfrm>
          <a:prstGeom prst="rightArrow">
            <a:avLst/>
          </a:prstGeom>
          <a:solidFill>
            <a:srgbClr val="B7BDC8"/>
          </a:solidFill>
          <a:ln w="0">
            <a:solidFill>
              <a:srgbClr val="B7BDC8"/>
            </a:solidFill>
            <a:prstDash val="solid"/>
          </a:ln>
        </p:spPr>
      </p:sp>
      <p:sp>
        <p:nvSpPr>
          <p:cNvPr id="34" name="jobseq-archive-panel"/>
          <p:cNvSpPr>
            <a:spLocks noGrp="1"/>
          </p:cNvSpPr>
          <p:nvPr/>
        </p:nvSpPr>
        <p:spPr>
          <a:xfrm>
            <a:off x="609600" y="2152650"/>
            <a:ext cx="2476500" cy="2781300"/>
          </a:xfrm>
          <a:prstGeom prst="roundRect">
            <a:avLst>
              <a:gd name="adj" fmla="val 2308"/>
            </a:avLst>
          </a:prstGeom>
          <a:solidFill>
            <a:srgbClr val="F4F6FA"/>
          </a:solidFill>
          <a:ln w="11430">
            <a:solidFill>
              <a:srgbClr val="C9CED8"/>
            </a:solidFill>
            <a:prstDash val="solid"/>
          </a:ln>
        </p:spPr>
      </p:sp>
      <p:sp>
        <p:nvSpPr>
          <p:cNvPr id="35" name="jobseq-archive-title"/>
          <p:cNvSpPr>
            <a:spLocks noGrp="1"/>
          </p:cNvSpPr>
          <p:nvPr/>
        </p:nvSpPr>
        <p:spPr>
          <a:xfrm>
            <a:off x="914400" y="2381250"/>
            <a:ext cx="18669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590"/>
          </a:bodyPr>
          <a:lstStyle/>
          <a:p>
            <a:pPr algn="ctr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教师档案</a:t>
            </a:r>
            <a:endParaRPr sz="19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  <a:p>
            <a:pPr algn="ctr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证据池</a:t>
            </a:r>
            <a:endParaRPr sz="19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6" name="jobseq-archive-pill-1"/>
          <p:cNvSpPr>
            <a:spLocks noGrp="1"/>
          </p:cNvSpPr>
          <p:nvPr/>
        </p:nvSpPr>
        <p:spPr>
          <a:xfrm>
            <a:off x="990600" y="3143250"/>
            <a:ext cx="1714500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sp>
        <p:nvSpPr>
          <p:cNvPr id="37" name="jobseq-archive-pill-1-text"/>
          <p:cNvSpPr>
            <a:spLocks noGrp="1"/>
          </p:cNvSpPr>
          <p:nvPr/>
        </p:nvSpPr>
        <p:spPr>
          <a:xfrm>
            <a:off x="1047750" y="318135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0588"/>
          </a:bodyPr>
          <a:lstStyle/>
          <a:p>
            <a:pPr algn="ctr"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培训记录</a:t>
            </a:r>
            <a:endParaRPr sz="1275" b="1">
              <a:solidFill>
                <a:srgbClr val="111827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8" name="jobseq-archive-pill-2"/>
          <p:cNvSpPr>
            <a:spLocks noGrp="1"/>
          </p:cNvSpPr>
          <p:nvPr/>
        </p:nvSpPr>
        <p:spPr>
          <a:xfrm>
            <a:off x="990600" y="3562350"/>
            <a:ext cx="1714500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sp>
        <p:nvSpPr>
          <p:cNvPr id="39" name="jobseq-archive-pill-2-text"/>
          <p:cNvSpPr>
            <a:spLocks noGrp="1"/>
          </p:cNvSpPr>
          <p:nvPr/>
        </p:nvSpPr>
        <p:spPr>
          <a:xfrm>
            <a:off x="1047750" y="360045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0588"/>
          </a:bodyPr>
          <a:lstStyle/>
          <a:p>
            <a:pPr algn="ctr"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评价结果</a:t>
            </a:r>
            <a:endParaRPr sz="1275" b="1">
              <a:solidFill>
                <a:srgbClr val="111827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0" name="jobseq-archive-pill-3"/>
          <p:cNvSpPr>
            <a:spLocks noGrp="1"/>
          </p:cNvSpPr>
          <p:nvPr/>
        </p:nvSpPr>
        <p:spPr>
          <a:xfrm>
            <a:off x="990600" y="3981450"/>
            <a:ext cx="1714500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sp>
        <p:nvSpPr>
          <p:cNvPr id="41" name="jobseq-archive-pill-3-text"/>
          <p:cNvSpPr>
            <a:spLocks noGrp="1"/>
          </p:cNvSpPr>
          <p:nvPr/>
        </p:nvSpPr>
        <p:spPr>
          <a:xfrm>
            <a:off x="1047750" y="401955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0588"/>
          </a:bodyPr>
          <a:lstStyle/>
          <a:p>
            <a:pPr algn="ctr"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成果材料</a:t>
            </a:r>
            <a:endParaRPr sz="1275" b="1">
              <a:solidFill>
                <a:srgbClr val="111827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2" name="jobseq-archive-pill-4"/>
          <p:cNvSpPr>
            <a:spLocks noGrp="1"/>
          </p:cNvSpPr>
          <p:nvPr/>
        </p:nvSpPr>
        <p:spPr>
          <a:xfrm>
            <a:off x="990600" y="4400550"/>
            <a:ext cx="1714500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sp>
        <p:nvSpPr>
          <p:cNvPr id="43" name="jobseq-archive-pill-4-text"/>
          <p:cNvSpPr>
            <a:spLocks noGrp="1"/>
          </p:cNvSpPr>
          <p:nvPr/>
        </p:nvSpPr>
        <p:spPr>
          <a:xfrm>
            <a:off x="1047750" y="4438650"/>
            <a:ext cx="1600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0588"/>
          </a:bodyPr>
          <a:lstStyle/>
          <a:p>
            <a:pPr algn="ctr"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成长轨迹</a:t>
            </a:r>
            <a:endParaRPr sz="1275" b="1">
              <a:solidFill>
                <a:srgbClr val="111827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4" name="jobseq-model-panel"/>
          <p:cNvSpPr>
            <a:spLocks noGrp="1"/>
          </p:cNvSpPr>
          <p:nvPr/>
        </p:nvSpPr>
        <p:spPr>
          <a:xfrm>
            <a:off x="3886200" y="2038350"/>
            <a:ext cx="4762500" cy="3086100"/>
          </a:xfrm>
          <a:prstGeom prst="roundRect">
            <a:avLst>
              <a:gd name="adj" fmla="val 1852"/>
            </a:avLst>
          </a:prstGeom>
          <a:solidFill>
            <a:srgbClr val="EAF5FB"/>
          </a:solidFill>
          <a:ln w="11430">
            <a:solidFill>
              <a:srgbClr val="78B0FF"/>
            </a:solidFill>
            <a:prstDash val="solid"/>
          </a:ln>
        </p:spPr>
      </p:sp>
      <p:sp>
        <p:nvSpPr>
          <p:cNvPr id="45" name="jobseq-model-title"/>
          <p:cNvSpPr>
            <a:spLocks noGrp="1"/>
          </p:cNvSpPr>
          <p:nvPr/>
        </p:nvSpPr>
        <p:spPr>
          <a:xfrm>
            <a:off x="4191000" y="2247900"/>
            <a:ext cx="4152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5309"/>
          </a:bodyPr>
          <a:lstStyle/>
          <a:p>
            <a:pPr algn="ctr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岗位序列能力模型</a:t>
            </a:r>
            <a:endParaRPr sz="202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6" name="jobseq-model-subtitle"/>
          <p:cNvSpPr>
            <a:spLocks noGrp="1"/>
          </p:cNvSpPr>
          <p:nvPr/>
        </p:nvSpPr>
        <p:spPr>
          <a:xfrm>
            <a:off x="4305300" y="2609850"/>
            <a:ext cx="39243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185"/>
          </a:bodyPr>
          <a:lstStyle/>
          <a:p>
            <a:pPr algn="ctr">
              <a:buNone/>
              <a:def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按不同发展阶段配置能力指标与达成标准</a:t>
            </a:r>
            <a:endParaRPr sz="135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7" name="jobseq-stage-1"/>
          <p:cNvSpPr>
            <a:spLocks noGrp="1"/>
          </p:cNvSpPr>
          <p:nvPr/>
        </p:nvSpPr>
        <p:spPr>
          <a:xfrm>
            <a:off x="4171950" y="3028950"/>
            <a:ext cx="7429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sp>
        <p:nvSpPr>
          <p:cNvPr id="48" name="jobseq-stage-1-text"/>
          <p:cNvSpPr>
            <a:spLocks noGrp="1"/>
          </p:cNvSpPr>
          <p:nvPr/>
        </p:nvSpPr>
        <p:spPr>
          <a:xfrm>
            <a:off x="4229100" y="3067050"/>
            <a:ext cx="628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初任</a:t>
            </a:r>
            <a:endParaRPr sz="1275" b="1">
              <a:solidFill>
                <a:srgbClr val="111827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9" name="jobseq-stage-2"/>
          <p:cNvSpPr>
            <a:spLocks noGrp="1"/>
          </p:cNvSpPr>
          <p:nvPr/>
        </p:nvSpPr>
        <p:spPr>
          <a:xfrm>
            <a:off x="4991100" y="3028950"/>
            <a:ext cx="74295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sp>
        <p:nvSpPr>
          <p:cNvPr id="50" name="jobseq-stage-2-text"/>
          <p:cNvSpPr>
            <a:spLocks noGrp="1"/>
          </p:cNvSpPr>
          <p:nvPr/>
        </p:nvSpPr>
        <p:spPr>
          <a:xfrm>
            <a:off x="5048250" y="3067050"/>
            <a:ext cx="628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胜任</a:t>
            </a:r>
            <a:endParaRPr sz="1275" b="1">
              <a:solidFill>
                <a:srgbClr val="111827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1" name="jobseq-stage-3"/>
          <p:cNvSpPr>
            <a:spLocks noGrp="1"/>
          </p:cNvSpPr>
          <p:nvPr/>
        </p:nvSpPr>
        <p:spPr>
          <a:xfrm>
            <a:off x="5810250" y="3028950"/>
            <a:ext cx="742950" cy="400050"/>
          </a:xfrm>
          <a:prstGeom prst="roundRect">
            <a:avLst>
              <a:gd name="adj" fmla="val 14286"/>
            </a:avLst>
          </a:prstGeom>
          <a:solidFill>
            <a:srgbClr val="2F83FF"/>
          </a:solidFill>
          <a:ln w="9525">
            <a:solidFill>
              <a:srgbClr val="2F83FF"/>
            </a:solidFill>
            <a:prstDash val="solid"/>
          </a:ln>
        </p:spPr>
      </p:sp>
      <p:sp>
        <p:nvSpPr>
          <p:cNvPr id="52" name="jobseq-stage-3-text"/>
          <p:cNvSpPr>
            <a:spLocks noGrp="1"/>
          </p:cNvSpPr>
          <p:nvPr/>
        </p:nvSpPr>
        <p:spPr>
          <a:xfrm>
            <a:off x="5867400" y="3067050"/>
            <a:ext cx="628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骨干</a:t>
            </a:r>
            <a:endParaRPr sz="127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3" name="jobseq-stage-4"/>
          <p:cNvSpPr>
            <a:spLocks noGrp="1"/>
          </p:cNvSpPr>
          <p:nvPr/>
        </p:nvSpPr>
        <p:spPr>
          <a:xfrm>
            <a:off x="6629400" y="3028950"/>
            <a:ext cx="800100" cy="400050"/>
          </a:xfrm>
          <a:prstGeom prst="roundRect">
            <a:avLst>
              <a:gd name="adj" fmla="val 14286"/>
            </a:avLst>
          </a:prstGeom>
          <a:solidFill>
            <a:srgbClr val="2F83FF"/>
          </a:solidFill>
          <a:ln w="9525">
            <a:solidFill>
              <a:srgbClr val="2F83FF"/>
            </a:solidFill>
            <a:prstDash val="solid"/>
          </a:ln>
        </p:spPr>
      </p:sp>
      <p:sp>
        <p:nvSpPr>
          <p:cNvPr id="54" name="jobseq-stage-4-text"/>
          <p:cNvSpPr>
            <a:spLocks noGrp="1"/>
          </p:cNvSpPr>
          <p:nvPr/>
        </p:nvSpPr>
        <p:spPr>
          <a:xfrm>
            <a:off x="6686550" y="3067050"/>
            <a:ext cx="685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带头</a:t>
            </a:r>
            <a:endParaRPr sz="127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5" name="jobseq-stage-5"/>
          <p:cNvSpPr>
            <a:spLocks noGrp="1"/>
          </p:cNvSpPr>
          <p:nvPr/>
        </p:nvSpPr>
        <p:spPr>
          <a:xfrm>
            <a:off x="7520305" y="3028950"/>
            <a:ext cx="742950" cy="400050"/>
          </a:xfrm>
          <a:prstGeom prst="roundRect">
            <a:avLst>
              <a:gd name="adj" fmla="val 14286"/>
            </a:avLst>
          </a:prstGeom>
          <a:solidFill>
            <a:srgbClr val="2F83FF"/>
          </a:solidFill>
          <a:ln w="9525">
            <a:solidFill>
              <a:srgbClr val="2F83FF"/>
            </a:solidFill>
            <a:prstDash val="solid"/>
          </a:ln>
        </p:spPr>
      </p:sp>
      <p:sp>
        <p:nvSpPr>
          <p:cNvPr id="56" name="jobseq-stage-5-text"/>
          <p:cNvSpPr>
            <a:spLocks noGrp="1"/>
          </p:cNvSpPr>
          <p:nvPr/>
        </p:nvSpPr>
        <p:spPr>
          <a:xfrm>
            <a:off x="7505700" y="3067050"/>
            <a:ext cx="628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专家</a:t>
            </a:r>
            <a:endParaRPr sz="127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7" name="jobseq-model-arrow-hint"/>
          <p:cNvSpPr>
            <a:spLocks noGrp="1"/>
          </p:cNvSpPr>
          <p:nvPr/>
        </p:nvSpPr>
        <p:spPr>
          <a:xfrm>
            <a:off x="5676900" y="3676650"/>
            <a:ext cx="1219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57778"/>
          </a:bodyPr>
          <a:lstStyle/>
          <a:p>
            <a:pPr algn="ctr">
              <a:buNone/>
              <a:defRPr sz="1125" b="1">
                <a:solidFill>
                  <a:srgbClr val="2F83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F83FF"/>
                </a:solidFill>
                <a:latin typeface="PingFang SC"/>
                <a:ea typeface="PingFang SC"/>
                <a:cs typeface="PingFang SC"/>
              </a:rPr>
              <a:t>岗位序列进阶</a:t>
            </a:r>
            <a:endParaRPr sz="1125" b="1">
              <a:solidFill>
                <a:srgbClr val="2F83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8" name="jobseq-model-progress-line"/>
          <p:cNvSpPr>
            <a:spLocks noGrp="1"/>
          </p:cNvSpPr>
          <p:nvPr/>
        </p:nvSpPr>
        <p:spPr>
          <a:xfrm>
            <a:off x="4476750" y="3600450"/>
            <a:ext cx="3543300" cy="28575"/>
          </a:xfrm>
          <a:prstGeom prst="rect">
            <a:avLst/>
          </a:prstGeom>
          <a:solidFill>
            <a:srgbClr val="2F83FF"/>
          </a:solidFill>
          <a:ln w="0">
            <a:noFill/>
            <a:prstDash val="solid"/>
          </a:ln>
        </p:spPr>
      </p:sp>
      <p:sp>
        <p:nvSpPr>
          <p:cNvPr id="59" name="jobseq-model-progress-head"/>
          <p:cNvSpPr>
            <a:spLocks noGrp="1"/>
          </p:cNvSpPr>
          <p:nvPr/>
        </p:nvSpPr>
        <p:spPr>
          <a:xfrm rot="5400000">
            <a:off x="7962900" y="3524250"/>
            <a:ext cx="171450" cy="171450"/>
          </a:xfrm>
          <a:prstGeom prst="triangle">
            <a:avLst/>
          </a:prstGeom>
          <a:solidFill>
            <a:srgbClr val="2F83FF"/>
          </a:solidFill>
          <a:ln w="9525">
            <a:solidFill>
              <a:srgbClr val="2F83FF"/>
            </a:solidFill>
            <a:prstDash val="solid"/>
          </a:ln>
        </p:spPr>
      </p:sp>
      <p:sp>
        <p:nvSpPr>
          <p:cNvPr id="60" name="jobseq-diagnosis-box"/>
          <p:cNvSpPr>
            <a:spLocks noGrp="1"/>
          </p:cNvSpPr>
          <p:nvPr/>
        </p:nvSpPr>
        <p:spPr>
          <a:xfrm>
            <a:off x="4400550" y="3848100"/>
            <a:ext cx="3733800" cy="933450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1430">
            <a:solidFill>
              <a:srgbClr val="C9CED8"/>
            </a:solidFill>
            <a:prstDash val="solid"/>
          </a:ln>
        </p:spPr>
      </p:sp>
      <p:sp>
        <p:nvSpPr>
          <p:cNvPr id="61" name="jobseq-diagnosis-title"/>
          <p:cNvSpPr>
            <a:spLocks noGrp="1"/>
          </p:cNvSpPr>
          <p:nvPr/>
        </p:nvSpPr>
        <p:spPr>
          <a:xfrm>
            <a:off x="4629150" y="3981450"/>
            <a:ext cx="3276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7273"/>
          </a:bodyPr>
          <a:lstStyle/>
          <a:p>
            <a:pPr algn="ctr">
              <a:buNone/>
              <a:def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能力诊断与差距识别</a:t>
            </a:r>
            <a:endParaRPr sz="1650" b="1">
              <a:solidFill>
                <a:srgbClr val="111827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2" name="jobseq-diagnosis-body"/>
          <p:cNvSpPr>
            <a:spLocks noGrp="1"/>
          </p:cNvSpPr>
          <p:nvPr/>
        </p:nvSpPr>
        <p:spPr>
          <a:xfrm>
            <a:off x="4629150" y="4343400"/>
            <a:ext cx="3276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0196"/>
          </a:bodyPr>
          <a:lstStyle/>
          <a:p>
            <a:pPr algn="ctr">
              <a:buNone/>
              <a:def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达成度 / 优势项 / 待提升项 / 当前岗位阶段</a:t>
            </a:r>
            <a:endParaRPr sz="1275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3" name="jobseq-path-panel"/>
          <p:cNvSpPr>
            <a:spLocks noGrp="1"/>
          </p:cNvSpPr>
          <p:nvPr/>
        </p:nvSpPr>
        <p:spPr>
          <a:xfrm>
            <a:off x="9201150" y="2152650"/>
            <a:ext cx="2400300" cy="2781300"/>
          </a:xfrm>
          <a:prstGeom prst="roundRect">
            <a:avLst>
              <a:gd name="adj" fmla="val 2381"/>
            </a:avLst>
          </a:prstGeom>
          <a:solidFill>
            <a:srgbClr val="F4F6FA"/>
          </a:solidFill>
          <a:ln w="11430">
            <a:solidFill>
              <a:srgbClr val="C9CED8"/>
            </a:solidFill>
            <a:prstDash val="solid"/>
          </a:ln>
        </p:spPr>
      </p:sp>
      <p:sp>
        <p:nvSpPr>
          <p:cNvPr id="64" name="jobseq-path-title"/>
          <p:cNvSpPr>
            <a:spLocks noGrp="1"/>
          </p:cNvSpPr>
          <p:nvPr/>
        </p:nvSpPr>
        <p:spPr>
          <a:xfrm>
            <a:off x="9486900" y="2381250"/>
            <a:ext cx="18288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3590"/>
          </a:bodyPr>
          <a:lstStyle/>
          <a:p>
            <a:pPr algn="ctr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发展路径</a:t>
            </a:r>
            <a:endParaRPr sz="19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  <a:p>
            <a:pPr algn="ctr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与供给</a:t>
            </a:r>
            <a:endParaRPr sz="19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5" name="jobseq-path-pill-1"/>
          <p:cNvSpPr>
            <a:spLocks noGrp="1"/>
          </p:cNvSpPr>
          <p:nvPr/>
        </p:nvSpPr>
        <p:spPr>
          <a:xfrm>
            <a:off x="9563100" y="3143250"/>
            <a:ext cx="1676400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sp>
        <p:nvSpPr>
          <p:cNvPr id="66" name="jobseq-path-pill-1-text"/>
          <p:cNvSpPr>
            <a:spLocks noGrp="1"/>
          </p:cNvSpPr>
          <p:nvPr/>
        </p:nvSpPr>
        <p:spPr>
          <a:xfrm>
            <a:off x="9620250" y="3181350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0588"/>
          </a:bodyPr>
          <a:lstStyle/>
          <a:p>
            <a:pPr algn="ctr"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课程研修</a:t>
            </a:r>
            <a:endParaRPr sz="1275" b="1">
              <a:solidFill>
                <a:srgbClr val="111827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7" name="jobseq-path-pill-2"/>
          <p:cNvSpPr>
            <a:spLocks noGrp="1"/>
          </p:cNvSpPr>
          <p:nvPr/>
        </p:nvSpPr>
        <p:spPr>
          <a:xfrm>
            <a:off x="9563100" y="3562350"/>
            <a:ext cx="1676400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sp>
        <p:nvSpPr>
          <p:cNvPr id="68" name="jobseq-path-pill-2-text"/>
          <p:cNvSpPr>
            <a:spLocks noGrp="1"/>
          </p:cNvSpPr>
          <p:nvPr/>
        </p:nvSpPr>
        <p:spPr>
          <a:xfrm>
            <a:off x="9620250" y="3600450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0588"/>
          </a:bodyPr>
          <a:lstStyle/>
          <a:p>
            <a:pPr algn="ctr"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岗位任务</a:t>
            </a:r>
            <a:endParaRPr sz="1275" b="1">
              <a:solidFill>
                <a:srgbClr val="111827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9" name="jobseq-path-pill-3"/>
          <p:cNvSpPr>
            <a:spLocks noGrp="1"/>
          </p:cNvSpPr>
          <p:nvPr/>
        </p:nvSpPr>
        <p:spPr>
          <a:xfrm>
            <a:off x="9563100" y="3981450"/>
            <a:ext cx="1676400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sp>
        <p:nvSpPr>
          <p:cNvPr id="70" name="jobseq-path-pill-3-text"/>
          <p:cNvSpPr>
            <a:spLocks noGrp="1"/>
          </p:cNvSpPr>
          <p:nvPr/>
        </p:nvSpPr>
        <p:spPr>
          <a:xfrm>
            <a:off x="9620250" y="4019550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0588"/>
          </a:bodyPr>
          <a:lstStyle/>
          <a:p>
            <a:pPr algn="ctr"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教研实践</a:t>
            </a:r>
            <a:endParaRPr sz="1275" b="1">
              <a:solidFill>
                <a:srgbClr val="111827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1" name="jobseq-path-pill-4"/>
          <p:cNvSpPr>
            <a:spLocks noGrp="1"/>
          </p:cNvSpPr>
          <p:nvPr/>
        </p:nvSpPr>
        <p:spPr>
          <a:xfrm>
            <a:off x="9563100" y="4400550"/>
            <a:ext cx="1676400" cy="304800"/>
          </a:xfrm>
          <a:prstGeom prst="roundRect">
            <a:avLst>
              <a:gd name="adj" fmla="val 18750"/>
            </a:avLst>
          </a:prstGeom>
          <a:solidFill>
            <a:srgbClr val="2F83FF"/>
          </a:solidFill>
          <a:ln w="9525">
            <a:solidFill>
              <a:srgbClr val="2F83FF"/>
            </a:solidFill>
            <a:prstDash val="solid"/>
          </a:ln>
        </p:spPr>
      </p:sp>
      <p:sp>
        <p:nvSpPr>
          <p:cNvPr id="72" name="jobseq-path-pill-4-text"/>
          <p:cNvSpPr>
            <a:spLocks noGrp="1"/>
          </p:cNvSpPr>
          <p:nvPr/>
        </p:nvSpPr>
        <p:spPr>
          <a:xfrm>
            <a:off x="9620250" y="4438650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0588"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成果认证</a:t>
            </a:r>
            <a:endParaRPr sz="127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3" name="jobseq-feedback-panel"/>
          <p:cNvSpPr>
            <a:spLocks noGrp="1"/>
          </p:cNvSpPr>
          <p:nvPr/>
        </p:nvSpPr>
        <p:spPr>
          <a:xfrm>
            <a:off x="1428750" y="5391150"/>
            <a:ext cx="9334500" cy="43815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11430">
            <a:solidFill>
              <a:srgbClr val="D6DAE2"/>
            </a:solidFill>
            <a:prstDash val="solid"/>
          </a:ln>
        </p:spPr>
      </p:sp>
      <p:sp>
        <p:nvSpPr>
          <p:cNvPr id="74" name="jobseq-feedback-text"/>
          <p:cNvSpPr>
            <a:spLocks noGrp="1"/>
          </p:cNvSpPr>
          <p:nvPr/>
        </p:nvSpPr>
        <p:spPr>
          <a:xfrm>
            <a:off x="2152650" y="5467350"/>
            <a:ext cx="8248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7273"/>
          </a:bodyPr>
          <a:lstStyle/>
          <a:p>
            <a:pPr algn="ctr">
              <a:buNone/>
              <a:defRPr sz="1650" b="1">
                <a:solidFill>
                  <a:srgbClr val="2F83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2F83FF"/>
                </a:solidFill>
                <a:latin typeface="PingFang SC"/>
                <a:ea typeface="PingFang SC"/>
                <a:cs typeface="PingFang SC"/>
              </a:rPr>
              <a:t>结果回写档案，更新能力等级与岗位阶段；下一轮培训按岗位序列精准供给。</a:t>
            </a:r>
            <a:endParaRPr sz="1650" b="1">
              <a:solidFill>
                <a:srgbClr val="2F83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5" name="jobseq-feedback-left-arrow"/>
          <p:cNvSpPr>
            <a:spLocks noGrp="1"/>
          </p:cNvSpPr>
          <p:nvPr/>
        </p:nvSpPr>
        <p:spPr>
          <a:xfrm>
            <a:off x="1600200" y="5505450"/>
            <a:ext cx="438150" cy="209550"/>
          </a:xfrm>
          <a:prstGeom prst="leftArrow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/>
          <p:cNvSpPr>
            <a:spLocks noGrp="1"/>
          </p:cNvSpPr>
          <p:nvPr/>
        </p:nvSpPr>
        <p:spPr>
          <a:xfrm>
            <a:off x="400050" y="742950"/>
            <a:ext cx="10572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1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1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六个核心模块提供可复用的平台能力</a:t>
            </a:r>
            <a:endParaRPr sz="315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title-rule"/>
          <p:cNvSpPr>
            <a:spLocks noGrp="1"/>
          </p:cNvSpPr>
          <p:nvPr/>
        </p:nvSpPr>
        <p:spPr>
          <a:xfrm>
            <a:off x="400050" y="15049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box-网络研修模块"/>
          <p:cNvSpPr>
            <a:spLocks noGrp="1"/>
          </p:cNvSpPr>
          <p:nvPr/>
        </p:nvSpPr>
        <p:spPr>
          <a:xfrm>
            <a:off x="609600" y="2000250"/>
            <a:ext cx="3143250" cy="1333500"/>
          </a:xfrm>
          <a:prstGeom prst="roundRect">
            <a:avLst>
              <a:gd name="adj" fmla="val 4286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box-title-网络研修模块"/>
          <p:cNvSpPr>
            <a:spLocks noGrp="1"/>
          </p:cNvSpPr>
          <p:nvPr/>
        </p:nvSpPr>
        <p:spPr>
          <a:xfrm>
            <a:off x="781050" y="2171700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网络研修模块</a:t>
            </a:r>
            <a:endParaRPr sz="1575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box-body-网络研修模块"/>
          <p:cNvSpPr>
            <a:spLocks noGrp="1"/>
          </p:cNvSpPr>
          <p:nvPr/>
        </p:nvSpPr>
        <p:spPr>
          <a:xfrm>
            <a:off x="781050" y="2533650"/>
            <a:ext cx="28003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训研一体化</a:t>
            </a:r>
            <a:endParaRPr sz="120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buNone/>
              <a:def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在线学习、任务实践、协同研究、成果共创</a:t>
            </a:r>
            <a:endParaRPr sz="120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box-评价模型模块"/>
          <p:cNvSpPr>
            <a:spLocks noGrp="1"/>
          </p:cNvSpPr>
          <p:nvPr/>
        </p:nvSpPr>
        <p:spPr>
          <a:xfrm>
            <a:off x="4419600" y="2000250"/>
            <a:ext cx="3143250" cy="1333500"/>
          </a:xfrm>
          <a:prstGeom prst="roundRect">
            <a:avLst>
              <a:gd name="adj" fmla="val 4286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8" name="box-title-评价模型模块"/>
          <p:cNvSpPr>
            <a:spLocks noGrp="1"/>
          </p:cNvSpPr>
          <p:nvPr/>
        </p:nvSpPr>
        <p:spPr>
          <a:xfrm>
            <a:off x="4591050" y="2171700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评价模型模块</a:t>
            </a:r>
            <a:endParaRPr sz="1575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9" name="box-body-评价模型模块"/>
          <p:cNvSpPr>
            <a:spLocks noGrp="1"/>
          </p:cNvSpPr>
          <p:nvPr/>
        </p:nvSpPr>
        <p:spPr>
          <a:xfrm>
            <a:off x="4591050" y="2533650"/>
            <a:ext cx="28003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统一评价标准</a:t>
            </a:r>
            <a:endParaRPr sz="120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buNone/>
              <a:def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评价维度、指标体系、权重规则、等级标准</a:t>
            </a:r>
            <a:endParaRPr sz="120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0" name="box-数据归集模块"/>
          <p:cNvSpPr>
            <a:spLocks noGrp="1"/>
          </p:cNvSpPr>
          <p:nvPr/>
        </p:nvSpPr>
        <p:spPr>
          <a:xfrm>
            <a:off x="8229600" y="2000250"/>
            <a:ext cx="3143250" cy="1333500"/>
          </a:xfrm>
          <a:prstGeom prst="roundRect">
            <a:avLst>
              <a:gd name="adj" fmla="val 4286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11" name="box-title-数据归集模块"/>
          <p:cNvSpPr>
            <a:spLocks noGrp="1"/>
          </p:cNvSpPr>
          <p:nvPr/>
        </p:nvSpPr>
        <p:spPr>
          <a:xfrm>
            <a:off x="8401050" y="2171700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数据归集模块</a:t>
            </a:r>
            <a:endParaRPr sz="1575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2" name="box-body-数据归集模块"/>
          <p:cNvSpPr>
            <a:spLocks noGrp="1"/>
          </p:cNvSpPr>
          <p:nvPr/>
        </p:nvSpPr>
        <p:spPr>
          <a:xfrm>
            <a:off x="8401050" y="2533650"/>
            <a:ext cx="28003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全过程留痕</a:t>
            </a:r>
            <a:endParaRPr sz="120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buNone/>
              <a:def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时间窗口、过程数据、成果数据、评价数据</a:t>
            </a:r>
            <a:endParaRPr sz="120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box-评估分析模块"/>
          <p:cNvSpPr>
            <a:spLocks noGrp="1"/>
          </p:cNvSpPr>
          <p:nvPr/>
        </p:nvSpPr>
        <p:spPr>
          <a:xfrm>
            <a:off x="609600" y="3752850"/>
            <a:ext cx="3143250" cy="1333500"/>
          </a:xfrm>
          <a:prstGeom prst="roundRect">
            <a:avLst>
              <a:gd name="adj" fmla="val 4286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14" name="box-title-评估分析模块"/>
          <p:cNvSpPr>
            <a:spLocks noGrp="1"/>
          </p:cNvSpPr>
          <p:nvPr/>
        </p:nvSpPr>
        <p:spPr>
          <a:xfrm>
            <a:off x="781050" y="3924300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评估分析模块</a:t>
            </a:r>
            <a:endParaRPr sz="1575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box-body-评估分析模块"/>
          <p:cNvSpPr>
            <a:spLocks noGrp="1"/>
          </p:cNvSpPr>
          <p:nvPr/>
        </p:nvSpPr>
        <p:spPr>
          <a:xfrm>
            <a:off x="781050" y="4286250"/>
            <a:ext cx="28003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质量分析输出</a:t>
            </a:r>
            <a:endParaRPr sz="120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buNone/>
              <a:def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综合评价、趋势分析、报表统计、结果反馈</a:t>
            </a:r>
            <a:endParaRPr sz="120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6" name="box-档案沉淀模块"/>
          <p:cNvSpPr>
            <a:spLocks noGrp="1"/>
          </p:cNvSpPr>
          <p:nvPr/>
        </p:nvSpPr>
        <p:spPr>
          <a:xfrm>
            <a:off x="4419600" y="3752850"/>
            <a:ext cx="3143250" cy="1333500"/>
          </a:xfrm>
          <a:prstGeom prst="roundRect">
            <a:avLst>
              <a:gd name="adj" fmla="val 4286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box-title-档案沉淀模块"/>
          <p:cNvSpPr>
            <a:spLocks noGrp="1"/>
          </p:cNvSpPr>
          <p:nvPr/>
        </p:nvSpPr>
        <p:spPr>
          <a:xfrm>
            <a:off x="4591050" y="3924300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档案沉淀模块</a:t>
            </a:r>
            <a:endParaRPr sz="1575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8" name="box-body-档案沉淀模块"/>
          <p:cNvSpPr>
            <a:spLocks noGrp="1"/>
          </p:cNvSpPr>
          <p:nvPr/>
        </p:nvSpPr>
        <p:spPr>
          <a:xfrm>
            <a:off x="4591050" y="4286250"/>
            <a:ext cx="28003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成长资产沉淀</a:t>
            </a:r>
            <a:endParaRPr sz="120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buNone/>
              <a:def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记录归档、证据归集、成果沉淀、画像更新</a:t>
            </a:r>
            <a:endParaRPr sz="120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9" name="box-推荐服务模块"/>
          <p:cNvSpPr>
            <a:spLocks noGrp="1"/>
          </p:cNvSpPr>
          <p:nvPr/>
        </p:nvSpPr>
        <p:spPr>
          <a:xfrm>
            <a:off x="8229600" y="3752850"/>
            <a:ext cx="3143250" cy="1333500"/>
          </a:xfrm>
          <a:prstGeom prst="roundRect">
            <a:avLst>
              <a:gd name="adj" fmla="val 4286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box-title-推荐服务模块"/>
          <p:cNvSpPr>
            <a:spLocks noGrp="1"/>
          </p:cNvSpPr>
          <p:nvPr/>
        </p:nvSpPr>
        <p:spPr>
          <a:xfrm>
            <a:off x="8401050" y="3924300"/>
            <a:ext cx="2800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推荐服务模块</a:t>
            </a:r>
            <a:endParaRPr sz="1575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1" name="box-body-推荐服务模块"/>
          <p:cNvSpPr>
            <a:spLocks noGrp="1"/>
          </p:cNvSpPr>
          <p:nvPr/>
        </p:nvSpPr>
        <p:spPr>
          <a:xfrm>
            <a:off x="8401050" y="4286250"/>
            <a:ext cx="28003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精准发展服务</a:t>
            </a:r>
            <a:endParaRPr sz="120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  <a:p>
            <a:pPr algn="l">
              <a:buNone/>
              <a:def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0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能力诊断、内容推荐、路径推荐、精准推送</a:t>
            </a:r>
            <a:endParaRPr sz="1200" b="0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2" name="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13</a:t>
            </a:r>
            <a:endParaRPr sz="975" b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/>
          <p:cNvSpPr>
            <a:spLocks noGrp="1"/>
          </p:cNvSpPr>
          <p:nvPr/>
        </p:nvSpPr>
        <p:spPr>
          <a:xfrm>
            <a:off x="400050" y="742950"/>
            <a:ext cx="10572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1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315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数据流转贯穿项目创建到推荐服务的完整链路</a:t>
            </a:r>
            <a:endParaRPr sz="315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" name="title-rule"/>
          <p:cNvSpPr>
            <a:spLocks noGrp="1"/>
          </p:cNvSpPr>
          <p:nvPr/>
        </p:nvSpPr>
        <p:spPr>
          <a:xfrm>
            <a:off x="400050" y="15049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chain-a"/>
          <p:cNvSpPr>
            <a:spLocks noGrp="1"/>
          </p:cNvSpPr>
          <p:nvPr/>
        </p:nvSpPr>
        <p:spPr>
          <a:xfrm>
            <a:off x="647700" y="19621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1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业务实施链路</a:t>
            </a:r>
            <a:endParaRPr sz="1500" b="1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" name="chain-b"/>
          <p:cNvSpPr>
            <a:spLocks noGrp="1"/>
          </p:cNvSpPr>
          <p:nvPr/>
        </p:nvSpPr>
        <p:spPr>
          <a:xfrm>
            <a:off x="647700" y="39052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00" b="1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1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评价沉淀链路</a:t>
            </a:r>
            <a:endParaRPr sz="1500" b="1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6" name="data-top-0"/>
          <p:cNvSpPr>
            <a:spLocks noGrp="1"/>
          </p:cNvSpPr>
          <p:nvPr/>
        </p:nvSpPr>
        <p:spPr>
          <a:xfrm>
            <a:off x="666750" y="2400300"/>
            <a:ext cx="1695450" cy="838200"/>
          </a:xfrm>
          <a:prstGeom prst="roundRect">
            <a:avLst>
              <a:gd name="adj" fmla="val 6818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data-top-num-0"/>
          <p:cNvSpPr>
            <a:spLocks noGrp="1"/>
          </p:cNvSpPr>
          <p:nvPr/>
        </p:nvSpPr>
        <p:spPr>
          <a:xfrm>
            <a:off x="800100" y="25336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01</a:t>
            </a:r>
            <a:endParaRPr sz="1200" b="1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8" name="data-top-title-0"/>
          <p:cNvSpPr>
            <a:spLocks noGrp="1"/>
          </p:cNvSpPr>
          <p:nvPr/>
        </p:nvSpPr>
        <p:spPr>
          <a:xfrm>
            <a:off x="857250" y="28003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项目创建</a:t>
            </a:r>
            <a:endParaRPr sz="1575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3186" name="connector-line"/>
          <p:cNvCxnSpPr/>
          <p:nvPr/>
        </p:nvCxnSpPr>
        <p:spPr>
          <a:xfrm>
            <a:off x="2381250" y="2819400"/>
            <a:ext cx="438150" cy="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11" name="data-top-1"/>
          <p:cNvSpPr>
            <a:spLocks noGrp="1"/>
          </p:cNvSpPr>
          <p:nvPr/>
        </p:nvSpPr>
        <p:spPr>
          <a:xfrm>
            <a:off x="2933700" y="2400300"/>
            <a:ext cx="1695450" cy="838200"/>
          </a:xfrm>
          <a:prstGeom prst="roundRect">
            <a:avLst>
              <a:gd name="adj" fmla="val 6818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2" name="data-top-num-1"/>
          <p:cNvSpPr>
            <a:spLocks noGrp="1"/>
          </p:cNvSpPr>
          <p:nvPr/>
        </p:nvSpPr>
        <p:spPr>
          <a:xfrm>
            <a:off x="3067050" y="25336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02</a:t>
            </a:r>
            <a:endParaRPr sz="1200" b="1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3" name="data-top-title-1"/>
          <p:cNvSpPr>
            <a:spLocks noGrp="1"/>
          </p:cNvSpPr>
          <p:nvPr/>
        </p:nvSpPr>
        <p:spPr>
          <a:xfrm>
            <a:off x="3124200" y="28003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报名审核</a:t>
            </a:r>
            <a:endParaRPr sz="1575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3190" name="connector-line"/>
          <p:cNvCxnSpPr/>
          <p:nvPr/>
        </p:nvCxnSpPr>
        <p:spPr>
          <a:xfrm>
            <a:off x="4648200" y="2819400"/>
            <a:ext cx="438150" cy="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16" name="data-top-2"/>
          <p:cNvSpPr>
            <a:spLocks noGrp="1"/>
          </p:cNvSpPr>
          <p:nvPr/>
        </p:nvSpPr>
        <p:spPr>
          <a:xfrm>
            <a:off x="5200650" y="2400300"/>
            <a:ext cx="1695450" cy="838200"/>
          </a:xfrm>
          <a:prstGeom prst="roundRect">
            <a:avLst>
              <a:gd name="adj" fmla="val 6818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data-top-num-2"/>
          <p:cNvSpPr>
            <a:spLocks noGrp="1"/>
          </p:cNvSpPr>
          <p:nvPr/>
        </p:nvSpPr>
        <p:spPr>
          <a:xfrm>
            <a:off x="5334000" y="25336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03</a:t>
            </a:r>
            <a:endParaRPr sz="1200" b="1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8" name="data-top-title-2"/>
          <p:cNvSpPr>
            <a:spLocks noGrp="1"/>
          </p:cNvSpPr>
          <p:nvPr/>
        </p:nvSpPr>
        <p:spPr>
          <a:xfrm>
            <a:off x="5391150" y="28003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研修实施</a:t>
            </a:r>
            <a:endParaRPr sz="1575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3194" name="connector-line"/>
          <p:cNvCxnSpPr/>
          <p:nvPr/>
        </p:nvCxnSpPr>
        <p:spPr>
          <a:xfrm>
            <a:off x="6915150" y="2819400"/>
            <a:ext cx="438150" cy="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21" name="data-top-3"/>
          <p:cNvSpPr>
            <a:spLocks noGrp="1"/>
          </p:cNvSpPr>
          <p:nvPr/>
        </p:nvSpPr>
        <p:spPr>
          <a:xfrm>
            <a:off x="7467600" y="2400300"/>
            <a:ext cx="1695450" cy="838200"/>
          </a:xfrm>
          <a:prstGeom prst="roundRect">
            <a:avLst>
              <a:gd name="adj" fmla="val 6818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2" name="data-top-num-3"/>
          <p:cNvSpPr>
            <a:spLocks noGrp="1"/>
          </p:cNvSpPr>
          <p:nvPr/>
        </p:nvSpPr>
        <p:spPr>
          <a:xfrm>
            <a:off x="7600950" y="25336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04</a:t>
            </a:r>
            <a:endParaRPr sz="1200" b="1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3" name="data-top-title-3"/>
          <p:cNvSpPr>
            <a:spLocks noGrp="1"/>
          </p:cNvSpPr>
          <p:nvPr/>
        </p:nvSpPr>
        <p:spPr>
          <a:xfrm>
            <a:off x="7658100" y="28003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过程采集</a:t>
            </a:r>
            <a:endParaRPr sz="1575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3198" name="connector-line"/>
          <p:cNvCxnSpPr/>
          <p:nvPr/>
        </p:nvCxnSpPr>
        <p:spPr>
          <a:xfrm>
            <a:off x="9182100" y="2819400"/>
            <a:ext cx="438150" cy="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26" name="data-top-4"/>
          <p:cNvSpPr>
            <a:spLocks noGrp="1"/>
          </p:cNvSpPr>
          <p:nvPr/>
        </p:nvSpPr>
        <p:spPr>
          <a:xfrm>
            <a:off x="9734550" y="2400300"/>
            <a:ext cx="1695450" cy="838200"/>
          </a:xfrm>
          <a:prstGeom prst="roundRect">
            <a:avLst>
              <a:gd name="adj" fmla="val 6818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7" name="data-top-num-4"/>
          <p:cNvSpPr>
            <a:spLocks noGrp="1"/>
          </p:cNvSpPr>
          <p:nvPr/>
        </p:nvSpPr>
        <p:spPr>
          <a:xfrm>
            <a:off x="9867900" y="25336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05</a:t>
            </a:r>
            <a:endParaRPr sz="1200" b="1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8" name="data-top-title-4"/>
          <p:cNvSpPr>
            <a:spLocks noGrp="1"/>
          </p:cNvSpPr>
          <p:nvPr/>
        </p:nvSpPr>
        <p:spPr>
          <a:xfrm>
            <a:off x="9925050" y="28003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成果归集</a:t>
            </a:r>
            <a:endParaRPr sz="1575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3202" name="connector-line"/>
          <p:cNvCxnSpPr/>
          <p:nvPr/>
        </p:nvCxnSpPr>
        <p:spPr>
          <a:xfrm>
            <a:off x="6096000" y="3443605"/>
            <a:ext cx="0" cy="419100"/>
          </a:xfrm>
          <a:prstGeom prst="straightConnector1">
            <a:avLst/>
          </a:prstGeom>
          <a:ln w="28575">
            <a:solidFill>
              <a:srgbClr val="3D8DFF"/>
            </a:solidFill>
            <a:prstDash val="solid"/>
          </a:ln>
        </p:spPr>
      </p:cxnSp>
      <p:sp>
        <p:nvSpPr>
          <p:cNvPr id="30" name="arrow-head"/>
          <p:cNvSpPr>
            <a:spLocks noGrp="1"/>
          </p:cNvSpPr>
          <p:nvPr/>
        </p:nvSpPr>
        <p:spPr>
          <a:xfrm rot="10800000">
            <a:off x="5981700" y="3767455"/>
            <a:ext cx="228600" cy="190500"/>
          </a:xfrm>
          <a:prstGeom prst="triangle">
            <a:avLst/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31" name="handoff"/>
          <p:cNvSpPr>
            <a:spLocks noGrp="1"/>
          </p:cNvSpPr>
          <p:nvPr/>
        </p:nvSpPr>
        <p:spPr>
          <a:xfrm>
            <a:off x="5807710" y="3573145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0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进入评价链路</a:t>
            </a:r>
            <a:endParaRPr sz="150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2" name="data-bottom-0"/>
          <p:cNvSpPr>
            <a:spLocks noGrp="1"/>
          </p:cNvSpPr>
          <p:nvPr/>
        </p:nvSpPr>
        <p:spPr>
          <a:xfrm>
            <a:off x="666750" y="4343400"/>
            <a:ext cx="1695450" cy="838200"/>
          </a:xfrm>
          <a:prstGeom prst="roundRect">
            <a:avLst>
              <a:gd name="adj" fmla="val 6818"/>
            </a:avLst>
          </a:prstGeom>
          <a:solidFill>
            <a:srgbClr val="EAF5FB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33" name="data-bottom-num-0"/>
          <p:cNvSpPr>
            <a:spLocks noGrp="1"/>
          </p:cNvSpPr>
          <p:nvPr/>
        </p:nvSpPr>
        <p:spPr>
          <a:xfrm>
            <a:off x="800100" y="44767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06</a:t>
            </a:r>
            <a:endParaRPr sz="120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4" name="data-bottom-title-0"/>
          <p:cNvSpPr>
            <a:spLocks noGrp="1"/>
          </p:cNvSpPr>
          <p:nvPr/>
        </p:nvSpPr>
        <p:spPr>
          <a:xfrm>
            <a:off x="857250" y="4686300"/>
            <a:ext cx="1314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8485"/>
          </a:bodyPr>
          <a:lstStyle/>
          <a:p>
            <a:pPr algn="ctr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系统初评</a:t>
            </a:r>
            <a:endParaRPr sz="16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cxnSp>
        <p:nvCxnSpPr>
          <p:cNvPr id="3208" name="connector-line"/>
          <p:cNvCxnSpPr/>
          <p:nvPr/>
        </p:nvCxnSpPr>
        <p:spPr>
          <a:xfrm>
            <a:off x="2381250" y="4762500"/>
            <a:ext cx="438150" cy="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37" name="data-bottom-1"/>
          <p:cNvSpPr>
            <a:spLocks noGrp="1"/>
          </p:cNvSpPr>
          <p:nvPr/>
        </p:nvSpPr>
        <p:spPr>
          <a:xfrm>
            <a:off x="2933700" y="4343400"/>
            <a:ext cx="1695450" cy="838200"/>
          </a:xfrm>
          <a:prstGeom prst="roundRect">
            <a:avLst>
              <a:gd name="adj" fmla="val 6818"/>
            </a:avLst>
          </a:prstGeom>
          <a:solidFill>
            <a:srgbClr val="EAF5FB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38" name="data-bottom-num-1"/>
          <p:cNvSpPr>
            <a:spLocks noGrp="1"/>
          </p:cNvSpPr>
          <p:nvPr/>
        </p:nvSpPr>
        <p:spPr>
          <a:xfrm>
            <a:off x="3067050" y="44767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07</a:t>
            </a:r>
            <a:endParaRPr sz="120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39" name="data-bottom-title-1"/>
          <p:cNvSpPr>
            <a:spLocks noGrp="1"/>
          </p:cNvSpPr>
          <p:nvPr/>
        </p:nvSpPr>
        <p:spPr>
          <a:xfrm>
            <a:off x="3124200" y="4686300"/>
            <a:ext cx="13144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8485"/>
          </a:bodyPr>
          <a:lstStyle/>
          <a:p>
            <a:pPr algn="ctr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专家复核</a:t>
            </a:r>
            <a:endParaRPr sz="16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cxnSp>
        <p:nvCxnSpPr>
          <p:cNvPr id="3212" name="connector-line"/>
          <p:cNvCxnSpPr/>
          <p:nvPr/>
        </p:nvCxnSpPr>
        <p:spPr>
          <a:xfrm>
            <a:off x="4648200" y="4762500"/>
            <a:ext cx="438150" cy="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42" name="data-bottom-2"/>
          <p:cNvSpPr>
            <a:spLocks noGrp="1"/>
          </p:cNvSpPr>
          <p:nvPr/>
        </p:nvSpPr>
        <p:spPr>
          <a:xfrm>
            <a:off x="5200650" y="4343400"/>
            <a:ext cx="1695450" cy="838200"/>
          </a:xfrm>
          <a:prstGeom prst="roundRect">
            <a:avLst>
              <a:gd name="adj" fmla="val 6818"/>
            </a:avLst>
          </a:prstGeom>
          <a:solidFill>
            <a:srgbClr val="EAF5FB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43" name="data-bottom-num-2"/>
          <p:cNvSpPr>
            <a:spLocks noGrp="1"/>
          </p:cNvSpPr>
          <p:nvPr/>
        </p:nvSpPr>
        <p:spPr>
          <a:xfrm>
            <a:off x="5334000" y="44767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08</a:t>
            </a:r>
            <a:endParaRPr sz="120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4" name="data-bottom-title-2"/>
          <p:cNvSpPr>
            <a:spLocks noGrp="1"/>
          </p:cNvSpPr>
          <p:nvPr/>
        </p:nvSpPr>
        <p:spPr>
          <a:xfrm>
            <a:off x="5391150" y="47434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综合分析</a:t>
            </a:r>
            <a:endParaRPr sz="1575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3216" name="connector-line"/>
          <p:cNvCxnSpPr/>
          <p:nvPr/>
        </p:nvCxnSpPr>
        <p:spPr>
          <a:xfrm>
            <a:off x="6915150" y="4762500"/>
            <a:ext cx="438150" cy="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47" name="data-bottom-3"/>
          <p:cNvSpPr>
            <a:spLocks noGrp="1"/>
          </p:cNvSpPr>
          <p:nvPr/>
        </p:nvSpPr>
        <p:spPr>
          <a:xfrm>
            <a:off x="7467600" y="4343400"/>
            <a:ext cx="1695450" cy="838200"/>
          </a:xfrm>
          <a:prstGeom prst="roundRect">
            <a:avLst>
              <a:gd name="adj" fmla="val 6818"/>
            </a:avLst>
          </a:prstGeom>
          <a:solidFill>
            <a:srgbClr val="EAF5FB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48" name="data-bottom-num-3"/>
          <p:cNvSpPr>
            <a:spLocks noGrp="1"/>
          </p:cNvSpPr>
          <p:nvPr/>
        </p:nvSpPr>
        <p:spPr>
          <a:xfrm>
            <a:off x="7600950" y="44767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09</a:t>
            </a:r>
            <a:endParaRPr sz="120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49" name="data-bottom-title-3"/>
          <p:cNvSpPr>
            <a:spLocks noGrp="1"/>
          </p:cNvSpPr>
          <p:nvPr/>
        </p:nvSpPr>
        <p:spPr>
          <a:xfrm>
            <a:off x="7658100" y="47434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档案沉淀</a:t>
            </a:r>
            <a:endParaRPr sz="1575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3220" name="connector-line"/>
          <p:cNvCxnSpPr/>
          <p:nvPr/>
        </p:nvCxnSpPr>
        <p:spPr>
          <a:xfrm>
            <a:off x="9182100" y="4762500"/>
            <a:ext cx="438150" cy="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52" name="data-bottom-4"/>
          <p:cNvSpPr>
            <a:spLocks noGrp="1"/>
          </p:cNvSpPr>
          <p:nvPr/>
        </p:nvSpPr>
        <p:spPr>
          <a:xfrm>
            <a:off x="9734550" y="4343400"/>
            <a:ext cx="1695450" cy="838200"/>
          </a:xfrm>
          <a:prstGeom prst="roundRect">
            <a:avLst>
              <a:gd name="adj" fmla="val 6818"/>
            </a:avLst>
          </a:prstGeom>
          <a:solidFill>
            <a:srgbClr val="EAF5FB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53" name="data-bottom-num-4"/>
          <p:cNvSpPr>
            <a:spLocks noGrp="1"/>
          </p:cNvSpPr>
          <p:nvPr/>
        </p:nvSpPr>
        <p:spPr>
          <a:xfrm>
            <a:off x="9867900" y="44767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200" b="1">
                <a:solidFill>
                  <a:srgbClr val="3D8DFF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10</a:t>
            </a:r>
            <a:endParaRPr sz="1200" b="1">
              <a:solidFill>
                <a:srgbClr val="3D8DFF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4" name="data-bottom-title-4"/>
          <p:cNvSpPr>
            <a:spLocks noGrp="1"/>
          </p:cNvSpPr>
          <p:nvPr/>
        </p:nvSpPr>
        <p:spPr>
          <a:xfrm>
            <a:off x="9925050" y="4743450"/>
            <a:ext cx="1314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画像推荐</a:t>
            </a:r>
            <a:endParaRPr sz="1575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55" name="note"/>
          <p:cNvSpPr>
            <a:spLocks noGrp="1"/>
          </p:cNvSpPr>
          <p:nvPr/>
        </p:nvSpPr>
        <p:spPr>
          <a:xfrm>
            <a:off x="1123950" y="5829300"/>
            <a:ext cx="990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75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重点：系统先按模型生成初评，专家基于证据复核确认，再进入综合分析和档案沉淀，保证评价可追溯。</a:t>
            </a:r>
            <a:endParaRPr sz="1575" b="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6" name="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14</a:t>
            </a:r>
            <a:endParaRPr sz="975" b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arrow"/>
          <p:cNvSpPr>
            <a:spLocks noGrp="1"/>
          </p:cNvSpPr>
          <p:nvPr/>
        </p:nvSpPr>
        <p:spPr>
          <a:xfrm rot="5400000">
            <a:off x="2715895" y="2707005"/>
            <a:ext cx="215900" cy="219710"/>
          </a:xfrm>
          <a:prstGeom prst="triangle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arrow"/>
          <p:cNvSpPr>
            <a:spLocks noGrp="1"/>
          </p:cNvSpPr>
          <p:nvPr/>
        </p:nvSpPr>
        <p:spPr>
          <a:xfrm rot="5400000">
            <a:off x="4982845" y="2707005"/>
            <a:ext cx="215900" cy="219710"/>
          </a:xfrm>
          <a:prstGeom prst="triangle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4" name="arrow"/>
          <p:cNvSpPr>
            <a:spLocks noGrp="1"/>
          </p:cNvSpPr>
          <p:nvPr/>
        </p:nvSpPr>
        <p:spPr>
          <a:xfrm rot="5400000">
            <a:off x="7249795" y="2707005"/>
            <a:ext cx="215900" cy="219710"/>
          </a:xfrm>
          <a:prstGeom prst="triangle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4" name="arrow"/>
          <p:cNvSpPr>
            <a:spLocks noGrp="1"/>
          </p:cNvSpPr>
          <p:nvPr/>
        </p:nvSpPr>
        <p:spPr>
          <a:xfrm rot="5400000">
            <a:off x="9554210" y="2707005"/>
            <a:ext cx="215900" cy="219710"/>
          </a:xfrm>
          <a:prstGeom prst="triangle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9" name="arrow"/>
          <p:cNvSpPr>
            <a:spLocks noGrp="1"/>
          </p:cNvSpPr>
          <p:nvPr/>
        </p:nvSpPr>
        <p:spPr>
          <a:xfrm rot="5400000">
            <a:off x="2715895" y="4651375"/>
            <a:ext cx="215900" cy="219710"/>
          </a:xfrm>
          <a:prstGeom prst="triangle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5" name="arrow"/>
          <p:cNvSpPr>
            <a:spLocks noGrp="1"/>
          </p:cNvSpPr>
          <p:nvPr/>
        </p:nvSpPr>
        <p:spPr>
          <a:xfrm rot="5400000">
            <a:off x="5017770" y="4651375"/>
            <a:ext cx="215900" cy="219710"/>
          </a:xfrm>
          <a:prstGeom prst="triangle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0" name="arrow"/>
          <p:cNvSpPr>
            <a:spLocks noGrp="1"/>
          </p:cNvSpPr>
          <p:nvPr/>
        </p:nvSpPr>
        <p:spPr>
          <a:xfrm rot="5400000">
            <a:off x="7249795" y="4651375"/>
            <a:ext cx="215900" cy="219710"/>
          </a:xfrm>
          <a:prstGeom prst="triangle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45" name="arrow"/>
          <p:cNvSpPr>
            <a:spLocks noGrp="1"/>
          </p:cNvSpPr>
          <p:nvPr/>
        </p:nvSpPr>
        <p:spPr>
          <a:xfrm rot="5400000">
            <a:off x="9516745" y="4651375"/>
            <a:ext cx="215900" cy="219710"/>
          </a:xfrm>
          <a:prstGeom prst="triangle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24" name="data-bottom-desc-0"/>
          <p:cNvSpPr>
            <a:spLocks noGrp="1"/>
          </p:cNvSpPr>
          <p:nvPr/>
        </p:nvSpPr>
        <p:spPr>
          <a:xfrm>
            <a:off x="819150" y="4953000"/>
            <a:ext cx="1390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2222"/>
          </a:bodyPr>
          <a:lstStyle/>
          <a:p>
            <a:pPr algn="ctr">
              <a:buNone/>
              <a:defRPr sz="90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按指标自动生成初评</a:t>
            </a:r>
            <a:endParaRPr sz="90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025" name="data-bottom-desc-1"/>
          <p:cNvSpPr>
            <a:spLocks noGrp="1"/>
          </p:cNvSpPr>
          <p:nvPr/>
        </p:nvSpPr>
        <p:spPr>
          <a:xfrm>
            <a:off x="3086100" y="4953000"/>
            <a:ext cx="1390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2222"/>
          </a:bodyPr>
          <a:lstStyle/>
          <a:p>
            <a:pPr algn="ctr">
              <a:buNone/>
              <a:defRPr sz="90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9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基于证据复核确认</a:t>
            </a:r>
            <a:endParaRPr sz="90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-title"/>
          <p:cNvSpPr>
            <a:spLocks noGrp="1"/>
          </p:cNvSpPr>
          <p:nvPr/>
        </p:nvSpPr>
        <p:spPr>
          <a:xfrm>
            <a:off x="400050" y="742950"/>
            <a:ext cx="10572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3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分阶段建设，先形成业务闭环，再持续优化</a:t>
            </a:r>
            <a:endParaRPr sz="33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title-rule"/>
          <p:cNvSpPr>
            <a:spLocks noGrp="1"/>
          </p:cNvSpPr>
          <p:nvPr/>
        </p:nvSpPr>
        <p:spPr>
          <a:xfrm>
            <a:off x="400050" y="1504950"/>
            <a:ext cx="11391900" cy="1143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cxnSp>
        <p:nvCxnSpPr>
          <p:cNvPr id="1348" name="connector-line"/>
          <p:cNvCxnSpPr/>
          <p:nvPr/>
        </p:nvCxnSpPr>
        <p:spPr>
          <a:xfrm>
            <a:off x="666750" y="3257550"/>
            <a:ext cx="2114550" cy="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5" name="phase-dot-0"/>
          <p:cNvSpPr>
            <a:spLocks noGrp="1"/>
          </p:cNvSpPr>
          <p:nvPr/>
        </p:nvSpPr>
        <p:spPr>
          <a:xfrm>
            <a:off x="609600" y="3181350"/>
            <a:ext cx="171450" cy="17145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6" name="phase-label-0"/>
          <p:cNvSpPr>
            <a:spLocks noGrp="1"/>
          </p:cNvSpPr>
          <p:nvPr/>
        </p:nvSpPr>
        <p:spPr>
          <a:xfrm>
            <a:off x="571500" y="27432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1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第一阶段</a:t>
            </a:r>
            <a:endParaRPr sz="1350" b="1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7" name="phase-title-0"/>
          <p:cNvSpPr>
            <a:spLocks noGrp="1"/>
          </p:cNvSpPr>
          <p:nvPr/>
        </p:nvSpPr>
        <p:spPr>
          <a:xfrm>
            <a:off x="571500" y="3562350"/>
            <a:ext cx="171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基础平台与培训管理</a:t>
            </a:r>
            <a:endParaRPr sz="1575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1352" name="connector-line"/>
          <p:cNvCxnSpPr/>
          <p:nvPr/>
        </p:nvCxnSpPr>
        <p:spPr>
          <a:xfrm>
            <a:off x="2876550" y="3257550"/>
            <a:ext cx="2114550" cy="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10" name="phase-label-1"/>
          <p:cNvSpPr>
            <a:spLocks noGrp="1"/>
          </p:cNvSpPr>
          <p:nvPr/>
        </p:nvSpPr>
        <p:spPr>
          <a:xfrm>
            <a:off x="2781300" y="27432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1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第二阶段</a:t>
            </a:r>
            <a:endParaRPr sz="1350" b="1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1" name="phase-title-1"/>
          <p:cNvSpPr>
            <a:spLocks noGrp="1"/>
          </p:cNvSpPr>
          <p:nvPr/>
        </p:nvSpPr>
        <p:spPr>
          <a:xfrm>
            <a:off x="2781300" y="3562350"/>
            <a:ext cx="171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研修活动与网络研修</a:t>
            </a:r>
            <a:endParaRPr sz="1575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1355" name="connector-line"/>
          <p:cNvCxnSpPr/>
          <p:nvPr/>
        </p:nvCxnSpPr>
        <p:spPr>
          <a:xfrm>
            <a:off x="5086350" y="3257550"/>
            <a:ext cx="2114550" cy="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13" name="phase-dot-2"/>
          <p:cNvSpPr>
            <a:spLocks noGrp="1"/>
          </p:cNvSpPr>
          <p:nvPr/>
        </p:nvSpPr>
        <p:spPr>
          <a:xfrm>
            <a:off x="2781300" y="3180715"/>
            <a:ext cx="171450" cy="17145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  <p:sp>
        <p:nvSpPr>
          <p:cNvPr id="14" name="phase-label-2"/>
          <p:cNvSpPr>
            <a:spLocks noGrp="1"/>
          </p:cNvSpPr>
          <p:nvPr/>
        </p:nvSpPr>
        <p:spPr>
          <a:xfrm>
            <a:off x="4991100" y="27432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1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第三阶段</a:t>
            </a:r>
            <a:endParaRPr sz="1350" b="1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5" name="phase-title-2"/>
          <p:cNvSpPr>
            <a:spLocks noGrp="1"/>
          </p:cNvSpPr>
          <p:nvPr/>
        </p:nvSpPr>
        <p:spPr>
          <a:xfrm>
            <a:off x="4991100" y="3562350"/>
            <a:ext cx="171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数据归集与培训评估</a:t>
            </a:r>
            <a:endParaRPr sz="1575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1359" name="connector-line"/>
          <p:cNvCxnSpPr/>
          <p:nvPr/>
        </p:nvCxnSpPr>
        <p:spPr>
          <a:xfrm>
            <a:off x="7296150" y="3257550"/>
            <a:ext cx="2114550" cy="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17" name="phase-dot-3"/>
          <p:cNvSpPr>
            <a:spLocks noGrp="1"/>
          </p:cNvSpPr>
          <p:nvPr/>
        </p:nvSpPr>
        <p:spPr>
          <a:xfrm>
            <a:off x="7239000" y="3181350"/>
            <a:ext cx="171450" cy="17145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8" name="phase-label-3"/>
          <p:cNvSpPr>
            <a:spLocks noGrp="1"/>
          </p:cNvSpPr>
          <p:nvPr/>
        </p:nvSpPr>
        <p:spPr>
          <a:xfrm>
            <a:off x="7200900" y="27432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1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第四阶段</a:t>
            </a:r>
            <a:endParaRPr sz="1350" b="1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19" name="phase-title-3"/>
          <p:cNvSpPr>
            <a:spLocks noGrp="1"/>
          </p:cNvSpPr>
          <p:nvPr/>
        </p:nvSpPr>
        <p:spPr>
          <a:xfrm>
            <a:off x="7200900" y="3562350"/>
            <a:ext cx="171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教师档案与推荐服务</a:t>
            </a:r>
            <a:endParaRPr sz="1575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cxnSp>
        <p:nvCxnSpPr>
          <p:cNvPr id="1363" name="connector-line"/>
          <p:cNvCxnSpPr/>
          <p:nvPr/>
        </p:nvCxnSpPr>
        <p:spPr>
          <a:xfrm>
            <a:off x="9505950" y="3257550"/>
            <a:ext cx="2114550" cy="0"/>
          </a:xfrm>
          <a:prstGeom prst="straightConnector1">
            <a:avLst/>
          </a:prstGeom>
          <a:ln w="19050">
            <a:solidFill>
              <a:srgbClr val="B8BCC4"/>
            </a:solidFill>
            <a:prstDash val="solid"/>
          </a:ln>
        </p:spPr>
      </p:cxnSp>
      <p:sp>
        <p:nvSpPr>
          <p:cNvPr id="21" name="phase-dot-4"/>
          <p:cNvSpPr>
            <a:spLocks noGrp="1"/>
          </p:cNvSpPr>
          <p:nvPr/>
        </p:nvSpPr>
        <p:spPr>
          <a:xfrm>
            <a:off x="9448800" y="3181350"/>
            <a:ext cx="171450" cy="17145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2" name="phase-label-4"/>
          <p:cNvSpPr>
            <a:spLocks noGrp="1"/>
          </p:cNvSpPr>
          <p:nvPr/>
        </p:nvSpPr>
        <p:spPr>
          <a:xfrm>
            <a:off x="9410700" y="2743200"/>
            <a:ext cx="1238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350" b="1">
                <a:solidFill>
                  <a:srgbClr val="5B6472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第五阶段</a:t>
            </a:r>
            <a:endParaRPr sz="1350" b="1">
              <a:solidFill>
                <a:srgbClr val="5B6472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3" name="phase-title-4"/>
          <p:cNvSpPr>
            <a:spLocks noGrp="1"/>
          </p:cNvSpPr>
          <p:nvPr/>
        </p:nvSpPr>
        <p:spPr>
          <a:xfrm>
            <a:off x="9410700" y="3562350"/>
            <a:ext cx="1714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1575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试点运行与持续优化</a:t>
            </a:r>
            <a:endParaRPr sz="1575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4" name="outcomes"/>
          <p:cNvSpPr>
            <a:spLocks noGrp="1"/>
          </p:cNvSpPr>
          <p:nvPr/>
        </p:nvSpPr>
        <p:spPr>
          <a:xfrm>
            <a:off x="857250" y="4838700"/>
            <a:ext cx="10477500" cy="800100"/>
          </a:xfrm>
          <a:prstGeom prst="roundRect">
            <a:avLst>
              <a:gd name="adj" fmla="val 7143"/>
            </a:avLst>
          </a:prstGeom>
          <a:solidFill>
            <a:srgbClr val="EAF5FB"/>
          </a:solidFill>
          <a:ln w="9525">
            <a:solidFill>
              <a:srgbClr val="3D8DFF"/>
            </a:solidFill>
            <a:prstDash val="solid"/>
          </a:ln>
        </p:spPr>
      </p:sp>
      <p:sp>
        <p:nvSpPr>
          <p:cNvPr id="25" name="outcomes-text"/>
          <p:cNvSpPr>
            <a:spLocks noGrp="1"/>
          </p:cNvSpPr>
          <p:nvPr/>
        </p:nvSpPr>
        <p:spPr>
          <a:xfrm>
            <a:off x="1219200" y="5086350"/>
            <a:ext cx="971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498"/>
          </a:bodyPr>
          <a:lstStyle/>
          <a:p>
            <a:pPr algn="ctr">
              <a:buNone/>
              <a:defRPr sz="21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defRPr>
            </a:pPr>
            <a:r>
              <a:rPr sz="2100" b="1">
                <a:solidFill>
                  <a:srgbClr val="000000"/>
                </a:solidFill>
                <a:latin typeface="Helvetica Neue" panose="02000503000000020004"/>
                <a:ea typeface="Helvetica Neue" panose="02000503000000020004"/>
                <a:cs typeface="Helvetica Neue" panose="02000503000000020004"/>
              </a:rPr>
              <a:t>预期成效：培训管理统一、过程透明、评价科学、档案完整、推荐精准、决策有据。</a:t>
            </a:r>
            <a:endParaRPr sz="2100" b="1">
              <a:solidFill>
                <a:srgbClr val="000000"/>
              </a:solidFill>
              <a:latin typeface="Helvetica Neue" panose="02000503000000020004"/>
              <a:ea typeface="Helvetica Neue" panose="02000503000000020004"/>
              <a:cs typeface="Helvetica Neue" panose="02000503000000020004"/>
            </a:endParaRPr>
          </a:p>
        </p:txBody>
      </p:sp>
      <p:sp>
        <p:nvSpPr>
          <p:cNvPr id="26" name="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15</a:t>
            </a:r>
            <a:endParaRPr sz="975" b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phase-dot-2"/>
          <p:cNvSpPr>
            <a:spLocks noGrp="1"/>
          </p:cNvSpPr>
          <p:nvPr/>
        </p:nvSpPr>
        <p:spPr>
          <a:xfrm>
            <a:off x="4993640" y="3185160"/>
            <a:ext cx="171450" cy="171450"/>
          </a:xfrm>
          <a:prstGeom prst="ellipse">
            <a:avLst/>
          </a:prstGeom>
          <a:solidFill>
            <a:srgbClr val="3D8DFF"/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part"/>
          <p:cNvSpPr>
            <a:spLocks noGrp="1"/>
          </p:cNvSpPr>
          <p:nvPr/>
        </p:nvSpPr>
        <p:spPr>
          <a:xfrm>
            <a:off x="552450" y="781050"/>
            <a:ext cx="285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E97132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E97132"/>
                </a:solidFill>
                <a:latin typeface="PingFang SC"/>
                <a:ea typeface="PingFang SC"/>
                <a:cs typeface="PingFang SC"/>
              </a:rPr>
              <a:t>Part 02</a:t>
            </a:r>
            <a:endParaRPr sz="1800" b="1">
              <a:solidFill>
                <a:srgbClr val="E9713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" name="section-title"/>
          <p:cNvSpPr>
            <a:spLocks noGrp="1"/>
          </p:cNvSpPr>
          <p:nvPr/>
        </p:nvSpPr>
        <p:spPr>
          <a:xfrm>
            <a:off x="552450" y="1695450"/>
            <a:ext cx="8096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AI 原生底座赋能方案</a:t>
            </a:r>
            <a:endParaRPr sz="435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section-subtitle"/>
          <p:cNvSpPr>
            <a:spLocks noGrp="1"/>
          </p:cNvSpPr>
          <p:nvPr/>
        </p:nvSpPr>
        <p:spPr>
          <a:xfrm>
            <a:off x="590550" y="2952750"/>
            <a:ext cx="7810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950" b="0">
                <a:solidFill>
                  <a:srgbClr val="D1D5D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D1D5DB"/>
                </a:solidFill>
                <a:latin typeface="PingFang SC"/>
                <a:ea typeface="PingFang SC"/>
                <a:cs typeface="PingFang SC"/>
              </a:rPr>
              <a:t>以AI 原生底座为横向能力层，让培训平台天然具备智能体、知识资产、空间协同和算力运营能力。</a:t>
            </a:r>
            <a:endParaRPr sz="1950" b="0">
              <a:solidFill>
                <a:srgbClr val="D1D5DB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section-line"/>
          <p:cNvSpPr>
            <a:spLocks noGrp="1"/>
          </p:cNvSpPr>
          <p:nvPr/>
        </p:nvSpPr>
        <p:spPr>
          <a:xfrm>
            <a:off x="590550" y="4629150"/>
            <a:ext cx="6000750" cy="190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5" name="keywords"/>
          <p:cNvSpPr>
            <a:spLocks noGrp="1"/>
          </p:cNvSpPr>
          <p:nvPr/>
        </p:nvSpPr>
        <p:spPr>
          <a:xfrm>
            <a:off x="590550" y="4991100"/>
            <a:ext cx="7429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Lucky / 资料库 / 空间 / 场景模板 / 模型统计</a:t>
            </a:r>
            <a:endParaRPr sz="165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global-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16</a:t>
            </a:r>
            <a:endParaRPr sz="975" b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00050" y="78105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AI 原生底座让业务模块天然具备智能能力</a:t>
            </a:r>
            <a:endParaRPr sz="28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400050" y="1676400"/>
            <a:ext cx="11391900" cy="0"/>
          </a:xfrm>
          <a:prstGeom prst="line">
            <a:avLst/>
          </a:prstGeom>
          <a:noFill/>
          <a:ln w="11430">
            <a:solidFill>
              <a:srgbClr val="C9CED8"/>
            </a:solidFill>
            <a:prstDash val="solid"/>
          </a:ln>
        </p:spPr>
      </p:sp>
      <p:sp>
        <p:nvSpPr>
          <p:cNvPr id="4" name="judgement-band"/>
          <p:cNvSpPr>
            <a:spLocks noGrp="1"/>
          </p:cNvSpPr>
          <p:nvPr/>
        </p:nvSpPr>
        <p:spPr>
          <a:xfrm>
            <a:off x="742950" y="1981200"/>
            <a:ext cx="10706100" cy="609600"/>
          </a:xfrm>
          <a:prstGeom prst="roundRect">
            <a:avLst>
              <a:gd name="adj" fmla="val 9375"/>
            </a:avLst>
          </a:prstGeom>
          <a:solidFill>
            <a:srgbClr val="EAF5FB"/>
          </a:solidFill>
          <a:ln w="11430">
            <a:solidFill>
              <a:srgbClr val="A7D4FF"/>
            </a:solidFill>
            <a:prstDash val="solid"/>
          </a:ln>
        </p:spPr>
      </p:sp>
      <p:sp>
        <p:nvSpPr>
          <p:cNvPr id="5" name="judgement-label"/>
          <p:cNvSpPr>
            <a:spLocks noGrp="1"/>
          </p:cNvSpPr>
          <p:nvPr/>
        </p:nvSpPr>
        <p:spPr>
          <a:xfrm>
            <a:off x="990600" y="2152650"/>
            <a:ext cx="1066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6667"/>
          </a:bodyPr>
          <a:lstStyle/>
          <a:p>
            <a:pPr algn="ctr">
              <a:buNone/>
              <a:defRPr sz="1500" b="1">
                <a:solidFill>
                  <a:srgbClr val="0F5CC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F5CC7"/>
                </a:solidFill>
                <a:latin typeface="PingFang SC"/>
                <a:ea typeface="PingFang SC"/>
                <a:cs typeface="PingFang SC"/>
              </a:rPr>
              <a:t>核心判断</a:t>
            </a:r>
            <a:endParaRPr sz="1500" b="1">
              <a:solidFill>
                <a:srgbClr val="0F5CC7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judgement-text"/>
          <p:cNvSpPr>
            <a:spLocks noGrp="1"/>
          </p:cNvSpPr>
          <p:nvPr/>
        </p:nvSpPr>
        <p:spPr>
          <a:xfrm>
            <a:off x="2209800" y="2076450"/>
            <a:ext cx="8763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7771"/>
          </a:bodyPr>
          <a:lstStyle/>
          <a:p>
            <a:pPr algn="l">
              <a:buNone/>
              <a:defRPr sz="142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42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培训平台不是传统系统加 AI，而是让 AI 作为资料沉淀、空间协同、角色赋能、流程推进、内容生成、评价分析和推荐服务的默认能力。</a:t>
            </a:r>
            <a:endParaRPr sz="1425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flow-arrow-1"/>
          <p:cNvSpPr>
            <a:spLocks noGrp="1"/>
          </p:cNvSpPr>
          <p:nvPr/>
        </p:nvSpPr>
        <p:spPr>
          <a:xfrm>
            <a:off x="2999105" y="3219450"/>
            <a:ext cx="457200" cy="228600"/>
          </a:xfrm>
          <a:prstGeom prst="rightArrow">
            <a:avLst/>
          </a:prstGeom>
          <a:solidFill>
            <a:srgbClr val="B7BDC8"/>
          </a:solidFill>
          <a:ln w="0">
            <a:solidFill>
              <a:srgbClr val="B7BDC8"/>
            </a:solidFill>
            <a:prstDash val="solid"/>
          </a:ln>
        </p:spPr>
      </p:sp>
      <p:sp>
        <p:nvSpPr>
          <p:cNvPr id="8" name="flow-arrow-2"/>
          <p:cNvSpPr>
            <a:spLocks noGrp="1"/>
          </p:cNvSpPr>
          <p:nvPr/>
        </p:nvSpPr>
        <p:spPr>
          <a:xfrm>
            <a:off x="5739130" y="3213100"/>
            <a:ext cx="457200" cy="228600"/>
          </a:xfrm>
          <a:prstGeom prst="rightArrow">
            <a:avLst/>
          </a:prstGeom>
          <a:solidFill>
            <a:srgbClr val="B7BDC8"/>
          </a:solidFill>
          <a:ln w="0">
            <a:solidFill>
              <a:srgbClr val="B7BDC8"/>
            </a:solidFill>
            <a:prstDash val="solid"/>
          </a:ln>
        </p:spPr>
      </p:sp>
      <p:sp>
        <p:nvSpPr>
          <p:cNvPr id="9" name="flow-arrow-3"/>
          <p:cNvSpPr>
            <a:spLocks noGrp="1"/>
          </p:cNvSpPr>
          <p:nvPr/>
        </p:nvSpPr>
        <p:spPr>
          <a:xfrm>
            <a:off x="8519160" y="3213100"/>
            <a:ext cx="457200" cy="228600"/>
          </a:xfrm>
          <a:prstGeom prst="rightArrow">
            <a:avLst/>
          </a:prstGeom>
          <a:solidFill>
            <a:srgbClr val="B7BDC8"/>
          </a:solidFill>
          <a:ln w="0">
            <a:solidFill>
              <a:srgbClr val="B7BDC8"/>
            </a:solidFill>
            <a:prstDash val="solid"/>
          </a:ln>
        </p:spPr>
      </p:sp>
      <p:sp>
        <p:nvSpPr>
          <p:cNvPr id="10" name="flow-business"/>
          <p:cNvSpPr>
            <a:spLocks noGrp="1"/>
          </p:cNvSpPr>
          <p:nvPr/>
        </p:nvSpPr>
        <p:spPr>
          <a:xfrm>
            <a:off x="742950" y="3028950"/>
            <a:ext cx="2190750" cy="6096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1430">
            <a:solidFill>
              <a:srgbClr val="C9CED8"/>
            </a:solidFill>
            <a:prstDash val="solid"/>
          </a:ln>
        </p:spPr>
      </p:sp>
      <p:sp>
        <p:nvSpPr>
          <p:cNvPr id="11" name="flow-business-text"/>
          <p:cNvSpPr>
            <a:spLocks noGrp="1"/>
          </p:cNvSpPr>
          <p:nvPr/>
        </p:nvSpPr>
        <p:spPr>
          <a:xfrm>
            <a:off x="857250" y="3105150"/>
            <a:ext cx="1962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业务模块</a:t>
            </a:r>
            <a:endParaRPr sz="18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flow-ai"/>
          <p:cNvSpPr>
            <a:spLocks noGrp="1"/>
          </p:cNvSpPr>
          <p:nvPr/>
        </p:nvSpPr>
        <p:spPr>
          <a:xfrm>
            <a:off x="3495675" y="3028950"/>
            <a:ext cx="2190750" cy="609600"/>
          </a:xfrm>
          <a:prstGeom prst="roundRect">
            <a:avLst>
              <a:gd name="adj" fmla="val 9375"/>
            </a:avLst>
          </a:prstGeom>
          <a:solidFill>
            <a:srgbClr val="EAF5FB"/>
          </a:solidFill>
          <a:ln w="11430">
            <a:solidFill>
              <a:srgbClr val="A7D4FF"/>
            </a:solidFill>
            <a:prstDash val="solid"/>
          </a:ln>
        </p:spPr>
      </p:sp>
      <p:sp>
        <p:nvSpPr>
          <p:cNvPr id="13" name="flow-ai-text"/>
          <p:cNvSpPr>
            <a:spLocks noGrp="1"/>
          </p:cNvSpPr>
          <p:nvPr/>
        </p:nvSpPr>
        <p:spPr>
          <a:xfrm>
            <a:off x="3609975" y="3105150"/>
            <a:ext cx="1962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AI 能力</a:t>
            </a:r>
            <a:endParaRPr sz="18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flow-agent-exp"/>
          <p:cNvSpPr>
            <a:spLocks noGrp="1"/>
          </p:cNvSpPr>
          <p:nvPr/>
        </p:nvSpPr>
        <p:spPr>
          <a:xfrm>
            <a:off x="6248400" y="3028950"/>
            <a:ext cx="2190750" cy="60960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1430">
            <a:solidFill>
              <a:srgbClr val="C9CED8"/>
            </a:solidFill>
            <a:prstDash val="solid"/>
          </a:ln>
        </p:spPr>
      </p:sp>
      <p:sp>
        <p:nvSpPr>
          <p:cNvPr id="15" name="flow-agent-exp-text"/>
          <p:cNvSpPr>
            <a:spLocks noGrp="1"/>
          </p:cNvSpPr>
          <p:nvPr/>
        </p:nvSpPr>
        <p:spPr>
          <a:xfrm>
            <a:off x="6362700" y="3105150"/>
            <a:ext cx="1962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智能体 + 体验</a:t>
            </a:r>
            <a:endParaRPr sz="18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flow-landing"/>
          <p:cNvSpPr>
            <a:spLocks noGrp="1"/>
          </p:cNvSpPr>
          <p:nvPr/>
        </p:nvSpPr>
        <p:spPr>
          <a:xfrm>
            <a:off x="9001125" y="3028950"/>
            <a:ext cx="2190750" cy="609600"/>
          </a:xfrm>
          <a:prstGeom prst="roundRect">
            <a:avLst>
              <a:gd name="adj" fmla="val 9375"/>
            </a:avLst>
          </a:prstGeom>
          <a:solidFill>
            <a:srgbClr val="2F83FF"/>
          </a:solidFill>
          <a:ln w="11430">
            <a:solidFill>
              <a:srgbClr val="2F83FF"/>
            </a:solidFill>
            <a:prstDash val="solid"/>
          </a:ln>
        </p:spPr>
      </p:sp>
      <p:sp>
        <p:nvSpPr>
          <p:cNvPr id="17" name="flow-landing-text"/>
          <p:cNvSpPr>
            <a:spLocks noGrp="1"/>
          </p:cNvSpPr>
          <p:nvPr/>
        </p:nvSpPr>
        <p:spPr>
          <a:xfrm>
            <a:off x="9115425" y="3105150"/>
            <a:ext cx="1962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业务场景落地</a:t>
            </a:r>
            <a:endParaRPr sz="165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card-knowledge"/>
          <p:cNvSpPr>
            <a:spLocks noGrp="1"/>
          </p:cNvSpPr>
          <p:nvPr/>
        </p:nvSpPr>
        <p:spPr>
          <a:xfrm>
            <a:off x="742950" y="4171950"/>
            <a:ext cx="3333750" cy="1381125"/>
          </a:xfrm>
          <a:prstGeom prst="roundRect">
            <a:avLst>
              <a:gd name="adj" fmla="val 4138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19" name="card-knowledge-badge"/>
          <p:cNvSpPr>
            <a:spLocks noGrp="1"/>
          </p:cNvSpPr>
          <p:nvPr/>
        </p:nvSpPr>
        <p:spPr>
          <a:xfrm>
            <a:off x="952500" y="4381500"/>
            <a:ext cx="361950" cy="361950"/>
          </a:xfrm>
          <a:prstGeom prst="ellipse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20" name="card-knowledge-badge-text"/>
          <p:cNvSpPr>
            <a:spLocks noGrp="1"/>
          </p:cNvSpPr>
          <p:nvPr/>
        </p:nvSpPr>
        <p:spPr>
          <a:xfrm>
            <a:off x="952500" y="44386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5000"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1" name="card-knowledge-title"/>
          <p:cNvSpPr>
            <a:spLocks noGrp="1"/>
          </p:cNvSpPr>
          <p:nvPr/>
        </p:nvSpPr>
        <p:spPr>
          <a:xfrm>
            <a:off x="1466850" y="43815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611"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资料库</a:t>
            </a:r>
            <a:endParaRPr sz="18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card-knowledge-body"/>
          <p:cNvSpPr>
            <a:spLocks noGrp="1"/>
          </p:cNvSpPr>
          <p:nvPr/>
        </p:nvSpPr>
        <p:spPr>
          <a:xfrm>
            <a:off x="990600" y="4857750"/>
            <a:ext cx="2838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业务资料沉淀为知识资产，支撑搜索、问答、生成和应用。</a:t>
            </a:r>
            <a:endParaRPr sz="135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3" name="card-space"/>
          <p:cNvSpPr>
            <a:spLocks noGrp="1"/>
          </p:cNvSpPr>
          <p:nvPr/>
        </p:nvSpPr>
        <p:spPr>
          <a:xfrm>
            <a:off x="4429125" y="4171950"/>
            <a:ext cx="3333750" cy="1381125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24" name="card-space-badge"/>
          <p:cNvSpPr>
            <a:spLocks noGrp="1"/>
          </p:cNvSpPr>
          <p:nvPr/>
        </p:nvSpPr>
        <p:spPr>
          <a:xfrm>
            <a:off x="4638675" y="4381500"/>
            <a:ext cx="361950" cy="3619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25" name="card-space-badge-text"/>
          <p:cNvSpPr>
            <a:spLocks noGrp="1"/>
          </p:cNvSpPr>
          <p:nvPr/>
        </p:nvSpPr>
        <p:spPr>
          <a:xfrm>
            <a:off x="4638675" y="44386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5000"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6" name="card-space-title"/>
          <p:cNvSpPr>
            <a:spLocks noGrp="1"/>
          </p:cNvSpPr>
          <p:nvPr/>
        </p:nvSpPr>
        <p:spPr>
          <a:xfrm>
            <a:off x="5153025" y="43815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611"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空间</a:t>
            </a:r>
            <a:endParaRPr sz="18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7" name="card-space-body"/>
          <p:cNvSpPr>
            <a:spLocks noGrp="1"/>
          </p:cNvSpPr>
          <p:nvPr/>
        </p:nvSpPr>
        <p:spPr>
          <a:xfrm>
            <a:off x="4676775" y="4857750"/>
            <a:ext cx="2838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业务过程进入空间，承载成员、任务、流程、协同和成果。</a:t>
            </a:r>
            <a:endParaRPr sz="135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8" name="card-agent"/>
          <p:cNvSpPr>
            <a:spLocks noGrp="1"/>
          </p:cNvSpPr>
          <p:nvPr/>
        </p:nvSpPr>
        <p:spPr>
          <a:xfrm>
            <a:off x="8115300" y="4171950"/>
            <a:ext cx="3333750" cy="1381125"/>
          </a:xfrm>
          <a:prstGeom prst="roundRect">
            <a:avLst>
              <a:gd name="adj" fmla="val 4138"/>
            </a:avLst>
          </a:prstGeom>
          <a:solidFill>
            <a:srgbClr val="EAF5FB"/>
          </a:solidFill>
          <a:ln w="10478">
            <a:solidFill>
              <a:srgbClr val="A7D4FF"/>
            </a:solidFill>
            <a:prstDash val="solid"/>
          </a:ln>
        </p:spPr>
      </p:sp>
      <p:sp>
        <p:nvSpPr>
          <p:cNvPr id="29" name="card-agent-badge"/>
          <p:cNvSpPr>
            <a:spLocks noGrp="1"/>
          </p:cNvSpPr>
          <p:nvPr/>
        </p:nvSpPr>
        <p:spPr>
          <a:xfrm>
            <a:off x="8324850" y="4381500"/>
            <a:ext cx="361950" cy="361950"/>
          </a:xfrm>
          <a:prstGeom prst="ellipse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30" name="card-agent-badge-text"/>
          <p:cNvSpPr>
            <a:spLocks noGrp="1"/>
          </p:cNvSpPr>
          <p:nvPr/>
        </p:nvSpPr>
        <p:spPr>
          <a:xfrm>
            <a:off x="8324850" y="44386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5000"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1" name="card-agent-title"/>
          <p:cNvSpPr>
            <a:spLocks noGrp="1"/>
          </p:cNvSpPr>
          <p:nvPr/>
        </p:nvSpPr>
        <p:spPr>
          <a:xfrm>
            <a:off x="8839200" y="4381500"/>
            <a:ext cx="238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8611"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智能体</a:t>
            </a:r>
            <a:endParaRPr sz="18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2" name="card-agent-body"/>
          <p:cNvSpPr>
            <a:spLocks noGrp="1"/>
          </p:cNvSpPr>
          <p:nvPr/>
        </p:nvSpPr>
        <p:spPr>
          <a:xfrm>
            <a:off x="8362950" y="4857750"/>
            <a:ext cx="28384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不同角色获得智能体助手，辅助沟通、决策、分析和业务推进。</a:t>
            </a:r>
            <a:endParaRPr sz="135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3" name="bottom-note-band"/>
          <p:cNvSpPr>
            <a:spLocks noGrp="1"/>
          </p:cNvSpPr>
          <p:nvPr/>
        </p:nvSpPr>
        <p:spPr>
          <a:xfrm>
            <a:off x="1238250" y="5886450"/>
            <a:ext cx="9715500" cy="361950"/>
          </a:xfrm>
          <a:prstGeom prst="roundRect">
            <a:avLst>
              <a:gd name="adj" fmla="val 15789"/>
            </a:avLst>
          </a:prstGeom>
          <a:solidFill>
            <a:srgbClr val="F4FAFF"/>
          </a:solidFill>
          <a:ln w="11430">
            <a:solidFill>
              <a:srgbClr val="D8ECFF"/>
            </a:solidFill>
            <a:prstDash val="solid"/>
          </a:ln>
        </p:spPr>
      </p:sp>
      <p:sp>
        <p:nvSpPr>
          <p:cNvPr id="34" name="bottom-note"/>
          <p:cNvSpPr>
            <a:spLocks noGrp="1"/>
          </p:cNvSpPr>
          <p:nvPr/>
        </p:nvSpPr>
        <p:spPr>
          <a:xfrm>
            <a:off x="1428750" y="59531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6667"/>
          </a:bodyPr>
          <a:lstStyle/>
          <a:p>
            <a:pPr algn="ctr">
              <a:buNone/>
              <a:defRPr sz="1350" b="1">
                <a:solidFill>
                  <a:srgbClr val="2F83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F83FF"/>
                </a:solidFill>
                <a:latin typeface="PingFang SC"/>
                <a:ea typeface="PingFang SC"/>
                <a:cs typeface="PingFang SC"/>
              </a:rPr>
              <a:t>扩展新业务时，直接复用「资料库 + 空间 + 智能体」的平台底座，减少重复建设。</a:t>
            </a:r>
            <a:endParaRPr sz="1350" b="1">
              <a:solidFill>
                <a:srgbClr val="2F83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5" name="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rmAutofit fontScale="98718"/>
          </a:bodyPr>
          <a:lstStyle/>
          <a:p>
            <a:pPr algn="r">
              <a:buNone/>
              <a:def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17</a:t>
            </a:r>
            <a:endParaRPr sz="975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00050" y="781050"/>
            <a:ext cx="1095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AI 原生底座由六类平台能力组成</a:t>
            </a:r>
            <a:endParaRPr sz="31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400050" y="1638300"/>
            <a:ext cx="11391900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card-Lucky 智能体"/>
          <p:cNvSpPr>
            <a:spLocks noGrp="1"/>
          </p:cNvSpPr>
          <p:nvPr/>
        </p:nvSpPr>
        <p:spPr>
          <a:xfrm>
            <a:off x="552450" y="2038350"/>
            <a:ext cx="3333750" cy="1381125"/>
          </a:xfrm>
          <a:prstGeom prst="roundRect">
            <a:avLst>
              <a:gd name="adj" fmla="val 4138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5" name="badge-01"/>
          <p:cNvSpPr>
            <a:spLocks noGrp="1"/>
          </p:cNvSpPr>
          <p:nvPr/>
        </p:nvSpPr>
        <p:spPr>
          <a:xfrm>
            <a:off x="742950" y="2228850"/>
            <a:ext cx="323850" cy="3238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6" name="badge-text-01"/>
          <p:cNvSpPr>
            <a:spLocks noGrp="1"/>
          </p:cNvSpPr>
          <p:nvPr/>
        </p:nvSpPr>
        <p:spPr>
          <a:xfrm>
            <a:off x="742950" y="227647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  <a:endParaRPr sz="97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card-head-Lucky 智能体"/>
          <p:cNvSpPr>
            <a:spLocks noGrp="1"/>
          </p:cNvSpPr>
          <p:nvPr/>
        </p:nvSpPr>
        <p:spPr>
          <a:xfrm>
            <a:off x="1200150" y="2247900"/>
            <a:ext cx="2457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Lucky 智能体</a:t>
            </a:r>
            <a:endParaRPr sz="18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card-body-Lucky 智能体"/>
          <p:cNvSpPr>
            <a:spLocks noGrp="1"/>
          </p:cNvSpPr>
          <p:nvPr/>
        </p:nvSpPr>
        <p:spPr>
          <a:xfrm>
            <a:off x="1200150" y="2667000"/>
            <a:ext cx="24574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673"/>
          </a:bodyPr>
          <a:lstStyle/>
          <a:p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面向不同角色提供问答、生成、分析、任务辅助和流程推进能力。</a:t>
            </a:r>
            <a:endParaRPr sz="12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card-资料库"/>
          <p:cNvSpPr>
            <a:spLocks noGrp="1"/>
          </p:cNvSpPr>
          <p:nvPr/>
        </p:nvSpPr>
        <p:spPr>
          <a:xfrm>
            <a:off x="4410075" y="2038350"/>
            <a:ext cx="3333750" cy="1381125"/>
          </a:xfrm>
          <a:prstGeom prst="roundRect">
            <a:avLst>
              <a:gd name="adj" fmla="val 4138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badge-02"/>
          <p:cNvSpPr>
            <a:spLocks noGrp="1"/>
          </p:cNvSpPr>
          <p:nvPr/>
        </p:nvSpPr>
        <p:spPr>
          <a:xfrm>
            <a:off x="4600575" y="2228850"/>
            <a:ext cx="323850" cy="32385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1" name="badge-text-02"/>
          <p:cNvSpPr>
            <a:spLocks noGrp="1"/>
          </p:cNvSpPr>
          <p:nvPr/>
        </p:nvSpPr>
        <p:spPr>
          <a:xfrm>
            <a:off x="4600575" y="227647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12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card-head-资料库"/>
          <p:cNvSpPr>
            <a:spLocks noGrp="1"/>
          </p:cNvSpPr>
          <p:nvPr/>
        </p:nvSpPr>
        <p:spPr>
          <a:xfrm>
            <a:off x="5057775" y="2247900"/>
            <a:ext cx="2457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资料库</a:t>
            </a:r>
            <a:endParaRPr sz="18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card-body-资料库"/>
          <p:cNvSpPr>
            <a:spLocks noGrp="1"/>
          </p:cNvSpPr>
          <p:nvPr/>
        </p:nvSpPr>
        <p:spPr>
          <a:xfrm>
            <a:off x="5057775" y="2667000"/>
            <a:ext cx="24574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673"/>
          </a:bodyPr>
          <a:lstStyle/>
          <a:p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沉淀课程、案例、制度、成果、评价材料，形成可检索、可问答、可生成的知识资产。</a:t>
            </a:r>
            <a:endParaRPr sz="12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card-空间"/>
          <p:cNvSpPr>
            <a:spLocks noGrp="1"/>
          </p:cNvSpPr>
          <p:nvPr/>
        </p:nvSpPr>
        <p:spPr>
          <a:xfrm>
            <a:off x="8267700" y="2038350"/>
            <a:ext cx="3333750" cy="1381125"/>
          </a:xfrm>
          <a:prstGeom prst="roundRect">
            <a:avLst>
              <a:gd name="adj" fmla="val 4138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15" name="badge-03"/>
          <p:cNvSpPr>
            <a:spLocks noGrp="1"/>
          </p:cNvSpPr>
          <p:nvPr/>
        </p:nvSpPr>
        <p:spPr>
          <a:xfrm>
            <a:off x="8458200" y="2228850"/>
            <a:ext cx="323850" cy="3238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16" name="badge-text-03"/>
          <p:cNvSpPr>
            <a:spLocks noGrp="1"/>
          </p:cNvSpPr>
          <p:nvPr/>
        </p:nvSpPr>
        <p:spPr>
          <a:xfrm>
            <a:off x="8458200" y="227647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  <a:endParaRPr sz="97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card-head-空间"/>
          <p:cNvSpPr>
            <a:spLocks noGrp="1"/>
          </p:cNvSpPr>
          <p:nvPr/>
        </p:nvSpPr>
        <p:spPr>
          <a:xfrm>
            <a:off x="8915400" y="2247900"/>
            <a:ext cx="2457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空间</a:t>
            </a:r>
            <a:endParaRPr sz="18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card-body-空间"/>
          <p:cNvSpPr>
            <a:spLocks noGrp="1"/>
          </p:cNvSpPr>
          <p:nvPr/>
        </p:nvSpPr>
        <p:spPr>
          <a:xfrm>
            <a:off x="8915400" y="2667000"/>
            <a:ext cx="24574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673"/>
          </a:bodyPr>
          <a:lstStyle/>
          <a:p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承载成员、权限、任务、流程、协同、工具和成果，是培训业务过程的统一载体。</a:t>
            </a:r>
            <a:endParaRPr sz="12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card-场景模板"/>
          <p:cNvSpPr>
            <a:spLocks noGrp="1"/>
          </p:cNvSpPr>
          <p:nvPr/>
        </p:nvSpPr>
        <p:spPr>
          <a:xfrm>
            <a:off x="552450" y="3829050"/>
            <a:ext cx="3333750" cy="1381125"/>
          </a:xfrm>
          <a:prstGeom prst="roundRect">
            <a:avLst>
              <a:gd name="adj" fmla="val 4138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20" name="badge-04"/>
          <p:cNvSpPr>
            <a:spLocks noGrp="1"/>
          </p:cNvSpPr>
          <p:nvPr/>
        </p:nvSpPr>
        <p:spPr>
          <a:xfrm>
            <a:off x="742950" y="4019550"/>
            <a:ext cx="323850" cy="3238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21" name="badge-text-04"/>
          <p:cNvSpPr>
            <a:spLocks noGrp="1"/>
          </p:cNvSpPr>
          <p:nvPr/>
        </p:nvSpPr>
        <p:spPr>
          <a:xfrm>
            <a:off x="742950" y="406717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  <a:endParaRPr sz="97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card-head-场景模板"/>
          <p:cNvSpPr>
            <a:spLocks noGrp="1"/>
          </p:cNvSpPr>
          <p:nvPr/>
        </p:nvSpPr>
        <p:spPr>
          <a:xfrm>
            <a:off x="1200150" y="4038600"/>
            <a:ext cx="2457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场景模板</a:t>
            </a:r>
            <a:endParaRPr sz="18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3" name="card-body-场景模板"/>
          <p:cNvSpPr>
            <a:spLocks noGrp="1"/>
          </p:cNvSpPr>
          <p:nvPr/>
        </p:nvSpPr>
        <p:spPr>
          <a:xfrm>
            <a:off x="1200150" y="4457700"/>
            <a:ext cx="24574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579"/>
          </a:bodyPr>
          <a:lstStyle/>
          <a:p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把培训项目、工作坊、校本研修、AI 通识教学等场景预配置为可复制空间。</a:t>
            </a:r>
            <a:endParaRPr sz="12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4" name="card-模型与 Token 统计"/>
          <p:cNvSpPr>
            <a:spLocks noGrp="1"/>
          </p:cNvSpPr>
          <p:nvPr/>
        </p:nvSpPr>
        <p:spPr>
          <a:xfrm>
            <a:off x="4410075" y="3829050"/>
            <a:ext cx="3333750" cy="1381125"/>
          </a:xfrm>
          <a:prstGeom prst="roundRect">
            <a:avLst>
              <a:gd name="adj" fmla="val 4138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5" name="badge-05"/>
          <p:cNvSpPr>
            <a:spLocks noGrp="1"/>
          </p:cNvSpPr>
          <p:nvPr/>
        </p:nvSpPr>
        <p:spPr>
          <a:xfrm>
            <a:off x="4600575" y="4019550"/>
            <a:ext cx="323850" cy="32385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6" name="badge-text-05"/>
          <p:cNvSpPr>
            <a:spLocks noGrp="1"/>
          </p:cNvSpPr>
          <p:nvPr/>
        </p:nvSpPr>
        <p:spPr>
          <a:xfrm>
            <a:off x="4600575" y="406717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</a:t>
            </a:r>
            <a:endParaRPr sz="112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7" name="card-head-模型与 Token 统计"/>
          <p:cNvSpPr>
            <a:spLocks noGrp="1"/>
          </p:cNvSpPr>
          <p:nvPr/>
        </p:nvSpPr>
        <p:spPr>
          <a:xfrm>
            <a:off x="5057775" y="4038600"/>
            <a:ext cx="2457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模型与 Token 统计</a:t>
            </a:r>
            <a:endParaRPr sz="18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8" name="card-body-模型与 Token 统计"/>
          <p:cNvSpPr>
            <a:spLocks noGrp="1"/>
          </p:cNvSpPr>
          <p:nvPr/>
        </p:nvSpPr>
        <p:spPr>
          <a:xfrm>
            <a:off x="5057775" y="4457700"/>
            <a:ext cx="24574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673"/>
          </a:bodyPr>
          <a:lstStyle/>
          <a:p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计量 AI 调用、Token 消耗和业务归属，支撑成本核算、用量预警和套餐设计。</a:t>
            </a:r>
            <a:endParaRPr sz="12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9" name="card-租户与套餐"/>
          <p:cNvSpPr>
            <a:spLocks noGrp="1"/>
          </p:cNvSpPr>
          <p:nvPr/>
        </p:nvSpPr>
        <p:spPr>
          <a:xfrm>
            <a:off x="8267700" y="3829050"/>
            <a:ext cx="3333750" cy="1381125"/>
          </a:xfrm>
          <a:prstGeom prst="roundRect">
            <a:avLst>
              <a:gd name="adj" fmla="val 4138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0" name="badge-06"/>
          <p:cNvSpPr>
            <a:spLocks noGrp="1"/>
          </p:cNvSpPr>
          <p:nvPr/>
        </p:nvSpPr>
        <p:spPr>
          <a:xfrm>
            <a:off x="8458200" y="4019550"/>
            <a:ext cx="323850" cy="32385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31" name="badge-text-06"/>
          <p:cNvSpPr>
            <a:spLocks noGrp="1"/>
          </p:cNvSpPr>
          <p:nvPr/>
        </p:nvSpPr>
        <p:spPr>
          <a:xfrm>
            <a:off x="8458200" y="406717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06</a:t>
            </a:r>
            <a:endParaRPr sz="112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2" name="card-head-租户与套餐"/>
          <p:cNvSpPr>
            <a:spLocks noGrp="1"/>
          </p:cNvSpPr>
          <p:nvPr/>
        </p:nvSpPr>
        <p:spPr>
          <a:xfrm>
            <a:off x="8915400" y="4038600"/>
            <a:ext cx="2457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租户</a:t>
            </a: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、</a:t>
            </a: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套餐</a:t>
            </a: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、解决</a:t>
            </a: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方案</a:t>
            </a:r>
            <a:endParaRPr sz="18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3" name="card-body-租户与套餐"/>
          <p:cNvSpPr>
            <a:spLocks noGrp="1"/>
          </p:cNvSpPr>
          <p:nvPr/>
        </p:nvSpPr>
        <p:spPr>
          <a:xfrm>
            <a:off x="8915400" y="4457700"/>
            <a:ext cx="24574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673"/>
          </a:bodyPr>
          <a:lstStyle/>
          <a:p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支持教育局、学校、培训机构独立运营，按方案、资源、服务和算力组合交付。</a:t>
            </a:r>
            <a:endParaRPr sz="12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4" name="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18</a:t>
            </a:r>
            <a:endParaRPr sz="975" b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00050" y="781050"/>
            <a:ext cx="1095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总体架构：AI 原生底座横向赋能全部培训子系统</a:t>
            </a:r>
            <a:endParaRPr sz="31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400050" y="1638300"/>
            <a:ext cx="11391900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sub-0"/>
          <p:cNvSpPr>
            <a:spLocks noGrp="1"/>
          </p:cNvSpPr>
          <p:nvPr/>
        </p:nvSpPr>
        <p:spPr>
          <a:xfrm>
            <a:off x="742950" y="2019300"/>
            <a:ext cx="1771650" cy="1000125"/>
          </a:xfrm>
          <a:prstGeom prst="roundRect">
            <a:avLst>
              <a:gd name="adj" fmla="val 5714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sub-text-0"/>
          <p:cNvSpPr>
            <a:spLocks noGrp="1"/>
          </p:cNvSpPr>
          <p:nvPr/>
        </p:nvSpPr>
        <p:spPr>
          <a:xfrm>
            <a:off x="876300" y="2305050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培训信息管理</a:t>
            </a:r>
            <a:endParaRPr sz="18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sub-1"/>
          <p:cNvSpPr>
            <a:spLocks noGrp="1"/>
          </p:cNvSpPr>
          <p:nvPr/>
        </p:nvSpPr>
        <p:spPr>
          <a:xfrm>
            <a:off x="2952750" y="2019300"/>
            <a:ext cx="1771650" cy="1000125"/>
          </a:xfrm>
          <a:prstGeom prst="roundRect">
            <a:avLst>
              <a:gd name="adj" fmla="val 5714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sub-text-1"/>
          <p:cNvSpPr>
            <a:spLocks noGrp="1"/>
          </p:cNvSpPr>
          <p:nvPr/>
        </p:nvSpPr>
        <p:spPr>
          <a:xfrm>
            <a:off x="3086100" y="2305050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研修活动</a:t>
            </a:r>
            <a:endParaRPr sz="18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sub-2"/>
          <p:cNvSpPr>
            <a:spLocks noGrp="1"/>
          </p:cNvSpPr>
          <p:nvPr/>
        </p:nvSpPr>
        <p:spPr>
          <a:xfrm>
            <a:off x="5162550" y="2019300"/>
            <a:ext cx="1771650" cy="1000125"/>
          </a:xfrm>
          <a:prstGeom prst="roundRect">
            <a:avLst>
              <a:gd name="adj" fmla="val 5714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9" name="sub-text-2"/>
          <p:cNvSpPr>
            <a:spLocks noGrp="1"/>
          </p:cNvSpPr>
          <p:nvPr/>
        </p:nvSpPr>
        <p:spPr>
          <a:xfrm>
            <a:off x="5295900" y="2305050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培训评估</a:t>
            </a:r>
            <a:endParaRPr sz="18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sub-3"/>
          <p:cNvSpPr>
            <a:spLocks noGrp="1"/>
          </p:cNvSpPr>
          <p:nvPr/>
        </p:nvSpPr>
        <p:spPr>
          <a:xfrm>
            <a:off x="7372350" y="2019300"/>
            <a:ext cx="1771650" cy="1000125"/>
          </a:xfrm>
          <a:prstGeom prst="roundRect">
            <a:avLst>
              <a:gd name="adj" fmla="val 5714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sub-text-3"/>
          <p:cNvSpPr>
            <a:spLocks noGrp="1"/>
          </p:cNvSpPr>
          <p:nvPr/>
        </p:nvSpPr>
        <p:spPr>
          <a:xfrm>
            <a:off x="7505700" y="2305050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教师档案</a:t>
            </a:r>
            <a:endParaRPr sz="18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sub-4"/>
          <p:cNvSpPr>
            <a:spLocks noGrp="1"/>
          </p:cNvSpPr>
          <p:nvPr/>
        </p:nvSpPr>
        <p:spPr>
          <a:xfrm>
            <a:off x="9582150" y="2019300"/>
            <a:ext cx="1771650" cy="1000125"/>
          </a:xfrm>
          <a:prstGeom prst="roundRect">
            <a:avLst>
              <a:gd name="adj" fmla="val 5714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sub-text-4"/>
          <p:cNvSpPr>
            <a:spLocks noGrp="1"/>
          </p:cNvSpPr>
          <p:nvPr/>
        </p:nvSpPr>
        <p:spPr>
          <a:xfrm>
            <a:off x="9715500" y="2305050"/>
            <a:ext cx="1504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用户推荐</a:t>
            </a:r>
            <a:endParaRPr sz="18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ai-base"/>
          <p:cNvSpPr>
            <a:spLocks noGrp="1"/>
          </p:cNvSpPr>
          <p:nvPr/>
        </p:nvSpPr>
        <p:spPr>
          <a:xfrm>
            <a:off x="742950" y="4000500"/>
            <a:ext cx="10572750" cy="1381125"/>
          </a:xfrm>
          <a:prstGeom prst="roundRect">
            <a:avLst>
              <a:gd name="adj" fmla="val 4138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5" name="base-title"/>
          <p:cNvSpPr>
            <a:spLocks noGrp="1"/>
          </p:cNvSpPr>
          <p:nvPr/>
        </p:nvSpPr>
        <p:spPr>
          <a:xfrm>
            <a:off x="1028700" y="4248150"/>
            <a:ext cx="238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 AI 原生底座</a:t>
            </a:r>
            <a:endParaRPr sz="21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pill-Lucky 智能体"/>
          <p:cNvSpPr>
            <a:spLocks noGrp="1"/>
          </p:cNvSpPr>
          <p:nvPr/>
        </p:nvSpPr>
        <p:spPr>
          <a:xfrm>
            <a:off x="3638550" y="4257675"/>
            <a:ext cx="1047750" cy="342900"/>
          </a:xfrm>
          <a:prstGeom prst="roundRect">
            <a:avLst>
              <a:gd name="adj" fmla="val 16667"/>
            </a:avLst>
          </a:prstGeom>
          <a:solidFill>
            <a:srgbClr val="E97132"/>
          </a:solidFill>
          <a:ln w="0">
            <a:noFill/>
            <a:prstDash val="solid"/>
          </a:ln>
        </p:spPr>
      </p:sp>
      <p:sp>
        <p:nvSpPr>
          <p:cNvPr id="17" name="pill-text-Lucky 智能体"/>
          <p:cNvSpPr>
            <a:spLocks noGrp="1"/>
          </p:cNvSpPr>
          <p:nvPr/>
        </p:nvSpPr>
        <p:spPr>
          <a:xfrm>
            <a:off x="3714750" y="4314825"/>
            <a:ext cx="895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2316"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Lucky 智能体</a:t>
            </a:r>
            <a:endParaRPr sz="1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pill-资料库"/>
          <p:cNvSpPr>
            <a:spLocks noGrp="1"/>
          </p:cNvSpPr>
          <p:nvPr/>
        </p:nvSpPr>
        <p:spPr>
          <a:xfrm>
            <a:off x="4838700" y="4257675"/>
            <a:ext cx="10477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9" name="pill-text-资料库"/>
          <p:cNvSpPr>
            <a:spLocks noGrp="1"/>
          </p:cNvSpPr>
          <p:nvPr/>
        </p:nvSpPr>
        <p:spPr>
          <a:xfrm>
            <a:off x="4914900" y="4314825"/>
            <a:ext cx="895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资料库</a:t>
            </a:r>
            <a:endParaRPr sz="12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0" name="pill-空间"/>
          <p:cNvSpPr>
            <a:spLocks noGrp="1"/>
          </p:cNvSpPr>
          <p:nvPr/>
        </p:nvSpPr>
        <p:spPr>
          <a:xfrm>
            <a:off x="6038850" y="4257675"/>
            <a:ext cx="10477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1" name="pill-text-空间"/>
          <p:cNvSpPr>
            <a:spLocks noGrp="1"/>
          </p:cNvSpPr>
          <p:nvPr/>
        </p:nvSpPr>
        <p:spPr>
          <a:xfrm>
            <a:off x="6115050" y="4314825"/>
            <a:ext cx="895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空间</a:t>
            </a:r>
            <a:endParaRPr sz="12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pill-场景模板"/>
          <p:cNvSpPr>
            <a:spLocks noGrp="1"/>
          </p:cNvSpPr>
          <p:nvPr/>
        </p:nvSpPr>
        <p:spPr>
          <a:xfrm>
            <a:off x="7239000" y="4257675"/>
            <a:ext cx="10477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3" name="pill-text-场景模板"/>
          <p:cNvSpPr>
            <a:spLocks noGrp="1"/>
          </p:cNvSpPr>
          <p:nvPr/>
        </p:nvSpPr>
        <p:spPr>
          <a:xfrm>
            <a:off x="7315200" y="4314825"/>
            <a:ext cx="895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场景模板</a:t>
            </a:r>
            <a:endParaRPr sz="12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4" name="pill-模型统计"/>
          <p:cNvSpPr>
            <a:spLocks noGrp="1"/>
          </p:cNvSpPr>
          <p:nvPr/>
        </p:nvSpPr>
        <p:spPr>
          <a:xfrm>
            <a:off x="8439150" y="4257675"/>
            <a:ext cx="1047750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5" name="pill-text-模型统计"/>
          <p:cNvSpPr>
            <a:spLocks noGrp="1"/>
          </p:cNvSpPr>
          <p:nvPr/>
        </p:nvSpPr>
        <p:spPr>
          <a:xfrm>
            <a:off x="8515350" y="4314825"/>
            <a:ext cx="895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大</a:t>
            </a: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模型</a:t>
            </a: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治理</a:t>
            </a:r>
            <a:endParaRPr sz="12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6" name="pill-租户/套餐"/>
          <p:cNvSpPr>
            <a:spLocks noGrp="1"/>
          </p:cNvSpPr>
          <p:nvPr/>
        </p:nvSpPr>
        <p:spPr>
          <a:xfrm>
            <a:off x="9639300" y="4257675"/>
            <a:ext cx="1376045" cy="342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7" name="pill-text-租户/套餐"/>
          <p:cNvSpPr>
            <a:spLocks noGrp="1"/>
          </p:cNvSpPr>
          <p:nvPr/>
        </p:nvSpPr>
        <p:spPr>
          <a:xfrm>
            <a:off x="9715500" y="4314825"/>
            <a:ext cx="1244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0000"/>
          </a:bodyPr>
          <a:lstStyle/>
          <a:p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租户/套餐</a:t>
            </a: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/</a:t>
            </a: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解决</a:t>
            </a: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方案</a:t>
            </a:r>
            <a:endParaRPr sz="12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8" name="base-note"/>
          <p:cNvSpPr>
            <a:spLocks noGrp="1"/>
          </p:cNvSpPr>
          <p:nvPr/>
        </p:nvSpPr>
        <p:spPr>
          <a:xfrm>
            <a:off x="1028700" y="4876800"/>
            <a:ext cx="952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575" b="0">
                <a:solidFill>
                  <a:srgbClr val="E5E7E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E5E7EB"/>
                </a:solidFill>
                <a:latin typeface="PingFang SC"/>
                <a:ea typeface="PingFang SC"/>
                <a:cs typeface="PingFang SC"/>
              </a:rPr>
              <a:t>底座能力不是单点功能，而是为每个培训业务模块提供默认智能能力、知识资产能力和数据运营能力。</a:t>
            </a:r>
            <a:endParaRPr sz="1575" b="0">
              <a:solidFill>
                <a:srgbClr val="E5E7EB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9" name="line"/>
          <p:cNvSpPr>
            <a:spLocks noGrp="1"/>
          </p:cNvSpPr>
          <p:nvPr/>
        </p:nvSpPr>
        <p:spPr>
          <a:xfrm>
            <a:off x="1628775" y="3133725"/>
            <a:ext cx="19050" cy="771525"/>
          </a:xfrm>
          <a:prstGeom prst="rect">
            <a:avLst/>
          </a:prstGeom>
          <a:solidFill>
            <a:srgbClr val="2F83FF"/>
          </a:solidFill>
          <a:ln w="0">
            <a:noFill/>
            <a:prstDash val="solid"/>
          </a:ln>
        </p:spPr>
      </p:sp>
      <p:sp>
        <p:nvSpPr>
          <p:cNvPr id="30" name="arrow"/>
          <p:cNvSpPr>
            <a:spLocks noGrp="1"/>
          </p:cNvSpPr>
          <p:nvPr/>
        </p:nvSpPr>
        <p:spPr>
          <a:xfrm>
            <a:off x="1543050" y="3067050"/>
            <a:ext cx="171450" cy="133350"/>
          </a:xfrm>
          <a:prstGeom prst="triangle">
            <a:avLst/>
          </a:prstGeom>
          <a:solidFill>
            <a:srgbClr val="2F83FF"/>
          </a:solidFill>
          <a:ln w="9525">
            <a:solidFill>
              <a:srgbClr val="2F83FF"/>
            </a:solidFill>
            <a:prstDash val="solid"/>
          </a:ln>
        </p:spPr>
      </p:sp>
      <p:sp>
        <p:nvSpPr>
          <p:cNvPr id="31" name="line"/>
          <p:cNvSpPr>
            <a:spLocks noGrp="1"/>
          </p:cNvSpPr>
          <p:nvPr/>
        </p:nvSpPr>
        <p:spPr>
          <a:xfrm>
            <a:off x="3838575" y="3133725"/>
            <a:ext cx="19050" cy="771525"/>
          </a:xfrm>
          <a:prstGeom prst="rect">
            <a:avLst/>
          </a:prstGeom>
          <a:solidFill>
            <a:srgbClr val="2F83FF"/>
          </a:solidFill>
          <a:ln w="0">
            <a:noFill/>
            <a:prstDash val="solid"/>
          </a:ln>
        </p:spPr>
      </p:sp>
      <p:sp>
        <p:nvSpPr>
          <p:cNvPr id="32" name="arrow"/>
          <p:cNvSpPr>
            <a:spLocks noGrp="1"/>
          </p:cNvSpPr>
          <p:nvPr/>
        </p:nvSpPr>
        <p:spPr>
          <a:xfrm>
            <a:off x="3752850" y="3067050"/>
            <a:ext cx="171450" cy="133350"/>
          </a:xfrm>
          <a:prstGeom prst="triangle">
            <a:avLst/>
          </a:prstGeom>
          <a:solidFill>
            <a:srgbClr val="2F83FF"/>
          </a:solidFill>
          <a:ln w="9525">
            <a:solidFill>
              <a:srgbClr val="2F83FF"/>
            </a:solidFill>
            <a:prstDash val="solid"/>
          </a:ln>
        </p:spPr>
      </p:sp>
      <p:sp>
        <p:nvSpPr>
          <p:cNvPr id="33" name="line"/>
          <p:cNvSpPr>
            <a:spLocks noGrp="1"/>
          </p:cNvSpPr>
          <p:nvPr/>
        </p:nvSpPr>
        <p:spPr>
          <a:xfrm>
            <a:off x="6048375" y="3133725"/>
            <a:ext cx="19050" cy="771525"/>
          </a:xfrm>
          <a:prstGeom prst="rect">
            <a:avLst/>
          </a:prstGeom>
          <a:solidFill>
            <a:srgbClr val="2F83FF"/>
          </a:solidFill>
          <a:ln w="0">
            <a:noFill/>
            <a:prstDash val="solid"/>
          </a:ln>
        </p:spPr>
      </p:sp>
      <p:sp>
        <p:nvSpPr>
          <p:cNvPr id="34" name="arrow"/>
          <p:cNvSpPr>
            <a:spLocks noGrp="1"/>
          </p:cNvSpPr>
          <p:nvPr/>
        </p:nvSpPr>
        <p:spPr>
          <a:xfrm>
            <a:off x="5962650" y="3067050"/>
            <a:ext cx="171450" cy="133350"/>
          </a:xfrm>
          <a:prstGeom prst="triangle">
            <a:avLst/>
          </a:prstGeom>
          <a:solidFill>
            <a:srgbClr val="2F83FF"/>
          </a:solidFill>
          <a:ln w="9525">
            <a:solidFill>
              <a:srgbClr val="2F83FF"/>
            </a:solidFill>
            <a:prstDash val="solid"/>
          </a:ln>
        </p:spPr>
      </p:sp>
      <p:sp>
        <p:nvSpPr>
          <p:cNvPr id="35" name="line"/>
          <p:cNvSpPr>
            <a:spLocks noGrp="1"/>
          </p:cNvSpPr>
          <p:nvPr/>
        </p:nvSpPr>
        <p:spPr>
          <a:xfrm>
            <a:off x="8258175" y="3133725"/>
            <a:ext cx="19050" cy="771525"/>
          </a:xfrm>
          <a:prstGeom prst="rect">
            <a:avLst/>
          </a:prstGeom>
          <a:solidFill>
            <a:srgbClr val="2F83FF"/>
          </a:solidFill>
          <a:ln w="0">
            <a:noFill/>
            <a:prstDash val="solid"/>
          </a:ln>
        </p:spPr>
      </p:sp>
      <p:sp>
        <p:nvSpPr>
          <p:cNvPr id="36" name="arrow"/>
          <p:cNvSpPr>
            <a:spLocks noGrp="1"/>
          </p:cNvSpPr>
          <p:nvPr/>
        </p:nvSpPr>
        <p:spPr>
          <a:xfrm>
            <a:off x="8172450" y="3067050"/>
            <a:ext cx="171450" cy="133350"/>
          </a:xfrm>
          <a:prstGeom prst="triangle">
            <a:avLst/>
          </a:prstGeom>
          <a:solidFill>
            <a:srgbClr val="2F83FF"/>
          </a:solidFill>
          <a:ln w="9525">
            <a:solidFill>
              <a:srgbClr val="2F83FF"/>
            </a:solidFill>
            <a:prstDash val="solid"/>
          </a:ln>
        </p:spPr>
      </p:sp>
      <p:sp>
        <p:nvSpPr>
          <p:cNvPr id="37" name="line"/>
          <p:cNvSpPr>
            <a:spLocks noGrp="1"/>
          </p:cNvSpPr>
          <p:nvPr/>
        </p:nvSpPr>
        <p:spPr>
          <a:xfrm>
            <a:off x="10467975" y="3133725"/>
            <a:ext cx="19050" cy="771525"/>
          </a:xfrm>
          <a:prstGeom prst="rect">
            <a:avLst/>
          </a:prstGeom>
          <a:solidFill>
            <a:srgbClr val="2F83FF"/>
          </a:solidFill>
          <a:ln w="0">
            <a:noFill/>
            <a:prstDash val="solid"/>
          </a:ln>
        </p:spPr>
      </p:sp>
      <p:sp>
        <p:nvSpPr>
          <p:cNvPr id="38" name="arrow"/>
          <p:cNvSpPr>
            <a:spLocks noGrp="1"/>
          </p:cNvSpPr>
          <p:nvPr/>
        </p:nvSpPr>
        <p:spPr>
          <a:xfrm>
            <a:off x="10382250" y="3067050"/>
            <a:ext cx="171450" cy="133350"/>
          </a:xfrm>
          <a:prstGeom prst="triangle">
            <a:avLst/>
          </a:prstGeom>
          <a:solidFill>
            <a:srgbClr val="2F83FF"/>
          </a:solidFill>
          <a:ln w="9525">
            <a:solidFill>
              <a:srgbClr val="2F83FF"/>
            </a:solidFill>
            <a:prstDash val="solid"/>
          </a:ln>
        </p:spPr>
      </p:sp>
      <p:sp>
        <p:nvSpPr>
          <p:cNvPr id="39" name="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19</a:t>
            </a:r>
            <a:endParaRPr sz="975" b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00050" y="781050"/>
            <a:ext cx="1095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赋能“培训信息管理”：AI 辅助项目、报名、审核和费用治理</a:t>
            </a:r>
            <a:endParaRPr sz="277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400050" y="1638300"/>
            <a:ext cx="11391900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card-项目方案生成"/>
          <p:cNvSpPr>
            <a:spLocks noGrp="1"/>
          </p:cNvSpPr>
          <p:nvPr/>
        </p:nvSpPr>
        <p:spPr>
          <a:xfrm>
            <a:off x="571500" y="2114550"/>
            <a:ext cx="3333750" cy="1466850"/>
          </a:xfrm>
          <a:prstGeom prst="roundRect">
            <a:avLst>
              <a:gd name="adj" fmla="val 3896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5" name="badge-01"/>
          <p:cNvSpPr>
            <a:spLocks noGrp="1"/>
          </p:cNvSpPr>
          <p:nvPr/>
        </p:nvSpPr>
        <p:spPr>
          <a:xfrm>
            <a:off x="762000" y="2305050"/>
            <a:ext cx="323850" cy="3238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6" name="badge-text-01"/>
          <p:cNvSpPr>
            <a:spLocks noGrp="1"/>
          </p:cNvSpPr>
          <p:nvPr/>
        </p:nvSpPr>
        <p:spPr>
          <a:xfrm>
            <a:off x="762000" y="235267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  <a:endParaRPr sz="97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card-head-项目方案生成"/>
          <p:cNvSpPr>
            <a:spLocks noGrp="1"/>
          </p:cNvSpPr>
          <p:nvPr/>
        </p:nvSpPr>
        <p:spPr>
          <a:xfrm>
            <a:off x="1219200" y="2324100"/>
            <a:ext cx="2457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项目与课程计划</a:t>
            </a:r>
            <a:endParaRPr sz="157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card-body-项目方案生成"/>
          <p:cNvSpPr>
            <a:spLocks noGrp="1"/>
          </p:cNvSpPr>
          <p:nvPr/>
        </p:nvSpPr>
        <p:spPr>
          <a:xfrm>
            <a:off x="1219200" y="2743200"/>
            <a:ext cx="24574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基于培训目标、对象、周期和课程资源，辅助生成项目方案、课程计划、日程安排和班级设置。</a:t>
            </a:r>
            <a:endParaRPr sz="1200" b="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card-资源自动编目"/>
          <p:cNvSpPr>
            <a:spLocks noGrp="1"/>
          </p:cNvSpPr>
          <p:nvPr/>
        </p:nvSpPr>
        <p:spPr>
          <a:xfrm>
            <a:off x="4429125" y="2114550"/>
            <a:ext cx="3333750" cy="1466850"/>
          </a:xfrm>
          <a:prstGeom prst="roundRect">
            <a:avLst>
              <a:gd name="adj" fmla="val 3896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badge-02"/>
          <p:cNvSpPr>
            <a:spLocks noGrp="1"/>
          </p:cNvSpPr>
          <p:nvPr/>
        </p:nvSpPr>
        <p:spPr>
          <a:xfrm>
            <a:off x="4619625" y="2305050"/>
            <a:ext cx="323850" cy="32385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1" name="badge-text-02"/>
          <p:cNvSpPr>
            <a:spLocks noGrp="1"/>
          </p:cNvSpPr>
          <p:nvPr/>
        </p:nvSpPr>
        <p:spPr>
          <a:xfrm>
            <a:off x="4619625" y="235267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12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card-head-资源自动编目"/>
          <p:cNvSpPr>
            <a:spLocks noGrp="1"/>
          </p:cNvSpPr>
          <p:nvPr/>
        </p:nvSpPr>
        <p:spPr>
          <a:xfrm>
            <a:off x="5076825" y="2324100"/>
            <a:ext cx="2457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报名审核与组织</a:t>
            </a:r>
            <a:endParaRPr sz="157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card-body-资源自动编目"/>
          <p:cNvSpPr>
            <a:spLocks noGrp="1"/>
          </p:cNvSpPr>
          <p:nvPr/>
        </p:nvSpPr>
        <p:spPr>
          <a:xfrm>
            <a:off x="5076825" y="2743200"/>
            <a:ext cx="24574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根据报名条件、名额规则和人员数据，辅助生成招生通知、审核意见、名单校验和分班建议。</a:t>
            </a:r>
            <a:endParaRPr sz="1200" b="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card-运营助手"/>
          <p:cNvSpPr>
            <a:spLocks noGrp="1"/>
          </p:cNvSpPr>
          <p:nvPr/>
        </p:nvSpPr>
        <p:spPr>
          <a:xfrm>
            <a:off x="8286750" y="2114550"/>
            <a:ext cx="3333750" cy="1466850"/>
          </a:xfrm>
          <a:prstGeom prst="roundRect">
            <a:avLst>
              <a:gd name="adj" fmla="val 3896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badge-03"/>
          <p:cNvSpPr>
            <a:spLocks noGrp="1"/>
          </p:cNvSpPr>
          <p:nvPr/>
        </p:nvSpPr>
        <p:spPr>
          <a:xfrm>
            <a:off x="8477250" y="2305050"/>
            <a:ext cx="323850" cy="32385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6" name="badge-text-03"/>
          <p:cNvSpPr>
            <a:spLocks noGrp="1"/>
          </p:cNvSpPr>
          <p:nvPr/>
        </p:nvSpPr>
        <p:spPr>
          <a:xfrm>
            <a:off x="8477250" y="235267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12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card-head-运营助手"/>
          <p:cNvSpPr>
            <a:spLocks noGrp="1"/>
          </p:cNvSpPr>
          <p:nvPr/>
        </p:nvSpPr>
        <p:spPr>
          <a:xfrm>
            <a:off x="8934450" y="2324100"/>
            <a:ext cx="2457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费用与台账治理</a:t>
            </a:r>
            <a:endParaRPr sz="157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card-body-运营助手"/>
          <p:cNvSpPr>
            <a:spLocks noGrp="1"/>
          </p:cNvSpPr>
          <p:nvPr/>
        </p:nvSpPr>
        <p:spPr>
          <a:xfrm>
            <a:off x="8934450" y="2743200"/>
            <a:ext cx="24574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围绕费用标准、缴费状态、项目进度和通知任务，自动汇总台账、发现异常并生成统计报表。</a:t>
            </a:r>
            <a:endParaRPr sz="1200" b="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flow"/>
          <p:cNvSpPr>
            <a:spLocks noGrp="1"/>
          </p:cNvSpPr>
          <p:nvPr/>
        </p:nvSpPr>
        <p:spPr>
          <a:xfrm>
            <a:off x="677545" y="4629150"/>
            <a:ext cx="10645775" cy="666750"/>
          </a:xfrm>
          <a:prstGeom prst="roundRect">
            <a:avLst>
              <a:gd name="adj" fmla="val 8571"/>
            </a:avLst>
          </a:prstGeom>
          <a:solidFill>
            <a:srgbClr val="EAF5FB"/>
          </a:solidFill>
          <a:ln w="9525">
            <a:solidFill>
              <a:srgbClr val="2F83FF"/>
            </a:solidFill>
            <a:prstDash val="solid"/>
          </a:ln>
        </p:spPr>
      </p:sp>
      <p:sp>
        <p:nvSpPr>
          <p:cNvPr id="20" name="flow-text"/>
          <p:cNvSpPr>
            <a:spLocks noGrp="1"/>
          </p:cNvSpPr>
          <p:nvPr/>
        </p:nvSpPr>
        <p:spPr>
          <a:xfrm>
            <a:off x="1343660" y="4829175"/>
            <a:ext cx="948753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78453"/>
          </a:bodyPr>
          <a:lstStyle/>
          <a:p>
            <a:pPr algn="ctr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输入：培训目标 / 对象名单 / 课程资源 / 报名条件 / 费用规则  →  AI 信息编排与校验  →  输出：项目计划 / 招生通知 / 审核名单 / 费用台账 / 统计报表</a:t>
            </a:r>
            <a:endParaRPr sz="13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1" name="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20</a:t>
            </a:r>
            <a:endParaRPr sz="975" b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00050" y="781050"/>
            <a:ext cx="1095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赋能</a:t>
            </a: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“</a:t>
            </a: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研修活动</a:t>
            </a: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”</a:t>
            </a: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：空间承载过程，智能体陪伴学习与实训</a:t>
            </a:r>
            <a:endParaRPr sz="31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400050" y="1638300"/>
            <a:ext cx="11391900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step-0"/>
          <p:cNvSpPr>
            <a:spLocks noGrp="1"/>
          </p:cNvSpPr>
          <p:nvPr/>
        </p:nvSpPr>
        <p:spPr>
          <a:xfrm>
            <a:off x="704850" y="2286000"/>
            <a:ext cx="2238375" cy="2000250"/>
          </a:xfrm>
          <a:prstGeom prst="roundRect">
            <a:avLst>
              <a:gd name="adj" fmla="val 2857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step-num-0"/>
          <p:cNvSpPr>
            <a:spLocks noGrp="1"/>
          </p:cNvSpPr>
          <p:nvPr/>
        </p:nvSpPr>
        <p:spPr>
          <a:xfrm>
            <a:off x="914400" y="24765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350" b="1">
              <a:solidFill>
                <a:srgbClr val="6B728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step-head-0"/>
          <p:cNvSpPr>
            <a:spLocks noGrp="1"/>
          </p:cNvSpPr>
          <p:nvPr/>
        </p:nvSpPr>
        <p:spPr>
          <a:xfrm>
            <a:off x="914400" y="28956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线上学习</a:t>
            </a:r>
            <a:endParaRPr sz="19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step-body-0"/>
          <p:cNvSpPr>
            <a:spLocks noGrp="1"/>
          </p:cNvSpPr>
          <p:nvPr/>
        </p:nvSpPr>
        <p:spPr>
          <a:xfrm>
            <a:off x="933450" y="3448050"/>
            <a:ext cx="17716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资料问答、课程导学、知识点解释、学习提醒。</a:t>
            </a:r>
            <a:endParaRPr sz="12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step-1"/>
          <p:cNvSpPr>
            <a:spLocks noGrp="1"/>
          </p:cNvSpPr>
          <p:nvPr/>
        </p:nvSpPr>
        <p:spPr>
          <a:xfrm>
            <a:off x="3543300" y="2286000"/>
            <a:ext cx="2238375" cy="2000250"/>
          </a:xfrm>
          <a:prstGeom prst="roundRect">
            <a:avLst>
              <a:gd name="adj" fmla="val 2857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9" name="step-num-1"/>
          <p:cNvSpPr>
            <a:spLocks noGrp="1"/>
          </p:cNvSpPr>
          <p:nvPr/>
        </p:nvSpPr>
        <p:spPr>
          <a:xfrm>
            <a:off x="3752850" y="24765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50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500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step-head-1"/>
          <p:cNvSpPr>
            <a:spLocks noGrp="1"/>
          </p:cNvSpPr>
          <p:nvPr/>
        </p:nvSpPr>
        <p:spPr>
          <a:xfrm>
            <a:off x="3752850" y="28956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线下工作坊</a:t>
            </a:r>
            <a:endParaRPr sz="19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step-body-1"/>
          <p:cNvSpPr>
            <a:spLocks noGrp="1"/>
          </p:cNvSpPr>
          <p:nvPr/>
        </p:nvSpPr>
        <p:spPr>
          <a:xfrm>
            <a:off x="3771900" y="3448050"/>
            <a:ext cx="17716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任务分发、实操指导、现场问题答疑、成果点评记录。</a:t>
            </a:r>
            <a:endParaRPr sz="12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step-2"/>
          <p:cNvSpPr>
            <a:spLocks noGrp="1"/>
          </p:cNvSpPr>
          <p:nvPr/>
        </p:nvSpPr>
        <p:spPr>
          <a:xfrm>
            <a:off x="6381750" y="2286000"/>
            <a:ext cx="2238375" cy="2000250"/>
          </a:xfrm>
          <a:prstGeom prst="roundRect">
            <a:avLst>
              <a:gd name="adj" fmla="val 2857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step-num-2"/>
          <p:cNvSpPr>
            <a:spLocks noGrp="1"/>
          </p:cNvSpPr>
          <p:nvPr/>
        </p:nvSpPr>
        <p:spPr>
          <a:xfrm>
            <a:off x="6591300" y="24765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350" b="1">
              <a:solidFill>
                <a:srgbClr val="6B728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step-head-2"/>
          <p:cNvSpPr>
            <a:spLocks noGrp="1"/>
          </p:cNvSpPr>
          <p:nvPr/>
        </p:nvSpPr>
        <p:spPr>
          <a:xfrm>
            <a:off x="6591300" y="28956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协同研修</a:t>
            </a:r>
            <a:endParaRPr sz="19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step-body-2"/>
          <p:cNvSpPr>
            <a:spLocks noGrp="1"/>
          </p:cNvSpPr>
          <p:nvPr/>
        </p:nvSpPr>
        <p:spPr>
          <a:xfrm>
            <a:off x="6610350" y="3448050"/>
            <a:ext cx="17716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小组讨论总结、案例共创、课例打磨、研究资料整理。</a:t>
            </a:r>
            <a:endParaRPr sz="12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step-3"/>
          <p:cNvSpPr>
            <a:spLocks noGrp="1"/>
          </p:cNvSpPr>
          <p:nvPr/>
        </p:nvSpPr>
        <p:spPr>
          <a:xfrm>
            <a:off x="9220200" y="2286000"/>
            <a:ext cx="2238375" cy="2000250"/>
          </a:xfrm>
          <a:prstGeom prst="roundRect">
            <a:avLst>
              <a:gd name="adj" fmla="val 2857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step-num-3"/>
          <p:cNvSpPr>
            <a:spLocks noGrp="1"/>
          </p:cNvSpPr>
          <p:nvPr/>
        </p:nvSpPr>
        <p:spPr>
          <a:xfrm>
            <a:off x="9429750" y="24765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04</a:t>
            </a:r>
            <a:endParaRPr sz="1350" b="1">
              <a:solidFill>
                <a:srgbClr val="6B728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step-head-3"/>
          <p:cNvSpPr>
            <a:spLocks noGrp="1"/>
          </p:cNvSpPr>
          <p:nvPr/>
        </p:nvSpPr>
        <p:spPr>
          <a:xfrm>
            <a:off x="9429750" y="289560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成果沉淀</a:t>
            </a:r>
            <a:endParaRPr sz="19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step-body-3"/>
          <p:cNvSpPr>
            <a:spLocks noGrp="1"/>
          </p:cNvSpPr>
          <p:nvPr/>
        </p:nvSpPr>
        <p:spPr>
          <a:xfrm>
            <a:off x="9448800" y="3448050"/>
            <a:ext cx="17716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作业摘要、成果标签、优秀案例推荐和复用。</a:t>
            </a:r>
            <a:endParaRPr sz="12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0" name="note"/>
          <p:cNvSpPr>
            <a:spLocks noGrp="1"/>
          </p:cNvSpPr>
          <p:nvPr/>
        </p:nvSpPr>
        <p:spPr>
          <a:xfrm>
            <a:off x="1066800" y="5219700"/>
            <a:ext cx="1000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1465"/>
          </a:bodyPr>
          <a:lstStyle/>
          <a:p>
            <a:pPr algn="ctr">
              <a:buNone/>
              <a:defRPr sz="1800" b="1">
                <a:solidFill>
                  <a:srgbClr val="2F83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F83FF"/>
                </a:solidFill>
                <a:latin typeface="PingFang SC"/>
                <a:ea typeface="PingFang SC"/>
                <a:cs typeface="PingFang SC"/>
              </a:rPr>
              <a:t>关键变化：培训空间不只是页面容器，而是成员、任务、资料、智能体、成果和评价数据的统一业务现场。</a:t>
            </a:r>
            <a:endParaRPr sz="1800" b="1">
              <a:solidFill>
                <a:srgbClr val="2F83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1" name="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21</a:t>
            </a:r>
            <a:endParaRPr sz="975" b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00050" y="781050"/>
            <a:ext cx="1095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赋能“培训评估”：AI + 大数据辅助</a:t>
            </a:r>
            <a:endParaRPr sz="31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400050" y="1638300"/>
            <a:ext cx="11391900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3" name="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22</a:t>
            </a:r>
            <a:endParaRPr sz="975" b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5" name="eval-data-panel"/>
          <p:cNvSpPr>
            <a:spLocks noGrp="1"/>
          </p:cNvSpPr>
          <p:nvPr/>
        </p:nvSpPr>
        <p:spPr>
          <a:xfrm>
            <a:off x="723900" y="2076450"/>
            <a:ext cx="2352040" cy="2814955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1430">
            <a:solidFill>
              <a:srgbClr val="D6DAE2"/>
            </a:solidFill>
            <a:prstDash val="solid"/>
          </a:ln>
        </p:spPr>
      </p:sp>
      <p:sp>
        <p:nvSpPr>
          <p:cNvPr id="26" name="eval-data-badge"/>
          <p:cNvSpPr>
            <a:spLocks noGrp="1"/>
          </p:cNvSpPr>
          <p:nvPr/>
        </p:nvSpPr>
        <p:spPr>
          <a:xfrm>
            <a:off x="990600" y="2266950"/>
            <a:ext cx="1809750" cy="361950"/>
          </a:xfrm>
          <a:prstGeom prst="roundRect">
            <a:avLst>
              <a:gd name="adj" fmla="val 15789"/>
            </a:avLst>
          </a:prstGeom>
          <a:solidFill>
            <a:srgbClr val="2F83FF"/>
          </a:solidFill>
          <a:ln w="9525">
            <a:solidFill>
              <a:srgbClr val="2F83FF"/>
            </a:solidFill>
            <a:prstDash val="solid"/>
          </a:ln>
        </p:spPr>
      </p:sp>
      <p:sp>
        <p:nvSpPr>
          <p:cNvPr id="27" name="eval-data-badge-text"/>
          <p:cNvSpPr>
            <a:spLocks noGrp="1"/>
          </p:cNvSpPr>
          <p:nvPr/>
        </p:nvSpPr>
        <p:spPr>
          <a:xfrm>
            <a:off x="1066800" y="2324100"/>
            <a:ext cx="16573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1930"/>
          </a:bodyPr>
          <a:lstStyle/>
          <a:p>
            <a:pPr algn="ctr">
              <a:buNone/>
              <a:def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大数据（埋点）</a:t>
            </a:r>
            <a:endParaRPr sz="142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8" name="eval-data-pill-1"/>
          <p:cNvSpPr>
            <a:spLocks noGrp="1"/>
          </p:cNvSpPr>
          <p:nvPr/>
        </p:nvSpPr>
        <p:spPr>
          <a:xfrm>
            <a:off x="1009650" y="2800350"/>
            <a:ext cx="1790700" cy="323850"/>
          </a:xfrm>
          <a:prstGeom prst="roundRect">
            <a:avLst>
              <a:gd name="adj" fmla="val 17647"/>
            </a:avLst>
          </a:prstGeom>
          <a:solidFill>
            <a:srgbClr val="F2F4F7"/>
          </a:solidFill>
          <a:ln w="9525">
            <a:solidFill>
              <a:srgbClr val="C9CED8"/>
            </a:solidFill>
            <a:prstDash val="solid"/>
          </a:ln>
        </p:spPr>
      </p:sp>
      <p:sp>
        <p:nvSpPr>
          <p:cNvPr id="29" name="eval-data-pill-1-text"/>
          <p:cNvSpPr>
            <a:spLocks noGrp="1"/>
          </p:cNvSpPr>
          <p:nvPr/>
        </p:nvSpPr>
        <p:spPr>
          <a:xfrm>
            <a:off x="1085850" y="2838450"/>
            <a:ext cx="1638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0392"/>
          </a:bodyPr>
          <a:lstStyle/>
          <a:p>
            <a:pPr algn="ctr"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签到 / 互动</a:t>
            </a:r>
            <a:endParaRPr sz="1275" b="1">
              <a:solidFill>
                <a:srgbClr val="111827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0" name="eval-data-pill-2"/>
          <p:cNvSpPr>
            <a:spLocks noGrp="1"/>
          </p:cNvSpPr>
          <p:nvPr/>
        </p:nvSpPr>
        <p:spPr>
          <a:xfrm>
            <a:off x="1009650" y="3200400"/>
            <a:ext cx="1790700" cy="323850"/>
          </a:xfrm>
          <a:prstGeom prst="roundRect">
            <a:avLst>
              <a:gd name="adj" fmla="val 17647"/>
            </a:avLst>
          </a:prstGeom>
          <a:solidFill>
            <a:srgbClr val="F2F4F7"/>
          </a:solidFill>
          <a:ln w="9525">
            <a:solidFill>
              <a:srgbClr val="C9CED8"/>
            </a:solidFill>
            <a:prstDash val="solid"/>
          </a:ln>
        </p:spPr>
      </p:sp>
      <p:sp>
        <p:nvSpPr>
          <p:cNvPr id="31" name="eval-data-pill-2-text"/>
          <p:cNvSpPr>
            <a:spLocks noGrp="1"/>
          </p:cNvSpPr>
          <p:nvPr/>
        </p:nvSpPr>
        <p:spPr>
          <a:xfrm>
            <a:off x="1085850" y="3238500"/>
            <a:ext cx="1638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0392"/>
          </a:bodyPr>
          <a:lstStyle/>
          <a:p>
            <a:pPr algn="ctr"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任务 / 问卷</a:t>
            </a:r>
            <a:endParaRPr sz="1275" b="1">
              <a:solidFill>
                <a:srgbClr val="111827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2" name="eval-data-pill-3"/>
          <p:cNvSpPr>
            <a:spLocks noGrp="1"/>
          </p:cNvSpPr>
          <p:nvPr/>
        </p:nvSpPr>
        <p:spPr>
          <a:xfrm>
            <a:off x="1009650" y="3600450"/>
            <a:ext cx="1790700" cy="323850"/>
          </a:xfrm>
          <a:prstGeom prst="roundRect">
            <a:avLst>
              <a:gd name="adj" fmla="val 17647"/>
            </a:avLst>
          </a:prstGeom>
          <a:solidFill>
            <a:srgbClr val="F2F4F7"/>
          </a:solidFill>
          <a:ln w="9525">
            <a:solidFill>
              <a:srgbClr val="C9CED8"/>
            </a:solidFill>
            <a:prstDash val="solid"/>
          </a:ln>
        </p:spPr>
      </p:sp>
      <p:sp>
        <p:nvSpPr>
          <p:cNvPr id="33" name="eval-data-pill-3-text"/>
          <p:cNvSpPr>
            <a:spLocks noGrp="1"/>
          </p:cNvSpPr>
          <p:nvPr/>
        </p:nvSpPr>
        <p:spPr>
          <a:xfrm>
            <a:off x="1085850" y="3638550"/>
            <a:ext cx="1638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0392"/>
          </a:bodyPr>
          <a:lstStyle/>
          <a:p>
            <a:pPr algn="ctr"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课堂/研讨行为</a:t>
            </a:r>
            <a:endParaRPr sz="1275" b="1">
              <a:solidFill>
                <a:srgbClr val="111827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4" name="eval-data-pill-4"/>
          <p:cNvSpPr>
            <a:spLocks noGrp="1"/>
          </p:cNvSpPr>
          <p:nvPr/>
        </p:nvSpPr>
        <p:spPr>
          <a:xfrm>
            <a:off x="1009650" y="4000500"/>
            <a:ext cx="1790700" cy="323850"/>
          </a:xfrm>
          <a:prstGeom prst="roundRect">
            <a:avLst>
              <a:gd name="adj" fmla="val 17647"/>
            </a:avLst>
          </a:prstGeom>
          <a:solidFill>
            <a:srgbClr val="F2F4F7"/>
          </a:solidFill>
          <a:ln w="9525">
            <a:solidFill>
              <a:srgbClr val="C9CED8"/>
            </a:solidFill>
            <a:prstDash val="solid"/>
          </a:ln>
        </p:spPr>
      </p:sp>
      <p:sp>
        <p:nvSpPr>
          <p:cNvPr id="35" name="eval-data-pill-4-text"/>
          <p:cNvSpPr>
            <a:spLocks noGrp="1"/>
          </p:cNvSpPr>
          <p:nvPr/>
        </p:nvSpPr>
        <p:spPr>
          <a:xfrm>
            <a:off x="1085850" y="4038600"/>
            <a:ext cx="1638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0392"/>
          </a:bodyPr>
          <a:lstStyle/>
          <a:p>
            <a:pPr algn="ctr"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成果材料</a:t>
            </a:r>
            <a:endParaRPr sz="1275" b="1">
              <a:solidFill>
                <a:srgbClr val="111827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6" name="eval-data-pill-5"/>
          <p:cNvSpPr>
            <a:spLocks noGrp="1"/>
          </p:cNvSpPr>
          <p:nvPr/>
        </p:nvSpPr>
        <p:spPr>
          <a:xfrm>
            <a:off x="1009650" y="4400550"/>
            <a:ext cx="1790700" cy="323850"/>
          </a:xfrm>
          <a:prstGeom prst="roundRect">
            <a:avLst>
              <a:gd name="adj" fmla="val 17647"/>
            </a:avLst>
          </a:prstGeom>
          <a:solidFill>
            <a:srgbClr val="F2F4F7"/>
          </a:solidFill>
          <a:ln w="9525">
            <a:solidFill>
              <a:srgbClr val="C9CED8"/>
            </a:solidFill>
            <a:prstDash val="solid"/>
          </a:ln>
        </p:spPr>
      </p:sp>
      <p:sp>
        <p:nvSpPr>
          <p:cNvPr id="37" name="eval-data-pill-5-text"/>
          <p:cNvSpPr>
            <a:spLocks noGrp="1"/>
          </p:cNvSpPr>
          <p:nvPr/>
        </p:nvSpPr>
        <p:spPr>
          <a:xfrm>
            <a:off x="1085850" y="4438650"/>
            <a:ext cx="1638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0392"/>
          </a:bodyPr>
          <a:lstStyle/>
          <a:p>
            <a:pPr algn="ctr">
              <a:buNone/>
              <a:def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专家意见 / 规则</a:t>
            </a:r>
            <a:endParaRPr sz="1275" b="1">
              <a:solidFill>
                <a:srgbClr val="111827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8" name="eval-arrow-data-to-ai"/>
          <p:cNvSpPr>
            <a:spLocks noGrp="1"/>
          </p:cNvSpPr>
          <p:nvPr/>
        </p:nvSpPr>
        <p:spPr>
          <a:xfrm>
            <a:off x="3238500" y="3286125"/>
            <a:ext cx="1162050" cy="209550"/>
          </a:xfrm>
          <a:prstGeom prst="rightArrow">
            <a:avLst/>
          </a:prstGeom>
          <a:solidFill>
            <a:srgbClr val="B7BDC8"/>
          </a:solidFill>
          <a:ln w="0">
            <a:solidFill>
              <a:srgbClr val="B7BDC8"/>
            </a:solidFill>
            <a:prstDash val="solid"/>
          </a:ln>
        </p:spPr>
      </p:sp>
      <p:sp>
        <p:nvSpPr>
          <p:cNvPr id="39" name="eval-arrow-label-1"/>
          <p:cNvSpPr>
            <a:spLocks noGrp="1"/>
          </p:cNvSpPr>
          <p:nvPr/>
        </p:nvSpPr>
        <p:spPr>
          <a:xfrm>
            <a:off x="3295650" y="3009900"/>
            <a:ext cx="102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0000"/>
          </a:bodyPr>
          <a:lstStyle/>
          <a:p>
            <a:pPr algn="ctr">
              <a:buNone/>
              <a:defRPr sz="112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过程留痕</a:t>
            </a:r>
            <a:endParaRPr sz="1125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0" name="eval-ai-oval"/>
          <p:cNvSpPr>
            <a:spLocks noGrp="1"/>
          </p:cNvSpPr>
          <p:nvPr/>
        </p:nvSpPr>
        <p:spPr>
          <a:xfrm>
            <a:off x="4514850" y="2209800"/>
            <a:ext cx="3276600" cy="2095500"/>
          </a:xfrm>
          <a:prstGeom prst="ellipse">
            <a:avLst/>
          </a:prstGeom>
          <a:solidFill>
            <a:srgbClr val="EAF5FB"/>
          </a:solidFill>
          <a:ln w="11430">
            <a:solidFill>
              <a:srgbClr val="2F83FF"/>
            </a:solidFill>
            <a:prstDash val="solid"/>
          </a:ln>
        </p:spPr>
      </p:sp>
      <p:sp>
        <p:nvSpPr>
          <p:cNvPr id="41" name="eval-ai-title"/>
          <p:cNvSpPr>
            <a:spLocks noGrp="1"/>
          </p:cNvSpPr>
          <p:nvPr/>
        </p:nvSpPr>
        <p:spPr>
          <a:xfrm>
            <a:off x="4972050" y="2686050"/>
            <a:ext cx="23622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3929"/>
          </a:bodyPr>
          <a:lstStyle/>
          <a:p>
            <a:pPr algn="ctr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AI + 大数据</a:t>
            </a:r>
            <a:endParaRPr sz="21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  <a:p>
            <a:pPr algn="ctr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评估辅助</a:t>
            </a:r>
            <a:endParaRPr sz="21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2" name="eval-ai-body"/>
          <p:cNvSpPr>
            <a:spLocks noGrp="1"/>
          </p:cNvSpPr>
          <p:nvPr/>
        </p:nvSpPr>
        <p:spPr>
          <a:xfrm>
            <a:off x="4991100" y="3352800"/>
            <a:ext cx="23241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4980"/>
          </a:bodyPr>
          <a:lstStyle/>
          <a:p>
            <a:pPr algn="ctr">
              <a:buNone/>
              <a:def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埋点分析 / 证据归集</a:t>
            </a:r>
            <a:endParaRPr sz="135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  <a:p>
            <a:pPr algn="ctr">
              <a:buNone/>
              <a:def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指标匹配 / 报告草稿 / 风险提示</a:t>
            </a:r>
            <a:endParaRPr sz="135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3" name="eval-arrow-ai-to-human"/>
          <p:cNvSpPr>
            <a:spLocks noGrp="1"/>
          </p:cNvSpPr>
          <p:nvPr/>
        </p:nvSpPr>
        <p:spPr>
          <a:xfrm>
            <a:off x="8020050" y="3286125"/>
            <a:ext cx="1143000" cy="209550"/>
          </a:xfrm>
          <a:prstGeom prst="rightArrow">
            <a:avLst/>
          </a:prstGeom>
          <a:solidFill>
            <a:srgbClr val="B7BDC8"/>
          </a:solidFill>
          <a:ln w="0">
            <a:solidFill>
              <a:srgbClr val="B7BDC8"/>
            </a:solidFill>
            <a:prstDash val="solid"/>
          </a:ln>
        </p:spPr>
      </p:sp>
      <p:sp>
        <p:nvSpPr>
          <p:cNvPr id="44" name="eval-arrow-label-2"/>
          <p:cNvSpPr>
            <a:spLocks noGrp="1"/>
          </p:cNvSpPr>
          <p:nvPr/>
        </p:nvSpPr>
        <p:spPr>
          <a:xfrm>
            <a:off x="8077200" y="3009900"/>
            <a:ext cx="1028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0000"/>
          </a:bodyPr>
          <a:lstStyle/>
          <a:p>
            <a:pPr algn="ctr">
              <a:buNone/>
              <a:defRPr sz="112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建议生成</a:t>
            </a:r>
            <a:endParaRPr sz="1125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5" name="eval-human-panel"/>
          <p:cNvSpPr>
            <a:spLocks noGrp="1"/>
          </p:cNvSpPr>
          <p:nvPr/>
        </p:nvSpPr>
        <p:spPr>
          <a:xfrm>
            <a:off x="9391650" y="2266950"/>
            <a:ext cx="2324100" cy="1962150"/>
          </a:xfrm>
          <a:prstGeom prst="roundRect">
            <a:avLst>
              <a:gd name="adj" fmla="val 2913"/>
            </a:avLst>
          </a:prstGeom>
          <a:solidFill>
            <a:srgbClr val="EAF5FB"/>
          </a:solidFill>
          <a:ln w="11430">
            <a:solidFill>
              <a:srgbClr val="2F83FF"/>
            </a:solidFill>
            <a:prstDash val="solid"/>
          </a:ln>
        </p:spPr>
      </p:sp>
      <p:sp>
        <p:nvSpPr>
          <p:cNvPr id="46" name="eval-human-title"/>
          <p:cNvSpPr>
            <a:spLocks noGrp="1"/>
          </p:cNvSpPr>
          <p:nvPr/>
        </p:nvSpPr>
        <p:spPr>
          <a:xfrm>
            <a:off x="9658350" y="2533650"/>
            <a:ext cx="17907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7654"/>
          </a:bodyPr>
          <a:lstStyle/>
          <a:p>
            <a:pPr algn="ctr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人工确认</a:t>
            </a:r>
            <a:endParaRPr sz="202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7" name="eval-human-body"/>
          <p:cNvSpPr>
            <a:spLocks noGrp="1"/>
          </p:cNvSpPr>
          <p:nvPr/>
        </p:nvSpPr>
        <p:spPr>
          <a:xfrm>
            <a:off x="9658350" y="3028950"/>
            <a:ext cx="179070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0741"/>
          </a:bodyPr>
          <a:lstStyle/>
          <a:p>
            <a:pPr algn="l">
              <a:buNone/>
              <a:def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人工复核评分、等级、评语和结论。</a:t>
            </a:r>
            <a:endParaRPr sz="135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  <a:p>
            <a:pPr algn="l">
              <a:buNone/>
              <a:def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AI 仅提供辅助建议。</a:t>
            </a:r>
            <a:endParaRPr sz="135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8" name="eval-bottom"/>
          <p:cNvSpPr>
            <a:spLocks noGrp="1"/>
          </p:cNvSpPr>
          <p:nvPr/>
        </p:nvSpPr>
        <p:spPr>
          <a:xfrm>
            <a:off x="914400" y="5200650"/>
            <a:ext cx="10363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0140"/>
          </a:bodyPr>
          <a:lstStyle/>
          <a:p>
            <a:pPr algn="ctr">
              <a:buNone/>
              <a:defRPr sz="1800" b="1">
                <a:solidFill>
                  <a:srgbClr val="E97132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E97132"/>
                </a:solidFill>
                <a:latin typeface="PingFang SC"/>
                <a:ea typeface="PingFang SC"/>
                <a:cs typeface="PingFang SC"/>
              </a:rPr>
              <a:t>边界原则：埋点数据用于过程证据，AI 只做整理与建议；</a:t>
            </a:r>
            <a:r>
              <a:rPr sz="1800" b="1">
                <a:solidFill>
                  <a:srgbClr val="E97132"/>
                </a:solidFill>
                <a:latin typeface="PingFang SC"/>
                <a:ea typeface="PingFang SC"/>
                <a:cs typeface="PingFang SC"/>
              </a:rPr>
              <a:t>最终评分、等级和结论由</a:t>
            </a:r>
            <a:r>
              <a:rPr sz="1800" b="1">
                <a:solidFill>
                  <a:srgbClr val="E97132"/>
                </a:solidFill>
                <a:latin typeface="PingFang SC"/>
                <a:ea typeface="PingFang SC"/>
                <a:cs typeface="PingFang SC"/>
              </a:rPr>
              <a:t>人工确认。</a:t>
            </a:r>
            <a:endParaRPr sz="1800" b="1">
              <a:solidFill>
                <a:srgbClr val="E97132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00050" y="781050"/>
            <a:ext cx="1095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000"/>
          </a:bodyPr>
          <a:lstStyle/>
          <a:p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赋能</a:t>
            </a: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“</a:t>
            </a: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教师档案与用户推荐</a:t>
            </a: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”</a:t>
            </a: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：让培训结果进入下一轮发展服务</a:t>
            </a:r>
            <a:endParaRPr sz="31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400050" y="1638300"/>
            <a:ext cx="11391900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archive"/>
          <p:cNvSpPr>
            <a:spLocks noGrp="1"/>
          </p:cNvSpPr>
          <p:nvPr/>
        </p:nvSpPr>
        <p:spPr>
          <a:xfrm>
            <a:off x="628650" y="2190750"/>
            <a:ext cx="2841625" cy="2588895"/>
          </a:xfrm>
          <a:prstGeom prst="roundRect">
            <a:avLst>
              <a:gd name="adj" fmla="val 2308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archive-title"/>
          <p:cNvSpPr>
            <a:spLocks noGrp="1"/>
          </p:cNvSpPr>
          <p:nvPr/>
        </p:nvSpPr>
        <p:spPr>
          <a:xfrm>
            <a:off x="914400" y="24955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教师档案</a:t>
            </a:r>
            <a:endParaRPr sz="21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pill-培训记录"/>
          <p:cNvSpPr>
            <a:spLocks noGrp="1"/>
          </p:cNvSpPr>
          <p:nvPr/>
        </p:nvSpPr>
        <p:spPr>
          <a:xfrm>
            <a:off x="1066800" y="3086100"/>
            <a:ext cx="20002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7" name="pill-text-培训记录"/>
          <p:cNvSpPr>
            <a:spLocks noGrp="1"/>
          </p:cNvSpPr>
          <p:nvPr/>
        </p:nvSpPr>
        <p:spPr>
          <a:xfrm>
            <a:off x="1143000" y="3143250"/>
            <a:ext cx="1847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培训记录</a:t>
            </a:r>
            <a:endParaRPr sz="12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pill-成果材料"/>
          <p:cNvSpPr>
            <a:spLocks noGrp="1"/>
          </p:cNvSpPr>
          <p:nvPr/>
        </p:nvSpPr>
        <p:spPr>
          <a:xfrm>
            <a:off x="1066800" y="3486150"/>
            <a:ext cx="20002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9" name="pill-text-成果材料"/>
          <p:cNvSpPr>
            <a:spLocks noGrp="1"/>
          </p:cNvSpPr>
          <p:nvPr/>
        </p:nvSpPr>
        <p:spPr>
          <a:xfrm>
            <a:off x="1143000" y="3543300"/>
            <a:ext cx="1847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成果材料</a:t>
            </a:r>
            <a:endParaRPr sz="12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pill-评价结果"/>
          <p:cNvSpPr>
            <a:spLocks noGrp="1"/>
          </p:cNvSpPr>
          <p:nvPr/>
        </p:nvSpPr>
        <p:spPr>
          <a:xfrm>
            <a:off x="1066800" y="3886200"/>
            <a:ext cx="20002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1" name="pill-text-评价结果"/>
          <p:cNvSpPr>
            <a:spLocks noGrp="1"/>
          </p:cNvSpPr>
          <p:nvPr/>
        </p:nvSpPr>
        <p:spPr>
          <a:xfrm>
            <a:off x="1143000" y="3943350"/>
            <a:ext cx="1847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评价结果</a:t>
            </a:r>
            <a:endParaRPr sz="12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pill-成长轨迹"/>
          <p:cNvSpPr>
            <a:spLocks noGrp="1"/>
          </p:cNvSpPr>
          <p:nvPr/>
        </p:nvSpPr>
        <p:spPr>
          <a:xfrm>
            <a:off x="1066800" y="4286250"/>
            <a:ext cx="20002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pill-text-成长轨迹"/>
          <p:cNvSpPr>
            <a:spLocks noGrp="1"/>
          </p:cNvSpPr>
          <p:nvPr/>
        </p:nvSpPr>
        <p:spPr>
          <a:xfrm>
            <a:off x="1143000" y="4343400"/>
            <a:ext cx="1847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成长轨迹</a:t>
            </a:r>
            <a:endParaRPr sz="12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line"/>
          <p:cNvSpPr>
            <a:spLocks noGrp="1"/>
          </p:cNvSpPr>
          <p:nvPr/>
        </p:nvSpPr>
        <p:spPr>
          <a:xfrm>
            <a:off x="3771900" y="3429000"/>
            <a:ext cx="121920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6" name="portrait"/>
          <p:cNvSpPr>
            <a:spLocks noGrp="1"/>
          </p:cNvSpPr>
          <p:nvPr/>
        </p:nvSpPr>
        <p:spPr>
          <a:xfrm>
            <a:off x="5143500" y="2381250"/>
            <a:ext cx="2000250" cy="2000250"/>
          </a:xfrm>
          <a:prstGeom prst="ellipse">
            <a:avLst/>
          </a:prstGeom>
          <a:solidFill>
            <a:srgbClr val="EAF5FB"/>
          </a:solidFill>
          <a:ln w="9525">
            <a:solidFill>
              <a:srgbClr val="2F83FF"/>
            </a:solidFill>
            <a:prstDash val="solid"/>
          </a:ln>
        </p:spPr>
      </p:sp>
      <p:sp>
        <p:nvSpPr>
          <p:cNvPr id="17" name="portrait-text"/>
          <p:cNvSpPr>
            <a:spLocks noGrp="1"/>
          </p:cNvSpPr>
          <p:nvPr/>
        </p:nvSpPr>
        <p:spPr>
          <a:xfrm>
            <a:off x="5524500" y="2971800"/>
            <a:ext cx="1238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画像与</a:t>
            </a:r>
            <a:endParaRPr sz="21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  <a:p>
            <a:pPr algn="ctr">
              <a:buNone/>
              <a:def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能力诊断</a:t>
            </a:r>
            <a:endParaRPr sz="21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line"/>
          <p:cNvSpPr>
            <a:spLocks noGrp="1"/>
          </p:cNvSpPr>
          <p:nvPr/>
        </p:nvSpPr>
        <p:spPr>
          <a:xfrm>
            <a:off x="7391400" y="3429000"/>
            <a:ext cx="1219200" cy="28575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9" name="arrow"/>
          <p:cNvSpPr>
            <a:spLocks noGrp="1"/>
          </p:cNvSpPr>
          <p:nvPr/>
        </p:nvSpPr>
        <p:spPr>
          <a:xfrm rot="5400000">
            <a:off x="8517890" y="3329305"/>
            <a:ext cx="215900" cy="219710"/>
          </a:xfrm>
          <a:prstGeom prst="triangle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recommend"/>
          <p:cNvSpPr>
            <a:spLocks noGrp="1"/>
          </p:cNvSpPr>
          <p:nvPr/>
        </p:nvSpPr>
        <p:spPr>
          <a:xfrm>
            <a:off x="8858250" y="2190750"/>
            <a:ext cx="2764155" cy="2603500"/>
          </a:xfrm>
          <a:prstGeom prst="roundRect">
            <a:avLst>
              <a:gd name="adj" fmla="val 2308"/>
            </a:avLst>
          </a:prstGeom>
          <a:solidFill>
            <a:srgbClr val="111111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1" name="rec-title"/>
          <p:cNvSpPr>
            <a:spLocks noGrp="1"/>
          </p:cNvSpPr>
          <p:nvPr/>
        </p:nvSpPr>
        <p:spPr>
          <a:xfrm>
            <a:off x="9182100" y="2495550"/>
            <a:ext cx="20764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推荐服务</a:t>
            </a:r>
            <a:endParaRPr sz="21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pill-课程推荐"/>
          <p:cNvSpPr>
            <a:spLocks noGrp="1"/>
          </p:cNvSpPr>
          <p:nvPr/>
        </p:nvSpPr>
        <p:spPr>
          <a:xfrm>
            <a:off x="9258300" y="3086100"/>
            <a:ext cx="19240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3" name="pill-text-课程推荐"/>
          <p:cNvSpPr>
            <a:spLocks noGrp="1"/>
          </p:cNvSpPr>
          <p:nvPr/>
        </p:nvSpPr>
        <p:spPr>
          <a:xfrm>
            <a:off x="9334500" y="3143250"/>
            <a:ext cx="1771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课程推荐</a:t>
            </a:r>
            <a:endParaRPr sz="12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4" name="pill-活动推荐"/>
          <p:cNvSpPr>
            <a:spLocks noGrp="1"/>
          </p:cNvSpPr>
          <p:nvPr/>
        </p:nvSpPr>
        <p:spPr>
          <a:xfrm>
            <a:off x="9258300" y="3486150"/>
            <a:ext cx="19240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5" name="pill-text-活动推荐"/>
          <p:cNvSpPr>
            <a:spLocks noGrp="1"/>
          </p:cNvSpPr>
          <p:nvPr/>
        </p:nvSpPr>
        <p:spPr>
          <a:xfrm>
            <a:off x="9334500" y="3543300"/>
            <a:ext cx="1771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活动推荐</a:t>
            </a:r>
            <a:endParaRPr sz="12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6" name="pill-资源推荐"/>
          <p:cNvSpPr>
            <a:spLocks noGrp="1"/>
          </p:cNvSpPr>
          <p:nvPr/>
        </p:nvSpPr>
        <p:spPr>
          <a:xfrm>
            <a:off x="9258300" y="3886200"/>
            <a:ext cx="19240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7" name="pill-text-资源推荐"/>
          <p:cNvSpPr>
            <a:spLocks noGrp="1"/>
          </p:cNvSpPr>
          <p:nvPr/>
        </p:nvSpPr>
        <p:spPr>
          <a:xfrm>
            <a:off x="9334500" y="3943350"/>
            <a:ext cx="1771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资源推荐</a:t>
            </a:r>
            <a:endParaRPr sz="12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8" name="pill-路径推荐"/>
          <p:cNvSpPr>
            <a:spLocks noGrp="1"/>
          </p:cNvSpPr>
          <p:nvPr/>
        </p:nvSpPr>
        <p:spPr>
          <a:xfrm>
            <a:off x="9258300" y="4286250"/>
            <a:ext cx="1924050" cy="285750"/>
          </a:xfrm>
          <a:prstGeom prst="roundRect">
            <a:avLst>
              <a:gd name="adj" fmla="val 20000"/>
            </a:avLst>
          </a:prstGeom>
          <a:solidFill>
            <a:srgbClr val="E97132"/>
          </a:solidFill>
          <a:ln w="0">
            <a:noFill/>
            <a:prstDash val="solid"/>
          </a:ln>
        </p:spPr>
      </p:sp>
      <p:sp>
        <p:nvSpPr>
          <p:cNvPr id="29" name="pill-text-路径推荐"/>
          <p:cNvSpPr>
            <a:spLocks noGrp="1"/>
          </p:cNvSpPr>
          <p:nvPr/>
        </p:nvSpPr>
        <p:spPr>
          <a:xfrm>
            <a:off x="9334500" y="4343400"/>
            <a:ext cx="1771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路径推荐</a:t>
            </a:r>
            <a:endParaRPr sz="1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0" name="note"/>
          <p:cNvSpPr>
            <a:spLocks noGrp="1"/>
          </p:cNvSpPr>
          <p:nvPr/>
        </p:nvSpPr>
        <p:spPr>
          <a:xfrm>
            <a:off x="1352550" y="5314950"/>
            <a:ext cx="952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800" b="1">
                <a:solidFill>
                  <a:srgbClr val="2F83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2F83FF"/>
                </a:solidFill>
                <a:latin typeface="PingFang SC"/>
                <a:ea typeface="PingFang SC"/>
                <a:cs typeface="PingFang SC"/>
              </a:rPr>
              <a:t>AI 原生底座把“评价发现问题”转化为“推荐推动改进”，形成持续培训闭环。</a:t>
            </a:r>
            <a:endParaRPr sz="1800" b="1">
              <a:solidFill>
                <a:srgbClr val="2F83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1" name="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23</a:t>
            </a:r>
            <a:endParaRPr sz="975" b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3" name="arrow"/>
          <p:cNvSpPr>
            <a:spLocks noGrp="1"/>
          </p:cNvSpPr>
          <p:nvPr/>
        </p:nvSpPr>
        <p:spPr>
          <a:xfrm rot="5400000">
            <a:off x="4873625" y="3331845"/>
            <a:ext cx="215900" cy="219710"/>
          </a:xfrm>
          <a:prstGeom prst="triangle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00050" y="781050"/>
            <a:ext cx="1095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智能体矩阵覆盖培训平台中的</a:t>
            </a: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所有</a:t>
            </a: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角色</a:t>
            </a:r>
            <a:endParaRPr sz="31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400050" y="1638300"/>
            <a:ext cx="11391900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card-教师智能助理"/>
          <p:cNvSpPr>
            <a:spLocks noGrp="1"/>
          </p:cNvSpPr>
          <p:nvPr/>
        </p:nvSpPr>
        <p:spPr>
          <a:xfrm>
            <a:off x="609600" y="2247900"/>
            <a:ext cx="1924050" cy="2238375"/>
          </a:xfrm>
          <a:prstGeom prst="roundRect">
            <a:avLst>
              <a:gd name="adj" fmla="val 2970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5" name="badge-01"/>
          <p:cNvSpPr>
            <a:spLocks noGrp="1"/>
          </p:cNvSpPr>
          <p:nvPr/>
        </p:nvSpPr>
        <p:spPr>
          <a:xfrm>
            <a:off x="800100" y="2438400"/>
            <a:ext cx="323850" cy="3238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6" name="badge-text-01"/>
          <p:cNvSpPr>
            <a:spLocks noGrp="1"/>
          </p:cNvSpPr>
          <p:nvPr/>
        </p:nvSpPr>
        <p:spPr>
          <a:xfrm>
            <a:off x="800100" y="2486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  <a:endParaRPr sz="97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card-head-教师智能助理"/>
          <p:cNvSpPr>
            <a:spLocks noGrp="1"/>
          </p:cNvSpPr>
          <p:nvPr/>
        </p:nvSpPr>
        <p:spPr>
          <a:xfrm>
            <a:off x="1257300" y="2457450"/>
            <a:ext cx="116713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140"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教师智能助理</a:t>
            </a:r>
            <a:endParaRPr sz="18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card-body-教师智能助理"/>
          <p:cNvSpPr>
            <a:spLocks noGrp="1"/>
          </p:cNvSpPr>
          <p:nvPr/>
        </p:nvSpPr>
        <p:spPr>
          <a:xfrm>
            <a:off x="882015" y="3027045"/>
            <a:ext cx="1423035" cy="12877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课程导学、任务辅导、成果生成、成长建议。</a:t>
            </a:r>
            <a:endParaRPr sz="12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card-专家评审助理"/>
          <p:cNvSpPr>
            <a:spLocks noGrp="1"/>
          </p:cNvSpPr>
          <p:nvPr/>
        </p:nvSpPr>
        <p:spPr>
          <a:xfrm>
            <a:off x="2857500" y="2247900"/>
            <a:ext cx="1924050" cy="2238375"/>
          </a:xfrm>
          <a:prstGeom prst="roundRect">
            <a:avLst>
              <a:gd name="adj" fmla="val 2970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0" name="badge-02"/>
          <p:cNvSpPr>
            <a:spLocks noGrp="1"/>
          </p:cNvSpPr>
          <p:nvPr/>
        </p:nvSpPr>
        <p:spPr>
          <a:xfrm>
            <a:off x="3048000" y="2438400"/>
            <a:ext cx="323850" cy="32385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1" name="badge-text-02"/>
          <p:cNvSpPr>
            <a:spLocks noGrp="1"/>
          </p:cNvSpPr>
          <p:nvPr/>
        </p:nvSpPr>
        <p:spPr>
          <a:xfrm>
            <a:off x="3048000" y="2486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12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card-head-专家评审助理"/>
          <p:cNvSpPr>
            <a:spLocks noGrp="1"/>
          </p:cNvSpPr>
          <p:nvPr/>
        </p:nvSpPr>
        <p:spPr>
          <a:xfrm>
            <a:off x="3460750" y="2457450"/>
            <a:ext cx="122301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140"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专家评审助理</a:t>
            </a:r>
            <a:endParaRPr sz="18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card-body-专家评审助理"/>
          <p:cNvSpPr>
            <a:spLocks noGrp="1"/>
          </p:cNvSpPr>
          <p:nvPr/>
        </p:nvSpPr>
        <p:spPr>
          <a:xfrm>
            <a:off x="3060700" y="2989580"/>
            <a:ext cx="1567180" cy="13252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材料预读、证据摘要、评语草稿、复核提示。</a:t>
            </a:r>
            <a:endParaRPr sz="12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card-培训运营助理"/>
          <p:cNvSpPr>
            <a:spLocks noGrp="1"/>
          </p:cNvSpPr>
          <p:nvPr/>
        </p:nvSpPr>
        <p:spPr>
          <a:xfrm>
            <a:off x="5105400" y="2247900"/>
            <a:ext cx="1924050" cy="2238375"/>
          </a:xfrm>
          <a:prstGeom prst="roundRect">
            <a:avLst>
              <a:gd name="adj" fmla="val 2970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15" name="badge-03"/>
          <p:cNvSpPr>
            <a:spLocks noGrp="1"/>
          </p:cNvSpPr>
          <p:nvPr/>
        </p:nvSpPr>
        <p:spPr>
          <a:xfrm>
            <a:off x="5295900" y="2438400"/>
            <a:ext cx="323850" cy="3238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16" name="badge-text-03"/>
          <p:cNvSpPr>
            <a:spLocks noGrp="1"/>
          </p:cNvSpPr>
          <p:nvPr/>
        </p:nvSpPr>
        <p:spPr>
          <a:xfrm>
            <a:off x="5295900" y="2486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  <a:endParaRPr sz="97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card-head-培训运营助理"/>
          <p:cNvSpPr>
            <a:spLocks noGrp="1"/>
          </p:cNvSpPr>
          <p:nvPr/>
        </p:nvSpPr>
        <p:spPr>
          <a:xfrm>
            <a:off x="5720080" y="2486025"/>
            <a:ext cx="116014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5140"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培训运营助理</a:t>
            </a:r>
            <a:endParaRPr sz="18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card-body-培训运营助理"/>
          <p:cNvSpPr>
            <a:spLocks noGrp="1"/>
          </p:cNvSpPr>
          <p:nvPr/>
        </p:nvSpPr>
        <p:spPr>
          <a:xfrm>
            <a:off x="5323205" y="3027045"/>
            <a:ext cx="1522730" cy="12877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通知生成、进度提醒、数据汇总、问题答复。</a:t>
            </a:r>
            <a:endParaRPr sz="12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card-项目负责人助理"/>
          <p:cNvSpPr>
            <a:spLocks noGrp="1"/>
          </p:cNvSpPr>
          <p:nvPr/>
        </p:nvSpPr>
        <p:spPr>
          <a:xfrm>
            <a:off x="7353300" y="2247900"/>
            <a:ext cx="1924050" cy="2238375"/>
          </a:xfrm>
          <a:prstGeom prst="roundRect">
            <a:avLst>
              <a:gd name="adj" fmla="val 2970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badge-04"/>
          <p:cNvSpPr>
            <a:spLocks noGrp="1"/>
          </p:cNvSpPr>
          <p:nvPr/>
        </p:nvSpPr>
        <p:spPr>
          <a:xfrm>
            <a:off x="7543800" y="2438400"/>
            <a:ext cx="323850" cy="32385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1" name="badge-text-04"/>
          <p:cNvSpPr>
            <a:spLocks noGrp="1"/>
          </p:cNvSpPr>
          <p:nvPr/>
        </p:nvSpPr>
        <p:spPr>
          <a:xfrm>
            <a:off x="7543800" y="2486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  <a:endParaRPr sz="112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card-head-项目负责人助理"/>
          <p:cNvSpPr>
            <a:spLocks noGrp="1"/>
          </p:cNvSpPr>
          <p:nvPr/>
        </p:nvSpPr>
        <p:spPr>
          <a:xfrm>
            <a:off x="7976235" y="2493010"/>
            <a:ext cx="114427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64244"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项目负责人助理</a:t>
            </a:r>
            <a:endParaRPr sz="18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3" name="card-body-项目负责人助理"/>
          <p:cNvSpPr>
            <a:spLocks noGrp="1"/>
          </p:cNvSpPr>
          <p:nvPr/>
        </p:nvSpPr>
        <p:spPr>
          <a:xfrm>
            <a:off x="7463790" y="3026410"/>
            <a:ext cx="1734185" cy="1336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方案编排、活动排期、质量跟踪、报告生成。</a:t>
            </a:r>
            <a:endParaRPr sz="12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4" name="card-学校/区域管理助理"/>
          <p:cNvSpPr>
            <a:spLocks noGrp="1"/>
          </p:cNvSpPr>
          <p:nvPr/>
        </p:nvSpPr>
        <p:spPr>
          <a:xfrm>
            <a:off x="9601200" y="2247900"/>
            <a:ext cx="1924050" cy="2238375"/>
          </a:xfrm>
          <a:prstGeom prst="roundRect">
            <a:avLst>
              <a:gd name="adj" fmla="val 2970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5" name="badge-05"/>
          <p:cNvSpPr>
            <a:spLocks noGrp="1"/>
          </p:cNvSpPr>
          <p:nvPr/>
        </p:nvSpPr>
        <p:spPr>
          <a:xfrm>
            <a:off x="9791700" y="2438400"/>
            <a:ext cx="323850" cy="32385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6" name="badge-text-05"/>
          <p:cNvSpPr>
            <a:spLocks noGrp="1"/>
          </p:cNvSpPr>
          <p:nvPr/>
        </p:nvSpPr>
        <p:spPr>
          <a:xfrm>
            <a:off x="9791700" y="24860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</a:t>
            </a:r>
            <a:endParaRPr sz="112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7" name="card-head-学校/区域管理助理"/>
          <p:cNvSpPr>
            <a:spLocks noGrp="1"/>
          </p:cNvSpPr>
          <p:nvPr/>
        </p:nvSpPr>
        <p:spPr>
          <a:xfrm>
            <a:off x="10216515" y="2493010"/>
            <a:ext cx="12033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59028"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学校/区域管理助理</a:t>
            </a:r>
            <a:endParaRPr sz="18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8" name="card-body-学校/区域管理助理"/>
          <p:cNvSpPr>
            <a:spLocks noGrp="1"/>
          </p:cNvSpPr>
          <p:nvPr/>
        </p:nvSpPr>
        <p:spPr>
          <a:xfrm>
            <a:off x="9860915" y="2989580"/>
            <a:ext cx="1435735" cy="13252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项目监测、群体分析、资源调度、决策摘要。</a:t>
            </a:r>
            <a:endParaRPr sz="1275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0" name="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24</a:t>
            </a:r>
            <a:endParaRPr sz="975" b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00050" y="781050"/>
            <a:ext cx="1095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数据与知识闭环让每次培训都沉淀为平台资产</a:t>
            </a:r>
            <a:endParaRPr sz="31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400050" y="1638300"/>
            <a:ext cx="11391900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node-0"/>
          <p:cNvSpPr>
            <a:spLocks noGrp="1"/>
          </p:cNvSpPr>
          <p:nvPr/>
        </p:nvSpPr>
        <p:spPr>
          <a:xfrm>
            <a:off x="781050" y="2857500"/>
            <a:ext cx="1381125" cy="819150"/>
          </a:xfrm>
          <a:prstGeom prst="roundRect">
            <a:avLst>
              <a:gd name="adj" fmla="val 6977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node-text-0"/>
          <p:cNvSpPr>
            <a:spLocks noGrp="1"/>
          </p:cNvSpPr>
          <p:nvPr/>
        </p:nvSpPr>
        <p:spPr>
          <a:xfrm>
            <a:off x="895350" y="3124200"/>
            <a:ext cx="11525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培训资料</a:t>
            </a:r>
            <a:endParaRPr sz="157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line"/>
          <p:cNvSpPr>
            <a:spLocks noGrp="1"/>
          </p:cNvSpPr>
          <p:nvPr/>
        </p:nvSpPr>
        <p:spPr>
          <a:xfrm>
            <a:off x="2190750" y="3267075"/>
            <a:ext cx="342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8" name="node-1"/>
          <p:cNvSpPr>
            <a:spLocks noGrp="1"/>
          </p:cNvSpPr>
          <p:nvPr/>
        </p:nvSpPr>
        <p:spPr>
          <a:xfrm>
            <a:off x="2590800" y="2857500"/>
            <a:ext cx="1381125" cy="819150"/>
          </a:xfrm>
          <a:prstGeom prst="roundRect">
            <a:avLst>
              <a:gd name="adj" fmla="val 6977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9" name="node-text-1"/>
          <p:cNvSpPr>
            <a:spLocks noGrp="1"/>
          </p:cNvSpPr>
          <p:nvPr/>
        </p:nvSpPr>
        <p:spPr>
          <a:xfrm>
            <a:off x="2705100" y="3124200"/>
            <a:ext cx="11525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知识资产</a:t>
            </a:r>
            <a:endParaRPr sz="157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line"/>
          <p:cNvSpPr>
            <a:spLocks noGrp="1"/>
          </p:cNvSpPr>
          <p:nvPr/>
        </p:nvSpPr>
        <p:spPr>
          <a:xfrm>
            <a:off x="4000500" y="3267075"/>
            <a:ext cx="342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2" name="node-2"/>
          <p:cNvSpPr>
            <a:spLocks noGrp="1"/>
          </p:cNvSpPr>
          <p:nvPr/>
        </p:nvSpPr>
        <p:spPr>
          <a:xfrm>
            <a:off x="4400550" y="2857500"/>
            <a:ext cx="1340485" cy="819150"/>
          </a:xfrm>
          <a:prstGeom prst="roundRect">
            <a:avLst>
              <a:gd name="adj" fmla="val 6977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3" name="node-text-2"/>
          <p:cNvSpPr>
            <a:spLocks noGrp="1"/>
          </p:cNvSpPr>
          <p:nvPr/>
        </p:nvSpPr>
        <p:spPr>
          <a:xfrm>
            <a:off x="4514850" y="3124200"/>
            <a:ext cx="11525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空间过程</a:t>
            </a:r>
            <a:endParaRPr sz="157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line"/>
          <p:cNvSpPr>
            <a:spLocks noGrp="1"/>
          </p:cNvSpPr>
          <p:nvPr/>
        </p:nvSpPr>
        <p:spPr>
          <a:xfrm>
            <a:off x="5738495" y="3267075"/>
            <a:ext cx="342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6" name="node-3"/>
          <p:cNvSpPr>
            <a:spLocks noGrp="1"/>
          </p:cNvSpPr>
          <p:nvPr/>
        </p:nvSpPr>
        <p:spPr>
          <a:xfrm>
            <a:off x="6210300" y="2857500"/>
            <a:ext cx="1381125" cy="819150"/>
          </a:xfrm>
          <a:prstGeom prst="roundRect">
            <a:avLst>
              <a:gd name="adj" fmla="val 6977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7" name="node-text-3"/>
          <p:cNvSpPr>
            <a:spLocks noGrp="1"/>
          </p:cNvSpPr>
          <p:nvPr/>
        </p:nvSpPr>
        <p:spPr>
          <a:xfrm>
            <a:off x="6324600" y="3124200"/>
            <a:ext cx="11525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评价证据</a:t>
            </a:r>
            <a:endParaRPr sz="157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line"/>
          <p:cNvSpPr>
            <a:spLocks noGrp="1"/>
          </p:cNvSpPr>
          <p:nvPr/>
        </p:nvSpPr>
        <p:spPr>
          <a:xfrm>
            <a:off x="7620000" y="3267075"/>
            <a:ext cx="342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0" name="node-4"/>
          <p:cNvSpPr>
            <a:spLocks noGrp="1"/>
          </p:cNvSpPr>
          <p:nvPr/>
        </p:nvSpPr>
        <p:spPr>
          <a:xfrm>
            <a:off x="8091805" y="2857500"/>
            <a:ext cx="1381125" cy="819150"/>
          </a:xfrm>
          <a:prstGeom prst="roundRect">
            <a:avLst>
              <a:gd name="adj" fmla="val 6977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1" name="node-text-4"/>
          <p:cNvSpPr>
            <a:spLocks noGrp="1"/>
          </p:cNvSpPr>
          <p:nvPr/>
        </p:nvSpPr>
        <p:spPr>
          <a:xfrm>
            <a:off x="8206105" y="3124200"/>
            <a:ext cx="11525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教师档案</a:t>
            </a:r>
            <a:endParaRPr sz="157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line"/>
          <p:cNvSpPr>
            <a:spLocks noGrp="1"/>
          </p:cNvSpPr>
          <p:nvPr/>
        </p:nvSpPr>
        <p:spPr>
          <a:xfrm>
            <a:off x="9501505" y="3267075"/>
            <a:ext cx="342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4" name="node-5"/>
          <p:cNvSpPr>
            <a:spLocks noGrp="1"/>
          </p:cNvSpPr>
          <p:nvPr/>
        </p:nvSpPr>
        <p:spPr>
          <a:xfrm>
            <a:off x="9973310" y="2857500"/>
            <a:ext cx="1381125" cy="819150"/>
          </a:xfrm>
          <a:prstGeom prst="roundRect">
            <a:avLst>
              <a:gd name="adj" fmla="val 6977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25" name="node-text-5"/>
          <p:cNvSpPr>
            <a:spLocks noGrp="1"/>
          </p:cNvSpPr>
          <p:nvPr/>
        </p:nvSpPr>
        <p:spPr>
          <a:xfrm>
            <a:off x="10087610" y="3124200"/>
            <a:ext cx="11525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智能推荐</a:t>
            </a:r>
            <a:endParaRPr sz="157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7" name="loop-text"/>
          <p:cNvSpPr>
            <a:spLocks noGrp="1"/>
          </p:cNvSpPr>
          <p:nvPr/>
        </p:nvSpPr>
        <p:spPr>
          <a:xfrm>
            <a:off x="2381250" y="4905375"/>
            <a:ext cx="742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506"/>
          </a:bodyPr>
          <a:lstStyle/>
          <a:p>
            <a:pPr algn="ctr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下一轮培训复用资料、空间模板、评价模型和教师画像，平台越用越懂业务。</a:t>
            </a:r>
            <a:endParaRPr sz="18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8" name="top-note"/>
          <p:cNvSpPr>
            <a:spLocks noGrp="1"/>
          </p:cNvSpPr>
          <p:nvPr/>
        </p:nvSpPr>
        <p:spPr>
          <a:xfrm>
            <a:off x="1009650" y="2057400"/>
            <a:ext cx="101727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8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核心机制：业务资料进入资料库，活动过程进入空间，评价结果进入档案，推荐结果回到新一轮培训。</a:t>
            </a:r>
            <a:endParaRPr sz="18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9" name="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25</a:t>
            </a:r>
            <a:endParaRPr sz="975" b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1" name="arrow"/>
          <p:cNvSpPr>
            <a:spLocks noGrp="1"/>
          </p:cNvSpPr>
          <p:nvPr/>
        </p:nvSpPr>
        <p:spPr>
          <a:xfrm rot="5400000">
            <a:off x="2392045" y="3169285"/>
            <a:ext cx="215900" cy="219710"/>
          </a:xfrm>
          <a:prstGeom prst="triangle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2" name="arrow"/>
          <p:cNvSpPr>
            <a:spLocks noGrp="1"/>
          </p:cNvSpPr>
          <p:nvPr/>
        </p:nvSpPr>
        <p:spPr>
          <a:xfrm rot="5400000">
            <a:off x="4201795" y="3175000"/>
            <a:ext cx="215900" cy="219710"/>
          </a:xfrm>
          <a:prstGeom prst="triangle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3" name="arrow"/>
          <p:cNvSpPr>
            <a:spLocks noGrp="1"/>
          </p:cNvSpPr>
          <p:nvPr/>
        </p:nvSpPr>
        <p:spPr>
          <a:xfrm rot="5400000">
            <a:off x="5993130" y="3169285"/>
            <a:ext cx="215900" cy="219710"/>
          </a:xfrm>
          <a:prstGeom prst="triangle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4" name="arrow"/>
          <p:cNvSpPr>
            <a:spLocks noGrp="1"/>
          </p:cNvSpPr>
          <p:nvPr/>
        </p:nvSpPr>
        <p:spPr>
          <a:xfrm rot="5400000">
            <a:off x="7907655" y="3171825"/>
            <a:ext cx="215900" cy="219710"/>
          </a:xfrm>
          <a:prstGeom prst="triangle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35" name="arrow"/>
          <p:cNvSpPr>
            <a:spLocks noGrp="1"/>
          </p:cNvSpPr>
          <p:nvPr/>
        </p:nvSpPr>
        <p:spPr>
          <a:xfrm rot="5400000">
            <a:off x="9750425" y="3169285"/>
            <a:ext cx="215900" cy="219710"/>
          </a:xfrm>
          <a:prstGeom prst="triangle">
            <a:avLst/>
          </a:prstGeom>
          <a:solidFill>
            <a:srgbClr val="B8BCC4"/>
          </a:solidFill>
          <a:ln w="9525">
            <a:solidFill>
              <a:srgbClr val="B8BCC4"/>
            </a:solidFill>
            <a:prstDash val="soli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00050" y="781050"/>
            <a:ext cx="1095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建设路线：先建底座，再做培训场景闭环</a:t>
            </a:r>
            <a:endParaRPr sz="31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400050" y="1638300"/>
            <a:ext cx="11391900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line"/>
          <p:cNvSpPr>
            <a:spLocks noGrp="1"/>
          </p:cNvSpPr>
          <p:nvPr/>
        </p:nvSpPr>
        <p:spPr>
          <a:xfrm>
            <a:off x="838200" y="3143250"/>
            <a:ext cx="25146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5" name="dot-0"/>
          <p:cNvSpPr>
            <a:spLocks noGrp="1"/>
          </p:cNvSpPr>
          <p:nvPr/>
        </p:nvSpPr>
        <p:spPr>
          <a:xfrm>
            <a:off x="3400425" y="3040380"/>
            <a:ext cx="209550" cy="209550"/>
          </a:xfrm>
          <a:prstGeom prst="ellipse">
            <a:avLst/>
          </a:prstGeom>
          <a:solidFill>
            <a:srgbClr val="E97132"/>
          </a:solidFill>
          <a:ln w="0">
            <a:noFill/>
            <a:prstDash val="solid"/>
          </a:ln>
        </p:spPr>
      </p:sp>
      <p:sp>
        <p:nvSpPr>
          <p:cNvPr id="6" name="phase-label-0"/>
          <p:cNvSpPr>
            <a:spLocks noGrp="1"/>
          </p:cNvSpPr>
          <p:nvPr/>
        </p:nvSpPr>
        <p:spPr>
          <a:xfrm>
            <a:off x="685800" y="25527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第一阶段</a:t>
            </a:r>
            <a:endParaRPr sz="1350" b="1">
              <a:solidFill>
                <a:srgbClr val="6B728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phase-head-0"/>
          <p:cNvSpPr>
            <a:spLocks noGrp="1"/>
          </p:cNvSpPr>
          <p:nvPr/>
        </p:nvSpPr>
        <p:spPr>
          <a:xfrm>
            <a:off x="685800" y="3505200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AI 原生底座接入</a:t>
            </a:r>
            <a:endParaRPr sz="172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phase-body-0"/>
          <p:cNvSpPr>
            <a:spLocks noGrp="1"/>
          </p:cNvSpPr>
          <p:nvPr/>
        </p:nvSpPr>
        <p:spPr>
          <a:xfrm>
            <a:off x="685800" y="3943350"/>
            <a:ext cx="22383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接入 Lucky、资料库、空间、租户、模型统计和基础权限。</a:t>
            </a:r>
            <a:endParaRPr sz="12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line"/>
          <p:cNvSpPr>
            <a:spLocks noGrp="1"/>
          </p:cNvSpPr>
          <p:nvPr/>
        </p:nvSpPr>
        <p:spPr>
          <a:xfrm>
            <a:off x="3657600" y="3143250"/>
            <a:ext cx="25146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0" name="dot-1"/>
          <p:cNvSpPr>
            <a:spLocks noGrp="1"/>
          </p:cNvSpPr>
          <p:nvPr/>
        </p:nvSpPr>
        <p:spPr>
          <a:xfrm>
            <a:off x="612775" y="3040380"/>
            <a:ext cx="209550" cy="20955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1" name="phase-label-1"/>
          <p:cNvSpPr>
            <a:spLocks noGrp="1"/>
          </p:cNvSpPr>
          <p:nvPr/>
        </p:nvSpPr>
        <p:spPr>
          <a:xfrm>
            <a:off x="3505200" y="25527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第二阶段</a:t>
            </a:r>
            <a:endParaRPr sz="1350" b="1">
              <a:solidFill>
                <a:srgbClr val="6B728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phase-head-1"/>
          <p:cNvSpPr>
            <a:spLocks noGrp="1"/>
          </p:cNvSpPr>
          <p:nvPr/>
        </p:nvSpPr>
        <p:spPr>
          <a:xfrm>
            <a:off x="3505200" y="3505200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培训场景模板</a:t>
            </a:r>
            <a:endParaRPr sz="172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phase-body-1"/>
          <p:cNvSpPr>
            <a:spLocks noGrp="1"/>
          </p:cNvSpPr>
          <p:nvPr/>
        </p:nvSpPr>
        <p:spPr>
          <a:xfrm>
            <a:off x="3505200" y="3943350"/>
            <a:ext cx="22383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沉淀培训项目、工作坊、网络研修、AI 实训等标准空间模板。</a:t>
            </a:r>
            <a:endParaRPr sz="12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line"/>
          <p:cNvSpPr>
            <a:spLocks noGrp="1"/>
          </p:cNvSpPr>
          <p:nvPr/>
        </p:nvSpPr>
        <p:spPr>
          <a:xfrm>
            <a:off x="6477000" y="3143250"/>
            <a:ext cx="25146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15" name="dot-2"/>
          <p:cNvSpPr>
            <a:spLocks noGrp="1"/>
          </p:cNvSpPr>
          <p:nvPr/>
        </p:nvSpPr>
        <p:spPr>
          <a:xfrm>
            <a:off x="6381750" y="3048000"/>
            <a:ext cx="209550" cy="20955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6" name="phase-label-2"/>
          <p:cNvSpPr>
            <a:spLocks noGrp="1"/>
          </p:cNvSpPr>
          <p:nvPr/>
        </p:nvSpPr>
        <p:spPr>
          <a:xfrm>
            <a:off x="6324600" y="25527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第三阶段</a:t>
            </a:r>
            <a:endParaRPr sz="1350" b="1">
              <a:solidFill>
                <a:srgbClr val="6B728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phase-head-2"/>
          <p:cNvSpPr>
            <a:spLocks noGrp="1"/>
          </p:cNvSpPr>
          <p:nvPr/>
        </p:nvSpPr>
        <p:spPr>
          <a:xfrm>
            <a:off x="6324600" y="3505200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评估与档案闭环</a:t>
            </a:r>
            <a:endParaRPr sz="172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phase-body-2"/>
          <p:cNvSpPr>
            <a:spLocks noGrp="1"/>
          </p:cNvSpPr>
          <p:nvPr/>
        </p:nvSpPr>
        <p:spPr>
          <a:xfrm>
            <a:off x="6324600" y="3943350"/>
            <a:ext cx="22383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完成数据归集、评价模型、报告生成、档案沉淀和画像更新。</a:t>
            </a:r>
            <a:endParaRPr sz="12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line"/>
          <p:cNvSpPr>
            <a:spLocks noGrp="1"/>
          </p:cNvSpPr>
          <p:nvPr/>
        </p:nvSpPr>
        <p:spPr>
          <a:xfrm>
            <a:off x="9296400" y="3143250"/>
            <a:ext cx="25146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20" name="dot-3"/>
          <p:cNvSpPr>
            <a:spLocks noGrp="1"/>
          </p:cNvSpPr>
          <p:nvPr/>
        </p:nvSpPr>
        <p:spPr>
          <a:xfrm>
            <a:off x="9201150" y="3048000"/>
            <a:ext cx="209550" cy="20955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1" name="phase-label-3"/>
          <p:cNvSpPr>
            <a:spLocks noGrp="1"/>
          </p:cNvSpPr>
          <p:nvPr/>
        </p:nvSpPr>
        <p:spPr>
          <a:xfrm>
            <a:off x="9144000" y="25527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B7280"/>
                </a:solidFill>
                <a:latin typeface="PingFang SC"/>
                <a:ea typeface="PingFang SC"/>
                <a:cs typeface="PingFang SC"/>
              </a:rPr>
              <a:t>第四阶段</a:t>
            </a:r>
            <a:endParaRPr sz="1350" b="1">
              <a:solidFill>
                <a:srgbClr val="6B728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phase-head-3"/>
          <p:cNvSpPr>
            <a:spLocks noGrp="1"/>
          </p:cNvSpPr>
          <p:nvPr/>
        </p:nvSpPr>
        <p:spPr>
          <a:xfrm>
            <a:off x="9144000" y="3505200"/>
            <a:ext cx="22383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推荐与运营服务</a:t>
            </a:r>
            <a:endParaRPr sz="172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3" name="phase-body-3"/>
          <p:cNvSpPr>
            <a:spLocks noGrp="1"/>
          </p:cNvSpPr>
          <p:nvPr/>
        </p:nvSpPr>
        <p:spPr>
          <a:xfrm>
            <a:off x="9144000" y="3943350"/>
            <a:ext cx="2238375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555555"/>
                </a:solidFill>
                <a:latin typeface="PingFang SC"/>
                <a:ea typeface="PingFang SC"/>
                <a:cs typeface="PingFang SC"/>
              </a:rPr>
              <a:t>上线课程、活动、资源、路径推荐，并形成运营看板和触达机制。</a:t>
            </a:r>
            <a:endParaRPr sz="1200" b="0">
              <a:solidFill>
                <a:srgbClr val="555555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4" name="bottom"/>
          <p:cNvSpPr>
            <a:spLocks noGrp="1"/>
          </p:cNvSpPr>
          <p:nvPr/>
        </p:nvSpPr>
        <p:spPr>
          <a:xfrm>
            <a:off x="952500" y="5314950"/>
            <a:ext cx="10287000" cy="590550"/>
          </a:xfrm>
          <a:prstGeom prst="roundRect">
            <a:avLst>
              <a:gd name="adj" fmla="val 9677"/>
            </a:avLst>
          </a:prstGeom>
          <a:solidFill>
            <a:srgbClr val="EAF5FB"/>
          </a:solidFill>
          <a:ln w="9525">
            <a:solidFill>
              <a:srgbClr val="2F83FF"/>
            </a:solidFill>
            <a:prstDash val="solid"/>
          </a:ln>
        </p:spPr>
      </p:sp>
      <p:sp>
        <p:nvSpPr>
          <p:cNvPr id="25" name="bottom-text"/>
          <p:cNvSpPr>
            <a:spLocks noGrp="1"/>
          </p:cNvSpPr>
          <p:nvPr/>
        </p:nvSpPr>
        <p:spPr>
          <a:xfrm>
            <a:off x="1238250" y="5486400"/>
            <a:ext cx="971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7222"/>
          </a:bodyPr>
          <a:lstStyle/>
          <a:p>
            <a:pPr algn="ctr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建设原则：培训业务先跑通，AI 能力逐步嵌入；先形成可用闭环，再沉淀可复制模板。</a:t>
            </a:r>
            <a:endParaRPr sz="18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6" name="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26</a:t>
            </a:r>
            <a:endParaRPr sz="975" b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00050" y="781050"/>
            <a:ext cx="1095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31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交付形态：方案、资源、服务和算力共同形成平台价值</a:t>
            </a:r>
            <a:endParaRPr sz="31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400050" y="1638300"/>
            <a:ext cx="11391900" cy="14288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card-解决方案"/>
          <p:cNvSpPr>
            <a:spLocks noGrp="1"/>
          </p:cNvSpPr>
          <p:nvPr/>
        </p:nvSpPr>
        <p:spPr>
          <a:xfrm>
            <a:off x="800100" y="2133600"/>
            <a:ext cx="2190750" cy="2190750"/>
          </a:xfrm>
          <a:prstGeom prst="roundRect">
            <a:avLst>
              <a:gd name="adj" fmla="val 2970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5" name="badge-01"/>
          <p:cNvSpPr>
            <a:spLocks noGrp="1"/>
          </p:cNvSpPr>
          <p:nvPr/>
        </p:nvSpPr>
        <p:spPr>
          <a:xfrm>
            <a:off x="1009650" y="2324100"/>
            <a:ext cx="323850" cy="32385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6" name="badge-text-01"/>
          <p:cNvSpPr>
            <a:spLocks noGrp="1"/>
          </p:cNvSpPr>
          <p:nvPr/>
        </p:nvSpPr>
        <p:spPr>
          <a:xfrm>
            <a:off x="1009650" y="23717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12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card-head-解决方案"/>
          <p:cNvSpPr>
            <a:spLocks noGrp="1"/>
          </p:cNvSpPr>
          <p:nvPr/>
        </p:nvSpPr>
        <p:spPr>
          <a:xfrm>
            <a:off x="1343660" y="2324100"/>
            <a:ext cx="12573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765"/>
          </a:bodyPr>
          <a:lstStyle/>
          <a:p>
            <a:pPr algn="ctr">
              <a:buNone/>
              <a:def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解决方案</a:t>
            </a:r>
            <a:endParaRPr sz="202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card-body-解决方案"/>
          <p:cNvSpPr>
            <a:spLocks noGrp="1"/>
          </p:cNvSpPr>
          <p:nvPr/>
        </p:nvSpPr>
        <p:spPr>
          <a:xfrm>
            <a:off x="1009650" y="2895600"/>
            <a:ext cx="177165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14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4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通答教学平台、</a:t>
            </a:r>
            <a:endParaRPr sz="1140" b="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  <a:p>
            <a:pPr algn="l">
              <a:buNone/>
              <a:defRPr sz="114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4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通答智能体平台、</a:t>
            </a:r>
            <a:endParaRPr sz="1140" b="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  <a:p>
            <a:pPr algn="l">
              <a:buNone/>
              <a:defRPr sz="114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4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中小学服务平台、</a:t>
            </a:r>
            <a:endParaRPr sz="1140" b="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  <a:p>
            <a:pPr algn="l">
              <a:buNone/>
              <a:defRPr sz="114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4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教师发展平台、</a:t>
            </a:r>
            <a:endParaRPr sz="1140" b="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  <a:p>
            <a:pPr algn="l">
              <a:buNone/>
              <a:defRPr sz="114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4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智慧继教、</a:t>
            </a:r>
            <a:endParaRPr sz="1140" b="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  <a:p>
            <a:pPr algn="l">
              <a:buNone/>
              <a:defRPr sz="114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4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教师（/教学）档案袋</a:t>
            </a:r>
            <a:endParaRPr sz="1140" b="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card-资源包"/>
          <p:cNvSpPr>
            <a:spLocks noGrp="1"/>
          </p:cNvSpPr>
          <p:nvPr/>
        </p:nvSpPr>
        <p:spPr>
          <a:xfrm>
            <a:off x="3543300" y="2133600"/>
            <a:ext cx="2190750" cy="2190750"/>
          </a:xfrm>
          <a:prstGeom prst="roundRect">
            <a:avLst>
              <a:gd name="adj" fmla="val 2970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15" name="badge-03"/>
          <p:cNvSpPr>
            <a:spLocks noGrp="1"/>
          </p:cNvSpPr>
          <p:nvPr/>
        </p:nvSpPr>
        <p:spPr>
          <a:xfrm>
            <a:off x="3752850" y="2324100"/>
            <a:ext cx="323850" cy="32385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6" name="badge-text-03"/>
          <p:cNvSpPr>
            <a:spLocks noGrp="1"/>
          </p:cNvSpPr>
          <p:nvPr/>
        </p:nvSpPr>
        <p:spPr>
          <a:xfrm>
            <a:off x="3752850" y="23717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12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card-head-资源包"/>
          <p:cNvSpPr>
            <a:spLocks noGrp="1"/>
          </p:cNvSpPr>
          <p:nvPr/>
        </p:nvSpPr>
        <p:spPr>
          <a:xfrm>
            <a:off x="4195445" y="2343150"/>
            <a:ext cx="1257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资源包</a:t>
            </a:r>
            <a:endParaRPr sz="18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card-body-资源包"/>
          <p:cNvSpPr>
            <a:spLocks noGrp="1"/>
          </p:cNvSpPr>
          <p:nvPr/>
        </p:nvSpPr>
        <p:spPr>
          <a:xfrm>
            <a:off x="3752850" y="2895600"/>
            <a:ext cx="17716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沉淀课程、案例、任务单、测验、成果模板和优秀案例。</a:t>
            </a:r>
            <a:endParaRPr sz="1500" b="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card-运营服务"/>
          <p:cNvSpPr>
            <a:spLocks noGrp="1"/>
          </p:cNvSpPr>
          <p:nvPr/>
        </p:nvSpPr>
        <p:spPr>
          <a:xfrm>
            <a:off x="6286500" y="2133600"/>
            <a:ext cx="2190750" cy="2190750"/>
          </a:xfrm>
          <a:prstGeom prst="roundRect">
            <a:avLst>
              <a:gd name="adj" fmla="val 2970"/>
            </a:avLst>
          </a:prstGeom>
          <a:solidFill>
            <a:srgbClr val="F2F4F7"/>
          </a:solidFill>
          <a:ln w="9525">
            <a:solidFill>
              <a:srgbClr val="B8BCC4"/>
            </a:solidFill>
            <a:prstDash val="solid"/>
          </a:ln>
        </p:spPr>
      </p:sp>
      <p:sp>
        <p:nvSpPr>
          <p:cNvPr id="20" name="badge-04"/>
          <p:cNvSpPr>
            <a:spLocks noGrp="1"/>
          </p:cNvSpPr>
          <p:nvPr/>
        </p:nvSpPr>
        <p:spPr>
          <a:xfrm>
            <a:off x="6496050" y="2324100"/>
            <a:ext cx="323850" cy="323850"/>
          </a:xfrm>
          <a:prstGeom prst="ellipse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21" name="badge-text-04"/>
          <p:cNvSpPr>
            <a:spLocks noGrp="1"/>
          </p:cNvSpPr>
          <p:nvPr/>
        </p:nvSpPr>
        <p:spPr>
          <a:xfrm>
            <a:off x="6496050" y="23717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12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card-head-运营服务"/>
          <p:cNvSpPr>
            <a:spLocks noGrp="1"/>
          </p:cNvSpPr>
          <p:nvPr/>
        </p:nvSpPr>
        <p:spPr>
          <a:xfrm>
            <a:off x="7010400" y="2343150"/>
            <a:ext cx="1257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运营服务</a:t>
            </a:r>
            <a:endParaRPr sz="18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3" name="card-body-运营服务"/>
          <p:cNvSpPr>
            <a:spLocks noGrp="1"/>
          </p:cNvSpPr>
          <p:nvPr/>
        </p:nvSpPr>
        <p:spPr>
          <a:xfrm>
            <a:off x="6496050" y="2895600"/>
            <a:ext cx="17716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提供场景配置、培训辅导、数据分析、报告输出和持续优化。</a:t>
            </a:r>
            <a:endParaRPr sz="1500" b="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4" name="card-Token 算力"/>
          <p:cNvSpPr>
            <a:spLocks noGrp="1"/>
          </p:cNvSpPr>
          <p:nvPr/>
        </p:nvSpPr>
        <p:spPr>
          <a:xfrm>
            <a:off x="9029700" y="2133600"/>
            <a:ext cx="2190750" cy="2190750"/>
          </a:xfrm>
          <a:prstGeom prst="roundRect">
            <a:avLst>
              <a:gd name="adj" fmla="val 2970"/>
            </a:avLst>
          </a:prstGeom>
          <a:solidFill>
            <a:srgbClr val="111111"/>
          </a:solidFill>
          <a:ln w="9525">
            <a:solidFill>
              <a:srgbClr val="2F83FF"/>
            </a:solidFill>
            <a:prstDash val="solid"/>
          </a:ln>
        </p:spPr>
      </p:sp>
      <p:sp>
        <p:nvSpPr>
          <p:cNvPr id="25" name="badge-05"/>
          <p:cNvSpPr>
            <a:spLocks noGrp="1"/>
          </p:cNvSpPr>
          <p:nvPr/>
        </p:nvSpPr>
        <p:spPr>
          <a:xfrm>
            <a:off x="9239250" y="2324100"/>
            <a:ext cx="323850" cy="323850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6" name="badge-text-05"/>
          <p:cNvSpPr>
            <a:spLocks noGrp="1"/>
          </p:cNvSpPr>
          <p:nvPr/>
        </p:nvSpPr>
        <p:spPr>
          <a:xfrm>
            <a:off x="9239250" y="2371725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04</a:t>
            </a:r>
            <a:endParaRPr sz="112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7" name="card-head-Token 算力"/>
          <p:cNvSpPr>
            <a:spLocks noGrp="1"/>
          </p:cNvSpPr>
          <p:nvPr/>
        </p:nvSpPr>
        <p:spPr>
          <a:xfrm>
            <a:off x="9753600" y="2343150"/>
            <a:ext cx="1257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Token 算力</a:t>
            </a:r>
            <a:endParaRPr sz="18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8" name="card-body-Token 算力"/>
          <p:cNvSpPr>
            <a:spLocks noGrp="1"/>
          </p:cNvSpPr>
          <p:nvPr/>
        </p:nvSpPr>
        <p:spPr>
          <a:xfrm>
            <a:off x="9239250" y="2895600"/>
            <a:ext cx="1771650" cy="1219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以模型统计计量 AI 调用和算力消耗，支撑套餐、预警和结算。</a:t>
            </a:r>
            <a:endParaRPr sz="1500" b="0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0" name="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rmAutofit/>
          </a:bodyPr>
          <a:lstStyle/>
          <a:p>
            <a:pPr algn="r">
              <a:buNone/>
              <a:def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27</a:t>
            </a:r>
            <a:endParaRPr sz="975" b="0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2" name="card-subhead-解决方案-产品"/>
          <p:cNvSpPr>
            <a:spLocks noGrp="1"/>
          </p:cNvSpPr>
          <p:nvPr/>
        </p:nvSpPr>
        <p:spPr>
          <a:xfrm>
            <a:off x="1343660" y="2628900"/>
            <a:ext cx="12573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ctr">
              <a:buNone/>
              <a:defRPr sz="1200" b="1">
                <a:solidFill>
                  <a:srgbClr val="2F83FF"/>
                </a:solidFill>
                <a:latin typeface="PingFang SC"/>
                <a:ea typeface="PingFang SC"/>
                <a:cs typeface="PingFang SC"/>
              </a:defRPr>
            </a:pPr>
            <a:r>
              <a:rPr sz="1300" b="1">
                <a:solidFill>
                  <a:srgbClr val="2F83FF"/>
                </a:solidFill>
                <a:latin typeface="PingFang SC"/>
                <a:ea typeface="PingFang SC"/>
                <a:cs typeface="PingFang SC"/>
              </a:rPr>
              <a:t>【产品线】</a:t>
            </a:r>
            <a:endParaRPr sz="1300" b="1">
              <a:solidFill>
                <a:srgbClr val="2F83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3" name="commercial-card"/>
          <p:cNvSpPr>
            <a:spLocks noGrp="1"/>
          </p:cNvSpPr>
          <p:nvPr/>
        </p:nvSpPr>
        <p:spPr>
          <a:xfrm>
            <a:off x="800100" y="4743450"/>
            <a:ext cx="5143500" cy="1181100"/>
          </a:xfrm>
          <a:prstGeom prst="roundRect">
            <a:avLst>
              <a:gd name="adj" fmla="val 5085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36" name="commercial-title"/>
          <p:cNvSpPr>
            <a:spLocks noGrp="1"/>
          </p:cNvSpPr>
          <p:nvPr/>
        </p:nvSpPr>
        <p:spPr>
          <a:xfrm>
            <a:off x="1562100" y="49149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0952"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多元商业模式支撑</a:t>
            </a:r>
            <a:endParaRPr sz="157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7" name="commercial-body"/>
          <p:cNvSpPr>
            <a:spLocks noGrp="1"/>
          </p:cNvSpPr>
          <p:nvPr/>
        </p:nvSpPr>
        <p:spPr>
          <a:xfrm>
            <a:off x="1562100" y="5219700"/>
            <a:ext cx="400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支持 SaaS 订阅、项目制交付和私有化部署，</a:t>
            </a:r>
            <a:endParaRPr sz="1125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  <a:p>
            <a:pPr algn="l">
              <a:buNone/>
              <a:def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适配不同客户的付费习惯与安全合规要求。</a:t>
            </a:r>
            <a:endParaRPr sz="1125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8" name="value-depth-card"/>
          <p:cNvSpPr>
            <a:spLocks noGrp="1"/>
          </p:cNvSpPr>
          <p:nvPr/>
        </p:nvSpPr>
        <p:spPr>
          <a:xfrm>
            <a:off x="6248400" y="4743450"/>
            <a:ext cx="5143500" cy="1181100"/>
          </a:xfrm>
          <a:prstGeom prst="roundRect">
            <a:avLst>
              <a:gd name="adj" fmla="val 5085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41" name="value-depth-title"/>
          <p:cNvSpPr>
            <a:spLocks noGrp="1"/>
          </p:cNvSpPr>
          <p:nvPr/>
        </p:nvSpPr>
        <p:spPr>
          <a:xfrm>
            <a:off x="7010400" y="49149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0952"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价值与深度逐级递进</a:t>
            </a:r>
            <a:endParaRPr sz="157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2" name="value-depth-body"/>
          <p:cNvSpPr>
            <a:spLocks noGrp="1"/>
          </p:cNvSpPr>
          <p:nvPr/>
        </p:nvSpPr>
        <p:spPr>
          <a:xfrm>
            <a:off x="7010400" y="5219700"/>
            <a:ext cx="4000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从工具平台到业务支撑平台，再到场景化解决方案，</a:t>
            </a:r>
            <a:endParaRPr sz="1125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  <a:p>
            <a:pPr algn="l">
              <a:buNone/>
              <a:def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2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伴随客户成熟度提升实现价值共创。</a:t>
            </a:r>
            <a:endParaRPr sz="1125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pic>
        <p:nvPicPr>
          <p:cNvPr id="75" name="Picture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9515" y="4900930"/>
            <a:ext cx="304800" cy="304800"/>
          </a:xfrm>
          <a:prstGeom prst="rect">
            <a:avLst/>
          </a:prstGeom>
        </p:spPr>
      </p:pic>
      <p:pic>
        <p:nvPicPr>
          <p:cNvPr id="7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4900295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07035" y="620395"/>
            <a:ext cx="1095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附</a:t>
            </a:r>
            <a:r>
              <a: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录：</a:t>
            </a:r>
            <a:r>
              <a: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基于</a:t>
            </a:r>
            <a:r>
              <a: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AI 原生底座开发模式的优势与特点</a:t>
            </a:r>
            <a:endParaRPr sz="28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407035" y="1363345"/>
            <a:ext cx="11391900" cy="0"/>
          </a:xfrm>
          <a:prstGeom prst="line">
            <a:avLst/>
          </a:prstGeom>
          <a:noFill/>
          <a:ln w="11430">
            <a:solidFill>
              <a:srgbClr val="C9CED8"/>
            </a:solidFill>
            <a:prstDash val="solid"/>
          </a:ln>
        </p:spPr>
      </p:sp>
      <p:sp>
        <p:nvSpPr>
          <p:cNvPr id="4" name="lead-band"/>
          <p:cNvSpPr>
            <a:spLocks noGrp="1"/>
          </p:cNvSpPr>
          <p:nvPr/>
        </p:nvSpPr>
        <p:spPr>
          <a:xfrm>
            <a:off x="742950" y="2076450"/>
            <a:ext cx="10706100" cy="533400"/>
          </a:xfrm>
          <a:prstGeom prst="roundRect">
            <a:avLst>
              <a:gd name="adj" fmla="val 10714"/>
            </a:avLst>
          </a:prstGeom>
          <a:solidFill>
            <a:srgbClr val="EAF5FB"/>
          </a:solidFill>
          <a:ln w="10478">
            <a:solidFill>
              <a:srgbClr val="A7D4FF"/>
            </a:solidFill>
            <a:prstDash val="solid"/>
          </a:ln>
        </p:spPr>
      </p:sp>
      <p:sp>
        <p:nvSpPr>
          <p:cNvPr id="5" name="lead-text"/>
          <p:cNvSpPr>
            <a:spLocks noGrp="1"/>
          </p:cNvSpPr>
          <p:nvPr/>
        </p:nvSpPr>
        <p:spPr>
          <a:xfrm>
            <a:off x="1066800" y="2209800"/>
            <a:ext cx="10058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6667"/>
          </a:bodyPr>
          <a:lstStyle/>
          <a:p>
            <a:pPr algn="ctr">
              <a:buNone/>
              <a:defRPr sz="1500" b="1">
                <a:solidFill>
                  <a:srgbClr val="0F5CC7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F5CC7"/>
                </a:solidFill>
                <a:latin typeface="PingFang SC"/>
                <a:ea typeface="PingFang SC"/>
                <a:cs typeface="PingFang SC"/>
              </a:rPr>
              <a:t>本小节聚焦 AI 原生底座带来的开发模式变化：更快迭代、更强复用、更可验证。</a:t>
            </a:r>
            <a:endParaRPr sz="1500" b="1">
              <a:solidFill>
                <a:srgbClr val="0F5CC7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" name="toc-card-1"/>
          <p:cNvSpPr>
            <a:spLocks noGrp="1"/>
          </p:cNvSpPr>
          <p:nvPr/>
        </p:nvSpPr>
        <p:spPr>
          <a:xfrm>
            <a:off x="857250" y="2781300"/>
            <a:ext cx="3257550" cy="200025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7" name="toc-badge-1"/>
          <p:cNvSpPr>
            <a:spLocks noGrp="1"/>
          </p:cNvSpPr>
          <p:nvPr/>
        </p:nvSpPr>
        <p:spPr>
          <a:xfrm>
            <a:off x="1085850" y="3028950"/>
            <a:ext cx="400050" cy="4000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8" name="toc-badge-1-text"/>
          <p:cNvSpPr>
            <a:spLocks noGrp="1"/>
          </p:cNvSpPr>
          <p:nvPr/>
        </p:nvSpPr>
        <p:spPr>
          <a:xfrm>
            <a:off x="1085850" y="30861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toc-title-1"/>
          <p:cNvSpPr>
            <a:spLocks noGrp="1"/>
          </p:cNvSpPr>
          <p:nvPr/>
        </p:nvSpPr>
        <p:spPr>
          <a:xfrm>
            <a:off x="1657350" y="299085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快速迭代</a:t>
            </a:r>
            <a:endParaRPr sz="172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toc-body-1"/>
          <p:cNvSpPr>
            <a:spLocks noGrp="1"/>
          </p:cNvSpPr>
          <p:nvPr/>
        </p:nvSpPr>
        <p:spPr>
          <a:xfrm>
            <a:off x="1143000" y="3581400"/>
            <a:ext cx="2686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从需求到上线形成 AI + 敏捷闭环，缩短试错和交付周期。</a:t>
            </a:r>
            <a:endParaRPr sz="1275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toc-card-2"/>
          <p:cNvSpPr>
            <a:spLocks noGrp="1"/>
          </p:cNvSpPr>
          <p:nvPr/>
        </p:nvSpPr>
        <p:spPr>
          <a:xfrm>
            <a:off x="4476750" y="2781300"/>
            <a:ext cx="3257550" cy="2000250"/>
          </a:xfrm>
          <a:prstGeom prst="roundRect">
            <a:avLst>
              <a:gd name="adj" fmla="val 2857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15" name="toc-badge-2"/>
          <p:cNvSpPr>
            <a:spLocks noGrp="1"/>
          </p:cNvSpPr>
          <p:nvPr/>
        </p:nvSpPr>
        <p:spPr>
          <a:xfrm>
            <a:off x="4705350" y="3028950"/>
            <a:ext cx="400050" cy="4000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16" name="toc-badge-2-text"/>
          <p:cNvSpPr>
            <a:spLocks noGrp="1"/>
          </p:cNvSpPr>
          <p:nvPr/>
        </p:nvSpPr>
        <p:spPr>
          <a:xfrm>
            <a:off x="4705350" y="30861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toc-title-2"/>
          <p:cNvSpPr>
            <a:spLocks noGrp="1"/>
          </p:cNvSpPr>
          <p:nvPr/>
        </p:nvSpPr>
        <p:spPr>
          <a:xfrm>
            <a:off x="5276850" y="299085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三层协同</a:t>
            </a:r>
            <a:endParaRPr sz="172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toc-body-2"/>
          <p:cNvSpPr>
            <a:spLocks noGrp="1"/>
          </p:cNvSpPr>
          <p:nvPr/>
        </p:nvSpPr>
        <p:spPr>
          <a:xfrm>
            <a:off x="4762500" y="3581400"/>
            <a:ext cx="2686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稳态底座、配置层和前台定开分工协作，支撑复用和灵活响应。</a:t>
            </a:r>
            <a:endParaRPr sz="1275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toc-card-3"/>
          <p:cNvSpPr>
            <a:spLocks noGrp="1"/>
          </p:cNvSpPr>
          <p:nvPr/>
        </p:nvSpPr>
        <p:spPr>
          <a:xfrm>
            <a:off x="8096250" y="2781300"/>
            <a:ext cx="3257550" cy="200025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23" name="toc-badge-3"/>
          <p:cNvSpPr>
            <a:spLocks noGrp="1"/>
          </p:cNvSpPr>
          <p:nvPr/>
        </p:nvSpPr>
        <p:spPr>
          <a:xfrm>
            <a:off x="8324850" y="3028950"/>
            <a:ext cx="400050" cy="4000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24" name="toc-badge-3-text"/>
          <p:cNvSpPr>
            <a:spLocks noGrp="1"/>
          </p:cNvSpPr>
          <p:nvPr/>
        </p:nvSpPr>
        <p:spPr>
          <a:xfrm>
            <a:off x="8324850" y="3086100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5" name="toc-title-3"/>
          <p:cNvSpPr>
            <a:spLocks noGrp="1"/>
          </p:cNvSpPr>
          <p:nvPr/>
        </p:nvSpPr>
        <p:spPr>
          <a:xfrm>
            <a:off x="8896350" y="299085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实践验证</a:t>
            </a:r>
            <a:endParaRPr sz="172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6" name="toc-body-3"/>
          <p:cNvSpPr>
            <a:spLocks noGrp="1"/>
          </p:cNvSpPr>
          <p:nvPr/>
        </p:nvSpPr>
        <p:spPr>
          <a:xfrm>
            <a:off x="8382000" y="3581400"/>
            <a:ext cx="26860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用3个月实践验证效率、质量和产研能力的系统提升。</a:t>
            </a:r>
            <a:endParaRPr sz="1275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1" name="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rmAutofit fontScale="98718"/>
          </a:bodyPr>
          <a:lstStyle/>
          <a:p>
            <a:pPr algn="r">
              <a:buNone/>
              <a:def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28</a:t>
            </a:r>
            <a:endParaRPr sz="975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toc-arrow-1"/>
          <p:cNvSpPr>
            <a:spLocks noGrp="1"/>
          </p:cNvSpPr>
          <p:nvPr/>
        </p:nvSpPr>
        <p:spPr>
          <a:xfrm>
            <a:off x="4079240" y="3695700"/>
            <a:ext cx="400050" cy="247650"/>
          </a:xfrm>
          <a:prstGeom prst="rightArrow">
            <a:avLst/>
          </a:prstGeom>
          <a:solidFill>
            <a:srgbClr val="B7BDC8"/>
          </a:solidFill>
          <a:ln w="0">
            <a:solidFill>
              <a:srgbClr val="B7BDC8"/>
            </a:solidFill>
            <a:prstDash val="solid"/>
          </a:ln>
        </p:spPr>
      </p:sp>
      <p:sp>
        <p:nvSpPr>
          <p:cNvPr id="21" name="toc-arrow-2"/>
          <p:cNvSpPr>
            <a:spLocks noGrp="1"/>
          </p:cNvSpPr>
          <p:nvPr/>
        </p:nvSpPr>
        <p:spPr>
          <a:xfrm>
            <a:off x="7743190" y="3695700"/>
            <a:ext cx="344805" cy="247650"/>
          </a:xfrm>
          <a:prstGeom prst="rightArrow">
            <a:avLst/>
          </a:prstGeom>
          <a:solidFill>
            <a:srgbClr val="B7BDC8"/>
          </a:solidFill>
          <a:ln w="0">
            <a:solidFill>
              <a:srgbClr val="B7BDC8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00050" y="781050"/>
            <a:ext cx="1095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开发新模式：拥抱 AI 时代的快速迭代</a:t>
            </a:r>
            <a:endParaRPr sz="28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400050" y="1638300"/>
            <a:ext cx="11391900" cy="0"/>
          </a:xfrm>
          <a:prstGeom prst="line">
            <a:avLst/>
          </a:prstGeom>
          <a:noFill/>
          <a:ln w="11430">
            <a:solidFill>
              <a:srgbClr val="C9CED8"/>
            </a:solidFill>
            <a:prstDash val="solid"/>
          </a:ln>
        </p:spPr>
      </p:sp>
      <p:sp>
        <p:nvSpPr>
          <p:cNvPr id="4" name="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rmAutofit fontScale="98718"/>
          </a:bodyPr>
          <a:lstStyle/>
          <a:p>
            <a:pPr algn="r">
              <a:buNone/>
              <a:def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29</a:t>
            </a:r>
            <a:endParaRPr sz="975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lead-band"/>
          <p:cNvSpPr>
            <a:spLocks noGrp="1"/>
          </p:cNvSpPr>
          <p:nvPr/>
        </p:nvSpPr>
        <p:spPr>
          <a:xfrm>
            <a:off x="742950" y="2057400"/>
            <a:ext cx="10706100" cy="1257300"/>
          </a:xfrm>
          <a:prstGeom prst="roundRect">
            <a:avLst>
              <a:gd name="adj" fmla="val 4545"/>
            </a:avLst>
          </a:prstGeom>
          <a:solidFill>
            <a:srgbClr val="EAF5FB"/>
          </a:solidFill>
          <a:ln w="10478">
            <a:solidFill>
              <a:srgbClr val="A7D4FF"/>
            </a:solidFill>
            <a:prstDash val="solid"/>
          </a:ln>
        </p:spPr>
      </p:sp>
      <p:sp>
        <p:nvSpPr>
          <p:cNvPr id="6" name="lead-label"/>
          <p:cNvSpPr>
            <a:spLocks noGrp="1"/>
          </p:cNvSpPr>
          <p:nvPr/>
        </p:nvSpPr>
        <p:spPr>
          <a:xfrm>
            <a:off x="1047750" y="2343150"/>
            <a:ext cx="1238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4848"/>
          </a:bodyPr>
          <a:lstStyle/>
          <a:p>
            <a:pPr algn="l">
              <a:buNone/>
              <a:defRPr sz="1650" b="1">
                <a:solidFill>
                  <a:srgbClr val="0F5CC7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F5CC7"/>
                </a:solidFill>
                <a:latin typeface="PingFang SC"/>
                <a:ea typeface="PingFang SC"/>
                <a:cs typeface="PingFang SC"/>
              </a:rPr>
              <a:t>核心价值</a:t>
            </a:r>
            <a:endParaRPr sz="1650" b="1">
              <a:solidFill>
                <a:srgbClr val="0F5CC7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lead-copy"/>
          <p:cNvSpPr>
            <a:spLocks noGrp="1"/>
          </p:cNvSpPr>
          <p:nvPr/>
        </p:nvSpPr>
        <p:spPr>
          <a:xfrm>
            <a:off x="2457450" y="2171700"/>
            <a:ext cx="8286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5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在 AI 时代，速度即竞争力。</a:t>
            </a:r>
            <a:endParaRPr sz="1575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  <a:p>
            <a:pPr algn="l">
              <a:buNone/>
              <a:defRPr sz="15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AI 原生开发模式把产品底座、业务模型和开发流程统一起来，</a:t>
            </a:r>
            <a:endParaRPr sz="1575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  <a:p>
            <a:pPr algn="l">
              <a:buNone/>
              <a:defRPr sz="15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让需求、设计、代码、测试和部署形成快速闭环。</a:t>
            </a:r>
            <a:endParaRPr sz="1575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step-card-1"/>
          <p:cNvSpPr>
            <a:spLocks noGrp="1"/>
          </p:cNvSpPr>
          <p:nvPr/>
        </p:nvSpPr>
        <p:spPr>
          <a:xfrm>
            <a:off x="742950" y="3943350"/>
            <a:ext cx="21907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9" name="step-card-1-badge"/>
          <p:cNvSpPr>
            <a:spLocks noGrp="1"/>
          </p:cNvSpPr>
          <p:nvPr/>
        </p:nvSpPr>
        <p:spPr>
          <a:xfrm>
            <a:off x="952500" y="4152900"/>
            <a:ext cx="361950" cy="3619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10" name="step-card-1-badge-text"/>
          <p:cNvSpPr>
            <a:spLocks noGrp="1"/>
          </p:cNvSpPr>
          <p:nvPr/>
        </p:nvSpPr>
        <p:spPr>
          <a:xfrm>
            <a:off x="952500" y="4210050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1111"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12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step-card-1-title"/>
          <p:cNvSpPr>
            <a:spLocks noGrp="1"/>
          </p:cNvSpPr>
          <p:nvPr/>
        </p:nvSpPr>
        <p:spPr>
          <a:xfrm>
            <a:off x="1466850" y="4152900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业务抽象</a:t>
            </a:r>
            <a:endParaRPr sz="157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step-card-1-body"/>
          <p:cNvSpPr>
            <a:spLocks noGrp="1"/>
          </p:cNvSpPr>
          <p:nvPr/>
        </p:nvSpPr>
        <p:spPr>
          <a:xfrm>
            <a:off x="990600" y="4667250"/>
            <a:ext cx="1695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216"/>
          </a:bodyPr>
          <a:lstStyle/>
          <a:p>
            <a:pPr algn="l">
              <a:buNone/>
              <a:def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用统一模型</a:t>
            </a:r>
            <a:endParaRPr sz="1275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  <a:p>
            <a:pPr algn="l">
              <a:buNone/>
              <a:def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表达业务需求</a:t>
            </a:r>
            <a:endParaRPr sz="1275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step-arrow-1"/>
          <p:cNvSpPr>
            <a:spLocks noGrp="1"/>
          </p:cNvSpPr>
          <p:nvPr/>
        </p:nvSpPr>
        <p:spPr>
          <a:xfrm>
            <a:off x="3105150" y="4514850"/>
            <a:ext cx="400050" cy="209550"/>
          </a:xfrm>
          <a:prstGeom prst="rightArrow">
            <a:avLst/>
          </a:prstGeom>
          <a:solidFill>
            <a:srgbClr val="B7BDC8"/>
          </a:solidFill>
          <a:ln w="0">
            <a:solidFill>
              <a:srgbClr val="B7BDC8"/>
            </a:solidFill>
            <a:prstDash val="solid"/>
          </a:ln>
        </p:spPr>
      </p:sp>
      <p:sp>
        <p:nvSpPr>
          <p:cNvPr id="14" name="step-card-2"/>
          <p:cNvSpPr>
            <a:spLocks noGrp="1"/>
          </p:cNvSpPr>
          <p:nvPr/>
        </p:nvSpPr>
        <p:spPr>
          <a:xfrm>
            <a:off x="3505200" y="3943350"/>
            <a:ext cx="2190750" cy="1314450"/>
          </a:xfrm>
          <a:prstGeom prst="roundRect">
            <a:avLst>
              <a:gd name="adj" fmla="val 4348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15" name="step-card-2-badge"/>
          <p:cNvSpPr>
            <a:spLocks noGrp="1"/>
          </p:cNvSpPr>
          <p:nvPr/>
        </p:nvSpPr>
        <p:spPr>
          <a:xfrm>
            <a:off x="3714750" y="4152900"/>
            <a:ext cx="361950" cy="3619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16" name="step-card-2-badge-text"/>
          <p:cNvSpPr>
            <a:spLocks noGrp="1"/>
          </p:cNvSpPr>
          <p:nvPr/>
        </p:nvSpPr>
        <p:spPr>
          <a:xfrm>
            <a:off x="3714750" y="4210050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1111"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12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step-card-2-title"/>
          <p:cNvSpPr>
            <a:spLocks noGrp="1"/>
          </p:cNvSpPr>
          <p:nvPr/>
        </p:nvSpPr>
        <p:spPr>
          <a:xfrm>
            <a:off x="4229100" y="4152900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AI 生成</a:t>
            </a:r>
            <a:endParaRPr sz="157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step-card-2-body"/>
          <p:cNvSpPr>
            <a:spLocks noGrp="1"/>
          </p:cNvSpPr>
          <p:nvPr/>
        </p:nvSpPr>
        <p:spPr>
          <a:xfrm>
            <a:off x="3752850" y="4667250"/>
            <a:ext cx="1695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216"/>
          </a:bodyPr>
          <a:lstStyle/>
          <a:p>
            <a:pPr algn="l">
              <a:buNone/>
              <a:def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辅助方案、页面、</a:t>
            </a:r>
            <a:endParaRPr sz="1275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  <a:p>
            <a:pPr algn="l">
              <a:buNone/>
              <a:def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代码和测试生成</a:t>
            </a:r>
            <a:endParaRPr sz="1275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step-arrow-2"/>
          <p:cNvSpPr>
            <a:spLocks noGrp="1"/>
          </p:cNvSpPr>
          <p:nvPr/>
        </p:nvSpPr>
        <p:spPr>
          <a:xfrm>
            <a:off x="5867400" y="4514850"/>
            <a:ext cx="400050" cy="209550"/>
          </a:xfrm>
          <a:prstGeom prst="rightArrow">
            <a:avLst/>
          </a:prstGeom>
          <a:solidFill>
            <a:srgbClr val="B7BDC8"/>
          </a:solidFill>
          <a:ln w="0">
            <a:solidFill>
              <a:srgbClr val="B7BDC8"/>
            </a:solidFill>
            <a:prstDash val="solid"/>
          </a:ln>
        </p:spPr>
      </p:sp>
      <p:sp>
        <p:nvSpPr>
          <p:cNvPr id="20" name="step-card-3"/>
          <p:cNvSpPr>
            <a:spLocks noGrp="1"/>
          </p:cNvSpPr>
          <p:nvPr/>
        </p:nvSpPr>
        <p:spPr>
          <a:xfrm>
            <a:off x="6267450" y="3943350"/>
            <a:ext cx="21907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21" name="step-card-3-badge"/>
          <p:cNvSpPr>
            <a:spLocks noGrp="1"/>
          </p:cNvSpPr>
          <p:nvPr/>
        </p:nvSpPr>
        <p:spPr>
          <a:xfrm>
            <a:off x="6477000" y="4152900"/>
            <a:ext cx="361950" cy="3619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22" name="step-card-3-badge-text"/>
          <p:cNvSpPr>
            <a:spLocks noGrp="1"/>
          </p:cNvSpPr>
          <p:nvPr/>
        </p:nvSpPr>
        <p:spPr>
          <a:xfrm>
            <a:off x="6477000" y="4210050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1111"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12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3" name="step-card-3-title"/>
          <p:cNvSpPr>
            <a:spLocks noGrp="1"/>
          </p:cNvSpPr>
          <p:nvPr/>
        </p:nvSpPr>
        <p:spPr>
          <a:xfrm>
            <a:off x="6991350" y="4152900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快速验证</a:t>
            </a:r>
            <a:endParaRPr sz="157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4" name="step-card-3-body"/>
          <p:cNvSpPr>
            <a:spLocks noGrp="1"/>
          </p:cNvSpPr>
          <p:nvPr/>
        </p:nvSpPr>
        <p:spPr>
          <a:xfrm>
            <a:off x="6515100" y="4667250"/>
            <a:ext cx="1695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216"/>
          </a:bodyPr>
          <a:lstStyle/>
          <a:p>
            <a:pPr algn="l">
              <a:buNone/>
              <a:def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快速上线、试错、</a:t>
            </a:r>
            <a:endParaRPr sz="1275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  <a:p>
            <a:pPr algn="l">
              <a:buNone/>
              <a:def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反馈和迭代</a:t>
            </a:r>
            <a:endParaRPr sz="1275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5" name="step-arrow-3"/>
          <p:cNvSpPr>
            <a:spLocks noGrp="1"/>
          </p:cNvSpPr>
          <p:nvPr/>
        </p:nvSpPr>
        <p:spPr>
          <a:xfrm>
            <a:off x="8629650" y="4514850"/>
            <a:ext cx="400050" cy="209550"/>
          </a:xfrm>
          <a:prstGeom prst="rightArrow">
            <a:avLst/>
          </a:prstGeom>
          <a:solidFill>
            <a:srgbClr val="B7BDC8"/>
          </a:solidFill>
          <a:ln w="0">
            <a:solidFill>
              <a:srgbClr val="B7BDC8"/>
            </a:solidFill>
            <a:prstDash val="solid"/>
          </a:ln>
        </p:spPr>
      </p:sp>
      <p:sp>
        <p:nvSpPr>
          <p:cNvPr id="26" name="step-card-4"/>
          <p:cNvSpPr>
            <a:spLocks noGrp="1"/>
          </p:cNvSpPr>
          <p:nvPr/>
        </p:nvSpPr>
        <p:spPr>
          <a:xfrm>
            <a:off x="9029700" y="3943350"/>
            <a:ext cx="2190750" cy="13144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27" name="step-card-4-badge"/>
          <p:cNvSpPr>
            <a:spLocks noGrp="1"/>
          </p:cNvSpPr>
          <p:nvPr/>
        </p:nvSpPr>
        <p:spPr>
          <a:xfrm>
            <a:off x="9239250" y="4152900"/>
            <a:ext cx="361950" cy="3619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28" name="step-card-4-badge-text"/>
          <p:cNvSpPr>
            <a:spLocks noGrp="1"/>
          </p:cNvSpPr>
          <p:nvPr/>
        </p:nvSpPr>
        <p:spPr>
          <a:xfrm>
            <a:off x="9239250" y="4210050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1111"/>
          </a:bodyPr>
          <a:lstStyle/>
          <a:p>
            <a:pPr algn="ctr">
              <a:buNone/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  <a:endParaRPr sz="112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9" name="step-card-4-title"/>
          <p:cNvSpPr>
            <a:spLocks noGrp="1"/>
          </p:cNvSpPr>
          <p:nvPr/>
        </p:nvSpPr>
        <p:spPr>
          <a:xfrm>
            <a:off x="9753600" y="4152900"/>
            <a:ext cx="1238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能力沉淀</a:t>
            </a:r>
            <a:endParaRPr sz="157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0" name="step-card-4-body"/>
          <p:cNvSpPr>
            <a:spLocks noGrp="1"/>
          </p:cNvSpPr>
          <p:nvPr/>
        </p:nvSpPr>
        <p:spPr>
          <a:xfrm>
            <a:off x="9277350" y="4667250"/>
            <a:ext cx="16954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9216"/>
          </a:bodyPr>
          <a:lstStyle/>
          <a:p>
            <a:pPr algn="l">
              <a:buNone/>
              <a:def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沉淀为可复用的</a:t>
            </a:r>
            <a:endParaRPr sz="1275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  <a:p>
            <a:pPr algn="l">
              <a:buNone/>
              <a:def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产品能力</a:t>
            </a:r>
            <a:endParaRPr sz="1275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1" name="bottom-note-band"/>
          <p:cNvSpPr>
            <a:spLocks noGrp="1"/>
          </p:cNvSpPr>
          <p:nvPr/>
        </p:nvSpPr>
        <p:spPr>
          <a:xfrm>
            <a:off x="1238250" y="5791200"/>
            <a:ext cx="9715500" cy="400050"/>
          </a:xfrm>
          <a:prstGeom prst="roundRect">
            <a:avLst>
              <a:gd name="adj" fmla="val 14286"/>
            </a:avLst>
          </a:prstGeom>
          <a:solidFill>
            <a:srgbClr val="F4FAFF"/>
          </a:solidFill>
          <a:ln w="10478">
            <a:solidFill>
              <a:srgbClr val="D8ECFF"/>
            </a:solidFill>
            <a:prstDash val="solid"/>
          </a:ln>
        </p:spPr>
      </p:sp>
      <p:sp>
        <p:nvSpPr>
          <p:cNvPr id="32" name="bottom-note"/>
          <p:cNvSpPr>
            <a:spLocks noGrp="1"/>
          </p:cNvSpPr>
          <p:nvPr/>
        </p:nvSpPr>
        <p:spPr>
          <a:xfrm>
            <a:off x="1428750" y="5867400"/>
            <a:ext cx="9334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5926"/>
          </a:bodyPr>
          <a:lstStyle/>
          <a:p>
            <a:pPr algn="ctr">
              <a:buNone/>
              <a:defRPr sz="1350" b="1">
                <a:solidFill>
                  <a:srgbClr val="2F83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F83FF"/>
                </a:solidFill>
                <a:latin typeface="PingFang SC"/>
                <a:ea typeface="PingFang SC"/>
                <a:cs typeface="PingFang SC"/>
              </a:rPr>
              <a:t>关键变化：AI 不只参与单点工具，而是进入从需求到上线的完整产研链路。</a:t>
            </a:r>
            <a:endParaRPr sz="1350" b="1">
              <a:solidFill>
                <a:srgbClr val="2F83FF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00050" y="781050"/>
            <a:ext cx="1095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产品开发模式探索：稳态、配置、定开三层协同</a:t>
            </a:r>
            <a:endParaRPr sz="28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400050" y="1638300"/>
            <a:ext cx="11391900" cy="0"/>
          </a:xfrm>
          <a:prstGeom prst="line">
            <a:avLst/>
          </a:prstGeom>
          <a:noFill/>
          <a:ln w="11430">
            <a:solidFill>
              <a:srgbClr val="C9CED8"/>
            </a:solidFill>
            <a:prstDash val="solid"/>
          </a:ln>
        </p:spPr>
      </p:sp>
      <p:sp>
        <p:nvSpPr>
          <p:cNvPr id="4" name="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rmAutofit fontScale="98718" lnSpcReduction="20000"/>
          </a:bodyPr>
          <a:lstStyle/>
          <a:p>
            <a:pPr algn="r">
              <a:buNone/>
              <a:def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30</a:t>
            </a:r>
            <a:endParaRPr sz="975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layer-1"/>
          <p:cNvSpPr>
            <a:spLocks noGrp="1"/>
          </p:cNvSpPr>
          <p:nvPr/>
        </p:nvSpPr>
        <p:spPr>
          <a:xfrm>
            <a:off x="914400" y="2038350"/>
            <a:ext cx="10363200" cy="990600"/>
          </a:xfrm>
          <a:prstGeom prst="roundRect">
            <a:avLst>
              <a:gd name="adj" fmla="val 5769"/>
            </a:avLst>
          </a:prstGeom>
          <a:solidFill>
            <a:srgbClr val="EAF5FB"/>
          </a:solidFill>
          <a:ln w="12383">
            <a:solidFill>
              <a:srgbClr val="A7D4FF"/>
            </a:solidFill>
            <a:prstDash val="solid"/>
          </a:ln>
        </p:spPr>
      </p:sp>
      <p:sp>
        <p:nvSpPr>
          <p:cNvPr id="6" name="layer-1-badge"/>
          <p:cNvSpPr>
            <a:spLocks noGrp="1"/>
          </p:cNvSpPr>
          <p:nvPr/>
        </p:nvSpPr>
        <p:spPr>
          <a:xfrm>
            <a:off x="1181100" y="2333625"/>
            <a:ext cx="400050" cy="400050"/>
          </a:xfrm>
          <a:prstGeom prst="ellipse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7" name="layer-1-badge-text"/>
          <p:cNvSpPr>
            <a:spLocks noGrp="1"/>
          </p:cNvSpPr>
          <p:nvPr/>
        </p:nvSpPr>
        <p:spPr>
          <a:xfrm>
            <a:off x="1181100" y="2390775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layer-1-title"/>
          <p:cNvSpPr>
            <a:spLocks noGrp="1"/>
          </p:cNvSpPr>
          <p:nvPr/>
        </p:nvSpPr>
        <p:spPr>
          <a:xfrm>
            <a:off x="1771650" y="2266950"/>
            <a:ext cx="685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1159"/>
          </a:bodyPr>
          <a:lstStyle/>
          <a:p>
            <a:pPr algn="l">
              <a:buNone/>
              <a:defRPr sz="1725" b="1">
                <a:solidFill>
                  <a:srgbClr val="0F5CC7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F5CC7"/>
                </a:solidFill>
                <a:latin typeface="PingFang SC"/>
                <a:ea typeface="PingFang SC"/>
                <a:cs typeface="PingFang SC"/>
              </a:rPr>
              <a:t>前台 AI 定制开发层：AI Vibe Coding</a:t>
            </a:r>
            <a:endParaRPr sz="1725" b="1">
              <a:solidFill>
                <a:srgbClr val="0F5CC7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layer-1-body"/>
          <p:cNvSpPr>
            <a:spLocks noGrp="1"/>
          </p:cNvSpPr>
          <p:nvPr/>
        </p:nvSpPr>
        <p:spPr>
          <a:xfrm>
            <a:off x="1771650" y="2609850"/>
            <a:ext cx="866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基于稳态能力，使用 AI 辅助生成前台代码与页面，快速响应个性化需求。</a:t>
            </a:r>
            <a:endParaRPr sz="120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layer-2"/>
          <p:cNvSpPr>
            <a:spLocks noGrp="1"/>
          </p:cNvSpPr>
          <p:nvPr/>
        </p:nvSpPr>
        <p:spPr>
          <a:xfrm>
            <a:off x="914400" y="3276600"/>
            <a:ext cx="10363200" cy="9906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12" name="layer-2-badge"/>
          <p:cNvSpPr>
            <a:spLocks noGrp="1"/>
          </p:cNvSpPr>
          <p:nvPr/>
        </p:nvSpPr>
        <p:spPr>
          <a:xfrm>
            <a:off x="1181100" y="3571875"/>
            <a:ext cx="400050" cy="4000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13" name="layer-2-badge-text"/>
          <p:cNvSpPr>
            <a:spLocks noGrp="1"/>
          </p:cNvSpPr>
          <p:nvPr/>
        </p:nvSpPr>
        <p:spPr>
          <a:xfrm>
            <a:off x="1181100" y="3629025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layer-2-title"/>
          <p:cNvSpPr>
            <a:spLocks noGrp="1"/>
          </p:cNvSpPr>
          <p:nvPr/>
        </p:nvSpPr>
        <p:spPr>
          <a:xfrm>
            <a:off x="1771650" y="3505200"/>
            <a:ext cx="685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1159"/>
          </a:bodyPr>
          <a:lstStyle/>
          <a:p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配置层：解决方案与场景模板</a:t>
            </a:r>
            <a:endParaRPr sz="172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layer-2-body"/>
          <p:cNvSpPr>
            <a:spLocks noGrp="1"/>
          </p:cNvSpPr>
          <p:nvPr/>
        </p:nvSpPr>
        <p:spPr>
          <a:xfrm>
            <a:off x="1771650" y="3848100"/>
            <a:ext cx="866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解决方案按产品能力组合；场景模板来自空间模块，支持项目、工作坊、校本研修和 AI 教学快速绑定。</a:t>
            </a:r>
            <a:endParaRPr sz="120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layer-3"/>
          <p:cNvSpPr>
            <a:spLocks noGrp="1"/>
          </p:cNvSpPr>
          <p:nvPr/>
        </p:nvSpPr>
        <p:spPr>
          <a:xfrm>
            <a:off x="914400" y="4514850"/>
            <a:ext cx="10363200" cy="990600"/>
          </a:xfrm>
          <a:prstGeom prst="roundRect">
            <a:avLst>
              <a:gd name="adj" fmla="val 5769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18" name="layer-3-badge"/>
          <p:cNvSpPr>
            <a:spLocks noGrp="1"/>
          </p:cNvSpPr>
          <p:nvPr/>
        </p:nvSpPr>
        <p:spPr>
          <a:xfrm>
            <a:off x="1181100" y="4810125"/>
            <a:ext cx="400050" cy="400050"/>
          </a:xfrm>
          <a:prstGeom prst="ellipse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19" name="layer-3-badge-text"/>
          <p:cNvSpPr>
            <a:spLocks noGrp="1"/>
          </p:cNvSpPr>
          <p:nvPr/>
        </p:nvSpPr>
        <p:spPr>
          <a:xfrm>
            <a:off x="1181100" y="4867275"/>
            <a:ext cx="400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0" name="layer-3-title"/>
          <p:cNvSpPr>
            <a:spLocks noGrp="1"/>
          </p:cNvSpPr>
          <p:nvPr/>
        </p:nvSpPr>
        <p:spPr>
          <a:xfrm>
            <a:off x="1771650" y="4743450"/>
            <a:ext cx="6858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1159"/>
          </a:bodyPr>
          <a:lstStyle/>
          <a:p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稳态层：AI 原生产品底座</a:t>
            </a:r>
            <a:endParaRPr sz="172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1" name="layer-3-body"/>
          <p:cNvSpPr>
            <a:spLocks noGrp="1"/>
          </p:cNvSpPr>
          <p:nvPr/>
        </p:nvSpPr>
        <p:spPr>
          <a:xfrm>
            <a:off x="1771650" y="5086350"/>
            <a:ext cx="866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沉淀资料库、空间、智能体、模型统计与开放接口，形成安全可靠的长期底座。</a:t>
            </a:r>
            <a:endParaRPr sz="120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bottom-note-band"/>
          <p:cNvSpPr>
            <a:spLocks noGrp="1"/>
          </p:cNvSpPr>
          <p:nvPr/>
        </p:nvSpPr>
        <p:spPr>
          <a:xfrm>
            <a:off x="1238250" y="5886450"/>
            <a:ext cx="9715500" cy="361950"/>
          </a:xfrm>
          <a:prstGeom prst="roundRect">
            <a:avLst>
              <a:gd name="adj" fmla="val 15789"/>
            </a:avLst>
          </a:prstGeom>
          <a:solidFill>
            <a:srgbClr val="F4FAFF"/>
          </a:solidFill>
          <a:ln w="10478">
            <a:solidFill>
              <a:srgbClr val="D8ECFF"/>
            </a:solidFill>
            <a:prstDash val="solid"/>
          </a:ln>
        </p:spPr>
      </p:sp>
      <p:sp>
        <p:nvSpPr>
          <p:cNvPr id="23" name="bottom-note"/>
          <p:cNvSpPr>
            <a:spLocks noGrp="1"/>
          </p:cNvSpPr>
          <p:nvPr/>
        </p:nvSpPr>
        <p:spPr>
          <a:xfrm>
            <a:off x="1428750" y="5953125"/>
            <a:ext cx="933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6667"/>
          </a:bodyPr>
          <a:lstStyle/>
          <a:p>
            <a:pPr algn="ctr">
              <a:buNone/>
              <a:defRPr sz="1350" b="1">
                <a:solidFill>
                  <a:srgbClr val="2F83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2F83FF"/>
                </a:solidFill>
                <a:latin typeface="PingFang SC"/>
                <a:ea typeface="PingFang SC"/>
                <a:cs typeface="PingFang SC"/>
              </a:rPr>
              <a:t>开发逻辑：稳态底座保持可靠，配置层负责复用组合，前台定开层面向变化快速响应。</a:t>
            </a:r>
            <a:endParaRPr sz="1350" b="1">
              <a:solidFill>
                <a:srgbClr val="2F83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layer-arrow-2"/>
          <p:cNvSpPr>
            <a:spLocks noGrp="1"/>
          </p:cNvSpPr>
          <p:nvPr/>
        </p:nvSpPr>
        <p:spPr>
          <a:xfrm rot="16200000">
            <a:off x="5886450" y="4343400"/>
            <a:ext cx="342900" cy="209550"/>
          </a:xfrm>
          <a:prstGeom prst="rightArrow">
            <a:avLst/>
          </a:prstGeom>
          <a:solidFill>
            <a:srgbClr val="B7BDC8"/>
          </a:solidFill>
          <a:ln w="0">
            <a:solidFill>
              <a:srgbClr val="B7BDC8"/>
            </a:solidFill>
            <a:prstDash val="solid"/>
          </a:ln>
        </p:spPr>
      </p:sp>
      <p:sp>
        <p:nvSpPr>
          <p:cNvPr id="25" name="layer-arrow-2"/>
          <p:cNvSpPr>
            <a:spLocks noGrp="1"/>
          </p:cNvSpPr>
          <p:nvPr/>
        </p:nvSpPr>
        <p:spPr>
          <a:xfrm rot="16200000">
            <a:off x="5885180" y="3035300"/>
            <a:ext cx="342900" cy="209550"/>
          </a:xfrm>
          <a:prstGeom prst="rightArrow">
            <a:avLst/>
          </a:prstGeom>
          <a:solidFill>
            <a:srgbClr val="B7BDC8"/>
          </a:solidFill>
          <a:ln w="0">
            <a:solidFill>
              <a:srgbClr val="B7BDC8"/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00050" y="781050"/>
            <a:ext cx="109537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3个月实践验证：AI + 敏捷流程带来至少6倍提效</a:t>
            </a:r>
            <a:endParaRPr sz="28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400050" y="1638300"/>
            <a:ext cx="11391900" cy="0"/>
          </a:xfrm>
          <a:prstGeom prst="line">
            <a:avLst/>
          </a:prstGeom>
          <a:noFill/>
          <a:ln w="11430">
            <a:solidFill>
              <a:srgbClr val="C9CED8"/>
            </a:solidFill>
            <a:prstDash val="solid"/>
          </a:ln>
        </p:spPr>
      </p:sp>
      <p:sp>
        <p:nvSpPr>
          <p:cNvPr id="4" name="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rmAutofit fontScale="98718"/>
          </a:bodyPr>
          <a:lstStyle/>
          <a:p>
            <a:pPr algn="r">
              <a:buNone/>
              <a:def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31</a:t>
            </a:r>
            <a:endParaRPr sz="975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" name="metric-card"/>
          <p:cNvSpPr>
            <a:spLocks noGrp="1"/>
          </p:cNvSpPr>
          <p:nvPr/>
        </p:nvSpPr>
        <p:spPr>
          <a:xfrm>
            <a:off x="742950" y="2114550"/>
            <a:ext cx="2857500" cy="2209800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6" name="metric-title"/>
          <p:cNvSpPr>
            <a:spLocks noGrp="1"/>
          </p:cNvSpPr>
          <p:nvPr/>
        </p:nvSpPr>
        <p:spPr>
          <a:xfrm>
            <a:off x="1047750" y="2400300"/>
            <a:ext cx="22479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9583"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3个月</a:t>
            </a:r>
            <a:endParaRPr sz="24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metric-value"/>
          <p:cNvSpPr>
            <a:spLocks noGrp="1"/>
          </p:cNvSpPr>
          <p:nvPr/>
        </p:nvSpPr>
        <p:spPr>
          <a:xfrm>
            <a:off x="1047750" y="3009900"/>
            <a:ext cx="2247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2550" b="1">
                <a:solidFill>
                  <a:srgbClr val="FF8A00"/>
                </a:solidFill>
                <a:latin typeface="PingFang SC"/>
                <a:ea typeface="PingFang SC"/>
                <a:cs typeface="PingFang SC"/>
              </a:defRPr>
            </a:pPr>
            <a:r>
              <a:rPr sz="2550" b="1">
                <a:solidFill>
                  <a:srgbClr val="FF8A00"/>
                </a:solidFill>
                <a:latin typeface="PingFang SC"/>
                <a:ea typeface="PingFang SC"/>
                <a:cs typeface="PingFang SC"/>
              </a:rPr>
              <a:t>至少6倍</a:t>
            </a:r>
            <a:endParaRPr sz="2550" b="1">
              <a:solidFill>
                <a:srgbClr val="FF8A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metric-body"/>
          <p:cNvSpPr>
            <a:spLocks noGrp="1"/>
          </p:cNvSpPr>
          <p:nvPr/>
        </p:nvSpPr>
        <p:spPr>
          <a:xfrm>
            <a:off x="1047750" y="3714750"/>
            <a:ext cx="22479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79412"/>
          </a:bodyPr>
          <a:lstStyle/>
          <a:p>
            <a:pPr algn="l">
              <a:buNone/>
              <a:def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研发效率综合提升</a:t>
            </a:r>
            <a:endParaRPr sz="1275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  <a:p>
            <a:pPr algn="l">
              <a:buNone/>
              <a:def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速度、质量和协作同步提升</a:t>
            </a:r>
            <a:endParaRPr sz="1275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benefit-card-1"/>
          <p:cNvSpPr>
            <a:spLocks noGrp="1"/>
          </p:cNvSpPr>
          <p:nvPr/>
        </p:nvSpPr>
        <p:spPr>
          <a:xfrm>
            <a:off x="3981450" y="2114550"/>
            <a:ext cx="2419350" cy="2209800"/>
          </a:xfrm>
          <a:prstGeom prst="roundRect">
            <a:avLst>
              <a:gd name="adj" fmla="val 2586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10" name="benefit-card-1-badge"/>
          <p:cNvSpPr>
            <a:spLocks noGrp="1"/>
          </p:cNvSpPr>
          <p:nvPr/>
        </p:nvSpPr>
        <p:spPr>
          <a:xfrm>
            <a:off x="4191000" y="2324100"/>
            <a:ext cx="361950" cy="361950"/>
          </a:xfrm>
          <a:prstGeom prst="ellipse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11" name="benefit-card-1-badge-text"/>
          <p:cNvSpPr>
            <a:spLocks noGrp="1"/>
          </p:cNvSpPr>
          <p:nvPr/>
        </p:nvSpPr>
        <p:spPr>
          <a:xfrm>
            <a:off x="4191000" y="2381250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417"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benefit-card-1-title"/>
          <p:cNvSpPr>
            <a:spLocks noGrp="1"/>
          </p:cNvSpPr>
          <p:nvPr/>
        </p:nvSpPr>
        <p:spPr>
          <a:xfrm>
            <a:off x="4705350" y="2324100"/>
            <a:ext cx="1466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需求闭环提速</a:t>
            </a:r>
            <a:endParaRPr sz="15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benefit-card-1-body"/>
          <p:cNvSpPr>
            <a:spLocks noGrp="1"/>
          </p:cNvSpPr>
          <p:nvPr/>
        </p:nvSpPr>
        <p:spPr>
          <a:xfrm>
            <a:off x="4229100" y="2838450"/>
            <a:ext cx="19240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AI辅助需求理解、</a:t>
            </a:r>
            <a:endParaRPr sz="120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  <a:p>
            <a:pPr algn="l">
              <a:buNone/>
              <a:def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方案整理、代码生成和测试验证，</a:t>
            </a:r>
            <a:endParaRPr sz="120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  <a:p>
            <a:pPr algn="l">
              <a:buNone/>
              <a:def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缩短上线周期。</a:t>
            </a:r>
            <a:endParaRPr sz="120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benefit-card-2"/>
          <p:cNvSpPr>
            <a:spLocks noGrp="1"/>
          </p:cNvSpPr>
          <p:nvPr/>
        </p:nvSpPr>
        <p:spPr>
          <a:xfrm>
            <a:off x="6705600" y="2114550"/>
            <a:ext cx="2419350" cy="2209800"/>
          </a:xfrm>
          <a:prstGeom prst="roundRect">
            <a:avLst>
              <a:gd name="adj" fmla="val 2586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15" name="benefit-card-2-badge"/>
          <p:cNvSpPr>
            <a:spLocks noGrp="1"/>
          </p:cNvSpPr>
          <p:nvPr/>
        </p:nvSpPr>
        <p:spPr>
          <a:xfrm>
            <a:off x="6915150" y="2324100"/>
            <a:ext cx="361950" cy="3619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16" name="benefit-card-2-badge-text"/>
          <p:cNvSpPr>
            <a:spLocks noGrp="1"/>
          </p:cNvSpPr>
          <p:nvPr/>
        </p:nvSpPr>
        <p:spPr>
          <a:xfrm>
            <a:off x="6915150" y="2381250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417"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benefit-card-2-title"/>
          <p:cNvSpPr>
            <a:spLocks noGrp="1"/>
          </p:cNvSpPr>
          <p:nvPr/>
        </p:nvSpPr>
        <p:spPr>
          <a:xfrm>
            <a:off x="7429500" y="2324100"/>
            <a:ext cx="1466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协同模式重构</a:t>
            </a:r>
            <a:endParaRPr sz="15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8" name="benefit-card-2-body"/>
          <p:cNvSpPr>
            <a:spLocks noGrp="1"/>
          </p:cNvSpPr>
          <p:nvPr/>
        </p:nvSpPr>
        <p:spPr>
          <a:xfrm>
            <a:off x="6953250" y="2838450"/>
            <a:ext cx="19240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产品、设计、研发和测试从串行转向并行，人机协同贯穿全过程。</a:t>
            </a:r>
            <a:endParaRPr sz="120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benefit-card-3"/>
          <p:cNvSpPr>
            <a:spLocks noGrp="1"/>
          </p:cNvSpPr>
          <p:nvPr/>
        </p:nvSpPr>
        <p:spPr>
          <a:xfrm>
            <a:off x="9429750" y="2114550"/>
            <a:ext cx="2419350" cy="2209800"/>
          </a:xfrm>
          <a:prstGeom prst="roundRect">
            <a:avLst>
              <a:gd name="adj" fmla="val 2586"/>
            </a:avLst>
          </a:prstGeom>
          <a:solidFill>
            <a:srgbClr val="EAF5FB"/>
          </a:solidFill>
          <a:ln w="10478">
            <a:solidFill>
              <a:srgbClr val="A7D4FF"/>
            </a:solidFill>
            <a:prstDash val="solid"/>
          </a:ln>
        </p:spPr>
      </p:sp>
      <p:sp>
        <p:nvSpPr>
          <p:cNvPr id="20" name="benefit-card-3-badge"/>
          <p:cNvSpPr>
            <a:spLocks noGrp="1"/>
          </p:cNvSpPr>
          <p:nvPr/>
        </p:nvSpPr>
        <p:spPr>
          <a:xfrm>
            <a:off x="9639300" y="2324100"/>
            <a:ext cx="361950" cy="361950"/>
          </a:xfrm>
          <a:prstGeom prst="ellipse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21" name="benefit-card-3-badge-text"/>
          <p:cNvSpPr>
            <a:spLocks noGrp="1"/>
          </p:cNvSpPr>
          <p:nvPr/>
        </p:nvSpPr>
        <p:spPr>
          <a:xfrm>
            <a:off x="9639300" y="2381250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417"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benefit-card-3-title"/>
          <p:cNvSpPr>
            <a:spLocks noGrp="1"/>
          </p:cNvSpPr>
          <p:nvPr/>
        </p:nvSpPr>
        <p:spPr>
          <a:xfrm>
            <a:off x="10153650" y="2324100"/>
            <a:ext cx="1466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全域能力升级</a:t>
            </a:r>
            <a:endParaRPr sz="15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3" name="benefit-card-3-body"/>
          <p:cNvSpPr>
            <a:spLocks noGrp="1"/>
          </p:cNvSpPr>
          <p:nvPr/>
        </p:nvSpPr>
        <p:spPr>
          <a:xfrm>
            <a:off x="9677400" y="2838450"/>
            <a:ext cx="1924050" cy="1333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团队从单一开发走向全域产研，覆盖洞察、规划、落地和运营迭代。</a:t>
            </a:r>
            <a:endParaRPr sz="120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4" name="proof-band"/>
          <p:cNvSpPr>
            <a:spLocks noGrp="1"/>
          </p:cNvSpPr>
          <p:nvPr/>
        </p:nvSpPr>
        <p:spPr>
          <a:xfrm>
            <a:off x="742950" y="4876800"/>
            <a:ext cx="10706100" cy="819150"/>
          </a:xfrm>
          <a:prstGeom prst="roundRect">
            <a:avLst>
              <a:gd name="adj" fmla="val 6977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25" name="proof-text"/>
          <p:cNvSpPr>
            <a:spLocks noGrp="1"/>
          </p:cNvSpPr>
          <p:nvPr/>
        </p:nvSpPr>
        <p:spPr>
          <a:xfrm>
            <a:off x="1066800" y="4991100"/>
            <a:ext cx="10058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实践证明，开发模式创新不是简单工具替换，而是借助AI与敏捷流程重构产品研发体系，</a:t>
            </a:r>
            <a:endParaRPr sz="135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  <a:p>
            <a:pPr algn="l">
              <a:buNone/>
              <a:def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带来效率、质量和产研能力的系统提升。</a:t>
            </a:r>
            <a:endParaRPr sz="135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07035" y="621030"/>
            <a:ext cx="1095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学习公社、通答、AI原生底座产品三者之间的关系</a:t>
            </a:r>
            <a:endParaRPr sz="277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rule"/>
          <p:cNvSpPr>
            <a:spLocks noGrp="1"/>
          </p:cNvSpPr>
          <p:nvPr/>
        </p:nvSpPr>
        <p:spPr>
          <a:xfrm>
            <a:off x="479425" y="1268730"/>
            <a:ext cx="11391900" cy="0"/>
          </a:xfrm>
          <a:prstGeom prst="line">
            <a:avLst/>
          </a:prstGeom>
          <a:noFill/>
          <a:ln w="11430">
            <a:solidFill>
              <a:srgbClr val="C9CED8"/>
            </a:solidFill>
            <a:prstDash val="solid"/>
          </a:ln>
        </p:spPr>
      </p:sp>
      <p:sp>
        <p:nvSpPr>
          <p:cNvPr id="4" name="relationship-panel"/>
          <p:cNvSpPr>
            <a:spLocks noGrp="1"/>
          </p:cNvSpPr>
          <p:nvPr/>
        </p:nvSpPr>
        <p:spPr>
          <a:xfrm>
            <a:off x="666750" y="2000250"/>
            <a:ext cx="6991350" cy="3352800"/>
          </a:xfrm>
          <a:prstGeom prst="roundRect">
            <a:avLst>
              <a:gd name="adj" fmla="val 1705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5" name="tongda-relation-dot"/>
          <p:cNvSpPr>
            <a:spLocks noGrp="1"/>
          </p:cNvSpPr>
          <p:nvPr/>
        </p:nvSpPr>
        <p:spPr>
          <a:xfrm>
            <a:off x="952500" y="2286000"/>
            <a:ext cx="85725" cy="85725"/>
          </a:xfrm>
          <a:prstGeom prst="ellipse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6" name="tongda-relation-title"/>
          <p:cNvSpPr>
            <a:spLocks noGrp="1"/>
          </p:cNvSpPr>
          <p:nvPr/>
        </p:nvSpPr>
        <p:spPr>
          <a:xfrm>
            <a:off x="1162050" y="21907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9697"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和通答的关系</a:t>
            </a:r>
            <a:endParaRPr sz="16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7" name="tongda-relation-1-dot"/>
          <p:cNvSpPr>
            <a:spLocks noGrp="1"/>
          </p:cNvSpPr>
          <p:nvPr/>
        </p:nvSpPr>
        <p:spPr>
          <a:xfrm>
            <a:off x="1257300" y="2724150"/>
            <a:ext cx="76200" cy="76200"/>
          </a:xfrm>
          <a:prstGeom prst="ellipse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8" name="tongda-relation-1-text"/>
          <p:cNvSpPr>
            <a:spLocks noGrp="1"/>
          </p:cNvSpPr>
          <p:nvPr/>
        </p:nvSpPr>
        <p:spPr>
          <a:xfrm>
            <a:off x="1466850" y="2609850"/>
            <a:ext cx="5753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0000"/>
          </a:bodyPr>
          <a:lstStyle/>
          <a:p>
            <a:pPr algn="l">
              <a:buNone/>
              <a:defRPr sz="150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AI 原生底座产品构建的部分产品</a:t>
            </a:r>
            <a:r>
              <a:rPr lang="zh-CN" sz="1500" b="1">
                <a:solidFill>
                  <a:srgbClr val="5B6472"/>
                </a:solidFill>
                <a:latin typeface="PingFang SC"/>
                <a:ea typeface="宋体" charset="0"/>
                <a:cs typeface="PingFang SC"/>
              </a:rPr>
              <a:t>（如人工智能教学</a:t>
            </a:r>
            <a:r>
              <a:rPr lang="zh-CN" sz="1500" b="1">
                <a:solidFill>
                  <a:srgbClr val="5B6472"/>
                </a:solidFill>
                <a:latin typeface="PingFang SC"/>
                <a:ea typeface="宋体" charset="0"/>
                <a:cs typeface="PingFang SC"/>
              </a:rPr>
              <a:t>平台）</a:t>
            </a:r>
            <a:r>
              <a:rPr sz="150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，归为“通答”品牌。</a:t>
            </a:r>
            <a:endParaRPr sz="1500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learning-relation-dot"/>
          <p:cNvSpPr>
            <a:spLocks noGrp="1"/>
          </p:cNvSpPr>
          <p:nvPr/>
        </p:nvSpPr>
        <p:spPr>
          <a:xfrm>
            <a:off x="952500" y="3162300"/>
            <a:ext cx="85725" cy="85725"/>
          </a:xfrm>
          <a:prstGeom prst="ellipse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10" name="learning-relation-title"/>
          <p:cNvSpPr>
            <a:spLocks noGrp="1"/>
          </p:cNvSpPr>
          <p:nvPr/>
        </p:nvSpPr>
        <p:spPr>
          <a:xfrm>
            <a:off x="1162050" y="3067050"/>
            <a:ext cx="533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9697"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和学习公社的关系</a:t>
            </a:r>
            <a:endParaRPr sz="16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difference-card"/>
          <p:cNvSpPr>
            <a:spLocks noGrp="1"/>
          </p:cNvSpPr>
          <p:nvPr/>
        </p:nvSpPr>
        <p:spPr>
          <a:xfrm>
            <a:off x="1009650" y="3486150"/>
            <a:ext cx="3028950" cy="146685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sp>
        <p:nvSpPr>
          <p:cNvPr id="12" name="difference-title"/>
          <p:cNvSpPr>
            <a:spLocks noGrp="1"/>
          </p:cNvSpPr>
          <p:nvPr/>
        </p:nvSpPr>
        <p:spPr>
          <a:xfrm>
            <a:off x="1257300" y="3648075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8333"/>
          </a:bodyPr>
          <a:lstStyle/>
          <a:p>
            <a:pPr algn="l">
              <a:buNone/>
              <a:def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区别</a:t>
            </a:r>
            <a:endParaRPr sz="15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3" name="difference-1-dot"/>
          <p:cNvSpPr>
            <a:spLocks noGrp="1"/>
          </p:cNvSpPr>
          <p:nvPr/>
        </p:nvSpPr>
        <p:spPr>
          <a:xfrm>
            <a:off x="1295400" y="4076700"/>
            <a:ext cx="57150" cy="57150"/>
          </a:xfrm>
          <a:prstGeom prst="rect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14" name="difference-1-text"/>
          <p:cNvSpPr>
            <a:spLocks noGrp="1"/>
          </p:cNvSpPr>
          <p:nvPr/>
        </p:nvSpPr>
        <p:spPr>
          <a:xfrm>
            <a:off x="1487170" y="4000500"/>
            <a:ext cx="2286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29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学习公社承载培训项目</a:t>
            </a:r>
            <a:endParaRPr sz="1200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difference-2-dot"/>
          <p:cNvSpPr>
            <a:spLocks noGrp="1"/>
          </p:cNvSpPr>
          <p:nvPr/>
        </p:nvSpPr>
        <p:spPr>
          <a:xfrm>
            <a:off x="1295400" y="4495800"/>
            <a:ext cx="57150" cy="57150"/>
          </a:xfrm>
          <a:prstGeom prst="rect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16" name="difference-2-text"/>
          <p:cNvSpPr>
            <a:spLocks noGrp="1"/>
          </p:cNvSpPr>
          <p:nvPr/>
        </p:nvSpPr>
        <p:spPr>
          <a:xfrm>
            <a:off x="1466850" y="432435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116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6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AI 原生产品底座承载技术产品，</a:t>
            </a:r>
            <a:endParaRPr sz="1165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  <a:p>
            <a:pPr algn="l">
              <a:buNone/>
              <a:defRPr sz="116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6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是技术产品的底座</a:t>
            </a:r>
            <a:endParaRPr sz="1165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connection-card"/>
          <p:cNvSpPr>
            <a:spLocks noGrp="1"/>
          </p:cNvSpPr>
          <p:nvPr/>
        </p:nvSpPr>
        <p:spPr>
          <a:xfrm>
            <a:off x="4324350" y="3486150"/>
            <a:ext cx="3028950" cy="146685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sp>
        <p:nvSpPr>
          <p:cNvPr id="18" name="connection-title"/>
          <p:cNvSpPr>
            <a:spLocks noGrp="1"/>
          </p:cNvSpPr>
          <p:nvPr/>
        </p:nvSpPr>
        <p:spPr>
          <a:xfrm>
            <a:off x="4572000" y="3648075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8333"/>
          </a:bodyPr>
          <a:lstStyle/>
          <a:p>
            <a:pPr algn="l">
              <a:buNone/>
              <a:def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联系</a:t>
            </a:r>
            <a:endParaRPr sz="15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connection-1-dot"/>
          <p:cNvSpPr>
            <a:spLocks noGrp="1"/>
          </p:cNvSpPr>
          <p:nvPr/>
        </p:nvSpPr>
        <p:spPr>
          <a:xfrm>
            <a:off x="4610100" y="4047490"/>
            <a:ext cx="57150" cy="57150"/>
          </a:xfrm>
          <a:prstGeom prst="rect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20" name="connection-1-text"/>
          <p:cNvSpPr>
            <a:spLocks noGrp="1"/>
          </p:cNvSpPr>
          <p:nvPr/>
        </p:nvSpPr>
        <p:spPr>
          <a:xfrm>
            <a:off x="4781550" y="3909695"/>
            <a:ext cx="2529840" cy="4470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21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00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作为培训项目中“工作坊”环节的实训平台</a:t>
            </a:r>
            <a:r>
              <a:rPr lang="zh-CN" sz="1000" b="1">
                <a:solidFill>
                  <a:srgbClr val="5B6472"/>
                </a:solidFill>
                <a:latin typeface="PingFang SC"/>
                <a:ea typeface="宋体" charset="0"/>
                <a:cs typeface="PingFang SC"/>
              </a:rPr>
              <a:t>，同时也起到引流的作用（宁波科技</a:t>
            </a:r>
            <a:r>
              <a:rPr lang="zh-CN" sz="1000" b="1">
                <a:solidFill>
                  <a:srgbClr val="5B6472"/>
                </a:solidFill>
                <a:latin typeface="PingFang SC"/>
                <a:ea typeface="宋体" charset="0"/>
                <a:cs typeface="PingFang SC"/>
              </a:rPr>
              <a:t>大学）</a:t>
            </a:r>
            <a:endParaRPr lang="zh-CN" sz="1000" b="1">
              <a:solidFill>
                <a:srgbClr val="5B6472"/>
              </a:solidFill>
              <a:latin typeface="PingFang SC"/>
              <a:ea typeface="宋体" charset="0"/>
              <a:cs typeface="PingFang SC"/>
            </a:endParaRPr>
          </a:p>
        </p:txBody>
      </p:sp>
      <p:sp>
        <p:nvSpPr>
          <p:cNvPr id="21" name="connection-2-dot"/>
          <p:cNvSpPr>
            <a:spLocks noGrp="1"/>
          </p:cNvSpPr>
          <p:nvPr/>
        </p:nvSpPr>
        <p:spPr>
          <a:xfrm>
            <a:off x="4610100" y="4465955"/>
            <a:ext cx="57150" cy="57150"/>
          </a:xfrm>
          <a:prstGeom prst="rect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22" name="connection-2-text"/>
          <p:cNvSpPr>
            <a:spLocks noGrp="1"/>
          </p:cNvSpPr>
          <p:nvPr/>
        </p:nvSpPr>
        <p:spPr>
          <a:xfrm>
            <a:off x="4781550" y="4324350"/>
            <a:ext cx="2438400" cy="565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000"/>
          </a:bodyPr>
          <a:lstStyle/>
          <a:p>
            <a:pPr algn="l">
              <a:buNone/>
              <a:defRPr sz="121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lang="zh-CN" sz="107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技术</a:t>
            </a:r>
            <a:r>
              <a:rPr lang="zh-CN" sz="107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产品是</a:t>
            </a:r>
            <a:r>
              <a:rPr sz="107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培训项目</a:t>
            </a:r>
            <a:r>
              <a:rPr lang="zh-CN" sz="107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的延续，通过平台</a:t>
            </a:r>
            <a:r>
              <a:rPr sz="107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引流到技术产品</a:t>
            </a:r>
            <a:r>
              <a:rPr lang="zh-CN" sz="1075" b="1">
                <a:solidFill>
                  <a:srgbClr val="5B6472"/>
                </a:solidFill>
                <a:latin typeface="PingFang SC"/>
                <a:ea typeface="宋体" charset="0"/>
                <a:cs typeface="PingFang SC"/>
              </a:rPr>
              <a:t>（学时、证书等</a:t>
            </a:r>
            <a:r>
              <a:rPr lang="zh-CN" sz="1075" b="1">
                <a:solidFill>
                  <a:srgbClr val="5B6472"/>
                </a:solidFill>
                <a:latin typeface="PingFang SC"/>
                <a:ea typeface="宋体" charset="0"/>
                <a:cs typeface="PingFang SC"/>
              </a:rPr>
              <a:t>数据互通）</a:t>
            </a:r>
            <a:endParaRPr lang="zh-CN" sz="1075" b="1">
              <a:solidFill>
                <a:srgbClr val="5B6472"/>
              </a:solidFill>
              <a:latin typeface="PingFang SC"/>
              <a:ea typeface="宋体" charset="0"/>
              <a:cs typeface="PingFang SC"/>
            </a:endParaRPr>
          </a:p>
        </p:txBody>
      </p:sp>
      <p:sp>
        <p:nvSpPr>
          <p:cNvPr id="23" name="appendix-panel"/>
          <p:cNvSpPr>
            <a:spLocks noGrp="1"/>
          </p:cNvSpPr>
          <p:nvPr/>
        </p:nvSpPr>
        <p:spPr>
          <a:xfrm>
            <a:off x="7962900" y="2000250"/>
            <a:ext cx="3562350" cy="3352800"/>
          </a:xfrm>
          <a:prstGeom prst="roundRect">
            <a:avLst>
              <a:gd name="adj" fmla="val 1705"/>
            </a:avLst>
          </a:prstGeom>
          <a:solidFill>
            <a:srgbClr val="F7F9FC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24" name="appendix-dot"/>
          <p:cNvSpPr>
            <a:spLocks noGrp="1"/>
          </p:cNvSpPr>
          <p:nvPr/>
        </p:nvSpPr>
        <p:spPr>
          <a:xfrm>
            <a:off x="8248650" y="2286000"/>
            <a:ext cx="85725" cy="85725"/>
          </a:xfrm>
          <a:prstGeom prst="ellipse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25" name="appendix-title"/>
          <p:cNvSpPr>
            <a:spLocks noGrp="1"/>
          </p:cNvSpPr>
          <p:nvPr/>
        </p:nvSpPr>
        <p:spPr>
          <a:xfrm>
            <a:off x="8458200" y="21907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9697"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附录</a:t>
            </a:r>
            <a:endParaRPr sz="16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6" name="appendix-desc"/>
          <p:cNvSpPr>
            <a:spLocks noGrp="1"/>
          </p:cNvSpPr>
          <p:nvPr/>
        </p:nvSpPr>
        <p:spPr>
          <a:xfrm>
            <a:off x="8458200" y="2639695"/>
            <a:ext cx="2966085" cy="44640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基于 AI 原生产品底座构建的产品线</a:t>
            </a:r>
            <a:endParaRPr sz="13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  <a:p>
            <a:pPr algn="l">
              <a:buNone/>
              <a:defRPr sz="13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</a:p>
        </p:txBody>
      </p:sp>
      <p:sp>
        <p:nvSpPr>
          <p:cNvPr id="47" name="summary-band"/>
          <p:cNvSpPr>
            <a:spLocks noGrp="1"/>
          </p:cNvSpPr>
          <p:nvPr/>
        </p:nvSpPr>
        <p:spPr>
          <a:xfrm>
            <a:off x="666750" y="5657850"/>
            <a:ext cx="10858500" cy="5143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sp>
        <p:nvSpPr>
          <p:cNvPr id="48" name="summary-text"/>
          <p:cNvSpPr>
            <a:spLocks noGrp="1"/>
          </p:cNvSpPr>
          <p:nvPr/>
        </p:nvSpPr>
        <p:spPr>
          <a:xfrm>
            <a:off x="990600" y="5753100"/>
            <a:ext cx="102108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ctr">
              <a:buNone/>
              <a:def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总结</a:t>
            </a:r>
            <a:r>
              <a:rPr sz="12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：学习公社承载培训项目并导入场景和用户；AI 原生产品底座承载技术产品并支撑实训平台；通答是其中部分产品对外呈现的品牌。</a:t>
            </a:r>
            <a:endParaRPr sz="127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9" name="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rmAutofit fontScale="98718"/>
          </a:bodyPr>
          <a:lstStyle/>
          <a:p>
            <a:pPr algn="r">
              <a:buNone/>
              <a:def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32</a:t>
            </a:r>
            <a:endParaRPr sz="975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1" name="product-1-pill"/>
          <p:cNvSpPr>
            <a:spLocks noGrp="1"/>
          </p:cNvSpPr>
          <p:nvPr/>
        </p:nvSpPr>
        <p:spPr>
          <a:xfrm>
            <a:off x="8362950" y="3094990"/>
            <a:ext cx="31051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sp>
        <p:nvSpPr>
          <p:cNvPr id="52" name="product-1-text"/>
          <p:cNvSpPr>
            <a:spLocks noGrp="1"/>
          </p:cNvSpPr>
          <p:nvPr/>
        </p:nvSpPr>
        <p:spPr>
          <a:xfrm>
            <a:off x="8496300" y="3133090"/>
            <a:ext cx="20383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4879"/>
          </a:bodyPr>
          <a:lstStyle/>
          <a:p>
            <a:pPr algn="l">
              <a:buNone/>
              <a:defRPr sz="103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03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通答：（人工智能通识）教学平台</a:t>
            </a:r>
            <a:endParaRPr sz="103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3" name="product-1-status"/>
          <p:cNvSpPr>
            <a:spLocks noGrp="1"/>
          </p:cNvSpPr>
          <p:nvPr/>
        </p:nvSpPr>
        <p:spPr>
          <a:xfrm>
            <a:off x="10477500" y="3142615"/>
            <a:ext cx="685800" cy="190500"/>
          </a:xfrm>
          <a:prstGeom prst="roundRect">
            <a:avLst>
              <a:gd name="adj" fmla="val 10000"/>
            </a:avLst>
          </a:prstGeom>
          <a:solidFill>
            <a:srgbClr val="E9F3FF"/>
          </a:solidFill>
          <a:ln w="9525">
            <a:solidFill>
              <a:srgbClr val="2F83FF"/>
            </a:solidFill>
            <a:prstDash val="solid"/>
          </a:ln>
        </p:spPr>
      </p:sp>
      <p:sp>
        <p:nvSpPr>
          <p:cNvPr id="54" name="product-1-status-text"/>
          <p:cNvSpPr>
            <a:spLocks noGrp="1"/>
          </p:cNvSpPr>
          <p:nvPr/>
        </p:nvSpPr>
        <p:spPr>
          <a:xfrm>
            <a:off x="10515600" y="3161665"/>
            <a:ext cx="6096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50761"/>
          </a:bodyPr>
          <a:lstStyle/>
          <a:p>
            <a:pPr algn="ctr">
              <a:buNone/>
              <a:defRPr sz="790" b="1">
                <a:solidFill>
                  <a:srgbClr val="2F83FF"/>
                </a:solidFill>
                <a:latin typeface="PingFang SC"/>
                <a:ea typeface="PingFang SC"/>
                <a:cs typeface="PingFang SC"/>
              </a:defRPr>
            </a:pPr>
            <a:r>
              <a:rPr sz="790" b="1">
                <a:solidFill>
                  <a:srgbClr val="2F83FF"/>
                </a:solidFill>
                <a:latin typeface="PingFang SC"/>
                <a:ea typeface="PingFang SC"/>
                <a:cs typeface="PingFang SC"/>
              </a:rPr>
              <a:t>4.0上线</a:t>
            </a:r>
            <a:endParaRPr sz="790" b="1">
              <a:solidFill>
                <a:srgbClr val="2F83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6" name="product-2-pill"/>
          <p:cNvSpPr>
            <a:spLocks noGrp="1"/>
          </p:cNvSpPr>
          <p:nvPr/>
        </p:nvSpPr>
        <p:spPr>
          <a:xfrm>
            <a:off x="8362950" y="3418840"/>
            <a:ext cx="31051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sp>
        <p:nvSpPr>
          <p:cNvPr id="57" name="product-2-text"/>
          <p:cNvSpPr>
            <a:spLocks noGrp="1"/>
          </p:cNvSpPr>
          <p:nvPr/>
        </p:nvSpPr>
        <p:spPr>
          <a:xfrm>
            <a:off x="8496300" y="345694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7982"/>
          </a:bodyPr>
          <a:lstStyle/>
          <a:p>
            <a:pPr algn="l">
              <a:buNone/>
              <a:defRPr sz="114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14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通答：智能体平台</a:t>
            </a:r>
            <a:endParaRPr sz="114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59" name="product-3-pill"/>
          <p:cNvSpPr>
            <a:spLocks noGrp="1"/>
          </p:cNvSpPr>
          <p:nvPr/>
        </p:nvSpPr>
        <p:spPr>
          <a:xfrm>
            <a:off x="8362950" y="3742690"/>
            <a:ext cx="31051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sp>
        <p:nvSpPr>
          <p:cNvPr id="60" name="product-3-text"/>
          <p:cNvSpPr>
            <a:spLocks noGrp="1"/>
          </p:cNvSpPr>
          <p:nvPr/>
        </p:nvSpPr>
        <p:spPr>
          <a:xfrm>
            <a:off x="8496300" y="378079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7982"/>
          </a:bodyPr>
          <a:lstStyle/>
          <a:p>
            <a:pPr algn="l">
              <a:buNone/>
              <a:defRPr sz="114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14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中小学服务平台</a:t>
            </a:r>
            <a:endParaRPr sz="114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2" name="product-4-pill"/>
          <p:cNvSpPr>
            <a:spLocks noGrp="1"/>
          </p:cNvSpPr>
          <p:nvPr/>
        </p:nvSpPr>
        <p:spPr>
          <a:xfrm>
            <a:off x="8362950" y="4066540"/>
            <a:ext cx="31051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sp>
        <p:nvSpPr>
          <p:cNvPr id="63" name="product-4-text"/>
          <p:cNvSpPr>
            <a:spLocks noGrp="1"/>
          </p:cNvSpPr>
          <p:nvPr/>
        </p:nvSpPr>
        <p:spPr>
          <a:xfrm>
            <a:off x="8496300" y="410464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7982"/>
          </a:bodyPr>
          <a:lstStyle/>
          <a:p>
            <a:pPr algn="l">
              <a:buNone/>
              <a:defRPr sz="114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14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教师发展平台</a:t>
            </a:r>
            <a:endParaRPr sz="114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5" name="product-5-pill"/>
          <p:cNvSpPr>
            <a:spLocks noGrp="1"/>
          </p:cNvSpPr>
          <p:nvPr/>
        </p:nvSpPr>
        <p:spPr>
          <a:xfrm>
            <a:off x="8362950" y="4390390"/>
            <a:ext cx="31051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sp>
        <p:nvSpPr>
          <p:cNvPr id="66" name="product-5-text"/>
          <p:cNvSpPr>
            <a:spLocks noGrp="1"/>
          </p:cNvSpPr>
          <p:nvPr/>
        </p:nvSpPr>
        <p:spPr>
          <a:xfrm>
            <a:off x="8496300" y="442849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7982"/>
          </a:bodyPr>
          <a:lstStyle/>
          <a:p>
            <a:pPr algn="l">
              <a:buNone/>
              <a:defRPr sz="114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14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智慧继教</a:t>
            </a:r>
            <a:endParaRPr sz="114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68" name="product-6-pill"/>
          <p:cNvSpPr>
            <a:spLocks noGrp="1"/>
          </p:cNvSpPr>
          <p:nvPr/>
        </p:nvSpPr>
        <p:spPr>
          <a:xfrm>
            <a:off x="8362950" y="4714240"/>
            <a:ext cx="310515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sp>
        <p:nvSpPr>
          <p:cNvPr id="69" name="product-6-text"/>
          <p:cNvSpPr>
            <a:spLocks noGrp="1"/>
          </p:cNvSpPr>
          <p:nvPr/>
        </p:nvSpPr>
        <p:spPr>
          <a:xfrm>
            <a:off x="8496300" y="4752340"/>
            <a:ext cx="2781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67982"/>
          </a:bodyPr>
          <a:lstStyle/>
          <a:p>
            <a:pPr algn="l">
              <a:buNone/>
              <a:defRPr sz="114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14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教师（/教学）档案袋</a:t>
            </a:r>
            <a:endParaRPr sz="114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/>
        </p:nvSpPr>
        <p:spPr>
          <a:xfrm>
            <a:off x="400050" y="781050"/>
            <a:ext cx="1095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8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为什么用 AI 原生产品底座构建技术产品</a:t>
            </a:r>
            <a:endParaRPr sz="28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400050" y="1400175"/>
            <a:ext cx="1038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4444"/>
          </a:bodyPr>
          <a:lstStyle/>
          <a:p>
            <a:pPr algn="l">
              <a:buNone/>
              <a:def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底座能力优先复用和装配，让应用更智能、开发更快、场景更广、部署更轻、运营可计量。</a:t>
            </a:r>
            <a:endParaRPr sz="1350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ule"/>
          <p:cNvSpPr>
            <a:spLocks noGrp="1"/>
          </p:cNvSpPr>
          <p:nvPr/>
        </p:nvSpPr>
        <p:spPr>
          <a:xfrm>
            <a:off x="400050" y="1828800"/>
            <a:ext cx="11391900" cy="0"/>
          </a:xfrm>
          <a:prstGeom prst="line">
            <a:avLst/>
          </a:prstGeom>
          <a:noFill/>
          <a:ln w="11430">
            <a:solidFill>
              <a:srgbClr val="C9CED8"/>
            </a:solidFill>
            <a:prstDash val="solid"/>
          </a:ln>
        </p:spPr>
      </p:sp>
      <p:sp>
        <p:nvSpPr>
          <p:cNvPr id="5" name="reason-1-card"/>
          <p:cNvSpPr>
            <a:spLocks noGrp="1"/>
          </p:cNvSpPr>
          <p:nvPr/>
        </p:nvSpPr>
        <p:spPr>
          <a:xfrm>
            <a:off x="704850" y="2190750"/>
            <a:ext cx="3409950" cy="1466850"/>
          </a:xfrm>
          <a:prstGeom prst="roundRect">
            <a:avLst>
              <a:gd name="adj" fmla="val 3896"/>
            </a:avLst>
          </a:prstGeom>
          <a:solidFill>
            <a:srgbClr val="F3F6FA"/>
          </a:solidFill>
          <a:ln w="10954">
            <a:solidFill>
              <a:srgbClr val="C9CED8"/>
            </a:solidFill>
            <a:prstDash val="solid"/>
          </a:ln>
        </p:spPr>
      </p:sp>
      <p:sp>
        <p:nvSpPr>
          <p:cNvPr id="6" name="reason-1-num-bg"/>
          <p:cNvSpPr>
            <a:spLocks noGrp="1"/>
          </p:cNvSpPr>
          <p:nvPr/>
        </p:nvSpPr>
        <p:spPr>
          <a:xfrm>
            <a:off x="933450" y="2419350"/>
            <a:ext cx="400050" cy="400050"/>
          </a:xfrm>
          <a:prstGeom prst="ellipse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7" name="reason-1-num"/>
          <p:cNvSpPr>
            <a:spLocks noGrp="1"/>
          </p:cNvSpPr>
          <p:nvPr/>
        </p:nvSpPr>
        <p:spPr>
          <a:xfrm>
            <a:off x="933450" y="247650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5490"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27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reason-1-title"/>
          <p:cNvSpPr>
            <a:spLocks noGrp="1"/>
          </p:cNvSpPr>
          <p:nvPr/>
        </p:nvSpPr>
        <p:spPr>
          <a:xfrm>
            <a:off x="1485900" y="2390775"/>
            <a:ext cx="2400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应用智能</a:t>
            </a:r>
            <a:endParaRPr sz="172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reason-1-bullet-0"/>
          <p:cNvSpPr>
            <a:spLocks noGrp="1"/>
          </p:cNvSpPr>
          <p:nvPr/>
        </p:nvSpPr>
        <p:spPr>
          <a:xfrm>
            <a:off x="1504950" y="3009900"/>
            <a:ext cx="76200" cy="76200"/>
          </a:xfrm>
          <a:prstGeom prst="ellipse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10" name="reason-1-bullet-0-text"/>
          <p:cNvSpPr>
            <a:spLocks noGrp="1"/>
          </p:cNvSpPr>
          <p:nvPr/>
        </p:nvSpPr>
        <p:spPr>
          <a:xfrm>
            <a:off x="1714500" y="2914650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buNone/>
              <a:defRPr sz="135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AI 底层赋能业务</a:t>
            </a:r>
            <a:endParaRPr sz="1350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1" name="reason-2-card"/>
          <p:cNvSpPr>
            <a:spLocks noGrp="1"/>
          </p:cNvSpPr>
          <p:nvPr/>
        </p:nvSpPr>
        <p:spPr>
          <a:xfrm>
            <a:off x="4400550" y="2190750"/>
            <a:ext cx="3409950" cy="2038350"/>
          </a:xfrm>
          <a:prstGeom prst="roundRect">
            <a:avLst>
              <a:gd name="adj" fmla="val 2804"/>
            </a:avLst>
          </a:prstGeom>
          <a:solidFill>
            <a:srgbClr val="F3F6FA"/>
          </a:solidFill>
          <a:ln w="10954">
            <a:solidFill>
              <a:srgbClr val="C9CED8"/>
            </a:solidFill>
            <a:prstDash val="solid"/>
          </a:ln>
        </p:spPr>
      </p:sp>
      <p:sp>
        <p:nvSpPr>
          <p:cNvPr id="12" name="reason-2-num-bg"/>
          <p:cNvSpPr>
            <a:spLocks noGrp="1"/>
          </p:cNvSpPr>
          <p:nvPr/>
        </p:nvSpPr>
        <p:spPr>
          <a:xfrm>
            <a:off x="4629150" y="2419350"/>
            <a:ext cx="400050" cy="4000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13" name="reason-2-num"/>
          <p:cNvSpPr>
            <a:spLocks noGrp="1"/>
          </p:cNvSpPr>
          <p:nvPr/>
        </p:nvSpPr>
        <p:spPr>
          <a:xfrm>
            <a:off x="4629150" y="247650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5490"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27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reason-2-title"/>
          <p:cNvSpPr>
            <a:spLocks noGrp="1"/>
          </p:cNvSpPr>
          <p:nvPr/>
        </p:nvSpPr>
        <p:spPr>
          <a:xfrm>
            <a:off x="5181600" y="2390775"/>
            <a:ext cx="2400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开发快</a:t>
            </a:r>
            <a:endParaRPr sz="172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5" name="reason-2-bullet-0"/>
          <p:cNvSpPr>
            <a:spLocks noGrp="1"/>
          </p:cNvSpPr>
          <p:nvPr/>
        </p:nvSpPr>
        <p:spPr>
          <a:xfrm>
            <a:off x="5200650" y="3009900"/>
            <a:ext cx="76200" cy="76200"/>
          </a:xfrm>
          <a:prstGeom prst="ellipse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16" name="reason-2-bullet-0-text"/>
          <p:cNvSpPr>
            <a:spLocks noGrp="1"/>
          </p:cNvSpPr>
          <p:nvPr/>
        </p:nvSpPr>
        <p:spPr>
          <a:xfrm>
            <a:off x="5410200" y="2914650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586"/>
          </a:bodyPr>
          <a:lstStyle/>
          <a:p>
            <a:pPr algn="l">
              <a:buNone/>
              <a:defRPr sz="131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1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更多原子组件开箱即用</a:t>
            </a:r>
            <a:endParaRPr sz="1315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7" name="reason-2-bullet-1"/>
          <p:cNvSpPr>
            <a:spLocks noGrp="1"/>
          </p:cNvSpPr>
          <p:nvPr/>
        </p:nvSpPr>
        <p:spPr>
          <a:xfrm>
            <a:off x="5200650" y="3333750"/>
            <a:ext cx="76200" cy="76200"/>
          </a:xfrm>
          <a:prstGeom prst="ellipse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18" name="reason-2-bullet-1-text"/>
          <p:cNvSpPr>
            <a:spLocks noGrp="1"/>
          </p:cNvSpPr>
          <p:nvPr/>
        </p:nvSpPr>
        <p:spPr>
          <a:xfrm>
            <a:off x="5410200" y="3238500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586"/>
          </a:bodyPr>
          <a:lstStyle/>
          <a:p>
            <a:pPr algn="l">
              <a:buNone/>
              <a:defRPr sz="131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1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三层架构支撑快速开发</a:t>
            </a:r>
            <a:endParaRPr sz="1315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9" name="reason-2-bullet-2"/>
          <p:cNvSpPr>
            <a:spLocks noGrp="1"/>
          </p:cNvSpPr>
          <p:nvPr/>
        </p:nvSpPr>
        <p:spPr>
          <a:xfrm>
            <a:off x="5200650" y="3657600"/>
            <a:ext cx="76200" cy="76200"/>
          </a:xfrm>
          <a:prstGeom prst="ellipse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20" name="reason-2-bullet-2-text"/>
          <p:cNvSpPr>
            <a:spLocks noGrp="1"/>
          </p:cNvSpPr>
          <p:nvPr/>
        </p:nvSpPr>
        <p:spPr>
          <a:xfrm>
            <a:off x="5410200" y="3562350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Autofit/>
          </a:bodyPr>
          <a:lstStyle/>
          <a:p>
            <a:pPr algn="l">
              <a:buNone/>
              <a:defRPr sz="131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0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AI</a:t>
            </a:r>
            <a:r>
              <a:rPr sz="110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原生</a:t>
            </a:r>
            <a:r>
              <a:rPr sz="110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开发模式</a:t>
            </a:r>
            <a:endParaRPr sz="1100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1" name="reason-3-card"/>
          <p:cNvSpPr>
            <a:spLocks noGrp="1"/>
          </p:cNvSpPr>
          <p:nvPr/>
        </p:nvSpPr>
        <p:spPr>
          <a:xfrm>
            <a:off x="8096250" y="2190750"/>
            <a:ext cx="3409950" cy="1466850"/>
          </a:xfrm>
          <a:prstGeom prst="roundRect">
            <a:avLst>
              <a:gd name="adj" fmla="val 3896"/>
            </a:avLst>
          </a:prstGeom>
          <a:solidFill>
            <a:srgbClr val="F3F6FA"/>
          </a:solidFill>
          <a:ln w="10954">
            <a:solidFill>
              <a:srgbClr val="C9CED8"/>
            </a:solidFill>
            <a:prstDash val="solid"/>
          </a:ln>
        </p:spPr>
      </p:sp>
      <p:sp>
        <p:nvSpPr>
          <p:cNvPr id="22" name="reason-3-num-bg"/>
          <p:cNvSpPr>
            <a:spLocks noGrp="1"/>
          </p:cNvSpPr>
          <p:nvPr/>
        </p:nvSpPr>
        <p:spPr>
          <a:xfrm>
            <a:off x="8324850" y="2419350"/>
            <a:ext cx="400050" cy="400050"/>
          </a:xfrm>
          <a:prstGeom prst="ellipse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23" name="reason-3-num"/>
          <p:cNvSpPr>
            <a:spLocks noGrp="1"/>
          </p:cNvSpPr>
          <p:nvPr/>
        </p:nvSpPr>
        <p:spPr>
          <a:xfrm>
            <a:off x="8324850" y="247650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5490"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27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4" name="reason-3-title"/>
          <p:cNvSpPr>
            <a:spLocks noGrp="1"/>
          </p:cNvSpPr>
          <p:nvPr/>
        </p:nvSpPr>
        <p:spPr>
          <a:xfrm>
            <a:off x="8877300" y="2390775"/>
            <a:ext cx="24003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灵活、</a:t>
            </a: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场景广泛</a:t>
            </a:r>
            <a:endParaRPr sz="172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5" name="reason-3-bullet-0"/>
          <p:cNvSpPr>
            <a:spLocks noGrp="1"/>
          </p:cNvSpPr>
          <p:nvPr/>
        </p:nvSpPr>
        <p:spPr>
          <a:xfrm>
            <a:off x="8896350" y="3009900"/>
            <a:ext cx="76200" cy="76200"/>
          </a:xfrm>
          <a:prstGeom prst="ellipse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26" name="reason-3-bullet-0-text"/>
          <p:cNvSpPr>
            <a:spLocks noGrp="1"/>
          </p:cNvSpPr>
          <p:nvPr/>
        </p:nvSpPr>
        <p:spPr>
          <a:xfrm>
            <a:off x="9105900" y="2914650"/>
            <a:ext cx="2133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buNone/>
              <a:defRPr sz="135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场景自由装配：研训一体化</a:t>
            </a:r>
            <a:endParaRPr sz="1350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7" name="reason-4-card"/>
          <p:cNvSpPr>
            <a:spLocks noGrp="1"/>
          </p:cNvSpPr>
          <p:nvPr/>
        </p:nvSpPr>
        <p:spPr>
          <a:xfrm>
            <a:off x="1752600" y="4400550"/>
            <a:ext cx="3733800" cy="1466850"/>
          </a:xfrm>
          <a:prstGeom prst="roundRect">
            <a:avLst>
              <a:gd name="adj" fmla="val 3896"/>
            </a:avLst>
          </a:prstGeom>
          <a:solidFill>
            <a:srgbClr val="F7F9FC"/>
          </a:solidFill>
          <a:ln w="10954">
            <a:solidFill>
              <a:srgbClr val="C9CED8"/>
            </a:solidFill>
            <a:prstDash val="solid"/>
          </a:ln>
        </p:spPr>
      </p:sp>
      <p:sp>
        <p:nvSpPr>
          <p:cNvPr id="28" name="reason-4-num-bg"/>
          <p:cNvSpPr>
            <a:spLocks noGrp="1"/>
          </p:cNvSpPr>
          <p:nvPr/>
        </p:nvSpPr>
        <p:spPr>
          <a:xfrm>
            <a:off x="1981200" y="4629150"/>
            <a:ext cx="400050" cy="4000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29" name="reason-4-num"/>
          <p:cNvSpPr>
            <a:spLocks noGrp="1"/>
          </p:cNvSpPr>
          <p:nvPr/>
        </p:nvSpPr>
        <p:spPr>
          <a:xfrm>
            <a:off x="1981200" y="468630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5490"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04</a:t>
            </a:r>
            <a:endParaRPr sz="127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0" name="reason-4-title"/>
          <p:cNvSpPr>
            <a:spLocks noGrp="1"/>
          </p:cNvSpPr>
          <p:nvPr/>
        </p:nvSpPr>
        <p:spPr>
          <a:xfrm>
            <a:off x="2533650" y="4600575"/>
            <a:ext cx="2724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/>
          </a:bodyPr>
          <a:lstStyle/>
          <a:p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部署轻量</a:t>
            </a:r>
            <a:endParaRPr sz="172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1" name="reason-4-bullet-0"/>
          <p:cNvSpPr>
            <a:spLocks noGrp="1"/>
          </p:cNvSpPr>
          <p:nvPr/>
        </p:nvSpPr>
        <p:spPr>
          <a:xfrm>
            <a:off x="2552700" y="5219700"/>
            <a:ext cx="76200" cy="76200"/>
          </a:xfrm>
          <a:prstGeom prst="ellipse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32" name="reason-4-bullet-0-text"/>
          <p:cNvSpPr>
            <a:spLocks noGrp="1"/>
          </p:cNvSpPr>
          <p:nvPr/>
        </p:nvSpPr>
        <p:spPr>
          <a:xfrm>
            <a:off x="2762250" y="5124450"/>
            <a:ext cx="2457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buNone/>
              <a:defRPr sz="135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部署效率高、部署成本低</a:t>
            </a:r>
            <a:endParaRPr sz="1350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3" name="reason-5-card"/>
          <p:cNvSpPr>
            <a:spLocks noGrp="1"/>
          </p:cNvSpPr>
          <p:nvPr/>
        </p:nvSpPr>
        <p:spPr>
          <a:xfrm>
            <a:off x="6705600" y="4400550"/>
            <a:ext cx="3733800" cy="1466850"/>
          </a:xfrm>
          <a:prstGeom prst="roundRect">
            <a:avLst>
              <a:gd name="adj" fmla="val 3896"/>
            </a:avLst>
          </a:prstGeom>
          <a:solidFill>
            <a:srgbClr val="F7F9FC"/>
          </a:solidFill>
          <a:ln w="10954">
            <a:solidFill>
              <a:srgbClr val="C9CED8"/>
            </a:solidFill>
            <a:prstDash val="solid"/>
          </a:ln>
        </p:spPr>
      </p:sp>
      <p:sp>
        <p:nvSpPr>
          <p:cNvPr id="34" name="reason-5-num-bg"/>
          <p:cNvSpPr>
            <a:spLocks noGrp="1"/>
          </p:cNvSpPr>
          <p:nvPr/>
        </p:nvSpPr>
        <p:spPr>
          <a:xfrm>
            <a:off x="6934200" y="4629150"/>
            <a:ext cx="400050" cy="400050"/>
          </a:xfrm>
          <a:prstGeom prst="ellipse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35" name="reason-5-num"/>
          <p:cNvSpPr>
            <a:spLocks noGrp="1"/>
          </p:cNvSpPr>
          <p:nvPr/>
        </p:nvSpPr>
        <p:spPr>
          <a:xfrm>
            <a:off x="6934200" y="4686300"/>
            <a:ext cx="4000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5490"/>
          </a:bodyPr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05</a:t>
            </a:r>
            <a:endParaRPr sz="1275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6" name="reason-5-title"/>
          <p:cNvSpPr>
            <a:spLocks noGrp="1"/>
          </p:cNvSpPr>
          <p:nvPr/>
        </p:nvSpPr>
        <p:spPr>
          <a:xfrm>
            <a:off x="7486650" y="4600575"/>
            <a:ext cx="27241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97545"/>
          </a:bodyPr>
          <a:lstStyle/>
          <a:p>
            <a:pPr algn="l">
              <a:buNone/>
              <a:def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支持 Token 商业模式的落地</a:t>
            </a:r>
            <a:endParaRPr sz="157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7" name="reason-5-bullet-0"/>
          <p:cNvSpPr>
            <a:spLocks noGrp="1"/>
          </p:cNvSpPr>
          <p:nvPr/>
        </p:nvSpPr>
        <p:spPr>
          <a:xfrm>
            <a:off x="7505700" y="5219700"/>
            <a:ext cx="76200" cy="76200"/>
          </a:xfrm>
          <a:prstGeom prst="ellipse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38" name="reason-5-bullet-0-text"/>
          <p:cNvSpPr>
            <a:spLocks noGrp="1"/>
          </p:cNvSpPr>
          <p:nvPr/>
        </p:nvSpPr>
        <p:spPr>
          <a:xfrm>
            <a:off x="7715250" y="5124450"/>
            <a:ext cx="2457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5185"/>
          </a:bodyPr>
          <a:lstStyle/>
          <a:p>
            <a:pPr algn="l">
              <a:buNone/>
              <a:defRPr sz="135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大模型治理</a:t>
            </a:r>
            <a:endParaRPr sz="1350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9" name="judgement-band"/>
          <p:cNvSpPr>
            <a:spLocks noGrp="1"/>
          </p:cNvSpPr>
          <p:nvPr/>
        </p:nvSpPr>
        <p:spPr>
          <a:xfrm>
            <a:off x="1219200" y="6076950"/>
            <a:ext cx="9753600" cy="40005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sp>
        <p:nvSpPr>
          <p:cNvPr id="40" name="judgement-text"/>
          <p:cNvSpPr>
            <a:spLocks noGrp="1"/>
          </p:cNvSpPr>
          <p:nvPr/>
        </p:nvSpPr>
        <p:spPr>
          <a:xfrm>
            <a:off x="1466850" y="6153150"/>
            <a:ext cx="92583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8134"/>
          </a:bodyPr>
          <a:lstStyle/>
          <a:p>
            <a:pPr algn="ctr">
              <a:buNone/>
              <a:defRPr sz="116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16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核心判断：AI 原生产品底座</a:t>
            </a:r>
            <a:r>
              <a:rPr sz="116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没有</a:t>
            </a:r>
            <a:r>
              <a:rPr sz="116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技术架构限制，而是按业务优先级复用、装配和持续演进的产品构建方式。</a:t>
            </a:r>
            <a:endParaRPr sz="116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1" name="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rmAutofit fontScale="98718"/>
          </a:bodyPr>
          <a:lstStyle/>
          <a:p>
            <a:pPr algn="r">
              <a:buNone/>
              <a:def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33</a:t>
            </a:r>
            <a:endParaRPr sz="975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i-era-title"/>
          <p:cNvSpPr>
            <a:spLocks noGrp="1"/>
          </p:cNvSpPr>
          <p:nvPr/>
        </p:nvSpPr>
        <p:spPr>
          <a:xfrm>
            <a:off x="400050" y="781050"/>
            <a:ext cx="1095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/>
          </a:bodyPr>
          <a:lstStyle/>
          <a:p>
            <a:pPr algn="l">
              <a:buNone/>
              <a:def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277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AI 时代，智能是刚需，速度即竞争力</a:t>
            </a:r>
            <a:endParaRPr sz="277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" name="subtitle"/>
          <p:cNvSpPr>
            <a:spLocks noGrp="1"/>
          </p:cNvSpPr>
          <p:nvPr/>
        </p:nvSpPr>
        <p:spPr>
          <a:xfrm>
            <a:off x="400050" y="139065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9474"/>
          </a:bodyPr>
          <a:lstStyle/>
          <a:p>
            <a:pPr algn="l">
              <a:buNone/>
              <a:defRPr sz="142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AI 原生产品底座 + AI 原生开发模式，是快速形成产品矩阵、试错验证和持续迭代的基础。</a:t>
            </a:r>
            <a:endParaRPr sz="1425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" name="rule"/>
          <p:cNvSpPr>
            <a:spLocks noGrp="1"/>
          </p:cNvSpPr>
          <p:nvPr/>
        </p:nvSpPr>
        <p:spPr>
          <a:xfrm>
            <a:off x="400050" y="1828800"/>
            <a:ext cx="11391900" cy="0"/>
          </a:xfrm>
          <a:prstGeom prst="line">
            <a:avLst/>
          </a:prstGeom>
          <a:noFill/>
          <a:ln w="11430">
            <a:solidFill>
              <a:srgbClr val="C9CED8"/>
            </a:solidFill>
            <a:prstDash val="solid"/>
          </a:ln>
        </p:spPr>
      </p:sp>
      <p:sp>
        <p:nvSpPr>
          <p:cNvPr id="5" name="stage-1-card"/>
          <p:cNvSpPr>
            <a:spLocks noGrp="1"/>
          </p:cNvSpPr>
          <p:nvPr/>
        </p:nvSpPr>
        <p:spPr>
          <a:xfrm>
            <a:off x="742950" y="2381250"/>
            <a:ext cx="3143250" cy="2266950"/>
          </a:xfrm>
          <a:prstGeom prst="roundRect">
            <a:avLst>
              <a:gd name="adj" fmla="val 2521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6" name="stage-1-badge"/>
          <p:cNvSpPr>
            <a:spLocks noGrp="1"/>
          </p:cNvSpPr>
          <p:nvPr/>
        </p:nvSpPr>
        <p:spPr>
          <a:xfrm>
            <a:off x="990600" y="2647950"/>
            <a:ext cx="400050" cy="400050"/>
          </a:xfrm>
          <a:prstGeom prst="ellipse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7" name="stage-1-badge-text"/>
          <p:cNvSpPr>
            <a:spLocks noGrp="1"/>
          </p:cNvSpPr>
          <p:nvPr/>
        </p:nvSpPr>
        <p:spPr>
          <a:xfrm>
            <a:off x="990600" y="27051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417"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01</a:t>
            </a:r>
            <a:endParaRPr sz="1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8" name="stage-1-title"/>
          <p:cNvSpPr>
            <a:spLocks noGrp="1"/>
          </p:cNvSpPr>
          <p:nvPr/>
        </p:nvSpPr>
        <p:spPr>
          <a:xfrm>
            <a:off x="1543050" y="2628900"/>
            <a:ext cx="2038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1159"/>
          </a:bodyPr>
          <a:lstStyle/>
          <a:p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共同基础</a:t>
            </a:r>
            <a:endParaRPr sz="172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9" name="stage-1-subtitle"/>
          <p:cNvSpPr>
            <a:spLocks noGrp="1"/>
          </p:cNvSpPr>
          <p:nvPr/>
        </p:nvSpPr>
        <p:spPr>
          <a:xfrm>
            <a:off x="1543050" y="2990850"/>
            <a:ext cx="2038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85"/>
          </a:bodyPr>
          <a:lstStyle/>
          <a:p>
            <a:pPr algn="l">
              <a:buNone/>
              <a:defRPr sz="116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6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AI 原生产品底座 + AI 原生开发模式</a:t>
            </a:r>
            <a:endParaRPr sz="1165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0" name="stage-1-bullet-0-dot"/>
          <p:cNvSpPr>
            <a:spLocks noGrp="1"/>
          </p:cNvSpPr>
          <p:nvPr/>
        </p:nvSpPr>
        <p:spPr>
          <a:xfrm>
            <a:off x="1543050" y="3657600"/>
            <a:ext cx="57150" cy="57150"/>
          </a:xfrm>
          <a:prstGeom prst="rect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11" name="stage-1-bullet-0-text"/>
          <p:cNvSpPr>
            <a:spLocks noGrp="1"/>
          </p:cNvSpPr>
          <p:nvPr/>
        </p:nvSpPr>
        <p:spPr>
          <a:xfrm>
            <a:off x="1619250" y="3543300"/>
            <a:ext cx="2171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882" lnSpcReduction="10000"/>
          </a:bodyPr>
          <a:lstStyle/>
          <a:p>
            <a:pPr algn="l">
              <a:buNone/>
              <a:defRPr sz="116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6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底层架构可复用</a:t>
            </a:r>
            <a:endParaRPr sz="1165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2" name="stage-1-bullet-1-dot"/>
          <p:cNvSpPr>
            <a:spLocks noGrp="1"/>
          </p:cNvSpPr>
          <p:nvPr/>
        </p:nvSpPr>
        <p:spPr>
          <a:xfrm>
            <a:off x="1543050" y="4000500"/>
            <a:ext cx="57150" cy="57150"/>
          </a:xfrm>
          <a:prstGeom prst="rect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13" name="stage-1-bullet-1-text"/>
          <p:cNvSpPr>
            <a:spLocks noGrp="1"/>
          </p:cNvSpPr>
          <p:nvPr/>
        </p:nvSpPr>
        <p:spPr>
          <a:xfrm>
            <a:off x="1617980" y="3886200"/>
            <a:ext cx="217297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882" lnSpcReduction="10000"/>
          </a:bodyPr>
          <a:lstStyle/>
          <a:p>
            <a:pPr algn="l">
              <a:buNone/>
              <a:defRPr sz="116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6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原子组件可装配</a:t>
            </a:r>
            <a:endParaRPr sz="1165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4" name="stage-1-bullet-2-dot"/>
          <p:cNvSpPr>
            <a:spLocks noGrp="1"/>
          </p:cNvSpPr>
          <p:nvPr/>
        </p:nvSpPr>
        <p:spPr>
          <a:xfrm>
            <a:off x="1543050" y="4343400"/>
            <a:ext cx="57150" cy="57150"/>
          </a:xfrm>
          <a:prstGeom prst="rect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15" name="stage-1-bullet-2-text"/>
          <p:cNvSpPr>
            <a:spLocks noGrp="1"/>
          </p:cNvSpPr>
          <p:nvPr/>
        </p:nvSpPr>
        <p:spPr>
          <a:xfrm>
            <a:off x="1617980" y="4229100"/>
            <a:ext cx="217297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882" lnSpcReduction="10000"/>
          </a:bodyPr>
          <a:lstStyle/>
          <a:p>
            <a:pPr algn="l">
              <a:buNone/>
              <a:defRPr sz="116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6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能力沉淀可迁移</a:t>
            </a:r>
            <a:endParaRPr sz="1165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16" name="arrow-1"/>
          <p:cNvSpPr>
            <a:spLocks noGrp="1"/>
          </p:cNvSpPr>
          <p:nvPr/>
        </p:nvSpPr>
        <p:spPr>
          <a:xfrm>
            <a:off x="3976370" y="3352800"/>
            <a:ext cx="514350" cy="266700"/>
          </a:xfrm>
          <a:prstGeom prst="rightArrow">
            <a:avLst/>
          </a:prstGeom>
          <a:solidFill>
            <a:srgbClr val="B7BDC8"/>
          </a:solidFill>
          <a:ln w="0">
            <a:solidFill>
              <a:srgbClr val="B7BDC8"/>
            </a:solidFill>
            <a:prstDash val="solid"/>
          </a:ln>
        </p:spPr>
      </p:sp>
      <p:sp>
        <p:nvSpPr>
          <p:cNvPr id="17" name="stage-2-card"/>
          <p:cNvSpPr>
            <a:spLocks noGrp="1"/>
          </p:cNvSpPr>
          <p:nvPr/>
        </p:nvSpPr>
        <p:spPr>
          <a:xfrm>
            <a:off x="4524375" y="2381250"/>
            <a:ext cx="3143250" cy="2266950"/>
          </a:xfrm>
          <a:prstGeom prst="roundRect">
            <a:avLst>
              <a:gd name="adj" fmla="val 2521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18" name="stage-2-badge"/>
          <p:cNvSpPr>
            <a:spLocks noGrp="1"/>
          </p:cNvSpPr>
          <p:nvPr/>
        </p:nvSpPr>
        <p:spPr>
          <a:xfrm>
            <a:off x="4772025" y="2647950"/>
            <a:ext cx="400050" cy="400050"/>
          </a:xfrm>
          <a:prstGeom prst="ellipse">
            <a:avLst/>
          </a:prstGeom>
          <a:solidFill>
            <a:srgbClr val="000000"/>
          </a:solidFill>
          <a:ln w="0">
            <a:solidFill>
              <a:srgbClr val="000000"/>
            </a:solidFill>
            <a:prstDash val="solid"/>
          </a:ln>
        </p:spPr>
      </p:sp>
      <p:sp>
        <p:nvSpPr>
          <p:cNvPr id="19" name="stage-2-badge-text"/>
          <p:cNvSpPr>
            <a:spLocks noGrp="1"/>
          </p:cNvSpPr>
          <p:nvPr/>
        </p:nvSpPr>
        <p:spPr>
          <a:xfrm>
            <a:off x="4772025" y="27051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417"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02</a:t>
            </a:r>
            <a:endParaRPr sz="1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0" name="stage-2-title"/>
          <p:cNvSpPr>
            <a:spLocks noGrp="1"/>
          </p:cNvSpPr>
          <p:nvPr/>
        </p:nvSpPr>
        <p:spPr>
          <a:xfrm>
            <a:off x="5324475" y="2628900"/>
            <a:ext cx="2038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1159"/>
          </a:bodyPr>
          <a:lstStyle/>
          <a:p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产品矩阵</a:t>
            </a:r>
            <a:endParaRPr sz="172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1" name="stage-2-subtitle"/>
          <p:cNvSpPr>
            <a:spLocks noGrp="1"/>
          </p:cNvSpPr>
          <p:nvPr/>
        </p:nvSpPr>
        <p:spPr>
          <a:xfrm>
            <a:off x="5324475" y="2990850"/>
            <a:ext cx="2038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1685"/>
          </a:bodyPr>
          <a:lstStyle/>
          <a:p>
            <a:pPr algn="l">
              <a:buNone/>
              <a:defRPr sz="116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6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面向不同垂直场景，快速包装成解决方案</a:t>
            </a:r>
            <a:endParaRPr sz="1165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2" name="stage-2-bullet-0-dot"/>
          <p:cNvSpPr>
            <a:spLocks noGrp="1"/>
          </p:cNvSpPr>
          <p:nvPr/>
        </p:nvSpPr>
        <p:spPr>
          <a:xfrm>
            <a:off x="5147945" y="3571240"/>
            <a:ext cx="57150" cy="57150"/>
          </a:xfrm>
          <a:prstGeom prst="rect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23" name="stage-2-bullet-0-text"/>
          <p:cNvSpPr>
            <a:spLocks noGrp="1"/>
          </p:cNvSpPr>
          <p:nvPr/>
        </p:nvSpPr>
        <p:spPr>
          <a:xfrm>
            <a:off x="5219700" y="3471545"/>
            <a:ext cx="213741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943"/>
          </a:bodyPr>
          <a:lstStyle/>
          <a:p>
            <a:pPr algn="l">
              <a:buNone/>
              <a:defRPr sz="111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1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通答教学平台 / 通答智能体平台</a:t>
            </a:r>
            <a:endParaRPr sz="1110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4" name="stage-2-bullet-1-dot"/>
          <p:cNvSpPr>
            <a:spLocks noGrp="1"/>
          </p:cNvSpPr>
          <p:nvPr/>
        </p:nvSpPr>
        <p:spPr>
          <a:xfrm>
            <a:off x="5147945" y="3914140"/>
            <a:ext cx="57150" cy="57150"/>
          </a:xfrm>
          <a:prstGeom prst="rect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25" name="stage-2-bullet-1-text"/>
          <p:cNvSpPr>
            <a:spLocks noGrp="1"/>
          </p:cNvSpPr>
          <p:nvPr/>
        </p:nvSpPr>
        <p:spPr>
          <a:xfrm>
            <a:off x="5220335" y="3814445"/>
            <a:ext cx="21367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0943"/>
          </a:bodyPr>
          <a:lstStyle/>
          <a:p>
            <a:pPr algn="l">
              <a:buNone/>
              <a:defRPr sz="111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1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中小学服务平台 / 教师发展平台</a:t>
            </a:r>
            <a:endParaRPr sz="1110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6" name="stage-2-bullet-2-dot"/>
          <p:cNvSpPr>
            <a:spLocks noGrp="1"/>
          </p:cNvSpPr>
          <p:nvPr/>
        </p:nvSpPr>
        <p:spPr>
          <a:xfrm>
            <a:off x="5147945" y="4257040"/>
            <a:ext cx="57150" cy="57150"/>
          </a:xfrm>
          <a:prstGeom prst="rect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27" name="stage-2-bullet-2-text"/>
          <p:cNvSpPr>
            <a:spLocks noGrp="1"/>
          </p:cNvSpPr>
          <p:nvPr/>
        </p:nvSpPr>
        <p:spPr>
          <a:xfrm>
            <a:off x="5205095" y="4157345"/>
            <a:ext cx="215201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638"/>
          </a:bodyPr>
          <a:lstStyle/>
          <a:p>
            <a:pPr algn="l">
              <a:buNone/>
              <a:defRPr sz="1110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10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智慧继教 / 教师（/教学）档案袋</a:t>
            </a:r>
            <a:endParaRPr sz="1110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28" name="arrow-2"/>
          <p:cNvSpPr>
            <a:spLocks noGrp="1"/>
          </p:cNvSpPr>
          <p:nvPr/>
        </p:nvSpPr>
        <p:spPr>
          <a:xfrm>
            <a:off x="7757795" y="3352800"/>
            <a:ext cx="514350" cy="266700"/>
          </a:xfrm>
          <a:prstGeom prst="rightArrow">
            <a:avLst/>
          </a:prstGeom>
          <a:solidFill>
            <a:srgbClr val="B7BDC8"/>
          </a:solidFill>
          <a:ln w="0">
            <a:solidFill>
              <a:srgbClr val="B7BDC8"/>
            </a:solidFill>
            <a:prstDash val="solid"/>
          </a:ln>
        </p:spPr>
      </p:sp>
      <p:sp>
        <p:nvSpPr>
          <p:cNvPr id="29" name="stage-3-card"/>
          <p:cNvSpPr>
            <a:spLocks noGrp="1"/>
          </p:cNvSpPr>
          <p:nvPr/>
        </p:nvSpPr>
        <p:spPr>
          <a:xfrm>
            <a:off x="8305800" y="2381250"/>
            <a:ext cx="3143250" cy="2266950"/>
          </a:xfrm>
          <a:prstGeom prst="roundRect">
            <a:avLst>
              <a:gd name="adj" fmla="val 2521"/>
            </a:avLst>
          </a:prstGeom>
          <a:solidFill>
            <a:srgbClr val="F3F6FA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30" name="stage-3-badge"/>
          <p:cNvSpPr>
            <a:spLocks noGrp="1"/>
          </p:cNvSpPr>
          <p:nvPr/>
        </p:nvSpPr>
        <p:spPr>
          <a:xfrm>
            <a:off x="8553450" y="2647950"/>
            <a:ext cx="400050" cy="400050"/>
          </a:xfrm>
          <a:prstGeom prst="ellipse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31" name="stage-3-badge-text"/>
          <p:cNvSpPr>
            <a:spLocks noGrp="1"/>
          </p:cNvSpPr>
          <p:nvPr/>
        </p:nvSpPr>
        <p:spPr>
          <a:xfrm>
            <a:off x="8553450" y="2705100"/>
            <a:ext cx="4000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5417"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03</a:t>
            </a:r>
            <a:endParaRPr sz="1200" b="1">
              <a:solidFill>
                <a:srgbClr val="FFFFFF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2" name="stage-3-title"/>
          <p:cNvSpPr>
            <a:spLocks noGrp="1"/>
          </p:cNvSpPr>
          <p:nvPr/>
        </p:nvSpPr>
        <p:spPr>
          <a:xfrm>
            <a:off x="9105900" y="2628900"/>
            <a:ext cx="2038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1159"/>
          </a:bodyPr>
          <a:lstStyle/>
          <a:p>
            <a:pPr algn="l">
              <a:buNone/>
              <a:def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725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快速迭代</a:t>
            </a:r>
            <a:endParaRPr sz="1725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3" name="stage-3-subtitle"/>
          <p:cNvSpPr>
            <a:spLocks noGrp="1"/>
          </p:cNvSpPr>
          <p:nvPr/>
        </p:nvSpPr>
        <p:spPr>
          <a:xfrm>
            <a:off x="9105900" y="2990850"/>
            <a:ext cx="2038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87907"/>
          </a:bodyPr>
          <a:lstStyle/>
          <a:p>
            <a:pPr algn="l">
              <a:buNone/>
              <a:defRPr sz="116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6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上线试错、验证反馈、持续优化</a:t>
            </a:r>
            <a:endParaRPr sz="1165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4" name="stage-3-bullet-0-dot"/>
          <p:cNvSpPr>
            <a:spLocks noGrp="1"/>
          </p:cNvSpPr>
          <p:nvPr/>
        </p:nvSpPr>
        <p:spPr>
          <a:xfrm>
            <a:off x="9034145" y="3514090"/>
            <a:ext cx="57150" cy="57150"/>
          </a:xfrm>
          <a:prstGeom prst="rect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35" name="stage-3-bullet-0-text"/>
          <p:cNvSpPr>
            <a:spLocks noGrp="1"/>
          </p:cNvSpPr>
          <p:nvPr/>
        </p:nvSpPr>
        <p:spPr>
          <a:xfrm>
            <a:off x="9119235" y="3399790"/>
            <a:ext cx="216281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882" lnSpcReduction="10000"/>
          </a:bodyPr>
          <a:lstStyle/>
          <a:p>
            <a:pPr algn="l">
              <a:buNone/>
              <a:defRPr sz="116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6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小步快跑验证</a:t>
            </a:r>
            <a:endParaRPr sz="1165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6" name="stage-3-bullet-1-dot"/>
          <p:cNvSpPr>
            <a:spLocks noGrp="1"/>
          </p:cNvSpPr>
          <p:nvPr/>
        </p:nvSpPr>
        <p:spPr>
          <a:xfrm>
            <a:off x="9034145" y="3856990"/>
            <a:ext cx="57150" cy="57150"/>
          </a:xfrm>
          <a:prstGeom prst="rect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37" name="stage-3-bullet-1-text"/>
          <p:cNvSpPr>
            <a:spLocks noGrp="1"/>
          </p:cNvSpPr>
          <p:nvPr/>
        </p:nvSpPr>
        <p:spPr>
          <a:xfrm>
            <a:off x="9145270" y="3742690"/>
            <a:ext cx="21367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882" lnSpcReduction="10000"/>
          </a:bodyPr>
          <a:lstStyle/>
          <a:p>
            <a:pPr algn="l">
              <a:buNone/>
              <a:defRPr sz="116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6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成功能力复用</a:t>
            </a:r>
            <a:endParaRPr sz="1165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38" name="stage-3-bullet-2-dot"/>
          <p:cNvSpPr>
            <a:spLocks noGrp="1"/>
          </p:cNvSpPr>
          <p:nvPr/>
        </p:nvSpPr>
        <p:spPr>
          <a:xfrm>
            <a:off x="9034145" y="4199890"/>
            <a:ext cx="57150" cy="57150"/>
          </a:xfrm>
          <a:prstGeom prst="rect">
            <a:avLst/>
          </a:prstGeom>
          <a:solidFill>
            <a:srgbClr val="2F83FF"/>
          </a:solidFill>
          <a:ln w="0">
            <a:solidFill>
              <a:srgbClr val="2F83FF"/>
            </a:solidFill>
            <a:prstDash val="solid"/>
          </a:ln>
        </p:spPr>
      </p:sp>
      <p:sp>
        <p:nvSpPr>
          <p:cNvPr id="39" name="stage-3-bullet-2-text"/>
          <p:cNvSpPr>
            <a:spLocks noGrp="1"/>
          </p:cNvSpPr>
          <p:nvPr/>
        </p:nvSpPr>
        <p:spPr>
          <a:xfrm>
            <a:off x="9145270" y="4085590"/>
            <a:ext cx="21367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>
            <a:normAutofit fontScale="98882" lnSpcReduction="10000"/>
          </a:bodyPr>
          <a:lstStyle/>
          <a:p>
            <a:pPr algn="l">
              <a:buNone/>
              <a:defRPr sz="116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16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产品形态持续扩展</a:t>
            </a:r>
            <a:endParaRPr sz="1165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0" name="insight-band"/>
          <p:cNvSpPr>
            <a:spLocks noGrp="1"/>
          </p:cNvSpPr>
          <p:nvPr/>
        </p:nvSpPr>
        <p:spPr>
          <a:xfrm>
            <a:off x="742950" y="5029200"/>
            <a:ext cx="10706100" cy="838200"/>
          </a:xfrm>
          <a:prstGeom prst="roundRect">
            <a:avLst>
              <a:gd name="adj" fmla="val 6818"/>
            </a:avLst>
          </a:prstGeom>
          <a:solidFill>
            <a:srgbClr val="F7F9FC"/>
          </a:solidFill>
          <a:ln w="10478">
            <a:solidFill>
              <a:srgbClr val="C9CED8"/>
            </a:solidFill>
            <a:prstDash val="solid"/>
          </a:ln>
        </p:spPr>
      </p:sp>
      <p:sp>
        <p:nvSpPr>
          <p:cNvPr id="41" name="insight-title"/>
          <p:cNvSpPr>
            <a:spLocks noGrp="1"/>
          </p:cNvSpPr>
          <p:nvPr/>
        </p:nvSpPr>
        <p:spPr>
          <a:xfrm>
            <a:off x="1047750" y="518160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7273"/>
          </a:bodyPr>
          <a:lstStyle/>
          <a:p>
            <a:pPr algn="l">
              <a:buNone/>
              <a:def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透过现象看本质：外部包装不同，底层根基相同</a:t>
            </a:r>
            <a:endParaRPr sz="165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2" name="insight-body"/>
          <p:cNvSpPr>
            <a:spLocks noGrp="1"/>
          </p:cNvSpPr>
          <p:nvPr/>
        </p:nvSpPr>
        <p:spPr>
          <a:xfrm>
            <a:off x="1047750" y="5505450"/>
            <a:ext cx="9620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80392"/>
          </a:bodyPr>
          <a:lstStyle/>
          <a:p>
            <a:pPr algn="l">
              <a:buNone/>
              <a:defRPr sz="1275" b="1">
                <a:solidFill>
                  <a:srgbClr val="5B6472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5B6472"/>
                </a:solidFill>
                <a:latin typeface="PingFang SC"/>
                <a:ea typeface="PingFang SC"/>
                <a:cs typeface="PingFang SC"/>
              </a:rPr>
              <a:t>各种产品形态层出不穷，看起来是不同领域的解决方案，本质上都在复用自己的底层技术架构、能力组件、数据资产和开发方法。</a:t>
            </a:r>
            <a:endParaRPr sz="1275" b="1">
              <a:solidFill>
                <a:srgbClr val="5B6472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3" name="bottom-judgement"/>
          <p:cNvSpPr>
            <a:spLocks noGrp="1"/>
          </p:cNvSpPr>
          <p:nvPr/>
        </p:nvSpPr>
        <p:spPr>
          <a:xfrm>
            <a:off x="1619250" y="6057900"/>
            <a:ext cx="8953500" cy="381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9CED8"/>
            </a:solidFill>
            <a:prstDash val="solid"/>
          </a:ln>
        </p:spPr>
      </p:sp>
      <p:sp>
        <p:nvSpPr>
          <p:cNvPr id="44" name="bottom-judgement-text"/>
          <p:cNvSpPr>
            <a:spLocks noGrp="1"/>
          </p:cNvSpPr>
          <p:nvPr/>
        </p:nvSpPr>
        <p:spPr>
          <a:xfrm>
            <a:off x="1866900" y="6134100"/>
            <a:ext cx="8458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rmAutofit fontScale="75000"/>
          </a:bodyPr>
          <a:lstStyle/>
          <a:p>
            <a:pPr algn="ctr">
              <a:buNone/>
              <a:def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关键判断：竞争不只在单个产品，而在能否用同一套底座持续生成、验证和复制产品。</a:t>
            </a:r>
            <a:endParaRPr sz="1200" b="1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  <p:sp>
        <p:nvSpPr>
          <p:cNvPr id="45" name="page"/>
          <p:cNvSpPr>
            <a:spLocks noGrp="1"/>
          </p:cNvSpPr>
          <p:nvPr/>
        </p:nvSpPr>
        <p:spPr>
          <a:xfrm>
            <a:off x="11277600" y="6286500"/>
            <a:ext cx="5143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b">
            <a:normAutofit fontScale="98718"/>
          </a:bodyPr>
          <a:lstStyle/>
          <a:p>
            <a:pPr algn="r">
              <a:buNone/>
              <a:def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defRPr>
            </a:pPr>
            <a:r>
              <a:rPr sz="975">
                <a:solidFill>
                  <a:srgbClr val="000000"/>
                </a:solidFill>
                <a:latin typeface="PingFang SC"/>
                <a:ea typeface="PingFang SC"/>
                <a:cs typeface="PingFang SC"/>
              </a:rPr>
              <a:t>34</a:t>
            </a:r>
            <a:endParaRPr sz="975">
              <a:solidFill>
                <a:srgbClr val="000000"/>
              </a:solidFill>
              <a:latin typeface="PingFang SC"/>
              <a:ea typeface="PingFang SC"/>
              <a:cs typeface="PingFang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6782</Words>
  <Application>WPS 演示</Application>
  <PresentationFormat>Converted Presentation</PresentationFormat>
  <Paragraphs>1125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50" baseType="lpstr">
      <vt:lpstr>Arial</vt:lpstr>
      <vt:lpstr>宋体</vt:lpstr>
      <vt:lpstr>Wingdings</vt:lpstr>
      <vt:lpstr>PingFang SC</vt:lpstr>
      <vt:lpstr>Thonburi</vt:lpstr>
      <vt:lpstr>Helvetica Neue</vt:lpstr>
      <vt:lpstr>宋体</vt:lpstr>
      <vt:lpstr>汉仪书宋二KW</vt:lpstr>
      <vt:lpstr>微软雅黑</vt:lpstr>
      <vt:lpstr>方正雅意黑 GB18030L2</vt:lpstr>
      <vt:lpstr>Arial Unicode MS</vt:lpstr>
      <vt:lpstr>Calibri</vt:lpstr>
      <vt:lpstr>Helvetica Neue</vt:lpstr>
      <vt:lpstr>PingFang SC</vt:lpstr>
      <vt:lpstr>苹方-简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张洪磊</cp:lastModifiedBy>
  <cp:revision>14</cp:revision>
  <dcterms:created xsi:type="dcterms:W3CDTF">2026-07-29T06:14:08Z</dcterms:created>
  <dcterms:modified xsi:type="dcterms:W3CDTF">2026-07-29T06:14:08Z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D95E2A1057BC75932289696A146630D8_42</vt:lpwstr>
  </property>
  <property fmtid="{D5CDD505-2E9C-101B-9397-08002B2CF9AE}" pid="3" name="KSOProductBuildVer">
    <vt:lpwstr>2052-12.1.26030.26030</vt:lpwstr>
  </property>
</Properties>
</file>