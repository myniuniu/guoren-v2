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  <p:sldId id="279" r:id="rId27"/>
    <p:sldId id="280" r:id="rId28"/>
    <p:sldId id="281" r:id="rId29"/>
    <p:sldId id="282" r:id="rId30"/>
    <p:sldId id="283" r:id="rId31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4" Type="http://schemas.openxmlformats.org/officeDocument/2006/relationships/tableStyles" Target="tableStyles.xml"/><Relationship Id="rId33" Type="http://schemas.openxmlformats.org/officeDocument/2006/relationships/viewProps" Target="viewProps.xml"/><Relationship Id="rId32" Type="http://schemas.openxmlformats.org/officeDocument/2006/relationships/presProps" Target="presProps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  <p:sp>
        <p:nvSpPr>
          <p:cNvPr id="2" name="Header Placeholder"/>
          <p:cNvSpPr/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5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6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7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390525" y="781050"/>
            <a:ext cx="7524750" cy="150495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algn="l">
              <a:defRPr sz="435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通答平台：从 AI 原生底座
到商业化套件</a:t>
            </a: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409575" y="2476500"/>
            <a:ext cx="4762500" cy="419100"/>
          </a:xfrm>
          <a:prstGeom prst="rect">
            <a:avLst/>
          </a:prstGeom>
        </p:spPr>
        <p:txBody>
          <a:bodyPr lIns="0" tIns="0" rIns="0" bIns="0" anchor="ctr">
            <a:normAutofit/>
          </a:bodyPr>
          <a:lstStyle/>
          <a:p>
            <a:pPr algn="l">
              <a:defRPr sz="2100" b="1">
                <a:solidFill>
                  <a:srgbClr val="555555"/>
                </a:solidFill>
                <a:latin typeface="PingFang SC"/>
                <a:ea typeface="PingFang SC"/>
                <a:cs typeface="PingFang SC"/>
              </a:defRPr>
            </a:pPr>
            <a:r>
              <a:t>AI 原生教育业务平台</a:t>
            </a: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409575" y="3390900"/>
            <a:ext cx="6572250" cy="12573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algn="l">
              <a:defRPr sz="187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以 Lucky 智能体为智能引擎，以资料库为知识底座，以空间承载业务过程，以场景模板实现业务复制，并通过套餐、租户、服务、资源和 Token 算力形成商业闭环。</a:t>
            </a: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8229600" y="781050"/>
            <a:ext cx="3562350" cy="4772025"/>
          </a:xfrm>
          <a:prstGeom prst="rect">
            <a:avLst/>
          </a:prstGeom>
          <a:solidFill>
            <a:srgbClr val="000000"/>
          </a:solidFill>
          <a:ln w="0">
            <a:noFill/>
            <a:prstDash val="solid"/>
          </a:ln>
        </p:spPr>
      </p:sp>
      <p:sp>
        <p:nvSpPr>
          <p:cNvPr id="6" name="矩形 5"/>
          <p:cNvSpPr>
            <a:spLocks noGrp="1"/>
          </p:cNvSpPr>
          <p:nvPr/>
        </p:nvSpPr>
        <p:spPr>
          <a:xfrm>
            <a:off x="8572500" y="1219200"/>
            <a:ext cx="2905125" cy="2266950"/>
          </a:xfrm>
          <a:prstGeom prst="rect">
            <a:avLst/>
          </a:prstGeom>
        </p:spPr>
        <p:txBody>
          <a:bodyPr lIns="0" tIns="0" rIns="0" bIns="0" anchor="ctr">
            <a:normAutofit/>
          </a:bodyPr>
          <a:lstStyle/>
          <a:p>
            <a:pPr algn="l">
              <a:defRPr sz="33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t>Lucky
资料库
空间
场景模板</a:t>
            </a: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8572500" y="3895725"/>
            <a:ext cx="2724150" cy="1905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</p:sp>
      <p:sp>
        <p:nvSpPr>
          <p:cNvPr id="8" name="矩形 7"/>
          <p:cNvSpPr>
            <a:spLocks noGrp="1"/>
          </p:cNvSpPr>
          <p:nvPr/>
        </p:nvSpPr>
        <p:spPr>
          <a:xfrm>
            <a:off x="8572500" y="4210050"/>
            <a:ext cx="2724150" cy="81915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algn="l">
              <a:defRPr sz="180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t>从平台能力到业务场景
从算力消耗到商业交付</a:t>
            </a: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11277600" y="6276975"/>
            <a:ext cx="514350" cy="238125"/>
          </a:xfrm>
          <a:prstGeom prst="rect">
            <a:avLst/>
          </a:prstGeom>
        </p:spPr>
        <p:txBody>
          <a:bodyPr lIns="0" tIns="0" rIns="0" bIns="0" anchor="ctr">
            <a:normAutofit/>
          </a:bodyPr>
          <a:lstStyle/>
          <a:p>
            <a:pPr algn="r">
              <a:defRPr sz="11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矩形 2"/>
          <p:cNvSpPr>
            <a:spLocks noGrp="1"/>
          </p:cNvSpPr>
          <p:nvPr/>
        </p:nvSpPr>
        <p:spPr>
          <a:xfrm>
            <a:off x="390525" y="666750"/>
            <a:ext cx="11401425" cy="7239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algn="l">
              <a:defRPr sz="330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目录</a:t>
            </a: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390525" y="1504950"/>
            <a:ext cx="11401425" cy="14288"/>
          </a:xfrm>
          <a:prstGeom prst="rect">
            <a:avLst/>
          </a:prstGeom>
          <a:solidFill>
            <a:srgbClr val="B8BCC4"/>
          </a:solidFill>
          <a:ln w="0">
            <a:noFill/>
            <a:prstDash val="solid"/>
          </a:ln>
        </p:spPr>
      </p:sp>
      <p:sp>
        <p:nvSpPr>
          <p:cNvPr id="5" name="矩形 4"/>
          <p:cNvSpPr>
            <a:spLocks noGrp="1"/>
          </p:cNvSpPr>
          <p:nvPr/>
        </p:nvSpPr>
        <p:spPr>
          <a:xfrm>
            <a:off x="11277600" y="6276975"/>
            <a:ext cx="514350" cy="238125"/>
          </a:xfrm>
          <a:prstGeom prst="rect">
            <a:avLst/>
          </a:prstGeom>
        </p:spPr>
        <p:txBody>
          <a:bodyPr lIns="0" tIns="0" rIns="0" bIns="0" anchor="ctr">
            <a:normAutofit/>
          </a:bodyPr>
          <a:lstStyle/>
          <a:p>
            <a:pPr algn="r">
              <a:defRPr sz="11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02</a:t>
            </a: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390525" y="1885950"/>
            <a:ext cx="1714500" cy="28575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algn="l">
              <a:defRPr sz="1800" b="1">
                <a:solidFill>
                  <a:srgbClr val="555555"/>
                </a:solidFill>
                <a:latin typeface="PingFang SC"/>
                <a:ea typeface="PingFang SC"/>
                <a:cs typeface="PingFang SC"/>
              </a:defRPr>
            </a:pPr>
            <a:r>
              <a:t>汇报结构</a:t>
            </a: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390525" y="2343150"/>
            <a:ext cx="3429000" cy="1162050"/>
          </a:xfrm>
          <a:prstGeom prst="rect">
            <a:avLst/>
          </a:prstGeom>
          <a:solidFill>
            <a:srgbClr val="F6F6F6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8" name="矩形 7"/>
          <p:cNvSpPr>
            <a:spLocks noGrp="1"/>
          </p:cNvSpPr>
          <p:nvPr/>
        </p:nvSpPr>
        <p:spPr>
          <a:xfrm>
            <a:off x="619125" y="2571750"/>
            <a:ext cx="2971800" cy="342900"/>
          </a:xfrm>
          <a:prstGeom prst="rect">
            <a:avLst/>
          </a:prstGeom>
        </p:spPr>
        <p:txBody>
          <a:bodyPr lIns="0" tIns="0" rIns="0" bIns="0" anchor="ctr">
            <a:normAutofit/>
          </a:bodyPr>
          <a:lstStyle/>
          <a:p>
            <a:pPr algn="l">
              <a:defRPr sz="195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01  平台定位与价值</a:t>
            </a: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619125" y="3028950"/>
            <a:ext cx="2971800" cy="285750"/>
          </a:xfrm>
          <a:prstGeom prst="rect">
            <a:avLst/>
          </a:prstGeom>
        </p:spPr>
        <p:txBody>
          <a:bodyPr lIns="0" tIns="0" rIns="0" bIns="0" anchor="t">
            <a:normAutofit fontScale="69444"/>
          </a:bodyPr>
          <a:lstStyle/>
          <a:p>
            <a:pPr algn="l">
              <a:defRPr sz="135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AI 原生业务底座、建设初衷、平台价值和 AI 原生底座能力。</a:t>
            </a: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4381500" y="2343150"/>
            <a:ext cx="3429000" cy="1162050"/>
          </a:xfrm>
          <a:prstGeom prst="rect">
            <a:avLst/>
          </a:prstGeom>
          <a:solidFill>
            <a:srgbClr val="F6F6F6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11" name="矩形 10"/>
          <p:cNvSpPr>
            <a:spLocks noGrp="1"/>
          </p:cNvSpPr>
          <p:nvPr/>
        </p:nvSpPr>
        <p:spPr>
          <a:xfrm>
            <a:off x="4610100" y="2571750"/>
            <a:ext cx="2971800" cy="342900"/>
          </a:xfrm>
          <a:prstGeom prst="rect">
            <a:avLst/>
          </a:prstGeom>
        </p:spPr>
        <p:txBody>
          <a:bodyPr lIns="0" tIns="0" rIns="0" bIns="0" anchor="ctr">
            <a:normAutofit/>
          </a:bodyPr>
          <a:lstStyle/>
          <a:p>
            <a:pPr algn="l">
              <a:defRPr sz="195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02  架构与交付体系</a:t>
            </a: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4610100" y="3028950"/>
            <a:ext cx="2971800" cy="285750"/>
          </a:xfrm>
          <a:prstGeom prst="rect">
            <a:avLst/>
          </a:prstGeom>
        </p:spPr>
        <p:txBody>
          <a:bodyPr lIns="0" tIns="0" rIns="0" bIns="0" anchor="t">
            <a:normAutofit fontScale="69444"/>
          </a:bodyPr>
          <a:lstStyle/>
          <a:p>
            <a:pPr algn="l">
              <a:defRPr sz="135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Lucky、资料库、空间、场景模板，以及组合交付、套餐和租户。</a:t>
            </a: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8372475" y="2343150"/>
            <a:ext cx="3429000" cy="1162050"/>
          </a:xfrm>
          <a:prstGeom prst="rect">
            <a:avLst/>
          </a:prstGeom>
          <a:solidFill>
            <a:srgbClr val="F6F6F6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14" name="矩形 13"/>
          <p:cNvSpPr>
            <a:spLocks noGrp="1"/>
          </p:cNvSpPr>
          <p:nvPr/>
        </p:nvSpPr>
        <p:spPr>
          <a:xfrm>
            <a:off x="8601075" y="2571750"/>
            <a:ext cx="2971800" cy="342900"/>
          </a:xfrm>
          <a:prstGeom prst="rect">
            <a:avLst/>
          </a:prstGeom>
        </p:spPr>
        <p:txBody>
          <a:bodyPr lIns="0" tIns="0" rIns="0" bIns="0" anchor="ctr">
            <a:normAutofit/>
          </a:bodyPr>
          <a:lstStyle/>
          <a:p>
            <a:pPr algn="l">
              <a:defRPr sz="195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03  商业模式与渠道</a:t>
            </a: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8601075" y="3028950"/>
            <a:ext cx="2971800" cy="285750"/>
          </a:xfrm>
          <a:prstGeom prst="rect">
            <a:avLst/>
          </a:prstGeom>
        </p:spPr>
        <p:txBody>
          <a:bodyPr lIns="0" tIns="0" rIns="0" bIns="0" anchor="t">
            <a:normAutofit fontScale="69444"/>
          </a:bodyPr>
          <a:lstStyle/>
          <a:p>
            <a:pPr algn="l">
              <a:defRPr sz="135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平台、服务、资源、Token 算力、模型统计和运营商渠道合作。</a:t>
            </a: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390525" y="4114800"/>
            <a:ext cx="3429000" cy="1162050"/>
          </a:xfrm>
          <a:prstGeom prst="rect">
            <a:avLst/>
          </a:prstGeom>
          <a:solidFill>
            <a:srgbClr val="F6F6F6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17" name="矩形 16"/>
          <p:cNvSpPr>
            <a:spLocks noGrp="1"/>
          </p:cNvSpPr>
          <p:nvPr/>
        </p:nvSpPr>
        <p:spPr>
          <a:xfrm>
            <a:off x="619125" y="4343400"/>
            <a:ext cx="2971800" cy="342900"/>
          </a:xfrm>
          <a:prstGeom prst="rect">
            <a:avLst/>
          </a:prstGeom>
        </p:spPr>
        <p:txBody>
          <a:bodyPr lIns="0" tIns="0" rIns="0" bIns="0" anchor="ctr">
            <a:normAutofit/>
          </a:bodyPr>
          <a:lstStyle/>
          <a:p>
            <a:pPr algn="l">
              <a:defRPr sz="195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04  标杆案例与场景深化</a:t>
            </a:r>
          </a:p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619125" y="4800600"/>
            <a:ext cx="2971800" cy="285750"/>
          </a:xfrm>
          <a:prstGeom prst="rect">
            <a:avLst/>
          </a:prstGeom>
        </p:spPr>
        <p:txBody>
          <a:bodyPr lIns="0" tIns="0" rIns="0" bIns="0" anchor="t">
            <a:normAutofit fontScale="69444"/>
          </a:bodyPr>
          <a:lstStyle/>
          <a:p>
            <a:pPr algn="l">
              <a:defRPr sz="135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宁波大学科学技术学院工作坊、学员智能体成果、两大场景和商业化套件。</a:t>
            </a:r>
          </a:p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4381500" y="4114800"/>
            <a:ext cx="3429000" cy="1162050"/>
          </a:xfrm>
          <a:prstGeom prst="rect">
            <a:avLst/>
          </a:prstGeom>
          <a:solidFill>
            <a:srgbClr val="F6F6F6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20" name="矩形 19"/>
          <p:cNvSpPr>
            <a:spLocks noGrp="1"/>
          </p:cNvSpPr>
          <p:nvPr/>
        </p:nvSpPr>
        <p:spPr>
          <a:xfrm>
            <a:off x="4610100" y="4343400"/>
            <a:ext cx="2971800" cy="342900"/>
          </a:xfrm>
          <a:prstGeom prst="rect">
            <a:avLst/>
          </a:prstGeom>
        </p:spPr>
        <p:txBody>
          <a:bodyPr lIns="0" tIns="0" rIns="0" bIns="0" anchor="ctr">
            <a:normAutofit fontScale="98348"/>
          </a:bodyPr>
          <a:lstStyle/>
          <a:p>
            <a:pPr algn="l">
              <a:defRPr sz="195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05  生态、愿景与开发模式</a:t>
            </a:r>
          </a:p>
        </p:txBody>
      </p:sp>
      <p:sp>
        <p:nvSpPr>
          <p:cNvPr id="21" name="矩形 20"/>
          <p:cNvSpPr>
            <a:spLocks noGrp="1"/>
          </p:cNvSpPr>
          <p:nvPr/>
        </p:nvSpPr>
        <p:spPr>
          <a:xfrm>
            <a:off x="4610100" y="4800600"/>
            <a:ext cx="2971800" cy="285750"/>
          </a:xfrm>
          <a:prstGeom prst="rect">
            <a:avLst/>
          </a:prstGeom>
        </p:spPr>
        <p:txBody>
          <a:bodyPr lIns="0" tIns="0" rIns="0" bIns="0" anchor="t">
            <a:normAutofit fontScale="69444"/>
          </a:bodyPr>
          <a:lstStyle/>
          <a:p>
            <a:pPr algn="l">
              <a:defRPr sz="135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研习社、平台闭环、教师全场景愿景，以及 AI 驱动的开发模式创新。</a:t>
            </a:r>
          </a:p>
        </p:txBody>
      </p:sp>
      <p:sp>
        <p:nvSpPr>
          <p:cNvPr id="22" name="矩形 21"/>
          <p:cNvSpPr>
            <a:spLocks noGrp="1"/>
          </p:cNvSpPr>
          <p:nvPr/>
        </p:nvSpPr>
        <p:spPr>
          <a:xfrm>
            <a:off x="8372475" y="4114800"/>
            <a:ext cx="3429000" cy="1162050"/>
          </a:xfrm>
          <a:prstGeom prst="rect">
            <a:avLst/>
          </a:prstGeom>
          <a:solidFill>
            <a:srgbClr val="000000"/>
          </a:solidFill>
          <a:ln w="0">
            <a:noFill/>
            <a:prstDash val="solid"/>
          </a:ln>
        </p:spPr>
      </p:sp>
      <p:sp>
        <p:nvSpPr>
          <p:cNvPr id="23" name="矩形 22"/>
          <p:cNvSpPr>
            <a:spLocks noGrp="1"/>
          </p:cNvSpPr>
          <p:nvPr/>
        </p:nvSpPr>
        <p:spPr>
          <a:xfrm>
            <a:off x="8601075" y="4343400"/>
            <a:ext cx="2971800" cy="304800"/>
          </a:xfrm>
          <a:prstGeom prst="rect">
            <a:avLst/>
          </a:prstGeom>
        </p:spPr>
        <p:txBody>
          <a:bodyPr lIns="0" tIns="0" rIns="0" bIns="0" anchor="ctr">
            <a:normAutofit/>
          </a:bodyPr>
          <a:lstStyle/>
          <a:p>
            <a:pPr algn="l">
              <a:defRPr sz="1950" b="1">
                <a:solidFill>
                  <a:srgbClr val="FF6B35"/>
                </a:solidFill>
                <a:latin typeface="PingFang SC"/>
                <a:ea typeface="PingFang SC"/>
                <a:cs typeface="PingFang SC"/>
              </a:defRPr>
            </a:pPr>
            <a:r>
              <a:t>主线</a:t>
            </a:r>
          </a:p>
        </p:txBody>
      </p:sp>
      <p:sp>
        <p:nvSpPr>
          <p:cNvPr id="24" name="矩形 23"/>
          <p:cNvSpPr>
            <a:spLocks noGrp="1"/>
          </p:cNvSpPr>
          <p:nvPr/>
        </p:nvSpPr>
        <p:spPr>
          <a:xfrm>
            <a:off x="8601075" y="4800600"/>
            <a:ext cx="2971800" cy="342900"/>
          </a:xfrm>
          <a:prstGeom prst="rect">
            <a:avLst/>
          </a:prstGeom>
        </p:spPr>
        <p:txBody>
          <a:bodyPr lIns="0" tIns="0" rIns="0" bIns="0" anchor="t">
            <a:normAutofit fontScale="62858"/>
          </a:bodyPr>
          <a:lstStyle/>
          <a:p>
            <a:pPr algn="l">
              <a:defRPr sz="135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t>从 AI 原生底座，到场景化交付，再到商业化增长与研发模式升级。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390525" y="342900"/>
            <a:ext cx="2857500" cy="247650"/>
          </a:xfrm>
          <a:prstGeom prst="rect">
            <a:avLst/>
          </a:prstGeom>
        </p:spPr>
        <p:txBody>
          <a:bodyPr lIns="0" tIns="0" rIns="0" bIns="0" anchor="ctr">
            <a:normAutofit/>
          </a:bodyPr>
          <a:lstStyle/>
          <a:p>
            <a:pPr algn="l">
              <a:defRPr sz="1200" b="1">
                <a:solidFill>
                  <a:srgbClr val="555555"/>
                </a:solidFill>
                <a:latin typeface="PingFang SC"/>
                <a:ea typeface="PingFang SC"/>
                <a:cs typeface="PingFang SC"/>
              </a:defRPr>
            </a:pPr>
            <a:r>
              <a:t>平台定位</a:t>
            </a: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390525" y="666750"/>
            <a:ext cx="11401425" cy="7239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algn="l">
              <a:defRPr sz="2925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通答平台不是传统系统加 AI，而是 AI 原生的业务底座</a:t>
            </a: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390525" y="1504950"/>
            <a:ext cx="11401425" cy="14288"/>
          </a:xfrm>
          <a:prstGeom prst="rect">
            <a:avLst/>
          </a:prstGeom>
          <a:solidFill>
            <a:srgbClr val="B8BCC4"/>
          </a:solidFill>
          <a:ln w="0">
            <a:noFill/>
            <a:prstDash val="solid"/>
          </a:ln>
        </p:spPr>
      </p:sp>
      <p:sp>
        <p:nvSpPr>
          <p:cNvPr id="5" name="矩形 4"/>
          <p:cNvSpPr>
            <a:spLocks noGrp="1"/>
          </p:cNvSpPr>
          <p:nvPr/>
        </p:nvSpPr>
        <p:spPr>
          <a:xfrm>
            <a:off x="11277600" y="6276975"/>
            <a:ext cx="514350" cy="238125"/>
          </a:xfrm>
          <a:prstGeom prst="rect">
            <a:avLst/>
          </a:prstGeom>
        </p:spPr>
        <p:txBody>
          <a:bodyPr lIns="0" tIns="0" rIns="0" bIns="0" anchor="ctr">
            <a:normAutofit/>
          </a:bodyPr>
          <a:lstStyle/>
          <a:p>
            <a:pPr algn="r">
              <a:defRPr sz="11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03</a:t>
            </a: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390525" y="1943100"/>
            <a:ext cx="2095500" cy="32385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algn="l">
              <a:defRPr sz="1800" b="1">
                <a:solidFill>
                  <a:srgbClr val="555555"/>
                </a:solidFill>
                <a:latin typeface="PingFang SC"/>
                <a:ea typeface="PingFang SC"/>
                <a:cs typeface="PingFang SC"/>
              </a:defRPr>
            </a:pPr>
            <a:r>
              <a:t>核心定位</a:t>
            </a: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390525" y="2381250"/>
            <a:ext cx="5000625" cy="1257300"/>
          </a:xfrm>
          <a:prstGeom prst="rect">
            <a:avLst/>
          </a:prstGeom>
        </p:spPr>
        <p:txBody>
          <a:bodyPr lIns="0" tIns="0" rIns="0" bIns="0" anchor="t">
            <a:normAutofit fontScale="91667"/>
          </a:bodyPr>
          <a:lstStyle/>
          <a:p>
            <a:pPr algn="l">
              <a:defRPr sz="225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AI 不作为外挂工具存在，而是嵌入资料沉淀、空间协作、角色赋能、流程推进、内容生成和数据分析全过程。</a:t>
            </a: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390525" y="4171950"/>
            <a:ext cx="5000625" cy="8763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algn="l">
              <a:defRPr sz="1650" b="0">
                <a:solidFill>
                  <a:srgbClr val="555555"/>
                </a:solidFill>
                <a:latin typeface="PingFang SC"/>
                <a:ea typeface="PingFang SC"/>
                <a:cs typeface="PingFang SC"/>
              </a:defRPr>
            </a:pPr>
            <a:r>
              <a:t>平台的目标不是多做一个系统，而是把教师培训、教研、教学等业务转化为可沉淀、可复用、可智能驱动的业务平台。</a:t>
            </a: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6286500" y="1971675"/>
            <a:ext cx="2476500" cy="1295400"/>
          </a:xfrm>
          <a:prstGeom prst="rect">
            <a:avLst/>
          </a:prstGeom>
          <a:solidFill>
            <a:srgbClr val="EDEDED"/>
          </a:solidFill>
          <a:ln w="0">
            <a:noFill/>
            <a:prstDash val="solid"/>
          </a:ln>
        </p:spPr>
      </p:sp>
      <p:sp>
        <p:nvSpPr>
          <p:cNvPr id="10" name="矩形 9"/>
          <p:cNvSpPr>
            <a:spLocks noGrp="1"/>
          </p:cNvSpPr>
          <p:nvPr/>
        </p:nvSpPr>
        <p:spPr>
          <a:xfrm>
            <a:off x="6515100" y="2200275"/>
            <a:ext cx="2019300" cy="342900"/>
          </a:xfrm>
          <a:prstGeom prst="rect">
            <a:avLst/>
          </a:prstGeom>
        </p:spPr>
        <p:txBody>
          <a:bodyPr lIns="0" tIns="0" rIns="0" bIns="0" anchor="ctr">
            <a:normAutofit/>
          </a:bodyPr>
          <a:lstStyle/>
          <a:p>
            <a:pPr algn="l">
              <a:defRPr sz="1875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知识资产</a:t>
            </a: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6515100" y="2657475"/>
            <a:ext cx="2019300" cy="4191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algn="l">
              <a:defRPr sz="135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资料库持续沉淀课程、案例、成果和制度材料。</a:t>
            </a: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9315450" y="1971675"/>
            <a:ext cx="2476500" cy="1295400"/>
          </a:xfrm>
          <a:prstGeom prst="rect">
            <a:avLst/>
          </a:prstGeom>
          <a:solidFill>
            <a:srgbClr val="EDEDED"/>
          </a:solidFill>
          <a:ln w="0">
            <a:noFill/>
            <a:prstDash val="solid"/>
          </a:ln>
        </p:spPr>
      </p:sp>
      <p:sp>
        <p:nvSpPr>
          <p:cNvPr id="13" name="矩形 12"/>
          <p:cNvSpPr>
            <a:spLocks noGrp="1"/>
          </p:cNvSpPr>
          <p:nvPr/>
        </p:nvSpPr>
        <p:spPr>
          <a:xfrm>
            <a:off x="9544050" y="2200275"/>
            <a:ext cx="2019300" cy="342900"/>
          </a:xfrm>
          <a:prstGeom prst="rect">
            <a:avLst/>
          </a:prstGeom>
        </p:spPr>
        <p:txBody>
          <a:bodyPr lIns="0" tIns="0" rIns="0" bIns="0" anchor="ctr">
            <a:normAutofit/>
          </a:bodyPr>
          <a:lstStyle/>
          <a:p>
            <a:pPr algn="l">
              <a:defRPr sz="1875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业务过程</a:t>
            </a: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9544050" y="2657475"/>
            <a:ext cx="2019300" cy="4191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algn="l">
              <a:defRPr sz="135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空间承载成员、任务、流程、协同与成果。</a:t>
            </a: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6286500" y="3762375"/>
            <a:ext cx="2476500" cy="1295400"/>
          </a:xfrm>
          <a:prstGeom prst="rect">
            <a:avLst/>
          </a:prstGeom>
          <a:solidFill>
            <a:srgbClr val="EDEDED"/>
          </a:solidFill>
          <a:ln w="0">
            <a:noFill/>
            <a:prstDash val="solid"/>
          </a:ln>
        </p:spPr>
      </p:sp>
      <p:sp>
        <p:nvSpPr>
          <p:cNvPr id="16" name="矩形 15"/>
          <p:cNvSpPr>
            <a:spLocks noGrp="1"/>
          </p:cNvSpPr>
          <p:nvPr/>
        </p:nvSpPr>
        <p:spPr>
          <a:xfrm>
            <a:off x="6515100" y="3990975"/>
            <a:ext cx="2019300" cy="342900"/>
          </a:xfrm>
          <a:prstGeom prst="rect">
            <a:avLst/>
          </a:prstGeom>
        </p:spPr>
        <p:txBody>
          <a:bodyPr lIns="0" tIns="0" rIns="0" bIns="0" anchor="ctr">
            <a:normAutofit/>
          </a:bodyPr>
          <a:lstStyle/>
          <a:p>
            <a:pPr algn="l">
              <a:defRPr sz="1875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智能驱动</a:t>
            </a:r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6515100" y="4448175"/>
            <a:ext cx="2019300" cy="419100"/>
          </a:xfrm>
          <a:prstGeom prst="rect">
            <a:avLst/>
          </a:prstGeom>
        </p:spPr>
        <p:txBody>
          <a:bodyPr lIns="0" tIns="0" rIns="0" bIns="0" anchor="t">
            <a:normAutofit fontScale="67901"/>
          </a:bodyPr>
          <a:lstStyle/>
          <a:p>
            <a:pPr algn="l">
              <a:defRPr sz="135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Lucky 理解资料、场景和角色，辅助业务推进。</a:t>
            </a:r>
          </a:p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9315450" y="3762375"/>
            <a:ext cx="2476500" cy="1295400"/>
          </a:xfrm>
          <a:prstGeom prst="rect">
            <a:avLst/>
          </a:prstGeom>
          <a:solidFill>
            <a:srgbClr val="EDEDED"/>
          </a:solidFill>
          <a:ln w="0">
            <a:noFill/>
            <a:prstDash val="solid"/>
          </a:ln>
        </p:spPr>
      </p:sp>
      <p:sp>
        <p:nvSpPr>
          <p:cNvPr id="19" name="矩形 18"/>
          <p:cNvSpPr>
            <a:spLocks noGrp="1"/>
          </p:cNvSpPr>
          <p:nvPr/>
        </p:nvSpPr>
        <p:spPr>
          <a:xfrm>
            <a:off x="9544050" y="3990975"/>
            <a:ext cx="2019300" cy="342900"/>
          </a:xfrm>
          <a:prstGeom prst="rect">
            <a:avLst/>
          </a:prstGeom>
        </p:spPr>
        <p:txBody>
          <a:bodyPr lIns="0" tIns="0" rIns="0" bIns="0" anchor="ctr">
            <a:normAutofit/>
          </a:bodyPr>
          <a:lstStyle/>
          <a:p>
            <a:pPr algn="l">
              <a:defRPr sz="1875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场景复制</a:t>
            </a:r>
          </a:p>
        </p:txBody>
      </p:sp>
      <p:sp>
        <p:nvSpPr>
          <p:cNvPr id="20" name="矩形 19"/>
          <p:cNvSpPr>
            <a:spLocks noGrp="1"/>
          </p:cNvSpPr>
          <p:nvPr/>
        </p:nvSpPr>
        <p:spPr>
          <a:xfrm>
            <a:off x="9544050" y="4448175"/>
            <a:ext cx="2019300" cy="4191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algn="l">
              <a:defRPr sz="135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场景模板把组件组装为垂直业务解决方案。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390525" y="342900"/>
            <a:ext cx="2857500" cy="247650"/>
          </a:xfrm>
          <a:prstGeom prst="rect">
            <a:avLst/>
          </a:prstGeom>
        </p:spPr>
        <p:txBody>
          <a:bodyPr lIns="0" tIns="0" rIns="0" bIns="0" anchor="ctr">
            <a:normAutofit/>
          </a:bodyPr>
          <a:lstStyle/>
          <a:p>
            <a:pPr algn="l">
              <a:defRPr sz="1200" b="1">
                <a:solidFill>
                  <a:srgbClr val="555555"/>
                </a:solidFill>
                <a:latin typeface="PingFang SC"/>
                <a:ea typeface="PingFang SC"/>
                <a:cs typeface="PingFang SC"/>
              </a:defRPr>
            </a:pPr>
            <a:r>
              <a:t>建设初衷</a:t>
            </a: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390525" y="666750"/>
            <a:ext cx="11401425" cy="7239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algn="l">
              <a:defRPr sz="2775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通答平台建设初衷，是让前沿技术真正适配市场和用户体验</a:t>
            </a: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390525" y="1504950"/>
            <a:ext cx="11401425" cy="14288"/>
          </a:xfrm>
          <a:prstGeom prst="rect">
            <a:avLst/>
          </a:prstGeom>
          <a:solidFill>
            <a:srgbClr val="B8BCC4"/>
          </a:solidFill>
          <a:ln w="0">
            <a:noFill/>
            <a:prstDash val="solid"/>
          </a:ln>
        </p:spPr>
      </p:sp>
      <p:sp>
        <p:nvSpPr>
          <p:cNvPr id="5" name="矩形 4"/>
          <p:cNvSpPr>
            <a:spLocks noGrp="1"/>
          </p:cNvSpPr>
          <p:nvPr/>
        </p:nvSpPr>
        <p:spPr>
          <a:xfrm>
            <a:off x="11277600" y="6276975"/>
            <a:ext cx="514350" cy="238125"/>
          </a:xfrm>
          <a:prstGeom prst="rect">
            <a:avLst/>
          </a:prstGeom>
        </p:spPr>
        <p:txBody>
          <a:bodyPr lIns="0" tIns="0" rIns="0" bIns="0" anchor="ctr">
            <a:normAutofit/>
          </a:bodyPr>
          <a:lstStyle/>
          <a:p>
            <a:pPr algn="r">
              <a:defRPr sz="11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04</a:t>
            </a: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390525" y="1962150"/>
            <a:ext cx="5334000" cy="1352550"/>
          </a:xfrm>
          <a:prstGeom prst="rect">
            <a:avLst/>
          </a:prstGeom>
          <a:solidFill>
            <a:srgbClr val="F6F6F6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7" name="矩形 6"/>
          <p:cNvSpPr>
            <a:spLocks noGrp="1"/>
          </p:cNvSpPr>
          <p:nvPr/>
        </p:nvSpPr>
        <p:spPr>
          <a:xfrm>
            <a:off x="619125" y="2190750"/>
            <a:ext cx="4876800" cy="342900"/>
          </a:xfrm>
          <a:prstGeom prst="rect">
            <a:avLst/>
          </a:prstGeom>
        </p:spPr>
        <p:txBody>
          <a:bodyPr lIns="0" tIns="0" rIns="0" bIns="0" anchor="ctr">
            <a:normAutofit/>
          </a:bodyPr>
          <a:lstStyle/>
          <a:p>
            <a:pPr algn="l">
              <a:defRPr sz="210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技术前沿性</a:t>
            </a: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619125" y="2647950"/>
            <a:ext cx="4876800" cy="47625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algn="l">
              <a:defRPr sz="14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以AI原生架构、智能体、知识库、空间和场景模板承接大模型能力，把前沿技术内化为平台底座。</a:t>
            </a: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6457950" y="1962150"/>
            <a:ext cx="5334000" cy="1352550"/>
          </a:xfrm>
          <a:prstGeom prst="rect">
            <a:avLst/>
          </a:prstGeom>
          <a:solidFill>
            <a:srgbClr val="F6F6F6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10" name="矩形 9"/>
          <p:cNvSpPr>
            <a:spLocks noGrp="1"/>
          </p:cNvSpPr>
          <p:nvPr/>
        </p:nvSpPr>
        <p:spPr>
          <a:xfrm>
            <a:off x="6686550" y="2190750"/>
            <a:ext cx="4876800" cy="342900"/>
          </a:xfrm>
          <a:prstGeom prst="rect">
            <a:avLst/>
          </a:prstGeom>
        </p:spPr>
        <p:txBody>
          <a:bodyPr lIns="0" tIns="0" rIns="0" bIns="0" anchor="ctr">
            <a:normAutofit/>
          </a:bodyPr>
          <a:lstStyle/>
          <a:p>
            <a:pPr algn="l">
              <a:defRPr sz="210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市场需求适配性</a:t>
            </a: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6686550" y="2647950"/>
            <a:ext cx="4876800" cy="47625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algn="l">
              <a:defRPr sz="14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面向教师培训、教研、教学、干部培训和区域服务等真实需求，快速转化为可理解、可采购、可使用的场景方案。</a:t>
            </a: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390525" y="3676650"/>
            <a:ext cx="5334000" cy="1352550"/>
          </a:xfrm>
          <a:prstGeom prst="rect">
            <a:avLst/>
          </a:prstGeom>
          <a:solidFill>
            <a:srgbClr val="F6F6F6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13" name="矩形 12"/>
          <p:cNvSpPr>
            <a:spLocks noGrp="1"/>
          </p:cNvSpPr>
          <p:nvPr/>
        </p:nvSpPr>
        <p:spPr>
          <a:xfrm>
            <a:off x="619125" y="3905250"/>
            <a:ext cx="4876800" cy="342900"/>
          </a:xfrm>
          <a:prstGeom prst="rect">
            <a:avLst/>
          </a:prstGeom>
        </p:spPr>
        <p:txBody>
          <a:bodyPr lIns="0" tIns="0" rIns="0" bIns="0" anchor="ctr">
            <a:normAutofit/>
          </a:bodyPr>
          <a:lstStyle/>
          <a:p>
            <a:pPr algn="l">
              <a:defRPr sz="210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产品灵活性</a:t>
            </a: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619125" y="4362450"/>
            <a:ext cx="4876800" cy="47625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algn="l">
              <a:defRPr sz="14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通过Lucky、资料库、空间、场景模板、套餐和租户组合，支持从轻量工具到完整业务平台的多种交付形态。</a:t>
            </a: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6457950" y="3676650"/>
            <a:ext cx="5334000" cy="1352550"/>
          </a:xfrm>
          <a:prstGeom prst="rect">
            <a:avLst/>
          </a:prstGeom>
          <a:solidFill>
            <a:srgbClr val="000000"/>
          </a:solidFill>
          <a:ln w="0">
            <a:noFill/>
            <a:prstDash val="solid"/>
          </a:ln>
        </p:spPr>
      </p:sp>
      <p:sp>
        <p:nvSpPr>
          <p:cNvPr id="16" name="矩形 15"/>
          <p:cNvSpPr>
            <a:spLocks noGrp="1"/>
          </p:cNvSpPr>
          <p:nvPr/>
        </p:nvSpPr>
        <p:spPr>
          <a:xfrm>
            <a:off x="6686550" y="3905250"/>
            <a:ext cx="4876800" cy="342900"/>
          </a:xfrm>
          <a:prstGeom prst="rect">
            <a:avLst/>
          </a:prstGeom>
        </p:spPr>
        <p:txBody>
          <a:bodyPr lIns="0" tIns="0" rIns="0" bIns="0" anchor="ctr">
            <a:normAutofit/>
          </a:bodyPr>
          <a:lstStyle/>
          <a:p>
            <a:pPr algn="l">
              <a:defRPr sz="2100" b="1">
                <a:solidFill>
                  <a:srgbClr val="FF6B35"/>
                </a:solidFill>
                <a:latin typeface="PingFang SC"/>
                <a:ea typeface="PingFang SC"/>
                <a:cs typeface="PingFang SC"/>
              </a:defRPr>
            </a:pPr>
            <a:r>
              <a:t>体验简单性</a:t>
            </a:r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6686550" y="4362450"/>
            <a:ext cx="4876800" cy="47625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algn="l">
              <a:defRPr sz="1425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t>坚持两个简单：UI和交互采用主流方式，操作简单；产品设计克制，概念尽可能少。</a:t>
            </a:r>
          </a:p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390525" y="5476875"/>
            <a:ext cx="11401425" cy="514350"/>
          </a:xfrm>
          <a:prstGeom prst="rect">
            <a:avLst/>
          </a:prstGeom>
          <a:solidFill>
            <a:srgbClr val="F6F6F6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19" name="矩形 18"/>
          <p:cNvSpPr>
            <a:spLocks noGrp="1"/>
          </p:cNvSpPr>
          <p:nvPr/>
        </p:nvSpPr>
        <p:spPr>
          <a:xfrm>
            <a:off x="666750" y="5600700"/>
            <a:ext cx="10839450" cy="266700"/>
          </a:xfrm>
          <a:prstGeom prst="rect">
            <a:avLst/>
          </a:prstGeom>
        </p:spPr>
        <p:txBody>
          <a:bodyPr lIns="0" tIns="0" rIns="0" bIns="0" anchor="ctr">
            <a:normAutofit/>
          </a:bodyPr>
          <a:lstStyle/>
          <a:p>
            <a:pPr algn="l">
              <a:defRPr sz="165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建设出发点：用前沿技术匹配市场需求，以灵活产品形态和简单清晰体验支撑规模化落地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390525" y="342900"/>
            <a:ext cx="2857500" cy="247650"/>
          </a:xfrm>
          <a:prstGeom prst="rect">
            <a:avLst/>
          </a:prstGeom>
        </p:spPr>
        <p:txBody>
          <a:bodyPr lIns="0" tIns="0" rIns="0" bIns="0" anchor="ctr">
            <a:normAutofit/>
          </a:bodyPr>
          <a:lstStyle/>
          <a:p>
            <a:pPr algn="l">
              <a:defRPr sz="1200" b="1">
                <a:solidFill>
                  <a:srgbClr val="555555"/>
                </a:solidFill>
                <a:latin typeface="PingFang SC"/>
                <a:ea typeface="PingFang SC"/>
                <a:cs typeface="PingFang SC"/>
              </a:defRPr>
            </a:pPr>
            <a:r>
              <a:t>价值总览</a:t>
            </a: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390525" y="666750"/>
            <a:ext cx="11401425" cy="7239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algn="l">
              <a:defRPr sz="2775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AI 原生平台的价值不只在工具能力，而在业务增长和组织效率</a:t>
            </a: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390525" y="1504950"/>
            <a:ext cx="11401425" cy="14288"/>
          </a:xfrm>
          <a:prstGeom prst="rect">
            <a:avLst/>
          </a:prstGeom>
          <a:solidFill>
            <a:srgbClr val="B8BCC4"/>
          </a:solidFill>
          <a:ln w="0">
            <a:noFill/>
            <a:prstDash val="solid"/>
          </a:ln>
        </p:spPr>
      </p:sp>
      <p:sp>
        <p:nvSpPr>
          <p:cNvPr id="5" name="矩形 4"/>
          <p:cNvSpPr>
            <a:spLocks noGrp="1"/>
          </p:cNvSpPr>
          <p:nvPr/>
        </p:nvSpPr>
        <p:spPr>
          <a:xfrm>
            <a:off x="11277600" y="6276975"/>
            <a:ext cx="514350" cy="238125"/>
          </a:xfrm>
          <a:prstGeom prst="rect">
            <a:avLst/>
          </a:prstGeom>
        </p:spPr>
        <p:txBody>
          <a:bodyPr lIns="0" tIns="0" rIns="0" bIns="0" anchor="ctr">
            <a:normAutofit/>
          </a:bodyPr>
          <a:lstStyle/>
          <a:p>
            <a:pPr algn="r">
              <a:defRPr sz="11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05</a:t>
            </a: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390525" y="1962150"/>
            <a:ext cx="5334000" cy="1352550"/>
          </a:xfrm>
          <a:prstGeom prst="rect">
            <a:avLst/>
          </a:prstGeom>
          <a:solidFill>
            <a:srgbClr val="F6F6F6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7" name="矩形 6"/>
          <p:cNvSpPr>
            <a:spLocks noGrp="1"/>
          </p:cNvSpPr>
          <p:nvPr/>
        </p:nvSpPr>
        <p:spPr>
          <a:xfrm>
            <a:off x="619125" y="2190750"/>
            <a:ext cx="4876800" cy="342900"/>
          </a:xfrm>
          <a:prstGeom prst="rect">
            <a:avLst/>
          </a:prstGeom>
        </p:spPr>
        <p:txBody>
          <a:bodyPr lIns="0" tIns="0" rIns="0" bIns="0" anchor="ctr">
            <a:normAutofit/>
          </a:bodyPr>
          <a:lstStyle/>
          <a:p>
            <a:pPr algn="l">
              <a:defRPr sz="210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对公司</a:t>
            </a: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619125" y="2647950"/>
            <a:ext cx="4876800" cy="47625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algn="l">
              <a:defRPr sz="14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为后续业务扩展提供统一平台底座，支持从教师培训扩展到教研、教学、干部培训、区域服务等更多场景。</a:t>
            </a: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6457950" y="1962150"/>
            <a:ext cx="5334000" cy="1352550"/>
          </a:xfrm>
          <a:prstGeom prst="rect">
            <a:avLst/>
          </a:prstGeom>
          <a:solidFill>
            <a:srgbClr val="F6F6F6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10" name="矩形 9"/>
          <p:cNvSpPr>
            <a:spLocks noGrp="1"/>
          </p:cNvSpPr>
          <p:nvPr/>
        </p:nvSpPr>
        <p:spPr>
          <a:xfrm>
            <a:off x="6686550" y="2190750"/>
            <a:ext cx="4876800" cy="342900"/>
          </a:xfrm>
          <a:prstGeom prst="rect">
            <a:avLst/>
          </a:prstGeom>
        </p:spPr>
        <p:txBody>
          <a:bodyPr lIns="0" tIns="0" rIns="0" bIns="0" anchor="ctr">
            <a:normAutofit/>
          </a:bodyPr>
          <a:lstStyle/>
          <a:p>
            <a:pPr algn="l">
              <a:defRPr sz="210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对用户</a:t>
            </a: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6686550" y="2647950"/>
            <a:ext cx="4876800" cy="476250"/>
          </a:xfrm>
          <a:prstGeom prst="rect">
            <a:avLst/>
          </a:prstGeom>
        </p:spPr>
        <p:txBody>
          <a:bodyPr lIns="0" tIns="0" rIns="0" bIns="0" anchor="t">
            <a:normAutofit fontScale="94266"/>
          </a:bodyPr>
          <a:lstStyle/>
          <a:p>
            <a:pPr algn="l">
              <a:defRPr sz="14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让教师、干部、教研员等角色获得 AI 助理能力，提升资料处理、内容生成、方案设计和任务执行效率</a:t>
            </a: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390525" y="3676650"/>
            <a:ext cx="5334000" cy="1352550"/>
          </a:xfrm>
          <a:prstGeom prst="rect">
            <a:avLst/>
          </a:prstGeom>
          <a:solidFill>
            <a:srgbClr val="F6F6F6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13" name="矩形 12"/>
          <p:cNvSpPr>
            <a:spLocks noGrp="1"/>
          </p:cNvSpPr>
          <p:nvPr/>
        </p:nvSpPr>
        <p:spPr>
          <a:xfrm>
            <a:off x="619125" y="3905250"/>
            <a:ext cx="4876800" cy="342900"/>
          </a:xfrm>
          <a:prstGeom prst="rect">
            <a:avLst/>
          </a:prstGeom>
        </p:spPr>
        <p:txBody>
          <a:bodyPr lIns="0" tIns="0" rIns="0" bIns="0" anchor="ctr">
            <a:normAutofit/>
          </a:bodyPr>
          <a:lstStyle/>
          <a:p>
            <a:pPr algn="l">
              <a:defRPr sz="210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对客户组织</a:t>
            </a: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619125" y="4362450"/>
            <a:ext cx="4876800" cy="47625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algn="l">
              <a:defRPr sz="14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帮助学校、区域和机构沉淀知识资产、规范业务流程、提升协同效率，并形成可复制的数字化业务能力。</a:t>
            </a: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6457950" y="3676650"/>
            <a:ext cx="5334000" cy="1352550"/>
          </a:xfrm>
          <a:prstGeom prst="rect">
            <a:avLst/>
          </a:prstGeom>
          <a:solidFill>
            <a:srgbClr val="000000"/>
          </a:solidFill>
          <a:ln w="0">
            <a:noFill/>
            <a:prstDash val="solid"/>
          </a:ln>
        </p:spPr>
      </p:sp>
      <p:sp>
        <p:nvSpPr>
          <p:cNvPr id="16" name="矩形 15"/>
          <p:cNvSpPr>
            <a:spLocks noGrp="1"/>
          </p:cNvSpPr>
          <p:nvPr/>
        </p:nvSpPr>
        <p:spPr>
          <a:xfrm>
            <a:off x="6686550" y="3905250"/>
            <a:ext cx="4876800" cy="342900"/>
          </a:xfrm>
          <a:prstGeom prst="rect">
            <a:avLst/>
          </a:prstGeom>
        </p:spPr>
        <p:txBody>
          <a:bodyPr lIns="0" tIns="0" rIns="0" bIns="0" anchor="ctr">
            <a:normAutofit/>
          </a:bodyPr>
          <a:lstStyle/>
          <a:p>
            <a:pPr algn="l">
              <a:defRPr sz="2100" b="1">
                <a:solidFill>
                  <a:srgbClr val="FF6B35"/>
                </a:solidFill>
                <a:latin typeface="PingFang SC"/>
                <a:ea typeface="PingFang SC"/>
                <a:cs typeface="PingFang SC"/>
              </a:defRPr>
            </a:pPr>
            <a:r>
              <a:t>商业价值空间</a:t>
            </a:r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6686550" y="4362450"/>
            <a:ext cx="4876800" cy="476250"/>
          </a:xfrm>
          <a:prstGeom prst="rect">
            <a:avLst/>
          </a:prstGeom>
        </p:spPr>
        <p:txBody>
          <a:bodyPr lIns="0" tIns="0" rIns="0" bIns="0" anchor="t">
            <a:normAutofit fontScale="82503"/>
          </a:bodyPr>
          <a:lstStyle/>
          <a:p>
            <a:pPr algn="l">
              <a:defRPr sz="1425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t>通过平台、服务、资源和 Token 算力形成持续付费空间，支撑套餐、租户、场景解决方案和运营商合作。</a:t>
            </a:r>
          </a:p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390525" y="5476875"/>
            <a:ext cx="11401425" cy="514350"/>
          </a:xfrm>
          <a:prstGeom prst="rect">
            <a:avLst/>
          </a:prstGeom>
          <a:solidFill>
            <a:srgbClr val="F6F6F6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19" name="矩形 18"/>
          <p:cNvSpPr>
            <a:spLocks noGrp="1"/>
          </p:cNvSpPr>
          <p:nvPr/>
        </p:nvSpPr>
        <p:spPr>
          <a:xfrm>
            <a:off x="666750" y="5600700"/>
            <a:ext cx="10839450" cy="266700"/>
          </a:xfrm>
          <a:prstGeom prst="rect">
            <a:avLst/>
          </a:prstGeom>
        </p:spPr>
        <p:txBody>
          <a:bodyPr lIns="0" tIns="0" rIns="0" bIns="0" anchor="ctr">
            <a:normAutofit fontScale="84866"/>
          </a:bodyPr>
          <a:lstStyle/>
          <a:p>
            <a:pPr algn="l">
              <a:defRPr sz="165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通答平台的核心价值，是把 AI 从单点工具升级为业务基础设施，既支撑客户组织提效，也支撑公司持续扩展业务边界和商业收入空间。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390525" y="342900"/>
            <a:ext cx="2857500" cy="247650"/>
          </a:xfrm>
          <a:prstGeom prst="rect">
            <a:avLst/>
          </a:prstGeom>
        </p:spPr>
        <p:txBody>
          <a:bodyPr lIns="0" tIns="0" rIns="0" bIns="0" anchor="ctr">
            <a:normAutofit/>
          </a:bodyPr>
          <a:lstStyle/>
          <a:p>
            <a:pPr algn="l">
              <a:defRPr sz="1200" b="1">
                <a:solidFill>
                  <a:srgbClr val="555555"/>
                </a:solidFill>
                <a:latin typeface="PingFang SC"/>
                <a:ea typeface="PingFang SC"/>
                <a:cs typeface="PingFang SC"/>
              </a:defRPr>
            </a:pPr>
            <a:r>
              <a:t>AI 原生底座</a:t>
            </a: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390525" y="666750"/>
            <a:ext cx="11401425" cy="7239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algn="l">
              <a:defRPr sz="2775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AI 原生底座让每个业务模块天然具备智能能力</a:t>
            </a: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390525" y="1504950"/>
            <a:ext cx="11401425" cy="14288"/>
          </a:xfrm>
          <a:prstGeom prst="rect">
            <a:avLst/>
          </a:prstGeom>
          <a:solidFill>
            <a:srgbClr val="B8BCC4"/>
          </a:solidFill>
          <a:ln w="0">
            <a:noFill/>
            <a:prstDash val="solid"/>
          </a:ln>
        </p:spPr>
      </p:sp>
      <p:sp>
        <p:nvSpPr>
          <p:cNvPr id="5" name="矩形 4"/>
          <p:cNvSpPr>
            <a:spLocks noGrp="1"/>
          </p:cNvSpPr>
          <p:nvPr/>
        </p:nvSpPr>
        <p:spPr>
          <a:xfrm>
            <a:off x="11277600" y="6276975"/>
            <a:ext cx="514350" cy="238125"/>
          </a:xfrm>
          <a:prstGeom prst="rect">
            <a:avLst/>
          </a:prstGeom>
        </p:spPr>
        <p:txBody>
          <a:bodyPr lIns="0" tIns="0" rIns="0" bIns="0" anchor="ctr">
            <a:normAutofit/>
          </a:bodyPr>
          <a:lstStyle/>
          <a:p>
            <a:pPr algn="r">
              <a:defRPr sz="11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06</a:t>
            </a: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685800" y="1981200"/>
            <a:ext cx="10096500" cy="685800"/>
          </a:xfrm>
          <a:prstGeom prst="rect">
            <a:avLst/>
          </a:prstGeom>
        </p:spPr>
        <p:txBody>
          <a:bodyPr lIns="0" tIns="0" rIns="0" bIns="0" anchor="ctr">
            <a:normAutofit fontScale="95411"/>
          </a:bodyPr>
          <a:lstStyle/>
          <a:p>
            <a:pPr algn="ctr">
              <a:defRPr sz="2475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基于AI原生平台架构，AI不是后续叠加功能，而是所有业务模块的默认能力</a:t>
            </a: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895350" y="3200400"/>
            <a:ext cx="1714500" cy="552450"/>
          </a:xfrm>
          <a:prstGeom prst="rect">
            <a:avLst/>
          </a:prstGeom>
          <a:solidFill>
            <a:srgbClr val="F6F6F6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8" name="矩形 7"/>
          <p:cNvSpPr>
            <a:spLocks noGrp="1"/>
          </p:cNvSpPr>
          <p:nvPr/>
        </p:nvSpPr>
        <p:spPr>
          <a:xfrm>
            <a:off x="990600" y="3257550"/>
            <a:ext cx="1524000" cy="438150"/>
          </a:xfrm>
          <a:prstGeom prst="rect">
            <a:avLst/>
          </a:prstGeom>
        </p:spPr>
        <p:txBody>
          <a:bodyPr lIns="0" tIns="0" rIns="0" bIns="0" anchor="ctr">
            <a:normAutofit/>
          </a:bodyPr>
          <a:lstStyle/>
          <a:p>
            <a:pPr algn="ctr">
              <a:defRPr sz="1725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业务模块</a:t>
            </a:r>
          </a:p>
        </p:txBody>
      </p:sp>
      <p:sp>
        <p:nvSpPr>
          <p:cNvPr id="9" name="右箭头 8"/>
          <p:cNvSpPr>
            <a:spLocks noGrp="1"/>
          </p:cNvSpPr>
          <p:nvPr/>
        </p:nvSpPr>
        <p:spPr>
          <a:xfrm>
            <a:off x="2914650" y="3305175"/>
            <a:ext cx="704850" cy="342900"/>
          </a:xfrm>
          <a:prstGeom prst="rightArrow">
            <a:avLst/>
          </a:prstGeom>
          <a:solidFill>
            <a:srgbClr val="B8BCC4"/>
          </a:solidFill>
          <a:ln w="0">
            <a:noFill/>
            <a:prstDash val="solid"/>
          </a:ln>
        </p:spPr>
      </p:sp>
      <p:sp>
        <p:nvSpPr>
          <p:cNvPr id="10" name="矩形 9"/>
          <p:cNvSpPr>
            <a:spLocks noGrp="1"/>
          </p:cNvSpPr>
          <p:nvPr/>
        </p:nvSpPr>
        <p:spPr>
          <a:xfrm>
            <a:off x="3924300" y="3200400"/>
            <a:ext cx="1524000" cy="552450"/>
          </a:xfrm>
          <a:prstGeom prst="rect">
            <a:avLst/>
          </a:prstGeom>
          <a:solidFill>
            <a:srgbClr val="F6F6F6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11" name="矩形 10"/>
          <p:cNvSpPr>
            <a:spLocks noGrp="1"/>
          </p:cNvSpPr>
          <p:nvPr/>
        </p:nvSpPr>
        <p:spPr>
          <a:xfrm>
            <a:off x="4019550" y="3257550"/>
            <a:ext cx="1333500" cy="438150"/>
          </a:xfrm>
          <a:prstGeom prst="rect">
            <a:avLst/>
          </a:prstGeom>
        </p:spPr>
        <p:txBody>
          <a:bodyPr lIns="0" tIns="0" rIns="0" bIns="0" anchor="ctr">
            <a:normAutofit/>
          </a:bodyPr>
          <a:lstStyle/>
          <a:p>
            <a:pPr algn="ctr">
              <a:defRPr sz="1725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AI能力</a:t>
            </a:r>
          </a:p>
        </p:txBody>
      </p:sp>
      <p:sp>
        <p:nvSpPr>
          <p:cNvPr id="12" name="右箭头 11"/>
          <p:cNvSpPr>
            <a:spLocks noGrp="1"/>
          </p:cNvSpPr>
          <p:nvPr/>
        </p:nvSpPr>
        <p:spPr>
          <a:xfrm>
            <a:off x="5753100" y="3305175"/>
            <a:ext cx="704850" cy="342900"/>
          </a:xfrm>
          <a:prstGeom prst="rightArrow">
            <a:avLst/>
          </a:prstGeom>
          <a:solidFill>
            <a:srgbClr val="B8BCC4"/>
          </a:solidFill>
          <a:ln w="0">
            <a:noFill/>
            <a:prstDash val="solid"/>
          </a:ln>
        </p:spPr>
      </p:sp>
      <p:sp>
        <p:nvSpPr>
          <p:cNvPr id="13" name="矩形 12"/>
          <p:cNvSpPr>
            <a:spLocks noGrp="1"/>
          </p:cNvSpPr>
          <p:nvPr/>
        </p:nvSpPr>
        <p:spPr>
          <a:xfrm>
            <a:off x="6762750" y="3200400"/>
            <a:ext cx="2000250" cy="552450"/>
          </a:xfrm>
          <a:prstGeom prst="rect">
            <a:avLst/>
          </a:prstGeom>
          <a:solidFill>
            <a:srgbClr val="000000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14" name="矩形 13"/>
          <p:cNvSpPr>
            <a:spLocks noGrp="1"/>
          </p:cNvSpPr>
          <p:nvPr/>
        </p:nvSpPr>
        <p:spPr>
          <a:xfrm>
            <a:off x="6858000" y="3257550"/>
            <a:ext cx="1809750" cy="438150"/>
          </a:xfrm>
          <a:prstGeom prst="rect">
            <a:avLst/>
          </a:prstGeom>
        </p:spPr>
        <p:txBody>
          <a:bodyPr lIns="0" tIns="0" rIns="0" bIns="0" anchor="ctr">
            <a:normAutofit/>
          </a:bodyPr>
          <a:lstStyle/>
          <a:p>
            <a: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t>智能体+体验</a:t>
            </a:r>
          </a:p>
        </p:txBody>
      </p:sp>
      <p:sp>
        <p:nvSpPr>
          <p:cNvPr id="15" name="右箭头 14"/>
          <p:cNvSpPr>
            <a:spLocks noGrp="1"/>
          </p:cNvSpPr>
          <p:nvPr/>
        </p:nvSpPr>
        <p:spPr>
          <a:xfrm>
            <a:off x="9067800" y="3305175"/>
            <a:ext cx="704850" cy="342900"/>
          </a:xfrm>
          <a:prstGeom prst="rightArrow">
            <a:avLst/>
          </a:prstGeom>
          <a:solidFill>
            <a:srgbClr val="B8BCC4"/>
          </a:solidFill>
          <a:ln w="0">
            <a:noFill/>
            <a:prstDash val="solid"/>
          </a:ln>
        </p:spPr>
      </p:sp>
      <p:sp>
        <p:nvSpPr>
          <p:cNvPr id="16" name="矩形 15"/>
          <p:cNvSpPr>
            <a:spLocks noGrp="1"/>
          </p:cNvSpPr>
          <p:nvPr/>
        </p:nvSpPr>
        <p:spPr>
          <a:xfrm>
            <a:off x="10077450" y="3200400"/>
            <a:ext cx="1714500" cy="552450"/>
          </a:xfrm>
          <a:prstGeom prst="rect">
            <a:avLst/>
          </a:prstGeom>
          <a:solidFill>
            <a:srgbClr val="FF6B35"/>
          </a:solidFill>
          <a:ln w="9525">
            <a:noFill/>
            <a:prstDash val="solid"/>
          </a:ln>
        </p:spPr>
      </p:sp>
      <p:sp>
        <p:nvSpPr>
          <p:cNvPr id="17" name="矩形 16"/>
          <p:cNvSpPr>
            <a:spLocks noGrp="1"/>
          </p:cNvSpPr>
          <p:nvPr/>
        </p:nvSpPr>
        <p:spPr>
          <a:xfrm>
            <a:off x="10172700" y="3257550"/>
            <a:ext cx="1524000" cy="438150"/>
          </a:xfrm>
          <a:prstGeom prst="rect">
            <a:avLst/>
          </a:prstGeom>
        </p:spPr>
        <p:txBody>
          <a:bodyPr lIns="0" tIns="0" rIns="0" bIns="0" anchor="ctr">
            <a:normAutofit/>
          </a:bodyPr>
          <a:lstStyle/>
          <a:p>
            <a:pPr algn="ctr">
              <a:defRPr sz="16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t>业务场景落地</a:t>
            </a:r>
          </a:p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390525" y="4476750"/>
            <a:ext cx="3238500" cy="1066800"/>
          </a:xfrm>
          <a:prstGeom prst="rect">
            <a:avLst/>
          </a:prstGeom>
          <a:solidFill>
            <a:srgbClr val="EDEDED"/>
          </a:solidFill>
          <a:ln w="0">
            <a:noFill/>
            <a:prstDash val="solid"/>
          </a:ln>
        </p:spPr>
      </p:sp>
      <p:sp>
        <p:nvSpPr>
          <p:cNvPr id="19" name="矩形 18"/>
          <p:cNvSpPr>
            <a:spLocks noGrp="1"/>
          </p:cNvSpPr>
          <p:nvPr/>
        </p:nvSpPr>
        <p:spPr>
          <a:xfrm>
            <a:off x="619125" y="4705350"/>
            <a:ext cx="2781300" cy="342900"/>
          </a:xfrm>
          <a:prstGeom prst="rect">
            <a:avLst/>
          </a:prstGeom>
        </p:spPr>
        <p:txBody>
          <a:bodyPr lIns="0" tIns="0" rIns="0" bIns="0" anchor="ctr">
            <a:normAutofit/>
          </a:bodyPr>
          <a:lstStyle/>
          <a:p>
            <a:pPr algn="l">
              <a:defRPr sz="180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资料库</a:t>
            </a:r>
          </a:p>
        </p:txBody>
      </p:sp>
      <p:sp>
        <p:nvSpPr>
          <p:cNvPr id="20" name="矩形 19"/>
          <p:cNvSpPr>
            <a:spLocks noGrp="1"/>
          </p:cNvSpPr>
          <p:nvPr/>
        </p:nvSpPr>
        <p:spPr>
          <a:xfrm>
            <a:off x="619125" y="5162550"/>
            <a:ext cx="2781300" cy="190500"/>
          </a:xfrm>
          <a:prstGeom prst="rect">
            <a:avLst/>
          </a:prstGeom>
        </p:spPr>
        <p:txBody>
          <a:bodyPr lIns="0" tIns="0" rIns="0" bIns="0" anchor="t">
            <a:normAutofit fontScale="60044"/>
          </a:bodyPr>
          <a:lstStyle/>
          <a:p>
            <a:pPr algn="l">
              <a:defRPr sz="127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业务资料天然沉淀为知识资产，支撑检索、问答、生成和复用。</a:t>
            </a:r>
          </a:p>
        </p:txBody>
      </p:sp>
      <p:sp>
        <p:nvSpPr>
          <p:cNvPr id="21" name="矩形 20"/>
          <p:cNvSpPr>
            <a:spLocks noGrp="1"/>
          </p:cNvSpPr>
          <p:nvPr/>
        </p:nvSpPr>
        <p:spPr>
          <a:xfrm>
            <a:off x="4476750" y="4476750"/>
            <a:ext cx="3238500" cy="1066800"/>
          </a:xfrm>
          <a:prstGeom prst="rect">
            <a:avLst/>
          </a:prstGeom>
          <a:solidFill>
            <a:srgbClr val="EDEDED"/>
          </a:solidFill>
          <a:ln w="0">
            <a:noFill/>
            <a:prstDash val="solid"/>
          </a:ln>
        </p:spPr>
      </p:sp>
      <p:sp>
        <p:nvSpPr>
          <p:cNvPr id="22" name="矩形 21"/>
          <p:cNvSpPr>
            <a:spLocks noGrp="1"/>
          </p:cNvSpPr>
          <p:nvPr/>
        </p:nvSpPr>
        <p:spPr>
          <a:xfrm>
            <a:off x="4705350" y="4705350"/>
            <a:ext cx="2781300" cy="342900"/>
          </a:xfrm>
          <a:prstGeom prst="rect">
            <a:avLst/>
          </a:prstGeom>
        </p:spPr>
        <p:txBody>
          <a:bodyPr lIns="0" tIns="0" rIns="0" bIns="0" anchor="ctr">
            <a:normAutofit/>
          </a:bodyPr>
          <a:lstStyle/>
          <a:p>
            <a:pPr algn="l">
              <a:defRPr sz="180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空间</a:t>
            </a:r>
          </a:p>
        </p:txBody>
      </p:sp>
      <p:sp>
        <p:nvSpPr>
          <p:cNvPr id="23" name="矩形 22"/>
          <p:cNvSpPr>
            <a:spLocks noGrp="1"/>
          </p:cNvSpPr>
          <p:nvPr/>
        </p:nvSpPr>
        <p:spPr>
          <a:xfrm>
            <a:off x="4705350" y="5162550"/>
            <a:ext cx="2781300" cy="190500"/>
          </a:xfrm>
          <a:prstGeom prst="rect">
            <a:avLst/>
          </a:prstGeom>
        </p:spPr>
        <p:txBody>
          <a:bodyPr lIns="0" tIns="0" rIns="0" bIns="0" anchor="t">
            <a:normAutofit fontScale="60044"/>
          </a:bodyPr>
          <a:lstStyle/>
          <a:p>
            <a:pPr algn="l">
              <a:defRPr sz="127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业务过程天然进入空间，承载成员、任务、流程、协同和成果。</a:t>
            </a:r>
          </a:p>
        </p:txBody>
      </p:sp>
      <p:sp>
        <p:nvSpPr>
          <p:cNvPr id="24" name="矩形 23"/>
          <p:cNvSpPr>
            <a:spLocks noGrp="1"/>
          </p:cNvSpPr>
          <p:nvPr/>
        </p:nvSpPr>
        <p:spPr>
          <a:xfrm>
            <a:off x="8562975" y="4476750"/>
            <a:ext cx="3238500" cy="1066800"/>
          </a:xfrm>
          <a:prstGeom prst="rect">
            <a:avLst/>
          </a:prstGeom>
          <a:solidFill>
            <a:srgbClr val="000000"/>
          </a:solidFill>
          <a:ln w="0">
            <a:noFill/>
            <a:prstDash val="solid"/>
          </a:ln>
        </p:spPr>
      </p:sp>
      <p:sp>
        <p:nvSpPr>
          <p:cNvPr id="25" name="矩形 24"/>
          <p:cNvSpPr>
            <a:spLocks noGrp="1"/>
          </p:cNvSpPr>
          <p:nvPr/>
        </p:nvSpPr>
        <p:spPr>
          <a:xfrm>
            <a:off x="8791575" y="4705350"/>
            <a:ext cx="2781300" cy="342900"/>
          </a:xfrm>
          <a:prstGeom prst="rect">
            <a:avLst/>
          </a:prstGeom>
        </p:spPr>
        <p:txBody>
          <a:bodyPr lIns="0" tIns="0" rIns="0" bIns="0" anchor="ctr">
            <a:normAutofit/>
          </a:bodyPr>
          <a:lstStyle/>
          <a:p>
            <a:pPr algn="l">
              <a:defRPr sz="1800" b="1">
                <a:solidFill>
                  <a:srgbClr val="FF6B35"/>
                </a:solidFill>
                <a:latin typeface="PingFang SC"/>
                <a:ea typeface="PingFang SC"/>
                <a:cs typeface="PingFang SC"/>
              </a:defRPr>
            </a:pPr>
            <a:r>
              <a:t>智能体</a:t>
            </a:r>
          </a:p>
        </p:txBody>
      </p:sp>
      <p:sp>
        <p:nvSpPr>
          <p:cNvPr id="26" name="矩形 25"/>
          <p:cNvSpPr>
            <a:spLocks noGrp="1"/>
          </p:cNvSpPr>
          <p:nvPr/>
        </p:nvSpPr>
        <p:spPr>
          <a:xfrm>
            <a:off x="8791575" y="5162550"/>
            <a:ext cx="2781300" cy="190500"/>
          </a:xfrm>
          <a:prstGeom prst="rect">
            <a:avLst/>
          </a:prstGeom>
        </p:spPr>
        <p:txBody>
          <a:bodyPr lIns="0" tIns="0" rIns="0" bIns="0" anchor="t">
            <a:normAutofit fontScale="54256"/>
          </a:bodyPr>
          <a:lstStyle/>
          <a:p>
            <a:pPr algn="l">
              <a:defRPr sz="1275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t>不同角色天然获得智能助手，形成问答、生成、分析和任务推进能力。</a:t>
            </a:r>
          </a:p>
        </p:txBody>
      </p:sp>
      <p:sp>
        <p:nvSpPr>
          <p:cNvPr id="27" name="矩形 26"/>
          <p:cNvSpPr>
            <a:spLocks noGrp="1"/>
          </p:cNvSpPr>
          <p:nvPr/>
        </p:nvSpPr>
        <p:spPr>
          <a:xfrm>
            <a:off x="1104900" y="5867400"/>
            <a:ext cx="9982200" cy="304800"/>
          </a:xfrm>
          <a:prstGeom prst="rect">
            <a:avLst/>
          </a:prstGeom>
        </p:spPr>
        <p:txBody>
          <a:bodyPr lIns="0" tIns="0" rIns="0" bIns="0" anchor="ctr">
            <a:normAutofit/>
          </a:bodyPr>
          <a:lstStyle/>
          <a:p>
            <a:pPr algn="ctr">
              <a:defRPr sz="165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未来扩展新业务时，不需要重建AI能力，而是直接复用“资料库 + 空间 + 智能体”的平台底座。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390525" y="342900"/>
            <a:ext cx="2857500" cy="247650"/>
          </a:xfrm>
          <a:prstGeom prst="rect">
            <a:avLst/>
          </a:prstGeom>
        </p:spPr>
        <p:txBody>
          <a:bodyPr lIns="0" tIns="0" rIns="0" bIns="0" anchor="ctr">
            <a:normAutofit/>
          </a:bodyPr>
          <a:lstStyle/>
          <a:p>
            <a:pPr algn="l">
              <a:defRPr sz="1200" b="1">
                <a:solidFill>
                  <a:srgbClr val="555555"/>
                </a:solidFill>
                <a:latin typeface="PingFang SC"/>
                <a:ea typeface="PingFang SC"/>
                <a:cs typeface="PingFang SC"/>
              </a:defRPr>
            </a:pPr>
            <a:r>
              <a:t>章节目录</a:t>
            </a: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390525" y="666750"/>
            <a:ext cx="11401425" cy="7239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algn="l">
              <a:defRPr sz="330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章节目录：02 架构与交付体系</a:t>
            </a: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390525" y="1504950"/>
            <a:ext cx="11401425" cy="14288"/>
          </a:xfrm>
          <a:prstGeom prst="rect">
            <a:avLst/>
          </a:prstGeom>
          <a:solidFill>
            <a:srgbClr val="B8BCC4"/>
          </a:solidFill>
          <a:ln w="0">
            <a:noFill/>
            <a:prstDash val="solid"/>
          </a:ln>
        </p:spPr>
      </p:sp>
      <p:sp>
        <p:nvSpPr>
          <p:cNvPr id="5" name="矩形 4"/>
          <p:cNvSpPr>
            <a:spLocks noGrp="1"/>
          </p:cNvSpPr>
          <p:nvPr/>
        </p:nvSpPr>
        <p:spPr>
          <a:xfrm>
            <a:off x="11277600" y="6276975"/>
            <a:ext cx="514350" cy="238125"/>
          </a:xfrm>
          <a:prstGeom prst="rect">
            <a:avLst/>
          </a:prstGeom>
        </p:spPr>
        <p:txBody>
          <a:bodyPr lIns="0" tIns="0" rIns="0" bIns="0" anchor="ctr">
            <a:normAutofit/>
          </a:bodyPr>
          <a:lstStyle/>
          <a:p>
            <a:pPr algn="r">
              <a:defRPr sz="11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07</a:t>
            </a: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390525" y="1676400"/>
            <a:ext cx="1524000" cy="28575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algn="l">
              <a:defRPr sz="1800" b="1">
                <a:solidFill>
                  <a:srgbClr val="555555"/>
                </a:solidFill>
                <a:latin typeface="PingFang SC"/>
                <a:ea typeface="PingFang SC"/>
                <a:cs typeface="PingFang SC"/>
              </a:defRPr>
            </a:pPr>
            <a:r>
              <a:t>当前位置</a:t>
            </a: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781050" y="1981200"/>
            <a:ext cx="10620375" cy="552450"/>
          </a:xfrm>
          <a:prstGeom prst="rect">
            <a:avLst/>
          </a:prstGeom>
          <a:solidFill>
            <a:srgbClr val="F6F6F6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8" name="矩形 7"/>
          <p:cNvSpPr>
            <a:spLocks noGrp="1"/>
          </p:cNvSpPr>
          <p:nvPr/>
        </p:nvSpPr>
        <p:spPr>
          <a:xfrm>
            <a:off x="1066800" y="2105025"/>
            <a:ext cx="666750" cy="285750"/>
          </a:xfrm>
          <a:prstGeom prst="rect">
            <a:avLst/>
          </a:prstGeom>
        </p:spPr>
        <p:txBody>
          <a:bodyPr lIns="0" tIns="0" rIns="0" bIns="0" anchor="ctr">
            <a:normAutofit fontScale="96154"/>
          </a:bodyPr>
          <a:lstStyle/>
          <a:p>
            <a:pPr algn="ctr">
              <a:defRPr sz="1950" b="1">
                <a:solidFill>
                  <a:srgbClr val="555555"/>
                </a:solidFill>
                <a:latin typeface="PingFang SC"/>
                <a:ea typeface="PingFang SC"/>
                <a:cs typeface="PingFang SC"/>
              </a:defRPr>
            </a:pPr>
            <a:r>
              <a:t>01</a:t>
            </a: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2019300" y="2105025"/>
            <a:ext cx="2857500" cy="285750"/>
          </a:xfrm>
          <a:prstGeom prst="rect">
            <a:avLst/>
          </a:prstGeom>
        </p:spPr>
        <p:txBody>
          <a:bodyPr lIns="0" tIns="0" rIns="0" bIns="0" anchor="ctr">
            <a:normAutofit/>
          </a:bodyPr>
          <a:lstStyle/>
          <a:p>
            <a:pPr algn="l">
              <a:defRPr sz="1875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平台定位与价值</a:t>
            </a: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5143500" y="2124075"/>
            <a:ext cx="5810250" cy="266700"/>
          </a:xfrm>
          <a:prstGeom prst="rect">
            <a:avLst/>
          </a:prstGeom>
        </p:spPr>
        <p:txBody>
          <a:bodyPr lIns="0" tIns="0" rIns="0" bIns="0" anchor="ctr">
            <a:normAutofit/>
          </a:bodyPr>
          <a:lstStyle/>
          <a:p>
            <a:pPr algn="l">
              <a:defRPr sz="1350" b="0">
                <a:solidFill>
                  <a:srgbClr val="555555"/>
                </a:solidFill>
                <a:latin typeface="PingFang SC"/>
                <a:ea typeface="PingFang SC"/>
                <a:cs typeface="PingFang SC"/>
              </a:defRPr>
            </a:pPr>
            <a:r>
              <a:t>说明通答为什么是 AI 原生业务底座，以及平台建设初衷和核心价值。</a:t>
            </a: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781050" y="2705100"/>
            <a:ext cx="10620375" cy="552450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12" name="矩形 11"/>
          <p:cNvSpPr>
            <a:spLocks noGrp="1"/>
          </p:cNvSpPr>
          <p:nvPr/>
        </p:nvSpPr>
        <p:spPr>
          <a:xfrm>
            <a:off x="1066800" y="2828925"/>
            <a:ext cx="666750" cy="285750"/>
          </a:xfrm>
          <a:prstGeom prst="rect">
            <a:avLst/>
          </a:prstGeom>
        </p:spPr>
        <p:txBody>
          <a:bodyPr lIns="0" tIns="0" rIns="0" bIns="0" anchor="ctr">
            <a:normAutofit fontScale="96154"/>
          </a:bodyPr>
          <a:lstStyle/>
          <a:p>
            <a:pPr algn="ctr">
              <a:defRPr sz="1950" b="1">
                <a:solidFill>
                  <a:srgbClr val="FF6B35"/>
                </a:solidFill>
                <a:latin typeface="PingFang SC"/>
                <a:ea typeface="PingFang SC"/>
                <a:cs typeface="PingFang SC"/>
              </a:defRPr>
            </a:pPr>
            <a:r>
              <a:t>02</a:t>
            </a: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2019300" y="2828925"/>
            <a:ext cx="2857500" cy="285750"/>
          </a:xfrm>
          <a:prstGeom prst="rect">
            <a:avLst/>
          </a:prstGeom>
        </p:spPr>
        <p:txBody>
          <a:bodyPr lIns="0" tIns="0" rIns="0" bIns="0" anchor="ctr">
            <a:normAutofit/>
          </a:bodyPr>
          <a:lstStyle/>
          <a:p>
            <a:pPr algn="l">
              <a:defRPr sz="18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t>架构与交付体系</a:t>
            </a: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5143500" y="2847975"/>
            <a:ext cx="5810250" cy="266700"/>
          </a:xfrm>
          <a:prstGeom prst="rect">
            <a:avLst/>
          </a:prstGeom>
        </p:spPr>
        <p:txBody>
          <a:bodyPr lIns="0" tIns="0" rIns="0" bIns="0" anchor="ctr">
            <a:normAutofit/>
          </a:bodyPr>
          <a:lstStyle/>
          <a:p>
            <a:pPr algn="l">
              <a:defRPr sz="135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t>展开 Lucky、资料库、空间、场景模板，以及组合交付、套餐和租户。</a:t>
            </a: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781050" y="3429000"/>
            <a:ext cx="10620375" cy="552450"/>
          </a:xfrm>
          <a:prstGeom prst="rect">
            <a:avLst/>
          </a:prstGeom>
          <a:solidFill>
            <a:srgbClr val="F6F6F6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16" name="矩形 15"/>
          <p:cNvSpPr>
            <a:spLocks noGrp="1"/>
          </p:cNvSpPr>
          <p:nvPr/>
        </p:nvSpPr>
        <p:spPr>
          <a:xfrm>
            <a:off x="1066800" y="3552825"/>
            <a:ext cx="666750" cy="285750"/>
          </a:xfrm>
          <a:prstGeom prst="rect">
            <a:avLst/>
          </a:prstGeom>
        </p:spPr>
        <p:txBody>
          <a:bodyPr lIns="0" tIns="0" rIns="0" bIns="0" anchor="ctr">
            <a:normAutofit fontScale="96154"/>
          </a:bodyPr>
          <a:lstStyle/>
          <a:p>
            <a:pPr algn="ctr">
              <a:defRPr sz="1950" b="1">
                <a:solidFill>
                  <a:srgbClr val="555555"/>
                </a:solidFill>
                <a:latin typeface="PingFang SC"/>
                <a:ea typeface="PingFang SC"/>
                <a:cs typeface="PingFang SC"/>
              </a:defRPr>
            </a:pPr>
            <a:r>
              <a:t>03</a:t>
            </a:r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2019300" y="3552825"/>
            <a:ext cx="2857500" cy="285750"/>
          </a:xfrm>
          <a:prstGeom prst="rect">
            <a:avLst/>
          </a:prstGeom>
        </p:spPr>
        <p:txBody>
          <a:bodyPr lIns="0" tIns="0" rIns="0" bIns="0" anchor="ctr">
            <a:normAutofit/>
          </a:bodyPr>
          <a:lstStyle/>
          <a:p>
            <a:pPr algn="l">
              <a:defRPr sz="1875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商业模式与渠道</a:t>
            </a:r>
          </a:p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5143500" y="3571875"/>
            <a:ext cx="5810250" cy="266700"/>
          </a:xfrm>
          <a:prstGeom prst="rect">
            <a:avLst/>
          </a:prstGeom>
        </p:spPr>
        <p:txBody>
          <a:bodyPr lIns="0" tIns="0" rIns="0" bIns="0" anchor="ctr">
            <a:normAutofit/>
          </a:bodyPr>
          <a:lstStyle/>
          <a:p>
            <a:pPr algn="l">
              <a:defRPr sz="1350" b="0">
                <a:solidFill>
                  <a:srgbClr val="555555"/>
                </a:solidFill>
                <a:latin typeface="PingFang SC"/>
                <a:ea typeface="PingFang SC"/>
                <a:cs typeface="PingFang SC"/>
              </a:defRPr>
            </a:pPr>
            <a:r>
              <a:t>说明平台、服务、资源、Token 算力和运营商渠道如何形成收入变量。</a:t>
            </a:r>
          </a:p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781050" y="4152900"/>
            <a:ext cx="10620375" cy="552450"/>
          </a:xfrm>
          <a:prstGeom prst="rect">
            <a:avLst/>
          </a:prstGeom>
          <a:solidFill>
            <a:srgbClr val="F6F6F6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20" name="矩形 19"/>
          <p:cNvSpPr>
            <a:spLocks noGrp="1"/>
          </p:cNvSpPr>
          <p:nvPr/>
        </p:nvSpPr>
        <p:spPr>
          <a:xfrm>
            <a:off x="1066800" y="4276725"/>
            <a:ext cx="666750" cy="285750"/>
          </a:xfrm>
          <a:prstGeom prst="rect">
            <a:avLst/>
          </a:prstGeom>
        </p:spPr>
        <p:txBody>
          <a:bodyPr lIns="0" tIns="0" rIns="0" bIns="0" anchor="ctr">
            <a:normAutofit fontScale="96154"/>
          </a:bodyPr>
          <a:lstStyle/>
          <a:p>
            <a:pPr algn="ctr">
              <a:defRPr sz="1950" b="1">
                <a:solidFill>
                  <a:srgbClr val="555555"/>
                </a:solidFill>
                <a:latin typeface="PingFang SC"/>
                <a:ea typeface="PingFang SC"/>
                <a:cs typeface="PingFang SC"/>
              </a:defRPr>
            </a:pPr>
            <a:r>
              <a:t>04</a:t>
            </a:r>
          </a:p>
        </p:txBody>
      </p:sp>
      <p:sp>
        <p:nvSpPr>
          <p:cNvPr id="21" name="矩形 20"/>
          <p:cNvSpPr>
            <a:spLocks noGrp="1"/>
          </p:cNvSpPr>
          <p:nvPr/>
        </p:nvSpPr>
        <p:spPr>
          <a:xfrm>
            <a:off x="2019300" y="4276725"/>
            <a:ext cx="2857500" cy="285750"/>
          </a:xfrm>
          <a:prstGeom prst="rect">
            <a:avLst/>
          </a:prstGeom>
        </p:spPr>
        <p:txBody>
          <a:bodyPr lIns="0" tIns="0" rIns="0" bIns="0" anchor="ctr">
            <a:normAutofit/>
          </a:bodyPr>
          <a:lstStyle/>
          <a:p>
            <a:pPr algn="l">
              <a:defRPr sz="1875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标杆案例与场景深化</a:t>
            </a:r>
          </a:p>
        </p:txBody>
      </p:sp>
      <p:sp>
        <p:nvSpPr>
          <p:cNvPr id="22" name="矩形 21"/>
          <p:cNvSpPr>
            <a:spLocks noGrp="1"/>
          </p:cNvSpPr>
          <p:nvPr/>
        </p:nvSpPr>
        <p:spPr>
          <a:xfrm>
            <a:off x="5143500" y="4295775"/>
            <a:ext cx="5810250" cy="266700"/>
          </a:xfrm>
          <a:prstGeom prst="rect">
            <a:avLst/>
          </a:prstGeom>
        </p:spPr>
        <p:txBody>
          <a:bodyPr lIns="0" tIns="0" rIns="0" bIns="0" anchor="ctr">
            <a:normAutofit/>
          </a:bodyPr>
          <a:lstStyle/>
          <a:p>
            <a:pPr algn="l">
              <a:defRPr sz="1350" b="0">
                <a:solidFill>
                  <a:srgbClr val="555555"/>
                </a:solidFill>
                <a:latin typeface="PingFang SC"/>
                <a:ea typeface="PingFang SC"/>
                <a:cs typeface="PingFang SC"/>
              </a:defRPr>
            </a:pPr>
            <a:r>
              <a:t>用宁波大学科学技术学院工作坊验证交付，并明确两大场景完善方向。</a:t>
            </a:r>
          </a:p>
        </p:txBody>
      </p:sp>
      <p:sp>
        <p:nvSpPr>
          <p:cNvPr id="23" name="矩形 22"/>
          <p:cNvSpPr>
            <a:spLocks noGrp="1"/>
          </p:cNvSpPr>
          <p:nvPr/>
        </p:nvSpPr>
        <p:spPr>
          <a:xfrm>
            <a:off x="781050" y="4876800"/>
            <a:ext cx="10620375" cy="552450"/>
          </a:xfrm>
          <a:prstGeom prst="rect">
            <a:avLst/>
          </a:prstGeom>
          <a:solidFill>
            <a:srgbClr val="F6F6F6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24" name="矩形 23"/>
          <p:cNvSpPr>
            <a:spLocks noGrp="1"/>
          </p:cNvSpPr>
          <p:nvPr/>
        </p:nvSpPr>
        <p:spPr>
          <a:xfrm>
            <a:off x="1066800" y="5000625"/>
            <a:ext cx="666750" cy="285750"/>
          </a:xfrm>
          <a:prstGeom prst="rect">
            <a:avLst/>
          </a:prstGeom>
        </p:spPr>
        <p:txBody>
          <a:bodyPr lIns="0" tIns="0" rIns="0" bIns="0" anchor="ctr">
            <a:normAutofit fontScale="96154"/>
          </a:bodyPr>
          <a:lstStyle/>
          <a:p>
            <a:pPr algn="ctr">
              <a:defRPr sz="1950" b="1">
                <a:solidFill>
                  <a:srgbClr val="555555"/>
                </a:solidFill>
                <a:latin typeface="PingFang SC"/>
                <a:ea typeface="PingFang SC"/>
                <a:cs typeface="PingFang SC"/>
              </a:defRPr>
            </a:pPr>
            <a:r>
              <a:t>05</a:t>
            </a:r>
          </a:p>
        </p:txBody>
      </p:sp>
      <p:sp>
        <p:nvSpPr>
          <p:cNvPr id="25" name="矩形 24"/>
          <p:cNvSpPr>
            <a:spLocks noGrp="1"/>
          </p:cNvSpPr>
          <p:nvPr/>
        </p:nvSpPr>
        <p:spPr>
          <a:xfrm>
            <a:off x="2019300" y="5000625"/>
            <a:ext cx="2857500" cy="285750"/>
          </a:xfrm>
          <a:prstGeom prst="rect">
            <a:avLst/>
          </a:prstGeom>
        </p:spPr>
        <p:txBody>
          <a:bodyPr lIns="0" tIns="0" rIns="0" bIns="0" anchor="ctr">
            <a:normAutofit/>
          </a:bodyPr>
          <a:lstStyle/>
          <a:p>
            <a:pPr algn="l">
              <a:defRPr sz="1875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生态、愿景与开发模式</a:t>
            </a:r>
          </a:p>
        </p:txBody>
      </p:sp>
      <p:sp>
        <p:nvSpPr>
          <p:cNvPr id="26" name="矩形 25"/>
          <p:cNvSpPr>
            <a:spLocks noGrp="1"/>
          </p:cNvSpPr>
          <p:nvPr/>
        </p:nvSpPr>
        <p:spPr>
          <a:xfrm>
            <a:off x="5143500" y="5019675"/>
            <a:ext cx="5810250" cy="266700"/>
          </a:xfrm>
          <a:prstGeom prst="rect">
            <a:avLst/>
          </a:prstGeom>
        </p:spPr>
        <p:txBody>
          <a:bodyPr lIns="0" tIns="0" rIns="0" bIns="0" anchor="ctr">
            <a:normAutofit/>
          </a:bodyPr>
          <a:lstStyle/>
          <a:p>
            <a:pPr algn="l">
              <a:defRPr sz="1350" b="0">
                <a:solidFill>
                  <a:srgbClr val="555555"/>
                </a:solidFill>
                <a:latin typeface="PingFang SC"/>
                <a:ea typeface="PingFang SC"/>
                <a:cs typeface="PingFang SC"/>
              </a:defRPr>
            </a:pPr>
            <a:r>
              <a:t>收束研习社、平台闭环、教师全场景愿景和 AI 驱动开发模式创新。</a:t>
            </a:r>
          </a:p>
        </p:txBody>
      </p:sp>
      <p:sp>
        <p:nvSpPr>
          <p:cNvPr id="27" name="矩形 26"/>
          <p:cNvSpPr>
            <a:spLocks noGrp="1"/>
          </p:cNvSpPr>
          <p:nvPr/>
        </p:nvSpPr>
        <p:spPr>
          <a:xfrm>
            <a:off x="781050" y="5810250"/>
            <a:ext cx="10620375" cy="419100"/>
          </a:xfrm>
          <a:prstGeom prst="rect">
            <a:avLst/>
          </a:prstGeom>
          <a:solidFill>
            <a:srgbClr val="F6F6F6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28" name="矩形 27"/>
          <p:cNvSpPr>
            <a:spLocks noGrp="1"/>
          </p:cNvSpPr>
          <p:nvPr/>
        </p:nvSpPr>
        <p:spPr>
          <a:xfrm>
            <a:off x="1066800" y="5905500"/>
            <a:ext cx="10048875" cy="228600"/>
          </a:xfrm>
          <a:prstGeom prst="rect">
            <a:avLst/>
          </a:prstGeom>
        </p:spPr>
        <p:txBody>
          <a:bodyPr lIns="0" tIns="0" rIns="0" bIns="0" anchor="ctr">
            <a:normAutofit/>
          </a:bodyPr>
          <a:lstStyle/>
          <a:p>
            <a:pPr algn="ctr">
              <a:defRPr sz="150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本节重点：把平台能力拆成可理解、可组合、可复制的产品与交付结构。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390525" y="342900"/>
            <a:ext cx="2857500" cy="247650"/>
          </a:xfrm>
          <a:prstGeom prst="rect">
            <a:avLst/>
          </a:prstGeom>
        </p:spPr>
        <p:txBody>
          <a:bodyPr lIns="0" tIns="0" rIns="0" bIns="0" anchor="ctr">
            <a:normAutofit/>
          </a:bodyPr>
          <a:lstStyle/>
          <a:p>
            <a:pPr algn="l">
              <a:defRPr sz="1200" b="1">
                <a:solidFill>
                  <a:srgbClr val="555555"/>
                </a:solidFill>
                <a:latin typeface="PingFang SC"/>
                <a:ea typeface="PingFang SC"/>
                <a:cs typeface="PingFang SC"/>
              </a:defRPr>
            </a:pPr>
            <a:r>
              <a:t>核心架构</a:t>
            </a: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390525" y="666750"/>
            <a:ext cx="11401425" cy="7239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algn="l">
              <a:defRPr sz="2925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Lucky、资料库和空间构成平台的核心业务架构</a:t>
            </a: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390525" y="1504950"/>
            <a:ext cx="11401425" cy="14288"/>
          </a:xfrm>
          <a:prstGeom prst="rect">
            <a:avLst/>
          </a:prstGeom>
          <a:solidFill>
            <a:srgbClr val="B8BCC4"/>
          </a:solidFill>
          <a:ln w="0">
            <a:noFill/>
            <a:prstDash val="solid"/>
          </a:ln>
        </p:spPr>
      </p:sp>
      <p:sp>
        <p:nvSpPr>
          <p:cNvPr id="5" name="矩形 4"/>
          <p:cNvSpPr>
            <a:spLocks noGrp="1"/>
          </p:cNvSpPr>
          <p:nvPr/>
        </p:nvSpPr>
        <p:spPr>
          <a:xfrm>
            <a:off x="11277600" y="6276975"/>
            <a:ext cx="514350" cy="238125"/>
          </a:xfrm>
          <a:prstGeom prst="rect">
            <a:avLst/>
          </a:prstGeom>
        </p:spPr>
        <p:txBody>
          <a:bodyPr lIns="0" tIns="0" rIns="0" bIns="0" anchor="ctr">
            <a:normAutofit/>
          </a:bodyPr>
          <a:lstStyle/>
          <a:p>
            <a:pPr algn="r">
              <a:defRPr sz="11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08</a:t>
            </a: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628650" y="2266950"/>
            <a:ext cx="2476500" cy="2762250"/>
          </a:xfrm>
          <a:prstGeom prst="rect">
            <a:avLst/>
          </a:prstGeom>
          <a:solidFill>
            <a:srgbClr val="F6F6F6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7" name="矩形 6"/>
          <p:cNvSpPr>
            <a:spLocks noGrp="1"/>
          </p:cNvSpPr>
          <p:nvPr/>
        </p:nvSpPr>
        <p:spPr>
          <a:xfrm>
            <a:off x="4857750" y="2266950"/>
            <a:ext cx="2476500" cy="2762250"/>
          </a:xfrm>
          <a:prstGeom prst="rect">
            <a:avLst/>
          </a:prstGeom>
          <a:solidFill>
            <a:srgbClr val="F6F6F6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8" name="矩形 7"/>
          <p:cNvSpPr>
            <a:spLocks noGrp="1"/>
          </p:cNvSpPr>
          <p:nvPr/>
        </p:nvSpPr>
        <p:spPr>
          <a:xfrm>
            <a:off x="9086850" y="2266950"/>
            <a:ext cx="2476500" cy="2762250"/>
          </a:xfrm>
          <a:prstGeom prst="rect">
            <a:avLst/>
          </a:prstGeom>
          <a:solidFill>
            <a:srgbClr val="F6F6F6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9" name="矩形 8"/>
          <p:cNvSpPr>
            <a:spLocks noGrp="1"/>
          </p:cNvSpPr>
          <p:nvPr/>
        </p:nvSpPr>
        <p:spPr>
          <a:xfrm>
            <a:off x="857250" y="2571750"/>
            <a:ext cx="2019300" cy="36195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algn="ctr">
              <a:defRPr sz="2025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资料库 / 知识库</a:t>
            </a: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866775" y="3181350"/>
            <a:ext cx="2000250" cy="10668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algn="ctr">
              <a:defRPr sz="14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业务资料统一沉淀，形成可检索、可复用、可问答、可生成的知识资产。</a:t>
            </a: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1028700" y="4457700"/>
            <a:ext cx="1676400" cy="3048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algn="ctr">
              <a:defRPr sz="1500" b="1">
                <a:solidFill>
                  <a:srgbClr val="555555"/>
                </a:solidFill>
                <a:latin typeface="PingFang SC"/>
                <a:ea typeface="PingFang SC"/>
                <a:cs typeface="PingFang SC"/>
              </a:defRPr>
            </a:pPr>
            <a:r>
              <a:t>知识底座</a:t>
            </a: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5276850" y="2571750"/>
            <a:ext cx="1638300" cy="36195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algn="ctr">
              <a:defRPr sz="2325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空间</a:t>
            </a: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5095875" y="3181350"/>
            <a:ext cx="2095500" cy="10668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algn="ctr">
              <a:defRPr sz="14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承载教师培训、教研、教学和项目协作，把成员、权限、流程、工具和成果组织起来。</a:t>
            </a: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5257800" y="4457700"/>
            <a:ext cx="1676400" cy="3048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algn="ctr">
              <a:defRPr sz="1500" b="1">
                <a:solidFill>
                  <a:srgbClr val="555555"/>
                </a:solidFill>
                <a:latin typeface="PingFang SC"/>
                <a:ea typeface="PingFang SC"/>
                <a:cs typeface="PingFang SC"/>
              </a:defRPr>
            </a:pPr>
            <a:r>
              <a:t>业务载体</a:t>
            </a: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9429750" y="2571750"/>
            <a:ext cx="1790700" cy="36195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algn="ctr">
              <a:defRPr sz="2025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Lucky 智能体</a:t>
            </a: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9334500" y="3181350"/>
            <a:ext cx="2000250" cy="10668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algn="ctr">
              <a:defRPr sz="14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可独立使用，也可导入空间，为不同角色提供问答、生成、分析和任务辅助。</a:t>
            </a:r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9486900" y="4457700"/>
            <a:ext cx="1676400" cy="3048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algn="ctr">
              <a:defRPr sz="1500" b="1">
                <a:solidFill>
                  <a:srgbClr val="555555"/>
                </a:solidFill>
                <a:latin typeface="PingFang SC"/>
                <a:ea typeface="PingFang SC"/>
                <a:cs typeface="PingFang SC"/>
              </a:defRPr>
            </a:pPr>
            <a:r>
              <a:t>智能引擎</a:t>
            </a:r>
          </a:p>
        </p:txBody>
      </p:sp>
      <p:sp>
        <p:nvSpPr>
          <p:cNvPr id="18" name="右箭头 17"/>
          <p:cNvSpPr>
            <a:spLocks noGrp="1"/>
          </p:cNvSpPr>
          <p:nvPr/>
        </p:nvSpPr>
        <p:spPr>
          <a:xfrm>
            <a:off x="3429000" y="3343275"/>
            <a:ext cx="1066800" cy="381000"/>
          </a:xfrm>
          <a:prstGeom prst="rightArrow">
            <a:avLst/>
          </a:prstGeom>
          <a:solidFill>
            <a:srgbClr val="000000"/>
          </a:solidFill>
          <a:ln w="0">
            <a:noFill/>
            <a:prstDash val="solid"/>
          </a:ln>
        </p:spPr>
      </p:sp>
      <p:sp>
        <p:nvSpPr>
          <p:cNvPr id="19" name="右箭头 18"/>
          <p:cNvSpPr>
            <a:spLocks noGrp="1"/>
          </p:cNvSpPr>
          <p:nvPr/>
        </p:nvSpPr>
        <p:spPr>
          <a:xfrm>
            <a:off x="7658100" y="3343275"/>
            <a:ext cx="1066800" cy="381000"/>
          </a:xfrm>
          <a:prstGeom prst="rightArrow">
            <a:avLst/>
          </a:prstGeom>
          <a:solidFill>
            <a:srgbClr val="000000"/>
          </a:solidFill>
          <a:ln w="0">
            <a:noFill/>
            <a:prstDash val="solid"/>
          </a:ln>
        </p:spPr>
      </p:sp>
      <p:sp>
        <p:nvSpPr>
          <p:cNvPr id="20" name="矩形 19"/>
          <p:cNvSpPr>
            <a:spLocks noGrp="1"/>
          </p:cNvSpPr>
          <p:nvPr/>
        </p:nvSpPr>
        <p:spPr>
          <a:xfrm>
            <a:off x="3362325" y="3829050"/>
            <a:ext cx="1200150" cy="2667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algn="ctr">
              <a:defRPr sz="1200" b="0">
                <a:solidFill>
                  <a:srgbClr val="555555"/>
                </a:solidFill>
                <a:latin typeface="PingFang SC"/>
                <a:ea typeface="PingFang SC"/>
                <a:cs typeface="PingFang SC"/>
              </a:defRPr>
            </a:pPr>
            <a:r>
              <a:t>资料进入业务</a:t>
            </a:r>
          </a:p>
        </p:txBody>
      </p:sp>
      <p:sp>
        <p:nvSpPr>
          <p:cNvPr id="21" name="矩形 20"/>
          <p:cNvSpPr>
            <a:spLocks noGrp="1"/>
          </p:cNvSpPr>
          <p:nvPr/>
        </p:nvSpPr>
        <p:spPr>
          <a:xfrm>
            <a:off x="7591425" y="3829050"/>
            <a:ext cx="1200150" cy="2667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algn="ctr">
              <a:defRPr sz="1200" b="0">
                <a:solidFill>
                  <a:srgbClr val="555555"/>
                </a:solidFill>
                <a:latin typeface="PingFang SC"/>
                <a:ea typeface="PingFang SC"/>
                <a:cs typeface="PingFang SC"/>
              </a:defRPr>
            </a:pPr>
            <a:r>
              <a:t>AI 赋能角色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390525" y="342900"/>
            <a:ext cx="2857500" cy="247650"/>
          </a:xfrm>
          <a:prstGeom prst="rect">
            <a:avLst/>
          </a:prstGeom>
        </p:spPr>
        <p:txBody>
          <a:bodyPr lIns="0" tIns="0" rIns="0" bIns="0" anchor="ctr">
            <a:normAutofit/>
          </a:bodyPr>
          <a:lstStyle/>
          <a:p>
            <a:pPr algn="l">
              <a:defRPr sz="1200" b="1">
                <a:solidFill>
                  <a:srgbClr val="555555"/>
                </a:solidFill>
                <a:latin typeface="PingFang SC"/>
                <a:ea typeface="PingFang SC"/>
                <a:cs typeface="PingFang SC"/>
              </a:defRPr>
            </a:pPr>
            <a:r>
              <a:t>场景模板</a:t>
            </a: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390525" y="666750"/>
            <a:ext cx="11401425" cy="7239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algn="l">
              <a:defRPr sz="2925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空间先把业务组件化，场景模板再把组件装配成垂直业务</a:t>
            </a: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390525" y="1504950"/>
            <a:ext cx="11401425" cy="14288"/>
          </a:xfrm>
          <a:prstGeom prst="rect">
            <a:avLst/>
          </a:prstGeom>
          <a:solidFill>
            <a:srgbClr val="B8BCC4"/>
          </a:solidFill>
          <a:ln w="0">
            <a:noFill/>
            <a:prstDash val="solid"/>
          </a:ln>
        </p:spPr>
      </p:sp>
      <p:sp>
        <p:nvSpPr>
          <p:cNvPr id="5" name="矩形 4"/>
          <p:cNvSpPr>
            <a:spLocks noGrp="1"/>
          </p:cNvSpPr>
          <p:nvPr/>
        </p:nvSpPr>
        <p:spPr>
          <a:xfrm>
            <a:off x="11277600" y="6276975"/>
            <a:ext cx="514350" cy="238125"/>
          </a:xfrm>
          <a:prstGeom prst="rect">
            <a:avLst/>
          </a:prstGeom>
        </p:spPr>
        <p:txBody>
          <a:bodyPr lIns="0" tIns="0" rIns="0" bIns="0" anchor="ctr">
            <a:normAutofit/>
          </a:bodyPr>
          <a:lstStyle/>
          <a:p>
            <a:pPr algn="r">
              <a:defRPr sz="11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09</a:t>
            </a: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523875" y="2238375"/>
            <a:ext cx="1924050" cy="666750"/>
          </a:xfrm>
          <a:prstGeom prst="rect">
            <a:avLst/>
          </a:prstGeom>
          <a:solidFill>
            <a:srgbClr val="000000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7" name="矩形 6"/>
          <p:cNvSpPr>
            <a:spLocks noGrp="1"/>
          </p:cNvSpPr>
          <p:nvPr/>
        </p:nvSpPr>
        <p:spPr>
          <a:xfrm>
            <a:off x="619125" y="2295525"/>
            <a:ext cx="1733550" cy="552450"/>
          </a:xfrm>
          <a:prstGeom prst="rect">
            <a:avLst/>
          </a:prstGeom>
        </p:spPr>
        <p:txBody>
          <a:bodyPr lIns="0" tIns="0" rIns="0" bIns="0" anchor="ctr">
            <a:normAutofit/>
          </a:bodyPr>
          <a:lstStyle/>
          <a:p>
            <a:pPr algn="ctr">
              <a:defRPr sz="18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t>业务抽象</a:t>
            </a:r>
          </a:p>
        </p:txBody>
      </p:sp>
      <p:sp>
        <p:nvSpPr>
          <p:cNvPr id="8" name="右箭头 7"/>
          <p:cNvSpPr>
            <a:spLocks noGrp="1"/>
          </p:cNvSpPr>
          <p:nvPr/>
        </p:nvSpPr>
        <p:spPr>
          <a:xfrm>
            <a:off x="2714625" y="2400300"/>
            <a:ext cx="666750" cy="342900"/>
          </a:xfrm>
          <a:prstGeom prst="rightArrow">
            <a:avLst/>
          </a:prstGeom>
          <a:solidFill>
            <a:srgbClr val="B8BCC4"/>
          </a:solidFill>
          <a:ln w="0">
            <a:noFill/>
            <a:prstDash val="solid"/>
          </a:ln>
        </p:spPr>
      </p:sp>
      <p:sp>
        <p:nvSpPr>
          <p:cNvPr id="9" name="矩形 8"/>
          <p:cNvSpPr>
            <a:spLocks noGrp="1"/>
          </p:cNvSpPr>
          <p:nvPr/>
        </p:nvSpPr>
        <p:spPr>
          <a:xfrm>
            <a:off x="3638550" y="2238375"/>
            <a:ext cx="1924050" cy="666750"/>
          </a:xfrm>
          <a:prstGeom prst="rect">
            <a:avLst/>
          </a:prstGeom>
          <a:solidFill>
            <a:srgbClr val="EDEDED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10" name="矩形 9"/>
          <p:cNvSpPr>
            <a:spLocks noGrp="1"/>
          </p:cNvSpPr>
          <p:nvPr/>
        </p:nvSpPr>
        <p:spPr>
          <a:xfrm>
            <a:off x="3733800" y="2295525"/>
            <a:ext cx="1733550" cy="552450"/>
          </a:xfrm>
          <a:prstGeom prst="rect">
            <a:avLst/>
          </a:prstGeom>
        </p:spPr>
        <p:txBody>
          <a:bodyPr lIns="0" tIns="0" rIns="0" bIns="0" anchor="ctr">
            <a:normAutofit/>
          </a:bodyPr>
          <a:lstStyle/>
          <a:p>
            <a:pPr algn="ctr">
              <a:defRPr sz="1875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组件化</a:t>
            </a:r>
          </a:p>
        </p:txBody>
      </p:sp>
      <p:sp>
        <p:nvSpPr>
          <p:cNvPr id="11" name="右箭头 10"/>
          <p:cNvSpPr>
            <a:spLocks noGrp="1"/>
          </p:cNvSpPr>
          <p:nvPr/>
        </p:nvSpPr>
        <p:spPr>
          <a:xfrm>
            <a:off x="5829300" y="2400300"/>
            <a:ext cx="666750" cy="342900"/>
          </a:xfrm>
          <a:prstGeom prst="rightArrow">
            <a:avLst/>
          </a:prstGeom>
          <a:solidFill>
            <a:srgbClr val="B8BCC4"/>
          </a:solidFill>
          <a:ln w="0">
            <a:noFill/>
            <a:prstDash val="solid"/>
          </a:ln>
        </p:spPr>
      </p:sp>
      <p:sp>
        <p:nvSpPr>
          <p:cNvPr id="12" name="矩形 11"/>
          <p:cNvSpPr>
            <a:spLocks noGrp="1"/>
          </p:cNvSpPr>
          <p:nvPr/>
        </p:nvSpPr>
        <p:spPr>
          <a:xfrm>
            <a:off x="6753225" y="2238375"/>
            <a:ext cx="1924050" cy="666750"/>
          </a:xfrm>
          <a:prstGeom prst="rect">
            <a:avLst/>
          </a:prstGeom>
          <a:solidFill>
            <a:srgbClr val="EDEDED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13" name="矩形 12"/>
          <p:cNvSpPr>
            <a:spLocks noGrp="1"/>
          </p:cNvSpPr>
          <p:nvPr/>
        </p:nvSpPr>
        <p:spPr>
          <a:xfrm>
            <a:off x="6848475" y="2295525"/>
            <a:ext cx="1733550" cy="552450"/>
          </a:xfrm>
          <a:prstGeom prst="rect">
            <a:avLst/>
          </a:prstGeom>
        </p:spPr>
        <p:txBody>
          <a:bodyPr lIns="0" tIns="0" rIns="0" bIns="0" anchor="ctr">
            <a:normAutofit/>
          </a:bodyPr>
          <a:lstStyle/>
          <a:p>
            <a:pPr algn="ctr">
              <a:defRPr sz="1875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场景模板</a:t>
            </a:r>
          </a:p>
        </p:txBody>
      </p:sp>
      <p:sp>
        <p:nvSpPr>
          <p:cNvPr id="14" name="右箭头 13"/>
          <p:cNvSpPr>
            <a:spLocks noGrp="1"/>
          </p:cNvSpPr>
          <p:nvPr/>
        </p:nvSpPr>
        <p:spPr>
          <a:xfrm>
            <a:off x="8943975" y="2400300"/>
            <a:ext cx="666750" cy="342900"/>
          </a:xfrm>
          <a:prstGeom prst="rightArrow">
            <a:avLst/>
          </a:prstGeom>
          <a:solidFill>
            <a:srgbClr val="B8BCC4"/>
          </a:solidFill>
          <a:ln w="0">
            <a:noFill/>
            <a:prstDash val="solid"/>
          </a:ln>
        </p:spPr>
      </p:sp>
      <p:sp>
        <p:nvSpPr>
          <p:cNvPr id="15" name="矩形 14"/>
          <p:cNvSpPr>
            <a:spLocks noGrp="1"/>
          </p:cNvSpPr>
          <p:nvPr/>
        </p:nvSpPr>
        <p:spPr>
          <a:xfrm>
            <a:off x="9867900" y="2238375"/>
            <a:ext cx="1924050" cy="666750"/>
          </a:xfrm>
          <a:prstGeom prst="rect">
            <a:avLst/>
          </a:prstGeom>
          <a:solidFill>
            <a:srgbClr val="FF6B35"/>
          </a:solidFill>
          <a:ln w="9525">
            <a:noFill/>
            <a:prstDash val="solid"/>
          </a:ln>
        </p:spPr>
      </p:sp>
      <p:sp>
        <p:nvSpPr>
          <p:cNvPr id="16" name="矩形 15"/>
          <p:cNvSpPr>
            <a:spLocks noGrp="1"/>
          </p:cNvSpPr>
          <p:nvPr/>
        </p:nvSpPr>
        <p:spPr>
          <a:xfrm>
            <a:off x="9963150" y="2295525"/>
            <a:ext cx="1733550" cy="552450"/>
          </a:xfrm>
          <a:prstGeom prst="rect">
            <a:avLst/>
          </a:prstGeom>
        </p:spPr>
        <p:txBody>
          <a:bodyPr lIns="0" tIns="0" rIns="0" bIns="0" anchor="ctr">
            <a:normAutofit/>
          </a:bodyPr>
          <a:lstStyle/>
          <a:p>
            <a:pPr algn="ctr">
              <a:defRPr sz="18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t>垂直业务</a:t>
            </a:r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695325" y="3362325"/>
            <a:ext cx="4762500" cy="85725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algn="l">
              <a:defRPr sz="180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空间的抽象是为了应对多类业务，把资料、任务、角色、权限、工具、协同、评价和智能体能力沉淀为可复用组件。</a:t>
            </a:r>
          </a:p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6734175" y="3362325"/>
            <a:ext cx="4762500" cy="85725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algn="l">
              <a:defRPr sz="180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场景模板是组装过程，把通用组件按照教师培训、教研、教学、工作室、工作坊等场景预配置，形成可复制的业务空间。</a:t>
            </a:r>
          </a:p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733425" y="4905375"/>
            <a:ext cx="971550" cy="400050"/>
          </a:xfrm>
          <a:prstGeom prst="rect">
            <a:avLst/>
          </a:prstGeom>
          <a:solidFill>
            <a:srgbClr val="F6F6F6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20" name="矩形 19"/>
          <p:cNvSpPr>
            <a:spLocks noGrp="1"/>
          </p:cNvSpPr>
          <p:nvPr/>
        </p:nvSpPr>
        <p:spPr>
          <a:xfrm>
            <a:off x="828675" y="4962525"/>
            <a:ext cx="781050" cy="285750"/>
          </a:xfrm>
          <a:prstGeom prst="rect">
            <a:avLst/>
          </a:prstGeom>
        </p:spPr>
        <p:txBody>
          <a:bodyPr lIns="0" tIns="0" rIns="0" bIns="0" anchor="ctr">
            <a:normAutofit/>
          </a:bodyPr>
          <a:lstStyle/>
          <a:p>
            <a:pPr algn="ctr">
              <a:defRPr sz="135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资料</a:t>
            </a:r>
          </a:p>
        </p:txBody>
      </p:sp>
      <p:sp>
        <p:nvSpPr>
          <p:cNvPr id="21" name="矩形 20"/>
          <p:cNvSpPr>
            <a:spLocks noGrp="1"/>
          </p:cNvSpPr>
          <p:nvPr/>
        </p:nvSpPr>
        <p:spPr>
          <a:xfrm>
            <a:off x="2066925" y="4905375"/>
            <a:ext cx="971550" cy="400050"/>
          </a:xfrm>
          <a:prstGeom prst="rect">
            <a:avLst/>
          </a:prstGeom>
          <a:solidFill>
            <a:srgbClr val="F6F6F6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22" name="矩形 21"/>
          <p:cNvSpPr>
            <a:spLocks noGrp="1"/>
          </p:cNvSpPr>
          <p:nvPr/>
        </p:nvSpPr>
        <p:spPr>
          <a:xfrm>
            <a:off x="2162175" y="4962525"/>
            <a:ext cx="781050" cy="285750"/>
          </a:xfrm>
          <a:prstGeom prst="rect">
            <a:avLst/>
          </a:prstGeom>
        </p:spPr>
        <p:txBody>
          <a:bodyPr lIns="0" tIns="0" rIns="0" bIns="0" anchor="ctr">
            <a:normAutofit/>
          </a:bodyPr>
          <a:lstStyle/>
          <a:p>
            <a:pPr algn="ctr">
              <a:defRPr sz="135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任务</a:t>
            </a:r>
          </a:p>
        </p:txBody>
      </p:sp>
      <p:sp>
        <p:nvSpPr>
          <p:cNvPr id="23" name="矩形 22"/>
          <p:cNvSpPr>
            <a:spLocks noGrp="1"/>
          </p:cNvSpPr>
          <p:nvPr/>
        </p:nvSpPr>
        <p:spPr>
          <a:xfrm>
            <a:off x="3400425" y="4905375"/>
            <a:ext cx="971550" cy="400050"/>
          </a:xfrm>
          <a:prstGeom prst="rect">
            <a:avLst/>
          </a:prstGeom>
          <a:solidFill>
            <a:srgbClr val="F6F6F6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24" name="矩形 23"/>
          <p:cNvSpPr>
            <a:spLocks noGrp="1"/>
          </p:cNvSpPr>
          <p:nvPr/>
        </p:nvSpPr>
        <p:spPr>
          <a:xfrm>
            <a:off x="3495675" y="4962525"/>
            <a:ext cx="781050" cy="285750"/>
          </a:xfrm>
          <a:prstGeom prst="rect">
            <a:avLst/>
          </a:prstGeom>
        </p:spPr>
        <p:txBody>
          <a:bodyPr lIns="0" tIns="0" rIns="0" bIns="0" anchor="ctr">
            <a:normAutofit/>
          </a:bodyPr>
          <a:lstStyle/>
          <a:p>
            <a:pPr algn="ctr">
              <a:defRPr sz="135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角色</a:t>
            </a:r>
          </a:p>
        </p:txBody>
      </p:sp>
      <p:sp>
        <p:nvSpPr>
          <p:cNvPr id="25" name="矩形 24"/>
          <p:cNvSpPr>
            <a:spLocks noGrp="1"/>
          </p:cNvSpPr>
          <p:nvPr/>
        </p:nvSpPr>
        <p:spPr>
          <a:xfrm>
            <a:off x="4733925" y="4905375"/>
            <a:ext cx="971550" cy="400050"/>
          </a:xfrm>
          <a:prstGeom prst="rect">
            <a:avLst/>
          </a:prstGeom>
          <a:solidFill>
            <a:srgbClr val="F6F6F6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26" name="矩形 25"/>
          <p:cNvSpPr>
            <a:spLocks noGrp="1"/>
          </p:cNvSpPr>
          <p:nvPr/>
        </p:nvSpPr>
        <p:spPr>
          <a:xfrm>
            <a:off x="4829175" y="4962525"/>
            <a:ext cx="781050" cy="285750"/>
          </a:xfrm>
          <a:prstGeom prst="rect">
            <a:avLst/>
          </a:prstGeom>
        </p:spPr>
        <p:txBody>
          <a:bodyPr lIns="0" tIns="0" rIns="0" bIns="0" anchor="ctr">
            <a:normAutofit/>
          </a:bodyPr>
          <a:lstStyle/>
          <a:p>
            <a:pPr algn="ctr">
              <a:defRPr sz="135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权限</a:t>
            </a:r>
          </a:p>
        </p:txBody>
      </p:sp>
      <p:sp>
        <p:nvSpPr>
          <p:cNvPr id="27" name="矩形 26"/>
          <p:cNvSpPr>
            <a:spLocks noGrp="1"/>
          </p:cNvSpPr>
          <p:nvPr/>
        </p:nvSpPr>
        <p:spPr>
          <a:xfrm>
            <a:off x="6067425" y="4905375"/>
            <a:ext cx="971550" cy="400050"/>
          </a:xfrm>
          <a:prstGeom prst="rect">
            <a:avLst/>
          </a:prstGeom>
          <a:solidFill>
            <a:srgbClr val="F6F6F6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28" name="矩形 27"/>
          <p:cNvSpPr>
            <a:spLocks noGrp="1"/>
          </p:cNvSpPr>
          <p:nvPr/>
        </p:nvSpPr>
        <p:spPr>
          <a:xfrm>
            <a:off x="6162675" y="4962525"/>
            <a:ext cx="781050" cy="285750"/>
          </a:xfrm>
          <a:prstGeom prst="rect">
            <a:avLst/>
          </a:prstGeom>
        </p:spPr>
        <p:txBody>
          <a:bodyPr lIns="0" tIns="0" rIns="0" bIns="0" anchor="ctr">
            <a:normAutofit/>
          </a:bodyPr>
          <a:lstStyle/>
          <a:p>
            <a:pPr algn="ctr">
              <a:defRPr sz="135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工具</a:t>
            </a:r>
          </a:p>
        </p:txBody>
      </p:sp>
      <p:sp>
        <p:nvSpPr>
          <p:cNvPr id="29" name="矩形 28"/>
          <p:cNvSpPr>
            <a:spLocks noGrp="1"/>
          </p:cNvSpPr>
          <p:nvPr/>
        </p:nvSpPr>
        <p:spPr>
          <a:xfrm>
            <a:off x="7400925" y="4905375"/>
            <a:ext cx="971550" cy="400050"/>
          </a:xfrm>
          <a:prstGeom prst="rect">
            <a:avLst/>
          </a:prstGeom>
          <a:solidFill>
            <a:srgbClr val="F6F6F6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30" name="矩形 29"/>
          <p:cNvSpPr>
            <a:spLocks noGrp="1"/>
          </p:cNvSpPr>
          <p:nvPr/>
        </p:nvSpPr>
        <p:spPr>
          <a:xfrm>
            <a:off x="7496175" y="4962525"/>
            <a:ext cx="781050" cy="285750"/>
          </a:xfrm>
          <a:prstGeom prst="rect">
            <a:avLst/>
          </a:prstGeom>
        </p:spPr>
        <p:txBody>
          <a:bodyPr lIns="0" tIns="0" rIns="0" bIns="0" anchor="ctr">
            <a:normAutofit/>
          </a:bodyPr>
          <a:lstStyle/>
          <a:p>
            <a:pPr algn="ctr">
              <a:defRPr sz="135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协同</a:t>
            </a:r>
          </a:p>
        </p:txBody>
      </p:sp>
      <p:sp>
        <p:nvSpPr>
          <p:cNvPr id="31" name="矩形 30"/>
          <p:cNvSpPr>
            <a:spLocks noGrp="1"/>
          </p:cNvSpPr>
          <p:nvPr/>
        </p:nvSpPr>
        <p:spPr>
          <a:xfrm>
            <a:off x="8734425" y="4905375"/>
            <a:ext cx="971550" cy="400050"/>
          </a:xfrm>
          <a:prstGeom prst="rect">
            <a:avLst/>
          </a:prstGeom>
          <a:solidFill>
            <a:srgbClr val="F6F6F6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32" name="矩形 31"/>
          <p:cNvSpPr>
            <a:spLocks noGrp="1"/>
          </p:cNvSpPr>
          <p:nvPr/>
        </p:nvSpPr>
        <p:spPr>
          <a:xfrm>
            <a:off x="8829675" y="4962525"/>
            <a:ext cx="781050" cy="285750"/>
          </a:xfrm>
          <a:prstGeom prst="rect">
            <a:avLst/>
          </a:prstGeom>
        </p:spPr>
        <p:txBody>
          <a:bodyPr lIns="0" tIns="0" rIns="0" bIns="0" anchor="ctr">
            <a:normAutofit/>
          </a:bodyPr>
          <a:lstStyle/>
          <a:p>
            <a:pPr algn="ctr">
              <a:defRPr sz="135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评价</a:t>
            </a:r>
          </a:p>
        </p:txBody>
      </p:sp>
      <p:sp>
        <p:nvSpPr>
          <p:cNvPr id="33" name="矩形 32"/>
          <p:cNvSpPr>
            <a:spLocks noGrp="1"/>
          </p:cNvSpPr>
          <p:nvPr/>
        </p:nvSpPr>
        <p:spPr>
          <a:xfrm>
            <a:off x="10067925" y="4905375"/>
            <a:ext cx="971550" cy="400050"/>
          </a:xfrm>
          <a:prstGeom prst="rect">
            <a:avLst/>
          </a:prstGeom>
          <a:solidFill>
            <a:srgbClr val="000000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34" name="矩形 33"/>
          <p:cNvSpPr>
            <a:spLocks noGrp="1"/>
          </p:cNvSpPr>
          <p:nvPr/>
        </p:nvSpPr>
        <p:spPr>
          <a:xfrm>
            <a:off x="10163175" y="4962525"/>
            <a:ext cx="781050" cy="285750"/>
          </a:xfrm>
          <a:prstGeom prst="rect">
            <a:avLst/>
          </a:prstGeom>
        </p:spPr>
        <p:txBody>
          <a:bodyPr lIns="0" tIns="0" rIns="0" bIns="0" anchor="ctr">
            <a:normAutofit/>
          </a:bodyPr>
          <a:lstStyle/>
          <a:p>
            <a:pPr algn="ctr">
              <a:defRPr sz="13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t>智能体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390525" y="342900"/>
            <a:ext cx="2857500" cy="247650"/>
          </a:xfrm>
          <a:prstGeom prst="rect">
            <a:avLst/>
          </a:prstGeom>
        </p:spPr>
        <p:txBody>
          <a:bodyPr lIns="0" tIns="0" rIns="0" bIns="0" anchor="ctr">
            <a:normAutofit/>
          </a:bodyPr>
          <a:lstStyle/>
          <a:p>
            <a:pPr algn="l">
              <a:defRPr sz="1200" b="1">
                <a:solidFill>
                  <a:srgbClr val="555555"/>
                </a:solidFill>
                <a:latin typeface="PingFang SC"/>
                <a:ea typeface="PingFang SC"/>
                <a:cs typeface="PingFang SC"/>
              </a:defRPr>
            </a:pPr>
            <a:r>
              <a:t>组合交付</a:t>
            </a: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390525" y="666750"/>
            <a:ext cx="11401425" cy="7239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algn="l">
              <a:defRPr sz="2925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平台能力可以按客户成熟度组合成多种交付形态</a:t>
            </a: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390525" y="1504950"/>
            <a:ext cx="11401425" cy="14288"/>
          </a:xfrm>
          <a:prstGeom prst="rect">
            <a:avLst/>
          </a:prstGeom>
          <a:solidFill>
            <a:srgbClr val="B8BCC4"/>
          </a:solidFill>
          <a:ln w="0">
            <a:noFill/>
            <a:prstDash val="solid"/>
          </a:ln>
        </p:spPr>
      </p:sp>
      <p:sp>
        <p:nvSpPr>
          <p:cNvPr id="5" name="矩形 4"/>
          <p:cNvSpPr>
            <a:spLocks noGrp="1"/>
          </p:cNvSpPr>
          <p:nvPr/>
        </p:nvSpPr>
        <p:spPr>
          <a:xfrm>
            <a:off x="11277600" y="6276975"/>
            <a:ext cx="514350" cy="238125"/>
          </a:xfrm>
          <a:prstGeom prst="rect">
            <a:avLst/>
          </a:prstGeom>
        </p:spPr>
        <p:txBody>
          <a:bodyPr lIns="0" tIns="0" rIns="0" bIns="0" anchor="ctr">
            <a:normAutofit/>
          </a:bodyPr>
          <a:lstStyle/>
          <a:p>
            <a:pPr algn="r">
              <a:defRPr sz="11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10</a:t>
            </a: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390525" y="2038350"/>
            <a:ext cx="2476500" cy="3067050"/>
          </a:xfrm>
          <a:prstGeom prst="rect">
            <a:avLst/>
          </a:prstGeom>
          <a:solidFill>
            <a:srgbClr val="EDEDED"/>
          </a:solidFill>
          <a:ln w="0">
            <a:noFill/>
            <a:prstDash val="solid"/>
          </a:ln>
        </p:spPr>
      </p:sp>
      <p:sp>
        <p:nvSpPr>
          <p:cNvPr id="7" name="矩形 6"/>
          <p:cNvSpPr>
            <a:spLocks noGrp="1"/>
          </p:cNvSpPr>
          <p:nvPr/>
        </p:nvSpPr>
        <p:spPr>
          <a:xfrm>
            <a:off x="619125" y="2266950"/>
            <a:ext cx="2019300" cy="342900"/>
          </a:xfrm>
          <a:prstGeom prst="rect">
            <a:avLst/>
          </a:prstGeom>
        </p:spPr>
        <p:txBody>
          <a:bodyPr lIns="0" tIns="0" rIns="0" bIns="0" anchor="ctr">
            <a:normAutofit/>
          </a:bodyPr>
          <a:lstStyle/>
          <a:p>
            <a:pPr algn="l">
              <a:defRPr sz="210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Lucky</a:t>
            </a: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619125" y="2724150"/>
            <a:ext cx="2019300" cy="219075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algn="l">
              <a:defRPr sz="150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独立智能体平台
适合智能助理、账号订阅、模型能力调用等交付。</a:t>
            </a: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3248025" y="2038350"/>
            <a:ext cx="2476500" cy="3067050"/>
          </a:xfrm>
          <a:prstGeom prst="rect">
            <a:avLst/>
          </a:prstGeom>
          <a:solidFill>
            <a:srgbClr val="EDEDED"/>
          </a:solidFill>
          <a:ln w="0">
            <a:noFill/>
            <a:prstDash val="solid"/>
          </a:ln>
        </p:spPr>
      </p:sp>
      <p:sp>
        <p:nvSpPr>
          <p:cNvPr id="10" name="矩形 9"/>
          <p:cNvSpPr>
            <a:spLocks noGrp="1"/>
          </p:cNvSpPr>
          <p:nvPr/>
        </p:nvSpPr>
        <p:spPr>
          <a:xfrm>
            <a:off x="3476625" y="2266950"/>
            <a:ext cx="2019300" cy="342900"/>
          </a:xfrm>
          <a:prstGeom prst="rect">
            <a:avLst/>
          </a:prstGeom>
        </p:spPr>
        <p:txBody>
          <a:bodyPr lIns="0" tIns="0" rIns="0" bIns="0" anchor="ctr">
            <a:normAutofit/>
          </a:bodyPr>
          <a:lstStyle/>
          <a:p>
            <a:pPr algn="l">
              <a:defRPr sz="210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Lucky + 资料库</a:t>
            </a: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3476625" y="2724150"/>
            <a:ext cx="2019300" cy="219075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algn="l">
              <a:defRPr sz="150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形成私域知识服务
适合知识库问答、智能资料库、机构知识助手。</a:t>
            </a: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6105525" y="2038350"/>
            <a:ext cx="2476500" cy="3067050"/>
          </a:xfrm>
          <a:prstGeom prst="rect">
            <a:avLst/>
          </a:prstGeom>
          <a:solidFill>
            <a:srgbClr val="EDEDED"/>
          </a:solidFill>
          <a:ln w="0">
            <a:noFill/>
            <a:prstDash val="solid"/>
          </a:ln>
        </p:spPr>
      </p:sp>
      <p:sp>
        <p:nvSpPr>
          <p:cNvPr id="13" name="矩形 12"/>
          <p:cNvSpPr>
            <a:spLocks noGrp="1"/>
          </p:cNvSpPr>
          <p:nvPr/>
        </p:nvSpPr>
        <p:spPr>
          <a:xfrm>
            <a:off x="6334125" y="2266950"/>
            <a:ext cx="2019300" cy="342900"/>
          </a:xfrm>
          <a:prstGeom prst="rect">
            <a:avLst/>
          </a:prstGeom>
        </p:spPr>
        <p:txBody>
          <a:bodyPr lIns="0" tIns="0" rIns="0" bIns="0" anchor="ctr">
            <a:normAutofit fontScale="70162"/>
          </a:bodyPr>
          <a:lstStyle/>
          <a:p>
            <a:pPr algn="l">
              <a:defRPr sz="210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Lucky + 资料库 + 空间</a:t>
            </a: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6334125" y="2724150"/>
            <a:ext cx="2019300" cy="219075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algn="l">
              <a:defRPr sz="150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形成 AI 原生业务平台
承载培训、教研、教学和项目协作过程。</a:t>
            </a: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8963025" y="2038350"/>
            <a:ext cx="2476500" cy="3067050"/>
          </a:xfrm>
          <a:prstGeom prst="rect">
            <a:avLst/>
          </a:prstGeom>
          <a:solidFill>
            <a:srgbClr val="000000"/>
          </a:solidFill>
          <a:ln w="0">
            <a:noFill/>
            <a:prstDash val="solid"/>
          </a:ln>
        </p:spPr>
      </p:sp>
      <p:sp>
        <p:nvSpPr>
          <p:cNvPr id="16" name="矩形 15"/>
          <p:cNvSpPr>
            <a:spLocks noGrp="1"/>
          </p:cNvSpPr>
          <p:nvPr/>
        </p:nvSpPr>
        <p:spPr>
          <a:xfrm>
            <a:off x="9191625" y="2266950"/>
            <a:ext cx="2019300" cy="342900"/>
          </a:xfrm>
          <a:prstGeom prst="rect">
            <a:avLst/>
          </a:prstGeom>
        </p:spPr>
        <p:txBody>
          <a:bodyPr lIns="0" tIns="0" rIns="0" bIns="0" anchor="ctr">
            <a:normAutofit/>
          </a:bodyPr>
          <a:lstStyle/>
          <a:p>
            <a:pPr algn="l">
              <a:defRPr sz="21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t>再叠加场景模板</a:t>
            </a:r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9191625" y="2724150"/>
            <a:ext cx="2019300" cy="219075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algn="l">
              <a:defRPr sz="150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t>生成多种垂直方案
面向工作室、工作坊、校本研修、区域教师发展等业务。</a:t>
            </a:r>
          </a:p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390525" y="5524500"/>
            <a:ext cx="7429500" cy="36195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algn="l">
              <a:defRPr sz="195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这些组合都可以支持相应的商业模式交付。</a:t>
            </a:r>
          </a:p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6257925" y="5562600"/>
            <a:ext cx="5143500" cy="323850"/>
          </a:xfrm>
          <a:prstGeom prst="rect">
            <a:avLst/>
          </a:prstGeom>
        </p:spPr>
        <p:txBody>
          <a:bodyPr lIns="0" tIns="0" rIns="0" bIns="0" anchor="t">
            <a:normAutofit fontScale="91207"/>
          </a:bodyPr>
          <a:lstStyle/>
          <a:p>
            <a:pPr algn="r">
              <a:defRPr sz="1500" b="0">
                <a:solidFill>
                  <a:srgbClr val="555555"/>
                </a:solidFill>
                <a:latin typeface="PingFang SC"/>
                <a:ea typeface="PingFang SC"/>
                <a:cs typeface="PingFang SC"/>
              </a:defRPr>
            </a:pPr>
            <a:r>
              <a:t>从工具平台到业务平台，再到场景解决方案，交付深度逐级增加。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390525" y="342900"/>
            <a:ext cx="2857500" cy="247650"/>
          </a:xfrm>
          <a:prstGeom prst="rect">
            <a:avLst/>
          </a:prstGeom>
        </p:spPr>
        <p:txBody>
          <a:bodyPr lIns="0" tIns="0" rIns="0" bIns="0" anchor="ctr">
            <a:normAutofit/>
          </a:bodyPr>
          <a:lstStyle/>
          <a:p>
            <a:pPr algn="l">
              <a:defRPr sz="1200" b="1">
                <a:solidFill>
                  <a:srgbClr val="555555"/>
                </a:solidFill>
                <a:latin typeface="PingFang SC"/>
                <a:ea typeface="PingFang SC"/>
                <a:cs typeface="PingFang SC"/>
              </a:defRPr>
            </a:pPr>
            <a:r>
              <a:t>产品化交付</a:t>
            </a: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390525" y="666750"/>
            <a:ext cx="11401425" cy="7239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algn="l">
              <a:defRPr sz="2925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解决方案、套餐和租户把平台能力转化为可销售的交付体系</a:t>
            </a: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390525" y="1504950"/>
            <a:ext cx="11401425" cy="14288"/>
          </a:xfrm>
          <a:prstGeom prst="rect">
            <a:avLst/>
          </a:prstGeom>
          <a:solidFill>
            <a:srgbClr val="B8BCC4"/>
          </a:solidFill>
          <a:ln w="0">
            <a:noFill/>
            <a:prstDash val="solid"/>
          </a:ln>
        </p:spPr>
      </p:sp>
      <p:sp>
        <p:nvSpPr>
          <p:cNvPr id="5" name="矩形 4"/>
          <p:cNvSpPr>
            <a:spLocks noGrp="1"/>
          </p:cNvSpPr>
          <p:nvPr/>
        </p:nvSpPr>
        <p:spPr>
          <a:xfrm>
            <a:off x="11277600" y="6276975"/>
            <a:ext cx="514350" cy="238125"/>
          </a:xfrm>
          <a:prstGeom prst="rect">
            <a:avLst/>
          </a:prstGeom>
        </p:spPr>
        <p:txBody>
          <a:bodyPr lIns="0" tIns="0" rIns="0" bIns="0" anchor="ctr">
            <a:normAutofit/>
          </a:bodyPr>
          <a:lstStyle/>
          <a:p>
            <a:pPr algn="r">
              <a:defRPr sz="11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11</a:t>
            </a: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390525" y="2038350"/>
            <a:ext cx="3238500" cy="3162300"/>
          </a:xfrm>
          <a:prstGeom prst="rect">
            <a:avLst/>
          </a:prstGeom>
          <a:solidFill>
            <a:srgbClr val="EDEDED"/>
          </a:solidFill>
          <a:ln w="0">
            <a:noFill/>
            <a:prstDash val="solid"/>
          </a:ln>
        </p:spPr>
      </p:sp>
      <p:sp>
        <p:nvSpPr>
          <p:cNvPr id="7" name="矩形 6"/>
          <p:cNvSpPr>
            <a:spLocks noGrp="1"/>
          </p:cNvSpPr>
          <p:nvPr/>
        </p:nvSpPr>
        <p:spPr>
          <a:xfrm>
            <a:off x="619125" y="2266950"/>
            <a:ext cx="2781300" cy="342900"/>
          </a:xfrm>
          <a:prstGeom prst="rect">
            <a:avLst/>
          </a:prstGeom>
        </p:spPr>
        <p:txBody>
          <a:bodyPr lIns="0" tIns="0" rIns="0" bIns="0" anchor="ctr">
            <a:normAutofit/>
          </a:bodyPr>
          <a:lstStyle/>
          <a:p>
            <a:pPr algn="l">
              <a:defRPr sz="225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解决方案</a:t>
            </a: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619125" y="2724150"/>
            <a:ext cx="2781300" cy="22860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algn="l">
              <a:defRPr sz="157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面向教师培训、教研共同体、校本研修、课堂教学支持等业务，封装场景、流程、资料、角色和智能体能力。</a:t>
            </a: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4476750" y="2038350"/>
            <a:ext cx="3238500" cy="3162300"/>
          </a:xfrm>
          <a:prstGeom prst="rect">
            <a:avLst/>
          </a:prstGeom>
          <a:solidFill>
            <a:srgbClr val="EDEDED"/>
          </a:solidFill>
          <a:ln w="0">
            <a:noFill/>
            <a:prstDash val="solid"/>
          </a:ln>
        </p:spPr>
      </p:sp>
      <p:sp>
        <p:nvSpPr>
          <p:cNvPr id="10" name="矩形 9"/>
          <p:cNvSpPr>
            <a:spLocks noGrp="1"/>
          </p:cNvSpPr>
          <p:nvPr/>
        </p:nvSpPr>
        <p:spPr>
          <a:xfrm>
            <a:off x="4705350" y="2266950"/>
            <a:ext cx="2781300" cy="342900"/>
          </a:xfrm>
          <a:prstGeom prst="rect">
            <a:avLst/>
          </a:prstGeom>
        </p:spPr>
        <p:txBody>
          <a:bodyPr lIns="0" tIns="0" rIns="0" bIns="0" anchor="ctr">
            <a:normAutofit/>
          </a:bodyPr>
          <a:lstStyle/>
          <a:p>
            <a:pPr algn="l">
              <a:defRPr sz="225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套餐</a:t>
            </a: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4705350" y="2724150"/>
            <a:ext cx="2781300" cy="22860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algn="l">
              <a:defRPr sz="157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把功能、容量、用户规模、空间数量、智能体能力、数据分析和服务等级组合为标准化售卖形态。</a:t>
            </a: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8562975" y="2038350"/>
            <a:ext cx="3238500" cy="3162300"/>
          </a:xfrm>
          <a:prstGeom prst="rect">
            <a:avLst/>
          </a:prstGeom>
          <a:solidFill>
            <a:srgbClr val="EDEDED"/>
          </a:solidFill>
          <a:ln w="0">
            <a:noFill/>
            <a:prstDash val="solid"/>
          </a:ln>
        </p:spPr>
      </p:sp>
      <p:sp>
        <p:nvSpPr>
          <p:cNvPr id="13" name="矩形 12"/>
          <p:cNvSpPr>
            <a:spLocks noGrp="1"/>
          </p:cNvSpPr>
          <p:nvPr/>
        </p:nvSpPr>
        <p:spPr>
          <a:xfrm>
            <a:off x="8791575" y="2266950"/>
            <a:ext cx="2781300" cy="342900"/>
          </a:xfrm>
          <a:prstGeom prst="rect">
            <a:avLst/>
          </a:prstGeom>
        </p:spPr>
        <p:txBody>
          <a:bodyPr lIns="0" tIns="0" rIns="0" bIns="0" anchor="ctr">
            <a:normAutofit/>
          </a:bodyPr>
          <a:lstStyle/>
          <a:p>
            <a:pPr algn="l">
              <a:defRPr sz="225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租户</a:t>
            </a: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8791575" y="2724150"/>
            <a:ext cx="2781300" cy="22860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algn="l">
              <a:defRPr sz="157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面向教育局、学校、培训机构或项目单位建立独立运营单元，实现数据隔离、权限独立和统一运维。</a:t>
            </a: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390525" y="5600700"/>
            <a:ext cx="8096250" cy="3429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algn="l">
              <a:defRPr sz="1875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解决方案定义业务价值，套餐定义付费组合，租户承载客户运营。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390525" y="342900"/>
            <a:ext cx="2857500" cy="247650"/>
          </a:xfrm>
          <a:prstGeom prst="rect">
            <a:avLst/>
          </a:prstGeom>
        </p:spPr>
        <p:txBody>
          <a:bodyPr lIns="0" tIns="0" rIns="0" bIns="0" anchor="ctr">
            <a:normAutofit/>
          </a:bodyPr>
          <a:lstStyle/>
          <a:p>
            <a:pPr algn="l">
              <a:defRPr sz="1200" b="1">
                <a:solidFill>
                  <a:srgbClr val="555555"/>
                </a:solidFill>
                <a:latin typeface="PingFang SC"/>
                <a:ea typeface="PingFang SC"/>
                <a:cs typeface="PingFang SC"/>
              </a:defRPr>
            </a:pPr>
            <a:r>
              <a:t>章节目录</a:t>
            </a: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390525" y="666750"/>
            <a:ext cx="11401425" cy="7239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algn="l">
              <a:defRPr sz="330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章节目录：03 商业模式与渠道</a:t>
            </a: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390525" y="1504950"/>
            <a:ext cx="11401425" cy="14288"/>
          </a:xfrm>
          <a:prstGeom prst="rect">
            <a:avLst/>
          </a:prstGeom>
          <a:solidFill>
            <a:srgbClr val="B8BCC4"/>
          </a:solidFill>
          <a:ln w="0">
            <a:noFill/>
            <a:prstDash val="solid"/>
          </a:ln>
        </p:spPr>
      </p:sp>
      <p:sp>
        <p:nvSpPr>
          <p:cNvPr id="5" name="矩形 4"/>
          <p:cNvSpPr>
            <a:spLocks noGrp="1"/>
          </p:cNvSpPr>
          <p:nvPr/>
        </p:nvSpPr>
        <p:spPr>
          <a:xfrm>
            <a:off x="11277600" y="6276975"/>
            <a:ext cx="514350" cy="238125"/>
          </a:xfrm>
          <a:prstGeom prst="rect">
            <a:avLst/>
          </a:prstGeom>
        </p:spPr>
        <p:txBody>
          <a:bodyPr lIns="0" tIns="0" rIns="0" bIns="0" anchor="ctr">
            <a:normAutofit/>
          </a:bodyPr>
          <a:lstStyle/>
          <a:p>
            <a:pPr algn="r">
              <a:defRPr sz="11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12</a:t>
            </a: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390525" y="1676400"/>
            <a:ext cx="1524000" cy="28575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algn="l">
              <a:defRPr sz="1800" b="1">
                <a:solidFill>
                  <a:srgbClr val="555555"/>
                </a:solidFill>
                <a:latin typeface="PingFang SC"/>
                <a:ea typeface="PingFang SC"/>
                <a:cs typeface="PingFang SC"/>
              </a:defRPr>
            </a:pPr>
            <a:r>
              <a:t>当前位置</a:t>
            </a: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781050" y="1981200"/>
            <a:ext cx="10620375" cy="552450"/>
          </a:xfrm>
          <a:prstGeom prst="rect">
            <a:avLst/>
          </a:prstGeom>
          <a:solidFill>
            <a:srgbClr val="F6F6F6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8" name="矩形 7"/>
          <p:cNvSpPr>
            <a:spLocks noGrp="1"/>
          </p:cNvSpPr>
          <p:nvPr/>
        </p:nvSpPr>
        <p:spPr>
          <a:xfrm>
            <a:off x="1066800" y="2105025"/>
            <a:ext cx="666750" cy="285750"/>
          </a:xfrm>
          <a:prstGeom prst="rect">
            <a:avLst/>
          </a:prstGeom>
        </p:spPr>
        <p:txBody>
          <a:bodyPr lIns="0" tIns="0" rIns="0" bIns="0" anchor="ctr">
            <a:normAutofit fontScale="96154"/>
          </a:bodyPr>
          <a:lstStyle/>
          <a:p>
            <a:pPr algn="ctr">
              <a:defRPr sz="1950" b="1">
                <a:solidFill>
                  <a:srgbClr val="555555"/>
                </a:solidFill>
                <a:latin typeface="PingFang SC"/>
                <a:ea typeface="PingFang SC"/>
                <a:cs typeface="PingFang SC"/>
              </a:defRPr>
            </a:pPr>
            <a:r>
              <a:t>01</a:t>
            </a: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2019300" y="2105025"/>
            <a:ext cx="2857500" cy="285750"/>
          </a:xfrm>
          <a:prstGeom prst="rect">
            <a:avLst/>
          </a:prstGeom>
        </p:spPr>
        <p:txBody>
          <a:bodyPr lIns="0" tIns="0" rIns="0" bIns="0" anchor="ctr">
            <a:normAutofit/>
          </a:bodyPr>
          <a:lstStyle/>
          <a:p>
            <a:pPr algn="l">
              <a:defRPr sz="1875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平台定位与价值</a:t>
            </a: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5143500" y="2124075"/>
            <a:ext cx="5810250" cy="266700"/>
          </a:xfrm>
          <a:prstGeom prst="rect">
            <a:avLst/>
          </a:prstGeom>
        </p:spPr>
        <p:txBody>
          <a:bodyPr lIns="0" tIns="0" rIns="0" bIns="0" anchor="ctr">
            <a:normAutofit/>
          </a:bodyPr>
          <a:lstStyle/>
          <a:p>
            <a:pPr algn="l">
              <a:defRPr sz="1350" b="0">
                <a:solidFill>
                  <a:srgbClr val="555555"/>
                </a:solidFill>
                <a:latin typeface="PingFang SC"/>
                <a:ea typeface="PingFang SC"/>
                <a:cs typeface="PingFang SC"/>
              </a:defRPr>
            </a:pPr>
            <a:r>
              <a:t>说明通答为什么是 AI 原生业务底座，以及平台建设初衷和核心价值。</a:t>
            </a: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781050" y="2705100"/>
            <a:ext cx="10620375" cy="552450"/>
          </a:xfrm>
          <a:prstGeom prst="rect">
            <a:avLst/>
          </a:prstGeom>
          <a:solidFill>
            <a:srgbClr val="F6F6F6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12" name="矩形 11"/>
          <p:cNvSpPr>
            <a:spLocks noGrp="1"/>
          </p:cNvSpPr>
          <p:nvPr/>
        </p:nvSpPr>
        <p:spPr>
          <a:xfrm>
            <a:off x="1066800" y="2828925"/>
            <a:ext cx="666750" cy="285750"/>
          </a:xfrm>
          <a:prstGeom prst="rect">
            <a:avLst/>
          </a:prstGeom>
        </p:spPr>
        <p:txBody>
          <a:bodyPr lIns="0" tIns="0" rIns="0" bIns="0" anchor="ctr">
            <a:normAutofit fontScale="96154"/>
          </a:bodyPr>
          <a:lstStyle/>
          <a:p>
            <a:pPr algn="ctr">
              <a:defRPr sz="1950" b="1">
                <a:solidFill>
                  <a:srgbClr val="555555"/>
                </a:solidFill>
                <a:latin typeface="PingFang SC"/>
                <a:ea typeface="PingFang SC"/>
                <a:cs typeface="PingFang SC"/>
              </a:defRPr>
            </a:pPr>
            <a:r>
              <a:t>02</a:t>
            </a: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2019300" y="2828925"/>
            <a:ext cx="2857500" cy="285750"/>
          </a:xfrm>
          <a:prstGeom prst="rect">
            <a:avLst/>
          </a:prstGeom>
        </p:spPr>
        <p:txBody>
          <a:bodyPr lIns="0" tIns="0" rIns="0" bIns="0" anchor="ctr">
            <a:normAutofit/>
          </a:bodyPr>
          <a:lstStyle/>
          <a:p>
            <a:pPr algn="l">
              <a:defRPr sz="1875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架构与交付体系</a:t>
            </a: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5143500" y="2847975"/>
            <a:ext cx="5810250" cy="266700"/>
          </a:xfrm>
          <a:prstGeom prst="rect">
            <a:avLst/>
          </a:prstGeom>
        </p:spPr>
        <p:txBody>
          <a:bodyPr lIns="0" tIns="0" rIns="0" bIns="0" anchor="ctr">
            <a:normAutofit/>
          </a:bodyPr>
          <a:lstStyle/>
          <a:p>
            <a:pPr algn="l">
              <a:defRPr sz="1350" b="0">
                <a:solidFill>
                  <a:srgbClr val="555555"/>
                </a:solidFill>
                <a:latin typeface="PingFang SC"/>
                <a:ea typeface="PingFang SC"/>
                <a:cs typeface="PingFang SC"/>
              </a:defRPr>
            </a:pPr>
            <a:r>
              <a:t>展开 Lucky、资料库、空间、场景模板，以及组合交付、套餐和租户。</a:t>
            </a: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781050" y="3429000"/>
            <a:ext cx="10620375" cy="552450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16" name="矩形 15"/>
          <p:cNvSpPr>
            <a:spLocks noGrp="1"/>
          </p:cNvSpPr>
          <p:nvPr/>
        </p:nvSpPr>
        <p:spPr>
          <a:xfrm>
            <a:off x="1066800" y="3552825"/>
            <a:ext cx="666750" cy="285750"/>
          </a:xfrm>
          <a:prstGeom prst="rect">
            <a:avLst/>
          </a:prstGeom>
        </p:spPr>
        <p:txBody>
          <a:bodyPr lIns="0" tIns="0" rIns="0" bIns="0" anchor="ctr">
            <a:normAutofit fontScale="96154"/>
          </a:bodyPr>
          <a:lstStyle/>
          <a:p>
            <a:pPr algn="ctr">
              <a:defRPr sz="1950" b="1">
                <a:solidFill>
                  <a:srgbClr val="FF6B35"/>
                </a:solidFill>
                <a:latin typeface="PingFang SC"/>
                <a:ea typeface="PingFang SC"/>
                <a:cs typeface="PingFang SC"/>
              </a:defRPr>
            </a:pPr>
            <a:r>
              <a:t>03</a:t>
            </a:r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2019300" y="3552825"/>
            <a:ext cx="2857500" cy="285750"/>
          </a:xfrm>
          <a:prstGeom prst="rect">
            <a:avLst/>
          </a:prstGeom>
        </p:spPr>
        <p:txBody>
          <a:bodyPr lIns="0" tIns="0" rIns="0" bIns="0" anchor="ctr">
            <a:normAutofit/>
          </a:bodyPr>
          <a:lstStyle/>
          <a:p>
            <a:pPr algn="l">
              <a:defRPr sz="18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t>商业模式与渠道</a:t>
            </a:r>
          </a:p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5143500" y="3571875"/>
            <a:ext cx="5810250" cy="266700"/>
          </a:xfrm>
          <a:prstGeom prst="rect">
            <a:avLst/>
          </a:prstGeom>
        </p:spPr>
        <p:txBody>
          <a:bodyPr lIns="0" tIns="0" rIns="0" bIns="0" anchor="ctr">
            <a:normAutofit/>
          </a:bodyPr>
          <a:lstStyle/>
          <a:p>
            <a:pPr algn="l">
              <a:defRPr sz="135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t>说明平台、服务、资源、Token 算力和运营商渠道如何形成收入变量。</a:t>
            </a:r>
          </a:p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781050" y="4152900"/>
            <a:ext cx="10620375" cy="552450"/>
          </a:xfrm>
          <a:prstGeom prst="rect">
            <a:avLst/>
          </a:prstGeom>
          <a:solidFill>
            <a:srgbClr val="F6F6F6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20" name="矩形 19"/>
          <p:cNvSpPr>
            <a:spLocks noGrp="1"/>
          </p:cNvSpPr>
          <p:nvPr/>
        </p:nvSpPr>
        <p:spPr>
          <a:xfrm>
            <a:off x="1066800" y="4276725"/>
            <a:ext cx="666750" cy="285750"/>
          </a:xfrm>
          <a:prstGeom prst="rect">
            <a:avLst/>
          </a:prstGeom>
        </p:spPr>
        <p:txBody>
          <a:bodyPr lIns="0" tIns="0" rIns="0" bIns="0" anchor="ctr">
            <a:normAutofit fontScale="96154"/>
          </a:bodyPr>
          <a:lstStyle/>
          <a:p>
            <a:pPr algn="ctr">
              <a:defRPr sz="1950" b="1">
                <a:solidFill>
                  <a:srgbClr val="555555"/>
                </a:solidFill>
                <a:latin typeface="PingFang SC"/>
                <a:ea typeface="PingFang SC"/>
                <a:cs typeface="PingFang SC"/>
              </a:defRPr>
            </a:pPr>
            <a:r>
              <a:t>04</a:t>
            </a:r>
          </a:p>
        </p:txBody>
      </p:sp>
      <p:sp>
        <p:nvSpPr>
          <p:cNvPr id="21" name="矩形 20"/>
          <p:cNvSpPr>
            <a:spLocks noGrp="1"/>
          </p:cNvSpPr>
          <p:nvPr/>
        </p:nvSpPr>
        <p:spPr>
          <a:xfrm>
            <a:off x="2019300" y="4276725"/>
            <a:ext cx="2857500" cy="285750"/>
          </a:xfrm>
          <a:prstGeom prst="rect">
            <a:avLst/>
          </a:prstGeom>
        </p:spPr>
        <p:txBody>
          <a:bodyPr lIns="0" tIns="0" rIns="0" bIns="0" anchor="ctr">
            <a:normAutofit/>
          </a:bodyPr>
          <a:lstStyle/>
          <a:p>
            <a:pPr algn="l">
              <a:defRPr sz="1875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标杆案例与场景深化</a:t>
            </a:r>
          </a:p>
        </p:txBody>
      </p:sp>
      <p:sp>
        <p:nvSpPr>
          <p:cNvPr id="22" name="矩形 21"/>
          <p:cNvSpPr>
            <a:spLocks noGrp="1"/>
          </p:cNvSpPr>
          <p:nvPr/>
        </p:nvSpPr>
        <p:spPr>
          <a:xfrm>
            <a:off x="5143500" y="4295775"/>
            <a:ext cx="5810250" cy="266700"/>
          </a:xfrm>
          <a:prstGeom prst="rect">
            <a:avLst/>
          </a:prstGeom>
        </p:spPr>
        <p:txBody>
          <a:bodyPr lIns="0" tIns="0" rIns="0" bIns="0" anchor="ctr">
            <a:normAutofit/>
          </a:bodyPr>
          <a:lstStyle/>
          <a:p>
            <a:pPr algn="l">
              <a:defRPr sz="1350" b="0">
                <a:solidFill>
                  <a:srgbClr val="555555"/>
                </a:solidFill>
                <a:latin typeface="PingFang SC"/>
                <a:ea typeface="PingFang SC"/>
                <a:cs typeface="PingFang SC"/>
              </a:defRPr>
            </a:pPr>
            <a:r>
              <a:t>用宁波大学科学技术学院工作坊验证交付，并明确两大场景完善方向。</a:t>
            </a:r>
          </a:p>
        </p:txBody>
      </p:sp>
      <p:sp>
        <p:nvSpPr>
          <p:cNvPr id="23" name="矩形 22"/>
          <p:cNvSpPr>
            <a:spLocks noGrp="1"/>
          </p:cNvSpPr>
          <p:nvPr/>
        </p:nvSpPr>
        <p:spPr>
          <a:xfrm>
            <a:off x="781050" y="4876800"/>
            <a:ext cx="10620375" cy="552450"/>
          </a:xfrm>
          <a:prstGeom prst="rect">
            <a:avLst/>
          </a:prstGeom>
          <a:solidFill>
            <a:srgbClr val="F6F6F6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24" name="矩形 23"/>
          <p:cNvSpPr>
            <a:spLocks noGrp="1"/>
          </p:cNvSpPr>
          <p:nvPr/>
        </p:nvSpPr>
        <p:spPr>
          <a:xfrm>
            <a:off x="1066800" y="5000625"/>
            <a:ext cx="666750" cy="285750"/>
          </a:xfrm>
          <a:prstGeom prst="rect">
            <a:avLst/>
          </a:prstGeom>
        </p:spPr>
        <p:txBody>
          <a:bodyPr lIns="0" tIns="0" rIns="0" bIns="0" anchor="ctr">
            <a:normAutofit fontScale="96154"/>
          </a:bodyPr>
          <a:lstStyle/>
          <a:p>
            <a:pPr algn="ctr">
              <a:defRPr sz="1950" b="1">
                <a:solidFill>
                  <a:srgbClr val="555555"/>
                </a:solidFill>
                <a:latin typeface="PingFang SC"/>
                <a:ea typeface="PingFang SC"/>
                <a:cs typeface="PingFang SC"/>
              </a:defRPr>
            </a:pPr>
            <a:r>
              <a:t>05</a:t>
            </a:r>
          </a:p>
        </p:txBody>
      </p:sp>
      <p:sp>
        <p:nvSpPr>
          <p:cNvPr id="25" name="矩形 24"/>
          <p:cNvSpPr>
            <a:spLocks noGrp="1"/>
          </p:cNvSpPr>
          <p:nvPr/>
        </p:nvSpPr>
        <p:spPr>
          <a:xfrm>
            <a:off x="2019300" y="5000625"/>
            <a:ext cx="2857500" cy="285750"/>
          </a:xfrm>
          <a:prstGeom prst="rect">
            <a:avLst/>
          </a:prstGeom>
        </p:spPr>
        <p:txBody>
          <a:bodyPr lIns="0" tIns="0" rIns="0" bIns="0" anchor="ctr">
            <a:normAutofit/>
          </a:bodyPr>
          <a:lstStyle/>
          <a:p>
            <a:pPr algn="l">
              <a:defRPr sz="1875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生态、愿景与开发模式</a:t>
            </a:r>
          </a:p>
        </p:txBody>
      </p:sp>
      <p:sp>
        <p:nvSpPr>
          <p:cNvPr id="26" name="矩形 25"/>
          <p:cNvSpPr>
            <a:spLocks noGrp="1"/>
          </p:cNvSpPr>
          <p:nvPr/>
        </p:nvSpPr>
        <p:spPr>
          <a:xfrm>
            <a:off x="5143500" y="5019675"/>
            <a:ext cx="5810250" cy="266700"/>
          </a:xfrm>
          <a:prstGeom prst="rect">
            <a:avLst/>
          </a:prstGeom>
        </p:spPr>
        <p:txBody>
          <a:bodyPr lIns="0" tIns="0" rIns="0" bIns="0" anchor="ctr">
            <a:normAutofit/>
          </a:bodyPr>
          <a:lstStyle/>
          <a:p>
            <a:pPr algn="l">
              <a:defRPr sz="1350" b="0">
                <a:solidFill>
                  <a:srgbClr val="555555"/>
                </a:solidFill>
                <a:latin typeface="PingFang SC"/>
                <a:ea typeface="PingFang SC"/>
                <a:cs typeface="PingFang SC"/>
              </a:defRPr>
            </a:pPr>
            <a:r>
              <a:t>收束研习社、平台闭环、教师全场景愿景和 AI 驱动开发模式创新。</a:t>
            </a:r>
          </a:p>
        </p:txBody>
      </p:sp>
      <p:sp>
        <p:nvSpPr>
          <p:cNvPr id="27" name="矩形 26"/>
          <p:cNvSpPr>
            <a:spLocks noGrp="1"/>
          </p:cNvSpPr>
          <p:nvPr/>
        </p:nvSpPr>
        <p:spPr>
          <a:xfrm>
            <a:off x="781050" y="5810250"/>
            <a:ext cx="10620375" cy="419100"/>
          </a:xfrm>
          <a:prstGeom prst="rect">
            <a:avLst/>
          </a:prstGeom>
          <a:solidFill>
            <a:srgbClr val="F6F6F6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28" name="矩形 27"/>
          <p:cNvSpPr>
            <a:spLocks noGrp="1"/>
          </p:cNvSpPr>
          <p:nvPr/>
        </p:nvSpPr>
        <p:spPr>
          <a:xfrm>
            <a:off x="1066800" y="5905500"/>
            <a:ext cx="10048875" cy="228600"/>
          </a:xfrm>
          <a:prstGeom prst="rect">
            <a:avLst/>
          </a:prstGeom>
        </p:spPr>
        <p:txBody>
          <a:bodyPr lIns="0" tIns="0" rIns="0" bIns="0" anchor="ctr">
            <a:normAutofit/>
          </a:bodyPr>
          <a:lstStyle/>
          <a:p>
            <a:pPr algn="ctr">
              <a:defRPr sz="150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本节重点：把 AI 算力消耗转化为可计量、可运营、可合作的商业空间。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390525" y="342900"/>
            <a:ext cx="2857500" cy="247650"/>
          </a:xfrm>
          <a:prstGeom prst="rect">
            <a:avLst/>
          </a:prstGeom>
        </p:spPr>
        <p:txBody>
          <a:bodyPr lIns="0" tIns="0" rIns="0" bIns="0" anchor="ctr">
            <a:normAutofit/>
          </a:bodyPr>
          <a:lstStyle/>
          <a:p>
            <a:pPr algn="l">
              <a:defRPr sz="1200" b="1">
                <a:solidFill>
                  <a:srgbClr val="555555"/>
                </a:solidFill>
                <a:latin typeface="PingFang SC"/>
                <a:ea typeface="PingFang SC"/>
                <a:cs typeface="PingFang SC"/>
              </a:defRPr>
            </a:pPr>
            <a:r>
              <a:t>商业模式</a:t>
            </a: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390525" y="666750"/>
            <a:ext cx="11401425" cy="7239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algn="l">
              <a:defRPr sz="2925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平台、服务、资源和算力是商业付费模式的四类变量</a:t>
            </a: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390525" y="1504950"/>
            <a:ext cx="11401425" cy="14288"/>
          </a:xfrm>
          <a:prstGeom prst="rect">
            <a:avLst/>
          </a:prstGeom>
          <a:solidFill>
            <a:srgbClr val="B8BCC4"/>
          </a:solidFill>
          <a:ln w="0">
            <a:noFill/>
            <a:prstDash val="solid"/>
          </a:ln>
        </p:spPr>
      </p:sp>
      <p:sp>
        <p:nvSpPr>
          <p:cNvPr id="5" name="矩形 4"/>
          <p:cNvSpPr>
            <a:spLocks noGrp="1"/>
          </p:cNvSpPr>
          <p:nvPr/>
        </p:nvSpPr>
        <p:spPr>
          <a:xfrm>
            <a:off x="11277600" y="6276975"/>
            <a:ext cx="514350" cy="238125"/>
          </a:xfrm>
          <a:prstGeom prst="rect">
            <a:avLst/>
          </a:prstGeom>
        </p:spPr>
        <p:txBody>
          <a:bodyPr lIns="0" tIns="0" rIns="0" bIns="0" anchor="ctr">
            <a:normAutofit/>
          </a:bodyPr>
          <a:lstStyle/>
          <a:p>
            <a:pPr algn="r">
              <a:defRPr sz="11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13</a:t>
            </a: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390525" y="2057400"/>
            <a:ext cx="2476500" cy="1962150"/>
          </a:xfrm>
          <a:prstGeom prst="rect">
            <a:avLst/>
          </a:prstGeom>
          <a:solidFill>
            <a:srgbClr val="EDEDED"/>
          </a:solidFill>
          <a:ln w="0">
            <a:noFill/>
            <a:prstDash val="solid"/>
          </a:ln>
        </p:spPr>
      </p:sp>
      <p:sp>
        <p:nvSpPr>
          <p:cNvPr id="7" name="矩形 6"/>
          <p:cNvSpPr>
            <a:spLocks noGrp="1"/>
          </p:cNvSpPr>
          <p:nvPr/>
        </p:nvSpPr>
        <p:spPr>
          <a:xfrm>
            <a:off x="619125" y="2286000"/>
            <a:ext cx="2019300" cy="342900"/>
          </a:xfrm>
          <a:prstGeom prst="rect">
            <a:avLst/>
          </a:prstGeom>
        </p:spPr>
        <p:txBody>
          <a:bodyPr lIns="0" tIns="0" rIns="0" bIns="0" anchor="ctr">
            <a:normAutofit/>
          </a:bodyPr>
          <a:lstStyle/>
          <a:p>
            <a:pPr algn="l">
              <a:defRPr sz="225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平台</a:t>
            </a: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619125" y="2743200"/>
            <a:ext cx="2019300" cy="108585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algn="l">
              <a:defRPr sz="150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账号、租户、空间、功能模块、场景模板。</a:t>
            </a: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3248025" y="2057400"/>
            <a:ext cx="2476500" cy="1962150"/>
          </a:xfrm>
          <a:prstGeom prst="rect">
            <a:avLst/>
          </a:prstGeom>
          <a:solidFill>
            <a:srgbClr val="EDEDED"/>
          </a:solidFill>
          <a:ln w="0">
            <a:noFill/>
            <a:prstDash val="solid"/>
          </a:ln>
        </p:spPr>
      </p:sp>
      <p:sp>
        <p:nvSpPr>
          <p:cNvPr id="10" name="矩形 9"/>
          <p:cNvSpPr>
            <a:spLocks noGrp="1"/>
          </p:cNvSpPr>
          <p:nvPr/>
        </p:nvSpPr>
        <p:spPr>
          <a:xfrm>
            <a:off x="3476625" y="2286000"/>
            <a:ext cx="2019300" cy="342900"/>
          </a:xfrm>
          <a:prstGeom prst="rect">
            <a:avLst/>
          </a:prstGeom>
        </p:spPr>
        <p:txBody>
          <a:bodyPr lIns="0" tIns="0" rIns="0" bIns="0" anchor="ctr">
            <a:normAutofit/>
          </a:bodyPr>
          <a:lstStyle/>
          <a:p>
            <a:pPr algn="l">
              <a:defRPr sz="225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服务</a:t>
            </a: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3476625" y="2743200"/>
            <a:ext cx="2019300" cy="108585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algn="l">
              <a:defRPr sz="150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方案设计、场景配置、培训辅导、运营支持、数据分析。</a:t>
            </a: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6105525" y="2057400"/>
            <a:ext cx="2476500" cy="1962150"/>
          </a:xfrm>
          <a:prstGeom prst="rect">
            <a:avLst/>
          </a:prstGeom>
          <a:solidFill>
            <a:srgbClr val="EDEDED"/>
          </a:solidFill>
          <a:ln w="0">
            <a:noFill/>
            <a:prstDash val="solid"/>
          </a:ln>
        </p:spPr>
      </p:sp>
      <p:sp>
        <p:nvSpPr>
          <p:cNvPr id="13" name="矩形 12"/>
          <p:cNvSpPr>
            <a:spLocks noGrp="1"/>
          </p:cNvSpPr>
          <p:nvPr/>
        </p:nvSpPr>
        <p:spPr>
          <a:xfrm>
            <a:off x="6334125" y="2286000"/>
            <a:ext cx="2019300" cy="342900"/>
          </a:xfrm>
          <a:prstGeom prst="rect">
            <a:avLst/>
          </a:prstGeom>
        </p:spPr>
        <p:txBody>
          <a:bodyPr lIns="0" tIns="0" rIns="0" bIns="0" anchor="ctr">
            <a:normAutofit/>
          </a:bodyPr>
          <a:lstStyle/>
          <a:p>
            <a:pPr algn="l">
              <a:defRPr sz="225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资源</a:t>
            </a: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6334125" y="2743200"/>
            <a:ext cx="2019300" cy="108585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algn="l">
              <a:defRPr sz="150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课程资源、案例资源、专题包、培训资源、教研资源。</a:t>
            </a: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8963025" y="2057400"/>
            <a:ext cx="2476500" cy="1962150"/>
          </a:xfrm>
          <a:prstGeom prst="rect">
            <a:avLst/>
          </a:prstGeom>
          <a:solidFill>
            <a:srgbClr val="000000"/>
          </a:solidFill>
          <a:ln w="0">
            <a:noFill/>
            <a:prstDash val="solid"/>
          </a:ln>
        </p:spPr>
      </p:sp>
      <p:sp>
        <p:nvSpPr>
          <p:cNvPr id="16" name="矩形 15"/>
          <p:cNvSpPr>
            <a:spLocks noGrp="1"/>
          </p:cNvSpPr>
          <p:nvPr/>
        </p:nvSpPr>
        <p:spPr>
          <a:xfrm>
            <a:off x="9191625" y="2286000"/>
            <a:ext cx="2019300" cy="342900"/>
          </a:xfrm>
          <a:prstGeom prst="rect">
            <a:avLst/>
          </a:prstGeom>
        </p:spPr>
        <p:txBody>
          <a:bodyPr lIns="0" tIns="0" rIns="0" bIns="0" anchor="ctr">
            <a:normAutofit/>
          </a:bodyPr>
          <a:lstStyle/>
          <a:p>
            <a:pPr algn="l">
              <a:defRPr sz="22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t>算力</a:t>
            </a:r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9191625" y="2743200"/>
            <a:ext cx="2019300" cy="108585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algn="l">
              <a:defRPr sz="150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t>以 Token 为核心，计量模型调用和 AI 能力消耗。</a:t>
            </a:r>
          </a:p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390525" y="4762500"/>
            <a:ext cx="11401425" cy="762000"/>
          </a:xfrm>
          <a:prstGeom prst="rect">
            <a:avLst/>
          </a:prstGeom>
          <a:solidFill>
            <a:srgbClr val="F6F6F6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19" name="矩形 18"/>
          <p:cNvSpPr>
            <a:spLocks noGrp="1"/>
          </p:cNvSpPr>
          <p:nvPr/>
        </p:nvSpPr>
        <p:spPr>
          <a:xfrm>
            <a:off x="685800" y="4895850"/>
            <a:ext cx="10810875" cy="514350"/>
          </a:xfrm>
          <a:prstGeom prst="rect">
            <a:avLst/>
          </a:prstGeom>
        </p:spPr>
        <p:txBody>
          <a:bodyPr lIns="0" tIns="0" rIns="0" bIns="0" anchor="ctr">
            <a:normAutofit fontScale="97826"/>
          </a:bodyPr>
          <a:lstStyle/>
          <a:p>
            <a:pPr algn="l">
              <a:defRPr sz="1725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商业设计可以采用“部分免费 + 部分付费”的组合策略：通答 AI 原生底座和应用场景，让 Token 付费模式成立，并可被套餐、租户和场景方案承接为收入变量。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390525" y="342900"/>
            <a:ext cx="2857500" cy="247650"/>
          </a:xfrm>
          <a:prstGeom prst="rect">
            <a:avLst/>
          </a:prstGeom>
        </p:spPr>
        <p:txBody>
          <a:bodyPr lIns="0" tIns="0" rIns="0" bIns="0" anchor="ctr">
            <a:normAutofit/>
          </a:bodyPr>
          <a:lstStyle/>
          <a:p>
            <a:pPr algn="l">
              <a:defRPr sz="1200" b="1">
                <a:solidFill>
                  <a:srgbClr val="555555"/>
                </a:solidFill>
                <a:latin typeface="PingFang SC"/>
                <a:ea typeface="PingFang SC"/>
                <a:cs typeface="PingFang SC"/>
              </a:defRPr>
            </a:pPr>
            <a:r>
              <a:t>Token 算力</a:t>
            </a: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390525" y="666750"/>
            <a:ext cx="11401425" cy="7239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algn="l">
              <a:defRPr sz="2925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Token 模式把 AI 算力从技术消耗变成可运营的商业资源</a:t>
            </a: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390525" y="1504950"/>
            <a:ext cx="11401425" cy="14288"/>
          </a:xfrm>
          <a:prstGeom prst="rect">
            <a:avLst/>
          </a:prstGeom>
          <a:solidFill>
            <a:srgbClr val="B8BCC4"/>
          </a:solidFill>
          <a:ln w="0">
            <a:noFill/>
            <a:prstDash val="solid"/>
          </a:ln>
        </p:spPr>
      </p:sp>
      <p:sp>
        <p:nvSpPr>
          <p:cNvPr id="5" name="矩形 4"/>
          <p:cNvSpPr>
            <a:spLocks noGrp="1"/>
          </p:cNvSpPr>
          <p:nvPr/>
        </p:nvSpPr>
        <p:spPr>
          <a:xfrm>
            <a:off x="11277600" y="6276975"/>
            <a:ext cx="514350" cy="238125"/>
          </a:xfrm>
          <a:prstGeom prst="rect">
            <a:avLst/>
          </a:prstGeom>
        </p:spPr>
        <p:txBody>
          <a:bodyPr lIns="0" tIns="0" rIns="0" bIns="0" anchor="ctr">
            <a:normAutofit/>
          </a:bodyPr>
          <a:lstStyle/>
          <a:p>
            <a:pPr algn="r">
              <a:defRPr sz="11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14</a:t>
            </a: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581025" y="2343150"/>
            <a:ext cx="1619250" cy="609600"/>
          </a:xfrm>
          <a:prstGeom prst="rect">
            <a:avLst/>
          </a:prstGeom>
          <a:solidFill>
            <a:srgbClr val="EDEDED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7" name="矩形 6"/>
          <p:cNvSpPr>
            <a:spLocks noGrp="1"/>
          </p:cNvSpPr>
          <p:nvPr/>
        </p:nvSpPr>
        <p:spPr>
          <a:xfrm>
            <a:off x="676275" y="2400300"/>
            <a:ext cx="1428750" cy="495300"/>
          </a:xfrm>
          <a:prstGeom prst="rect">
            <a:avLst/>
          </a:prstGeom>
        </p:spPr>
        <p:txBody>
          <a:bodyPr lIns="0" tIns="0" rIns="0" bIns="0" anchor="ctr">
            <a:normAutofit/>
          </a:bodyPr>
          <a:lstStyle/>
          <a:p>
            <a:pPr algn="ctr">
              <a:defRPr sz="180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AI 调用</a:t>
            </a:r>
          </a:p>
        </p:txBody>
      </p:sp>
      <p:sp>
        <p:nvSpPr>
          <p:cNvPr id="8" name="右箭头 7"/>
          <p:cNvSpPr>
            <a:spLocks noGrp="1"/>
          </p:cNvSpPr>
          <p:nvPr/>
        </p:nvSpPr>
        <p:spPr>
          <a:xfrm>
            <a:off x="2457450" y="2476500"/>
            <a:ext cx="704850" cy="342900"/>
          </a:xfrm>
          <a:prstGeom prst="rightArrow">
            <a:avLst/>
          </a:prstGeom>
          <a:solidFill>
            <a:srgbClr val="B8BCC4"/>
          </a:solidFill>
          <a:ln w="0">
            <a:noFill/>
            <a:prstDash val="solid"/>
          </a:ln>
        </p:spPr>
      </p:sp>
      <p:sp>
        <p:nvSpPr>
          <p:cNvPr id="9" name="矩形 8"/>
          <p:cNvSpPr>
            <a:spLocks noGrp="1"/>
          </p:cNvSpPr>
          <p:nvPr/>
        </p:nvSpPr>
        <p:spPr>
          <a:xfrm>
            <a:off x="3429000" y="2343150"/>
            <a:ext cx="1809750" cy="609600"/>
          </a:xfrm>
          <a:prstGeom prst="rect">
            <a:avLst/>
          </a:prstGeom>
          <a:solidFill>
            <a:srgbClr val="EDEDED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10" name="矩形 9"/>
          <p:cNvSpPr>
            <a:spLocks noGrp="1"/>
          </p:cNvSpPr>
          <p:nvPr/>
        </p:nvSpPr>
        <p:spPr>
          <a:xfrm>
            <a:off x="3524250" y="2400300"/>
            <a:ext cx="1619250" cy="495300"/>
          </a:xfrm>
          <a:prstGeom prst="rect">
            <a:avLst/>
          </a:prstGeom>
        </p:spPr>
        <p:txBody>
          <a:bodyPr lIns="0" tIns="0" rIns="0" bIns="0" anchor="ctr">
            <a:normAutofit/>
          </a:bodyPr>
          <a:lstStyle/>
          <a:p>
            <a:pPr algn="ctr">
              <a:defRPr sz="180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Token 消耗</a:t>
            </a:r>
          </a:p>
        </p:txBody>
      </p:sp>
      <p:sp>
        <p:nvSpPr>
          <p:cNvPr id="11" name="右箭头 10"/>
          <p:cNvSpPr>
            <a:spLocks noGrp="1"/>
          </p:cNvSpPr>
          <p:nvPr/>
        </p:nvSpPr>
        <p:spPr>
          <a:xfrm>
            <a:off x="5505450" y="2476500"/>
            <a:ext cx="704850" cy="342900"/>
          </a:xfrm>
          <a:prstGeom prst="rightArrow">
            <a:avLst/>
          </a:prstGeom>
          <a:solidFill>
            <a:srgbClr val="B8BCC4"/>
          </a:solidFill>
          <a:ln w="0">
            <a:noFill/>
            <a:prstDash val="solid"/>
          </a:ln>
        </p:spPr>
      </p:sp>
      <p:sp>
        <p:nvSpPr>
          <p:cNvPr id="12" name="矩形 11"/>
          <p:cNvSpPr>
            <a:spLocks noGrp="1"/>
          </p:cNvSpPr>
          <p:nvPr/>
        </p:nvSpPr>
        <p:spPr>
          <a:xfrm>
            <a:off x="6477000" y="2343150"/>
            <a:ext cx="1809750" cy="609600"/>
          </a:xfrm>
          <a:prstGeom prst="rect">
            <a:avLst/>
          </a:prstGeom>
          <a:solidFill>
            <a:srgbClr val="000000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13" name="矩形 12"/>
          <p:cNvSpPr>
            <a:spLocks noGrp="1"/>
          </p:cNvSpPr>
          <p:nvPr/>
        </p:nvSpPr>
        <p:spPr>
          <a:xfrm>
            <a:off x="6572250" y="2400300"/>
            <a:ext cx="1619250" cy="495300"/>
          </a:xfrm>
          <a:prstGeom prst="rect">
            <a:avLst/>
          </a:prstGeom>
        </p:spPr>
        <p:txBody>
          <a:bodyPr lIns="0" tIns="0" rIns="0" bIns="0" anchor="ctr">
            <a:norm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t>模型统计</a:t>
            </a:r>
          </a:p>
        </p:txBody>
      </p:sp>
      <p:sp>
        <p:nvSpPr>
          <p:cNvPr id="14" name="右箭头 13"/>
          <p:cNvSpPr>
            <a:spLocks noGrp="1"/>
          </p:cNvSpPr>
          <p:nvPr/>
        </p:nvSpPr>
        <p:spPr>
          <a:xfrm>
            <a:off x="8553450" y="2476500"/>
            <a:ext cx="704850" cy="342900"/>
          </a:xfrm>
          <a:prstGeom prst="rightArrow">
            <a:avLst/>
          </a:prstGeom>
          <a:solidFill>
            <a:srgbClr val="B8BCC4"/>
          </a:solidFill>
          <a:ln w="0">
            <a:noFill/>
            <a:prstDash val="solid"/>
          </a:ln>
        </p:spPr>
      </p:sp>
      <p:sp>
        <p:nvSpPr>
          <p:cNvPr id="15" name="矩形 14"/>
          <p:cNvSpPr>
            <a:spLocks noGrp="1"/>
          </p:cNvSpPr>
          <p:nvPr/>
        </p:nvSpPr>
        <p:spPr>
          <a:xfrm>
            <a:off x="9525000" y="2343150"/>
            <a:ext cx="1809750" cy="609600"/>
          </a:xfrm>
          <a:prstGeom prst="rect">
            <a:avLst/>
          </a:prstGeom>
          <a:solidFill>
            <a:srgbClr val="FF6B35"/>
          </a:solidFill>
          <a:ln w="9525">
            <a:noFill/>
            <a:prstDash val="solid"/>
          </a:ln>
        </p:spPr>
      </p:sp>
      <p:sp>
        <p:nvSpPr>
          <p:cNvPr id="16" name="矩形 15"/>
          <p:cNvSpPr>
            <a:spLocks noGrp="1"/>
          </p:cNvSpPr>
          <p:nvPr/>
        </p:nvSpPr>
        <p:spPr>
          <a:xfrm>
            <a:off x="9620250" y="2400300"/>
            <a:ext cx="1619250" cy="495300"/>
          </a:xfrm>
          <a:prstGeom prst="rect">
            <a:avLst/>
          </a:prstGeom>
        </p:spPr>
        <p:txBody>
          <a:bodyPr lIns="0" tIns="0" rIns="0" bIns="0" anchor="ctr">
            <a:norm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t>算力付费</a:t>
            </a:r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1047750" y="3543300"/>
            <a:ext cx="10096500" cy="876300"/>
          </a:xfrm>
          <a:prstGeom prst="rect">
            <a:avLst/>
          </a:prstGeom>
        </p:spPr>
        <p:txBody>
          <a:bodyPr lIns="0" tIns="0" rIns="0" bIns="0" anchor="ctr">
            <a:normAutofit fontScale="98291"/>
          </a:bodyPr>
          <a:lstStyle/>
          <a:p>
            <a:pPr algn="ctr">
              <a:defRPr sz="195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通答通过模型统计模块提供技术支撑，把 AI 调用、Token 消耗和业务维度连接起来，为计量、成本核算、套餐设计、用量预警、客户对账和商业定价提供基础。</a:t>
            </a:r>
          </a:p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2381250" y="4914900"/>
            <a:ext cx="1000125" cy="400050"/>
          </a:xfrm>
          <a:prstGeom prst="rect">
            <a:avLst/>
          </a:prstGeom>
          <a:solidFill>
            <a:srgbClr val="F6F6F6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19" name="矩形 18"/>
          <p:cNvSpPr>
            <a:spLocks noGrp="1"/>
          </p:cNvSpPr>
          <p:nvPr/>
        </p:nvSpPr>
        <p:spPr>
          <a:xfrm>
            <a:off x="2476500" y="4972050"/>
            <a:ext cx="809625" cy="285750"/>
          </a:xfrm>
          <a:prstGeom prst="rect">
            <a:avLst/>
          </a:prstGeom>
        </p:spPr>
        <p:txBody>
          <a:bodyPr lIns="0" tIns="0" rIns="0" bIns="0" anchor="ctr">
            <a:normAutofit/>
          </a:bodyPr>
          <a:lstStyle/>
          <a:p>
            <a:pPr algn="ctr">
              <a:defRPr sz="135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租户</a:t>
            </a:r>
          </a:p>
        </p:txBody>
      </p:sp>
      <p:sp>
        <p:nvSpPr>
          <p:cNvPr id="20" name="矩形 19"/>
          <p:cNvSpPr>
            <a:spLocks noGrp="1"/>
          </p:cNvSpPr>
          <p:nvPr/>
        </p:nvSpPr>
        <p:spPr>
          <a:xfrm>
            <a:off x="3905250" y="4914900"/>
            <a:ext cx="1000125" cy="400050"/>
          </a:xfrm>
          <a:prstGeom prst="rect">
            <a:avLst/>
          </a:prstGeom>
          <a:solidFill>
            <a:srgbClr val="F6F6F6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21" name="矩形 20"/>
          <p:cNvSpPr>
            <a:spLocks noGrp="1"/>
          </p:cNvSpPr>
          <p:nvPr/>
        </p:nvSpPr>
        <p:spPr>
          <a:xfrm>
            <a:off x="4000500" y="4972050"/>
            <a:ext cx="809625" cy="285750"/>
          </a:xfrm>
          <a:prstGeom prst="rect">
            <a:avLst/>
          </a:prstGeom>
        </p:spPr>
        <p:txBody>
          <a:bodyPr lIns="0" tIns="0" rIns="0" bIns="0" anchor="ctr">
            <a:normAutofit/>
          </a:bodyPr>
          <a:lstStyle/>
          <a:p>
            <a:pPr algn="ctr">
              <a:defRPr sz="135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用户</a:t>
            </a:r>
          </a:p>
        </p:txBody>
      </p:sp>
      <p:sp>
        <p:nvSpPr>
          <p:cNvPr id="22" name="矩形 21"/>
          <p:cNvSpPr>
            <a:spLocks noGrp="1"/>
          </p:cNvSpPr>
          <p:nvPr/>
        </p:nvSpPr>
        <p:spPr>
          <a:xfrm>
            <a:off x="5429250" y="4914900"/>
            <a:ext cx="1000125" cy="400050"/>
          </a:xfrm>
          <a:prstGeom prst="rect">
            <a:avLst/>
          </a:prstGeom>
          <a:solidFill>
            <a:srgbClr val="F6F6F6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23" name="矩形 22"/>
          <p:cNvSpPr>
            <a:spLocks noGrp="1"/>
          </p:cNvSpPr>
          <p:nvPr/>
        </p:nvSpPr>
        <p:spPr>
          <a:xfrm>
            <a:off x="5524500" y="4972050"/>
            <a:ext cx="809625" cy="285750"/>
          </a:xfrm>
          <a:prstGeom prst="rect">
            <a:avLst/>
          </a:prstGeom>
        </p:spPr>
        <p:txBody>
          <a:bodyPr lIns="0" tIns="0" rIns="0" bIns="0" anchor="ctr">
            <a:normAutofit/>
          </a:bodyPr>
          <a:lstStyle/>
          <a:p>
            <a:pPr algn="ctr">
              <a:defRPr sz="135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空间</a:t>
            </a:r>
          </a:p>
        </p:txBody>
      </p:sp>
      <p:sp>
        <p:nvSpPr>
          <p:cNvPr id="24" name="矩形 23"/>
          <p:cNvSpPr>
            <a:spLocks noGrp="1"/>
          </p:cNvSpPr>
          <p:nvPr/>
        </p:nvSpPr>
        <p:spPr>
          <a:xfrm>
            <a:off x="6953250" y="4914900"/>
            <a:ext cx="1000125" cy="400050"/>
          </a:xfrm>
          <a:prstGeom prst="rect">
            <a:avLst/>
          </a:prstGeom>
          <a:solidFill>
            <a:srgbClr val="F6F6F6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25" name="矩形 24"/>
          <p:cNvSpPr>
            <a:spLocks noGrp="1"/>
          </p:cNvSpPr>
          <p:nvPr/>
        </p:nvSpPr>
        <p:spPr>
          <a:xfrm>
            <a:off x="7048500" y="4972050"/>
            <a:ext cx="809625" cy="285750"/>
          </a:xfrm>
          <a:prstGeom prst="rect">
            <a:avLst/>
          </a:prstGeom>
        </p:spPr>
        <p:txBody>
          <a:bodyPr lIns="0" tIns="0" rIns="0" bIns="0" anchor="ctr">
            <a:normAutofit/>
          </a:bodyPr>
          <a:lstStyle/>
          <a:p>
            <a:pPr algn="ctr">
              <a:defRPr sz="135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智能体</a:t>
            </a:r>
          </a:p>
        </p:txBody>
      </p:sp>
      <p:sp>
        <p:nvSpPr>
          <p:cNvPr id="26" name="矩形 25"/>
          <p:cNvSpPr>
            <a:spLocks noGrp="1"/>
          </p:cNvSpPr>
          <p:nvPr/>
        </p:nvSpPr>
        <p:spPr>
          <a:xfrm>
            <a:off x="8477250" y="4914900"/>
            <a:ext cx="1000125" cy="400050"/>
          </a:xfrm>
          <a:prstGeom prst="rect">
            <a:avLst/>
          </a:prstGeom>
          <a:solidFill>
            <a:srgbClr val="F6F6F6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27" name="矩形 26"/>
          <p:cNvSpPr>
            <a:spLocks noGrp="1"/>
          </p:cNvSpPr>
          <p:nvPr/>
        </p:nvSpPr>
        <p:spPr>
          <a:xfrm>
            <a:off x="8572500" y="4972050"/>
            <a:ext cx="809625" cy="285750"/>
          </a:xfrm>
          <a:prstGeom prst="rect">
            <a:avLst/>
          </a:prstGeom>
        </p:spPr>
        <p:txBody>
          <a:bodyPr lIns="0" tIns="0" rIns="0" bIns="0" anchor="ctr">
            <a:normAutofit/>
          </a:bodyPr>
          <a:lstStyle/>
          <a:p>
            <a:pPr algn="ctr">
              <a:defRPr sz="135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场景</a:t>
            </a:r>
          </a:p>
        </p:txBody>
      </p:sp>
      <p:sp>
        <p:nvSpPr>
          <p:cNvPr id="28" name="矩形 27"/>
          <p:cNvSpPr>
            <a:spLocks noGrp="1"/>
          </p:cNvSpPr>
          <p:nvPr/>
        </p:nvSpPr>
        <p:spPr>
          <a:xfrm>
            <a:off x="2590800" y="5467350"/>
            <a:ext cx="7048500" cy="304800"/>
          </a:xfrm>
          <a:prstGeom prst="rect">
            <a:avLst/>
          </a:prstGeom>
        </p:spPr>
        <p:txBody>
          <a:bodyPr lIns="0" tIns="0" rIns="0" bIns="0" anchor="t">
            <a:normAutofit fontScale="82332"/>
          </a:bodyPr>
          <a:lstStyle/>
          <a:p>
            <a:pPr algn="ctr">
              <a:defRPr sz="1500" b="0">
                <a:solidFill>
                  <a:srgbClr val="555555"/>
                </a:solidFill>
                <a:latin typeface="PingFang SC"/>
                <a:ea typeface="PingFang SC"/>
                <a:cs typeface="PingFang SC"/>
              </a:defRPr>
            </a:pPr>
            <a:r>
              <a:t>统计维度覆盖租户、用户、空间、智能体和场景，确保算力付费有记录、有归属、可核算、可结算。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390525" y="342900"/>
            <a:ext cx="2857500" cy="247650"/>
          </a:xfrm>
          <a:prstGeom prst="rect">
            <a:avLst/>
          </a:prstGeom>
        </p:spPr>
        <p:txBody>
          <a:bodyPr lIns="0" tIns="0" rIns="0" bIns="0" anchor="ctr">
            <a:normAutofit/>
          </a:bodyPr>
          <a:lstStyle/>
          <a:p>
            <a:pPr algn="l">
              <a:defRPr sz="1200" b="1">
                <a:solidFill>
                  <a:srgbClr val="555555"/>
                </a:solidFill>
                <a:latin typeface="PingFang SC"/>
                <a:ea typeface="PingFang SC"/>
                <a:cs typeface="PingFang SC"/>
              </a:defRPr>
            </a:pPr>
            <a:r>
              <a:t>渠道模式</a:t>
            </a: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390525" y="666750"/>
            <a:ext cx="11401425" cy="7239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algn="l">
              <a:defRPr sz="2925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运营商渠道可以把教育 AI 场景转化为持续算力收入</a:t>
            </a: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390525" y="1504950"/>
            <a:ext cx="11401425" cy="14288"/>
          </a:xfrm>
          <a:prstGeom prst="rect">
            <a:avLst/>
          </a:prstGeom>
          <a:solidFill>
            <a:srgbClr val="B8BCC4"/>
          </a:solidFill>
          <a:ln w="0">
            <a:noFill/>
            <a:prstDash val="solid"/>
          </a:ln>
        </p:spPr>
      </p:sp>
      <p:sp>
        <p:nvSpPr>
          <p:cNvPr id="5" name="矩形 4"/>
          <p:cNvSpPr>
            <a:spLocks noGrp="1"/>
          </p:cNvSpPr>
          <p:nvPr/>
        </p:nvSpPr>
        <p:spPr>
          <a:xfrm>
            <a:off x="11277600" y="6276975"/>
            <a:ext cx="514350" cy="238125"/>
          </a:xfrm>
          <a:prstGeom prst="rect">
            <a:avLst/>
          </a:prstGeom>
        </p:spPr>
        <p:txBody>
          <a:bodyPr lIns="0" tIns="0" rIns="0" bIns="0" anchor="ctr">
            <a:normAutofit/>
          </a:bodyPr>
          <a:lstStyle/>
          <a:p>
            <a:pPr algn="r">
              <a:defRPr sz="11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15</a:t>
            </a: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390525" y="2190750"/>
            <a:ext cx="2667000" cy="2381250"/>
          </a:xfrm>
          <a:prstGeom prst="rect">
            <a:avLst/>
          </a:prstGeom>
          <a:solidFill>
            <a:srgbClr val="EDEDED"/>
          </a:solidFill>
          <a:ln w="0">
            <a:noFill/>
            <a:prstDash val="solid"/>
          </a:ln>
        </p:spPr>
      </p:sp>
      <p:sp>
        <p:nvSpPr>
          <p:cNvPr id="7" name="矩形 6"/>
          <p:cNvSpPr>
            <a:spLocks noGrp="1"/>
          </p:cNvSpPr>
          <p:nvPr/>
        </p:nvSpPr>
        <p:spPr>
          <a:xfrm>
            <a:off x="619125" y="2419350"/>
            <a:ext cx="2209800" cy="342900"/>
          </a:xfrm>
          <a:prstGeom prst="rect">
            <a:avLst/>
          </a:prstGeom>
        </p:spPr>
        <p:txBody>
          <a:bodyPr lIns="0" tIns="0" rIns="0" bIns="0" anchor="ctr">
            <a:normAutofit fontScale="93750"/>
          </a:bodyPr>
          <a:lstStyle/>
          <a:p>
            <a:pPr algn="l">
              <a:defRPr sz="240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通答</a:t>
            </a: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619125" y="2876550"/>
            <a:ext cx="2209800" cy="150495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algn="l">
              <a:defRPr sz="157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提供 AI 原生平台、教育场景、运营服务和解决方案。</a:t>
            </a:r>
          </a:p>
        </p:txBody>
      </p:sp>
      <p:sp>
        <p:nvSpPr>
          <p:cNvPr id="9" name="右箭头 8"/>
          <p:cNvSpPr>
            <a:spLocks noGrp="1"/>
          </p:cNvSpPr>
          <p:nvPr/>
        </p:nvSpPr>
        <p:spPr>
          <a:xfrm>
            <a:off x="3371850" y="3143250"/>
            <a:ext cx="781050" cy="400050"/>
          </a:xfrm>
          <a:prstGeom prst="rightArrow">
            <a:avLst/>
          </a:prstGeom>
          <a:solidFill>
            <a:srgbClr val="B8BCC4"/>
          </a:solidFill>
          <a:ln w="0">
            <a:noFill/>
            <a:prstDash val="solid"/>
          </a:ln>
        </p:spPr>
      </p:sp>
      <p:sp>
        <p:nvSpPr>
          <p:cNvPr id="10" name="矩形 9"/>
          <p:cNvSpPr>
            <a:spLocks noGrp="1"/>
          </p:cNvSpPr>
          <p:nvPr/>
        </p:nvSpPr>
        <p:spPr>
          <a:xfrm>
            <a:off x="4476750" y="2190750"/>
            <a:ext cx="2667000" cy="2381250"/>
          </a:xfrm>
          <a:prstGeom prst="rect">
            <a:avLst/>
          </a:prstGeom>
          <a:solidFill>
            <a:srgbClr val="000000"/>
          </a:solidFill>
          <a:ln w="0">
            <a:noFill/>
            <a:prstDash val="solid"/>
          </a:ln>
        </p:spPr>
      </p:sp>
      <p:sp>
        <p:nvSpPr>
          <p:cNvPr id="11" name="矩形 10"/>
          <p:cNvSpPr>
            <a:spLocks noGrp="1"/>
          </p:cNvSpPr>
          <p:nvPr/>
        </p:nvSpPr>
        <p:spPr>
          <a:xfrm>
            <a:off x="4705350" y="2419350"/>
            <a:ext cx="2209800" cy="342900"/>
          </a:xfrm>
          <a:prstGeom prst="rect">
            <a:avLst/>
          </a:prstGeom>
        </p:spPr>
        <p:txBody>
          <a:bodyPr lIns="0" tIns="0" rIns="0" bIns="0" anchor="ctr">
            <a:normAutofit fontScale="93750"/>
          </a:bodyPr>
          <a:lstStyle/>
          <a:p>
            <a:pPr algn="l">
              <a:defRPr sz="24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t>运营商</a:t>
            </a: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4705350" y="2876550"/>
            <a:ext cx="2209800" cy="150495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algn="l">
              <a:defRPr sz="1575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t>提供算力、云网、宽带客户关系和区域学校覆盖。</a:t>
            </a:r>
          </a:p>
        </p:txBody>
      </p:sp>
      <p:sp>
        <p:nvSpPr>
          <p:cNvPr id="13" name="右箭头 12"/>
          <p:cNvSpPr>
            <a:spLocks noGrp="1"/>
          </p:cNvSpPr>
          <p:nvPr/>
        </p:nvSpPr>
        <p:spPr>
          <a:xfrm>
            <a:off x="7467600" y="3143250"/>
            <a:ext cx="781050" cy="400050"/>
          </a:xfrm>
          <a:prstGeom prst="rightArrow">
            <a:avLst/>
          </a:prstGeom>
          <a:solidFill>
            <a:srgbClr val="B8BCC4"/>
          </a:solidFill>
          <a:ln w="0">
            <a:noFill/>
            <a:prstDash val="solid"/>
          </a:ln>
        </p:spPr>
      </p:sp>
      <p:sp>
        <p:nvSpPr>
          <p:cNvPr id="14" name="矩形 13"/>
          <p:cNvSpPr>
            <a:spLocks noGrp="1"/>
          </p:cNvSpPr>
          <p:nvPr/>
        </p:nvSpPr>
        <p:spPr>
          <a:xfrm>
            <a:off x="8572500" y="2190750"/>
            <a:ext cx="2667000" cy="2381250"/>
          </a:xfrm>
          <a:prstGeom prst="rect">
            <a:avLst/>
          </a:prstGeom>
          <a:solidFill>
            <a:srgbClr val="EDEDED"/>
          </a:solidFill>
          <a:ln w="0">
            <a:noFill/>
            <a:prstDash val="solid"/>
          </a:ln>
        </p:spPr>
      </p:sp>
      <p:sp>
        <p:nvSpPr>
          <p:cNvPr id="15" name="矩形 14"/>
          <p:cNvSpPr>
            <a:spLocks noGrp="1"/>
          </p:cNvSpPr>
          <p:nvPr/>
        </p:nvSpPr>
        <p:spPr>
          <a:xfrm>
            <a:off x="8801100" y="2419350"/>
            <a:ext cx="2209800" cy="342900"/>
          </a:xfrm>
          <a:prstGeom prst="rect">
            <a:avLst/>
          </a:prstGeom>
        </p:spPr>
        <p:txBody>
          <a:bodyPr lIns="0" tIns="0" rIns="0" bIns="0" anchor="ctr">
            <a:normAutofit fontScale="93750"/>
          </a:bodyPr>
          <a:lstStyle/>
          <a:p>
            <a:pPr algn="l">
              <a:defRPr sz="240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区域学校</a:t>
            </a: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8801100" y="2876550"/>
            <a:ext cx="2209800" cy="150495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algn="l">
              <a:defRPr sz="157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把 AI 算力作为宽带和教育信息化服务的补充，采购路径更容易操作。</a:t>
            </a:r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390525" y="5114925"/>
            <a:ext cx="1257300" cy="28575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algn="l">
              <a:defRPr sz="1650" b="1">
                <a:solidFill>
                  <a:srgbClr val="555555"/>
                </a:solidFill>
                <a:latin typeface="PingFang SC"/>
                <a:ea typeface="PingFang SC"/>
                <a:cs typeface="PingFang SC"/>
              </a:defRPr>
            </a:pPr>
            <a:r>
              <a:t>合作逻辑</a:t>
            </a:r>
          </a:p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1733550" y="5076825"/>
            <a:ext cx="7886700" cy="400050"/>
          </a:xfrm>
          <a:prstGeom prst="rect">
            <a:avLst/>
          </a:prstGeom>
        </p:spPr>
        <p:txBody>
          <a:bodyPr lIns="0" tIns="0" rIns="0" bIns="0" anchor="t">
            <a:normAutofit fontScale="83182"/>
          </a:bodyPr>
          <a:lstStyle/>
          <a:p>
            <a:pPr algn="l">
              <a:defRPr sz="1875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通答向运营商收取平台费和服务费；运营商利用渠道优势向最终学校用户收取算力费用。</a:t>
            </a:r>
          </a:p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9544050" y="5105400"/>
            <a:ext cx="2247900" cy="323850"/>
          </a:xfrm>
          <a:prstGeom prst="rect">
            <a:avLst/>
          </a:prstGeom>
        </p:spPr>
        <p:txBody>
          <a:bodyPr lIns="0" tIns="0" rIns="0" bIns="0" anchor="t">
            <a:normAutofit fontScale="85630"/>
          </a:bodyPr>
          <a:lstStyle/>
          <a:p>
            <a:pPr algn="r">
              <a:defRPr sz="1350" b="0">
                <a:solidFill>
                  <a:srgbClr val="555555"/>
                </a:solidFill>
                <a:latin typeface="PingFang SC"/>
                <a:ea typeface="PingFang SC"/>
                <a:cs typeface="PingFang SC"/>
              </a:defRPr>
            </a:pPr>
            <a:r>
              <a:t>适用于福州电信等区域合作试点。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390525" y="342900"/>
            <a:ext cx="2857500" cy="247650"/>
          </a:xfrm>
          <a:prstGeom prst="rect">
            <a:avLst/>
          </a:prstGeom>
        </p:spPr>
        <p:txBody>
          <a:bodyPr lIns="0" tIns="0" rIns="0" bIns="0" anchor="ctr">
            <a:normAutofit/>
          </a:bodyPr>
          <a:lstStyle/>
          <a:p>
            <a:pPr algn="l">
              <a:defRPr sz="1200" b="1">
                <a:solidFill>
                  <a:srgbClr val="555555"/>
                </a:solidFill>
                <a:latin typeface="PingFang SC"/>
                <a:ea typeface="PingFang SC"/>
                <a:cs typeface="PingFang SC"/>
              </a:defRPr>
            </a:pPr>
            <a:r>
              <a:t>章节目录</a:t>
            </a: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390525" y="666750"/>
            <a:ext cx="11401425" cy="7239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algn="l">
              <a:defRPr sz="330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章节目录：04 标杆案例与场景深化</a:t>
            </a: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390525" y="1504950"/>
            <a:ext cx="11401425" cy="14288"/>
          </a:xfrm>
          <a:prstGeom prst="rect">
            <a:avLst/>
          </a:prstGeom>
          <a:solidFill>
            <a:srgbClr val="B8BCC4"/>
          </a:solidFill>
          <a:ln w="0">
            <a:noFill/>
            <a:prstDash val="solid"/>
          </a:ln>
        </p:spPr>
      </p:sp>
      <p:sp>
        <p:nvSpPr>
          <p:cNvPr id="5" name="矩形 4"/>
          <p:cNvSpPr>
            <a:spLocks noGrp="1"/>
          </p:cNvSpPr>
          <p:nvPr/>
        </p:nvSpPr>
        <p:spPr>
          <a:xfrm>
            <a:off x="11277600" y="6276975"/>
            <a:ext cx="514350" cy="238125"/>
          </a:xfrm>
          <a:prstGeom prst="rect">
            <a:avLst/>
          </a:prstGeom>
        </p:spPr>
        <p:txBody>
          <a:bodyPr lIns="0" tIns="0" rIns="0" bIns="0" anchor="ctr">
            <a:normAutofit/>
          </a:bodyPr>
          <a:lstStyle/>
          <a:p>
            <a:pPr algn="r">
              <a:defRPr sz="11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16</a:t>
            </a: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390525" y="1676400"/>
            <a:ext cx="1524000" cy="28575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algn="l">
              <a:defRPr sz="1800" b="1">
                <a:solidFill>
                  <a:srgbClr val="555555"/>
                </a:solidFill>
                <a:latin typeface="PingFang SC"/>
                <a:ea typeface="PingFang SC"/>
                <a:cs typeface="PingFang SC"/>
              </a:defRPr>
            </a:pPr>
            <a:r>
              <a:t>当前位置</a:t>
            </a: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781050" y="1981200"/>
            <a:ext cx="10620375" cy="552450"/>
          </a:xfrm>
          <a:prstGeom prst="rect">
            <a:avLst/>
          </a:prstGeom>
          <a:solidFill>
            <a:srgbClr val="F6F6F6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8" name="矩形 7"/>
          <p:cNvSpPr>
            <a:spLocks noGrp="1"/>
          </p:cNvSpPr>
          <p:nvPr/>
        </p:nvSpPr>
        <p:spPr>
          <a:xfrm>
            <a:off x="1066800" y="2105025"/>
            <a:ext cx="666750" cy="285750"/>
          </a:xfrm>
          <a:prstGeom prst="rect">
            <a:avLst/>
          </a:prstGeom>
        </p:spPr>
        <p:txBody>
          <a:bodyPr lIns="0" tIns="0" rIns="0" bIns="0" anchor="ctr">
            <a:normAutofit fontScale="96154"/>
          </a:bodyPr>
          <a:lstStyle/>
          <a:p>
            <a:pPr algn="ctr">
              <a:defRPr sz="1950" b="1">
                <a:solidFill>
                  <a:srgbClr val="555555"/>
                </a:solidFill>
                <a:latin typeface="PingFang SC"/>
                <a:ea typeface="PingFang SC"/>
                <a:cs typeface="PingFang SC"/>
              </a:defRPr>
            </a:pPr>
            <a:r>
              <a:t>01</a:t>
            </a: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2019300" y="2105025"/>
            <a:ext cx="2857500" cy="285750"/>
          </a:xfrm>
          <a:prstGeom prst="rect">
            <a:avLst/>
          </a:prstGeom>
        </p:spPr>
        <p:txBody>
          <a:bodyPr lIns="0" tIns="0" rIns="0" bIns="0" anchor="ctr">
            <a:normAutofit/>
          </a:bodyPr>
          <a:lstStyle/>
          <a:p>
            <a:pPr algn="l">
              <a:defRPr sz="1875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平台定位与价值</a:t>
            </a: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5143500" y="2124075"/>
            <a:ext cx="5810250" cy="266700"/>
          </a:xfrm>
          <a:prstGeom prst="rect">
            <a:avLst/>
          </a:prstGeom>
        </p:spPr>
        <p:txBody>
          <a:bodyPr lIns="0" tIns="0" rIns="0" bIns="0" anchor="ctr">
            <a:normAutofit/>
          </a:bodyPr>
          <a:lstStyle/>
          <a:p>
            <a:pPr algn="l">
              <a:defRPr sz="1350" b="0">
                <a:solidFill>
                  <a:srgbClr val="555555"/>
                </a:solidFill>
                <a:latin typeface="PingFang SC"/>
                <a:ea typeface="PingFang SC"/>
                <a:cs typeface="PingFang SC"/>
              </a:defRPr>
            </a:pPr>
            <a:r>
              <a:t>说明通答为什么是 AI 原生业务底座，以及平台建设初衷和核心价值。</a:t>
            </a: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781050" y="2705100"/>
            <a:ext cx="10620375" cy="552450"/>
          </a:xfrm>
          <a:prstGeom prst="rect">
            <a:avLst/>
          </a:prstGeom>
          <a:solidFill>
            <a:srgbClr val="F6F6F6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12" name="矩形 11"/>
          <p:cNvSpPr>
            <a:spLocks noGrp="1"/>
          </p:cNvSpPr>
          <p:nvPr/>
        </p:nvSpPr>
        <p:spPr>
          <a:xfrm>
            <a:off x="1066800" y="2828925"/>
            <a:ext cx="666750" cy="285750"/>
          </a:xfrm>
          <a:prstGeom prst="rect">
            <a:avLst/>
          </a:prstGeom>
        </p:spPr>
        <p:txBody>
          <a:bodyPr lIns="0" tIns="0" rIns="0" bIns="0" anchor="ctr">
            <a:normAutofit fontScale="96154"/>
          </a:bodyPr>
          <a:lstStyle/>
          <a:p>
            <a:pPr algn="ctr">
              <a:defRPr sz="1950" b="1">
                <a:solidFill>
                  <a:srgbClr val="555555"/>
                </a:solidFill>
                <a:latin typeface="PingFang SC"/>
                <a:ea typeface="PingFang SC"/>
                <a:cs typeface="PingFang SC"/>
              </a:defRPr>
            </a:pPr>
            <a:r>
              <a:t>02</a:t>
            </a: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2019300" y="2828925"/>
            <a:ext cx="2857500" cy="285750"/>
          </a:xfrm>
          <a:prstGeom prst="rect">
            <a:avLst/>
          </a:prstGeom>
        </p:spPr>
        <p:txBody>
          <a:bodyPr lIns="0" tIns="0" rIns="0" bIns="0" anchor="ctr">
            <a:normAutofit/>
          </a:bodyPr>
          <a:lstStyle/>
          <a:p>
            <a:pPr algn="l">
              <a:defRPr sz="1875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架构与交付体系</a:t>
            </a: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5143500" y="2847975"/>
            <a:ext cx="5810250" cy="266700"/>
          </a:xfrm>
          <a:prstGeom prst="rect">
            <a:avLst/>
          </a:prstGeom>
        </p:spPr>
        <p:txBody>
          <a:bodyPr lIns="0" tIns="0" rIns="0" bIns="0" anchor="ctr">
            <a:normAutofit/>
          </a:bodyPr>
          <a:lstStyle/>
          <a:p>
            <a:pPr algn="l">
              <a:defRPr sz="1350" b="0">
                <a:solidFill>
                  <a:srgbClr val="555555"/>
                </a:solidFill>
                <a:latin typeface="PingFang SC"/>
                <a:ea typeface="PingFang SC"/>
                <a:cs typeface="PingFang SC"/>
              </a:defRPr>
            </a:pPr>
            <a:r>
              <a:t>展开 Lucky、资料库、空间、场景模板，以及组合交付、套餐和租户。</a:t>
            </a: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781050" y="3429000"/>
            <a:ext cx="10620375" cy="552450"/>
          </a:xfrm>
          <a:prstGeom prst="rect">
            <a:avLst/>
          </a:prstGeom>
          <a:solidFill>
            <a:srgbClr val="F6F6F6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16" name="矩形 15"/>
          <p:cNvSpPr>
            <a:spLocks noGrp="1"/>
          </p:cNvSpPr>
          <p:nvPr/>
        </p:nvSpPr>
        <p:spPr>
          <a:xfrm>
            <a:off x="1066800" y="3552825"/>
            <a:ext cx="666750" cy="285750"/>
          </a:xfrm>
          <a:prstGeom prst="rect">
            <a:avLst/>
          </a:prstGeom>
        </p:spPr>
        <p:txBody>
          <a:bodyPr lIns="0" tIns="0" rIns="0" bIns="0" anchor="ctr">
            <a:normAutofit fontScale="96154"/>
          </a:bodyPr>
          <a:lstStyle/>
          <a:p>
            <a:pPr algn="ctr">
              <a:defRPr sz="1950" b="1">
                <a:solidFill>
                  <a:srgbClr val="555555"/>
                </a:solidFill>
                <a:latin typeface="PingFang SC"/>
                <a:ea typeface="PingFang SC"/>
                <a:cs typeface="PingFang SC"/>
              </a:defRPr>
            </a:pPr>
            <a:r>
              <a:t>03</a:t>
            </a:r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2019300" y="3552825"/>
            <a:ext cx="2857500" cy="285750"/>
          </a:xfrm>
          <a:prstGeom prst="rect">
            <a:avLst/>
          </a:prstGeom>
        </p:spPr>
        <p:txBody>
          <a:bodyPr lIns="0" tIns="0" rIns="0" bIns="0" anchor="ctr">
            <a:normAutofit/>
          </a:bodyPr>
          <a:lstStyle/>
          <a:p>
            <a:pPr algn="l">
              <a:defRPr sz="1875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商业模式与渠道</a:t>
            </a:r>
          </a:p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5143500" y="3571875"/>
            <a:ext cx="5810250" cy="266700"/>
          </a:xfrm>
          <a:prstGeom prst="rect">
            <a:avLst/>
          </a:prstGeom>
        </p:spPr>
        <p:txBody>
          <a:bodyPr lIns="0" tIns="0" rIns="0" bIns="0" anchor="ctr">
            <a:normAutofit/>
          </a:bodyPr>
          <a:lstStyle/>
          <a:p>
            <a:pPr algn="l">
              <a:defRPr sz="1350" b="0">
                <a:solidFill>
                  <a:srgbClr val="555555"/>
                </a:solidFill>
                <a:latin typeface="PingFang SC"/>
                <a:ea typeface="PingFang SC"/>
                <a:cs typeface="PingFang SC"/>
              </a:defRPr>
            </a:pPr>
            <a:r>
              <a:t>说明平台、服务、资源、Token 算力和运营商渠道如何形成收入变量。</a:t>
            </a:r>
          </a:p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781050" y="4152900"/>
            <a:ext cx="10620375" cy="552450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20" name="矩形 19"/>
          <p:cNvSpPr>
            <a:spLocks noGrp="1"/>
          </p:cNvSpPr>
          <p:nvPr/>
        </p:nvSpPr>
        <p:spPr>
          <a:xfrm>
            <a:off x="1066800" y="4276725"/>
            <a:ext cx="666750" cy="285750"/>
          </a:xfrm>
          <a:prstGeom prst="rect">
            <a:avLst/>
          </a:prstGeom>
        </p:spPr>
        <p:txBody>
          <a:bodyPr lIns="0" tIns="0" rIns="0" bIns="0" anchor="ctr">
            <a:normAutofit fontScale="96154"/>
          </a:bodyPr>
          <a:lstStyle/>
          <a:p>
            <a:pPr algn="ctr">
              <a:defRPr sz="1950" b="1">
                <a:solidFill>
                  <a:srgbClr val="FF6B35"/>
                </a:solidFill>
                <a:latin typeface="PingFang SC"/>
                <a:ea typeface="PingFang SC"/>
                <a:cs typeface="PingFang SC"/>
              </a:defRPr>
            </a:pPr>
            <a:r>
              <a:t>04</a:t>
            </a:r>
          </a:p>
        </p:txBody>
      </p:sp>
      <p:sp>
        <p:nvSpPr>
          <p:cNvPr id="21" name="矩形 20"/>
          <p:cNvSpPr>
            <a:spLocks noGrp="1"/>
          </p:cNvSpPr>
          <p:nvPr/>
        </p:nvSpPr>
        <p:spPr>
          <a:xfrm>
            <a:off x="2019300" y="4276725"/>
            <a:ext cx="2857500" cy="285750"/>
          </a:xfrm>
          <a:prstGeom prst="rect">
            <a:avLst/>
          </a:prstGeom>
        </p:spPr>
        <p:txBody>
          <a:bodyPr lIns="0" tIns="0" rIns="0" bIns="0" anchor="ctr">
            <a:normAutofit/>
          </a:bodyPr>
          <a:lstStyle/>
          <a:p>
            <a:pPr algn="l">
              <a:defRPr sz="18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t>标杆案例与场景深化</a:t>
            </a:r>
          </a:p>
        </p:txBody>
      </p:sp>
      <p:sp>
        <p:nvSpPr>
          <p:cNvPr id="22" name="矩形 21"/>
          <p:cNvSpPr>
            <a:spLocks noGrp="1"/>
          </p:cNvSpPr>
          <p:nvPr/>
        </p:nvSpPr>
        <p:spPr>
          <a:xfrm>
            <a:off x="5143500" y="4295775"/>
            <a:ext cx="5810250" cy="266700"/>
          </a:xfrm>
          <a:prstGeom prst="rect">
            <a:avLst/>
          </a:prstGeom>
        </p:spPr>
        <p:txBody>
          <a:bodyPr lIns="0" tIns="0" rIns="0" bIns="0" anchor="ctr">
            <a:normAutofit/>
          </a:bodyPr>
          <a:lstStyle/>
          <a:p>
            <a:pPr algn="l">
              <a:defRPr sz="135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t>用宁波大学科学技术学院工作坊验证交付，并明确两大场景完善方向。</a:t>
            </a:r>
          </a:p>
        </p:txBody>
      </p:sp>
      <p:sp>
        <p:nvSpPr>
          <p:cNvPr id="23" name="矩形 22"/>
          <p:cNvSpPr>
            <a:spLocks noGrp="1"/>
          </p:cNvSpPr>
          <p:nvPr/>
        </p:nvSpPr>
        <p:spPr>
          <a:xfrm>
            <a:off x="781050" y="4876800"/>
            <a:ext cx="10620375" cy="552450"/>
          </a:xfrm>
          <a:prstGeom prst="rect">
            <a:avLst/>
          </a:prstGeom>
          <a:solidFill>
            <a:srgbClr val="F6F6F6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24" name="矩形 23"/>
          <p:cNvSpPr>
            <a:spLocks noGrp="1"/>
          </p:cNvSpPr>
          <p:nvPr/>
        </p:nvSpPr>
        <p:spPr>
          <a:xfrm>
            <a:off x="1066800" y="5000625"/>
            <a:ext cx="666750" cy="285750"/>
          </a:xfrm>
          <a:prstGeom prst="rect">
            <a:avLst/>
          </a:prstGeom>
        </p:spPr>
        <p:txBody>
          <a:bodyPr lIns="0" tIns="0" rIns="0" bIns="0" anchor="ctr">
            <a:normAutofit fontScale="96154"/>
          </a:bodyPr>
          <a:lstStyle/>
          <a:p>
            <a:pPr algn="ctr">
              <a:defRPr sz="1950" b="1">
                <a:solidFill>
                  <a:srgbClr val="555555"/>
                </a:solidFill>
                <a:latin typeface="PingFang SC"/>
                <a:ea typeface="PingFang SC"/>
                <a:cs typeface="PingFang SC"/>
              </a:defRPr>
            </a:pPr>
            <a:r>
              <a:t>05</a:t>
            </a:r>
          </a:p>
        </p:txBody>
      </p:sp>
      <p:sp>
        <p:nvSpPr>
          <p:cNvPr id="25" name="矩形 24"/>
          <p:cNvSpPr>
            <a:spLocks noGrp="1"/>
          </p:cNvSpPr>
          <p:nvPr/>
        </p:nvSpPr>
        <p:spPr>
          <a:xfrm>
            <a:off x="2019300" y="5000625"/>
            <a:ext cx="2857500" cy="285750"/>
          </a:xfrm>
          <a:prstGeom prst="rect">
            <a:avLst/>
          </a:prstGeom>
        </p:spPr>
        <p:txBody>
          <a:bodyPr lIns="0" tIns="0" rIns="0" bIns="0" anchor="ctr">
            <a:normAutofit/>
          </a:bodyPr>
          <a:lstStyle/>
          <a:p>
            <a:pPr algn="l">
              <a:defRPr sz="1875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生态、愿景与开发模式</a:t>
            </a:r>
          </a:p>
        </p:txBody>
      </p:sp>
      <p:sp>
        <p:nvSpPr>
          <p:cNvPr id="26" name="矩形 25"/>
          <p:cNvSpPr>
            <a:spLocks noGrp="1"/>
          </p:cNvSpPr>
          <p:nvPr/>
        </p:nvSpPr>
        <p:spPr>
          <a:xfrm>
            <a:off x="5143500" y="5019675"/>
            <a:ext cx="5810250" cy="266700"/>
          </a:xfrm>
          <a:prstGeom prst="rect">
            <a:avLst/>
          </a:prstGeom>
        </p:spPr>
        <p:txBody>
          <a:bodyPr lIns="0" tIns="0" rIns="0" bIns="0" anchor="ctr">
            <a:normAutofit/>
          </a:bodyPr>
          <a:lstStyle/>
          <a:p>
            <a:pPr algn="l">
              <a:defRPr sz="1350" b="0">
                <a:solidFill>
                  <a:srgbClr val="555555"/>
                </a:solidFill>
                <a:latin typeface="PingFang SC"/>
                <a:ea typeface="PingFang SC"/>
                <a:cs typeface="PingFang SC"/>
              </a:defRPr>
            </a:pPr>
            <a:r>
              <a:t>收束研习社、平台闭环、教师全场景愿景和 AI 驱动开发模式创新。</a:t>
            </a:r>
          </a:p>
        </p:txBody>
      </p:sp>
      <p:sp>
        <p:nvSpPr>
          <p:cNvPr id="27" name="矩形 26"/>
          <p:cNvSpPr>
            <a:spLocks noGrp="1"/>
          </p:cNvSpPr>
          <p:nvPr/>
        </p:nvSpPr>
        <p:spPr>
          <a:xfrm>
            <a:off x="781050" y="5810250"/>
            <a:ext cx="10620375" cy="419100"/>
          </a:xfrm>
          <a:prstGeom prst="rect">
            <a:avLst/>
          </a:prstGeom>
          <a:solidFill>
            <a:srgbClr val="F6F6F6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28" name="矩形 27"/>
          <p:cNvSpPr>
            <a:spLocks noGrp="1"/>
          </p:cNvSpPr>
          <p:nvPr/>
        </p:nvSpPr>
        <p:spPr>
          <a:xfrm>
            <a:off x="1066800" y="5905500"/>
            <a:ext cx="10048875" cy="228600"/>
          </a:xfrm>
          <a:prstGeom prst="rect">
            <a:avLst/>
          </a:prstGeom>
        </p:spPr>
        <p:txBody>
          <a:bodyPr lIns="0" tIns="0" rIns="0" bIns="0" anchor="ctr">
            <a:normAutofit/>
          </a:bodyPr>
          <a:lstStyle/>
          <a:p>
            <a:pPr algn="ctr">
              <a:defRPr sz="150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本节重点：用真实培训案例说明平台可落地，再沉淀为通识教学和培训实训两类标准场景。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390525" y="342900"/>
            <a:ext cx="2857500" cy="247650"/>
          </a:xfrm>
          <a:prstGeom prst="rect">
            <a:avLst/>
          </a:prstGeom>
        </p:spPr>
        <p:txBody>
          <a:bodyPr lIns="0" tIns="0" rIns="0" bIns="0" anchor="ctr">
            <a:normAutofit/>
          </a:bodyPr>
          <a:lstStyle/>
          <a:p>
            <a:pPr algn="l">
              <a:defRPr sz="1200" b="1">
                <a:solidFill>
                  <a:srgbClr val="555555"/>
                </a:solidFill>
                <a:latin typeface="PingFang SC"/>
                <a:ea typeface="PingFang SC"/>
                <a:cs typeface="PingFang SC"/>
              </a:defRPr>
            </a:pPr>
            <a:r>
              <a:t>标杆案例</a:t>
            </a: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390525" y="666750"/>
            <a:ext cx="11401425" cy="7239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algn="l">
              <a:defRPr sz="2775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宁波大学科学技术学院工作坊验证了平台的实训交付能力</a:t>
            </a: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390525" y="1504950"/>
            <a:ext cx="11401425" cy="14288"/>
          </a:xfrm>
          <a:prstGeom prst="rect">
            <a:avLst/>
          </a:prstGeom>
          <a:solidFill>
            <a:srgbClr val="B8BCC4"/>
          </a:solidFill>
          <a:ln w="0">
            <a:noFill/>
            <a:prstDash val="solid"/>
          </a:ln>
        </p:spPr>
      </p:sp>
      <p:sp>
        <p:nvSpPr>
          <p:cNvPr id="5" name="矩形 4"/>
          <p:cNvSpPr>
            <a:spLocks noGrp="1"/>
          </p:cNvSpPr>
          <p:nvPr/>
        </p:nvSpPr>
        <p:spPr>
          <a:xfrm>
            <a:off x="11277600" y="6276975"/>
            <a:ext cx="514350" cy="238125"/>
          </a:xfrm>
          <a:prstGeom prst="rect">
            <a:avLst/>
          </a:prstGeom>
        </p:spPr>
        <p:txBody>
          <a:bodyPr lIns="0" tIns="0" rIns="0" bIns="0" anchor="ctr">
            <a:normAutofit/>
          </a:bodyPr>
          <a:lstStyle/>
          <a:p>
            <a:pPr algn="r">
              <a:defRPr sz="11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17</a:t>
            </a: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390525" y="1962150"/>
            <a:ext cx="4953000" cy="4191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algn="l">
              <a:defRPr sz="2325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AI 赋能中层干部管理工作坊</a:t>
            </a: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390525" y="2571750"/>
            <a:ext cx="4953000" cy="112395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algn="l">
              <a:defRPr sz="180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基于通答空间实训模式、Lucky 智能体平台和资料库，对学院中层干部开展 AI 能力培训。通答平台既是本次实训授课平台载体，也是实训内容平台。</a:t>
            </a: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390525" y="4000500"/>
            <a:ext cx="4953000" cy="8763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algn="l">
              <a:defRPr sz="1650" b="0">
                <a:solidFill>
                  <a:srgbClr val="555555"/>
                </a:solidFill>
                <a:latin typeface="PingFang SC"/>
                <a:ea typeface="PingFang SC"/>
                <a:cs typeface="PingFang SC"/>
              </a:defRPr>
            </a:pPr>
            <a:r>
              <a:t>实训课件由 Lucky 辅助生成，学员操作在通答平台内完成，形成内容生成、平台授课、现场实操、反馈沉淀的闭环。</a:t>
            </a: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6191250" y="2038350"/>
            <a:ext cx="5143500" cy="781050"/>
          </a:xfrm>
          <a:prstGeom prst="rect">
            <a:avLst/>
          </a:prstGeom>
          <a:solidFill>
            <a:srgbClr val="000000"/>
          </a:solidFill>
          <a:ln w="0">
            <a:noFill/>
            <a:prstDash val="solid"/>
          </a:ln>
        </p:spPr>
      </p:sp>
      <p:sp>
        <p:nvSpPr>
          <p:cNvPr id="10" name="矩形 9"/>
          <p:cNvSpPr>
            <a:spLocks noGrp="1"/>
          </p:cNvSpPr>
          <p:nvPr/>
        </p:nvSpPr>
        <p:spPr>
          <a:xfrm>
            <a:off x="6477000" y="2238375"/>
            <a:ext cx="1428750" cy="323850"/>
          </a:xfrm>
          <a:prstGeom prst="rect">
            <a:avLst/>
          </a:prstGeom>
        </p:spPr>
        <p:txBody>
          <a:bodyPr lIns="0" tIns="0" rIns="0" bIns="0" anchor="ctr">
            <a:normAutofit/>
          </a:bodyPr>
          <a:lstStyle/>
          <a:p>
            <a:pPr algn="l">
              <a:defRPr sz="18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t>交付组合</a:t>
            </a: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7905750" y="2238375"/>
            <a:ext cx="3105150" cy="323850"/>
          </a:xfrm>
          <a:prstGeom prst="rect">
            <a:avLst/>
          </a:prstGeom>
        </p:spPr>
        <p:txBody>
          <a:bodyPr lIns="0" tIns="0" rIns="0" bIns="0" anchor="ctr">
            <a:normAutofit fontScale="66834"/>
          </a:bodyPr>
          <a:lstStyle/>
          <a:p>
            <a:pPr algn="l">
              <a:defRPr sz="165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t>空间（实训模式） + Lucky 智能体平台 + 资料库</a:t>
            </a: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6191250" y="3200400"/>
            <a:ext cx="2400300" cy="1409700"/>
          </a:xfrm>
          <a:prstGeom prst="rect">
            <a:avLst/>
          </a:prstGeom>
          <a:solidFill>
            <a:srgbClr val="EDEDED"/>
          </a:solidFill>
          <a:ln w="0">
            <a:noFill/>
            <a:prstDash val="solid"/>
          </a:ln>
        </p:spPr>
      </p:sp>
      <p:sp>
        <p:nvSpPr>
          <p:cNvPr id="13" name="矩形 12"/>
          <p:cNvSpPr>
            <a:spLocks noGrp="1"/>
          </p:cNvSpPr>
          <p:nvPr/>
        </p:nvSpPr>
        <p:spPr>
          <a:xfrm>
            <a:off x="6419850" y="3429000"/>
            <a:ext cx="1943100" cy="342900"/>
          </a:xfrm>
          <a:prstGeom prst="rect">
            <a:avLst/>
          </a:prstGeom>
        </p:spPr>
        <p:txBody>
          <a:bodyPr lIns="0" tIns="0" rIns="0" bIns="0" anchor="ctr">
            <a:normAutofit/>
          </a:bodyPr>
          <a:lstStyle/>
          <a:p>
            <a:pPr algn="l">
              <a:defRPr sz="1875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平台载体</a:t>
            </a: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6419850" y="3886200"/>
            <a:ext cx="1943100" cy="533400"/>
          </a:xfrm>
          <a:prstGeom prst="rect">
            <a:avLst/>
          </a:prstGeom>
        </p:spPr>
        <p:txBody>
          <a:bodyPr lIns="0" tIns="0" rIns="0" bIns="0" anchor="t">
            <a:normAutofit fontScale="92542"/>
          </a:bodyPr>
          <a:lstStyle/>
          <a:p>
            <a:pPr algn="l">
              <a:defRPr sz="135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培训组织、实训流程和现场操作统一在空间中开展。</a:t>
            </a: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8934450" y="3200400"/>
            <a:ext cx="2400300" cy="1409700"/>
          </a:xfrm>
          <a:prstGeom prst="rect">
            <a:avLst/>
          </a:prstGeom>
          <a:solidFill>
            <a:srgbClr val="EDEDED"/>
          </a:solidFill>
          <a:ln w="0">
            <a:noFill/>
            <a:prstDash val="solid"/>
          </a:ln>
        </p:spPr>
      </p:sp>
      <p:sp>
        <p:nvSpPr>
          <p:cNvPr id="16" name="矩形 15"/>
          <p:cNvSpPr>
            <a:spLocks noGrp="1"/>
          </p:cNvSpPr>
          <p:nvPr/>
        </p:nvSpPr>
        <p:spPr>
          <a:xfrm>
            <a:off x="9163050" y="3429000"/>
            <a:ext cx="1943100" cy="342900"/>
          </a:xfrm>
          <a:prstGeom prst="rect">
            <a:avLst/>
          </a:prstGeom>
        </p:spPr>
        <p:txBody>
          <a:bodyPr lIns="0" tIns="0" rIns="0" bIns="0" anchor="ctr">
            <a:normAutofit/>
          </a:bodyPr>
          <a:lstStyle/>
          <a:p>
            <a:pPr algn="l">
              <a:defRPr sz="1875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内容平台</a:t>
            </a:r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9163050" y="3886200"/>
            <a:ext cx="1943100" cy="5334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algn="l">
              <a:defRPr sz="135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课件、任务材料和实训内容由 Lucky 辅助生成。</a:t>
            </a:r>
          </a:p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6191250" y="4972050"/>
            <a:ext cx="5143500" cy="723900"/>
          </a:xfrm>
          <a:prstGeom prst="rect">
            <a:avLst/>
          </a:prstGeom>
          <a:solidFill>
            <a:srgbClr val="F6F6F6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19" name="矩形 18"/>
          <p:cNvSpPr>
            <a:spLocks noGrp="1"/>
          </p:cNvSpPr>
          <p:nvPr/>
        </p:nvSpPr>
        <p:spPr>
          <a:xfrm>
            <a:off x="6477000" y="5153025"/>
            <a:ext cx="4572000" cy="361950"/>
          </a:xfrm>
          <a:prstGeom prst="rect">
            <a:avLst/>
          </a:prstGeom>
        </p:spPr>
        <p:txBody>
          <a:bodyPr lIns="0" tIns="0" rIns="0" bIns="0" anchor="ctr">
            <a:normAutofit fontScale="68841"/>
          </a:bodyPr>
          <a:lstStyle/>
          <a:p>
            <a:pPr algn="l">
              <a:defRPr sz="1725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市场和学员反馈较好，可作为高校干部 AI 培训和管理能力提升场景的标杆案例。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390525" y="342900"/>
            <a:ext cx="2857500" cy="247650"/>
          </a:xfrm>
          <a:prstGeom prst="rect">
            <a:avLst/>
          </a:prstGeom>
        </p:spPr>
        <p:txBody>
          <a:bodyPr lIns="0" tIns="0" rIns="0" bIns="0" anchor="ctr">
            <a:normAutofit/>
          </a:bodyPr>
          <a:lstStyle/>
          <a:p>
            <a:pPr algn="l">
              <a:defRPr sz="1200" b="1">
                <a:solidFill>
                  <a:srgbClr val="555555"/>
                </a:solidFill>
                <a:latin typeface="PingFang SC"/>
                <a:ea typeface="PingFang SC"/>
                <a:cs typeface="PingFang SC"/>
              </a:defRPr>
            </a:pPr>
            <a:r>
              <a:t>工作坊成果清单</a:t>
            </a: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390525" y="666750"/>
            <a:ext cx="11401425" cy="7239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algn="l">
              <a:defRPr sz="2625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学员智能体成果集中体现招生咨询、课堂构建和课件制作三类需求</a:t>
            </a: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390525" y="1504950"/>
            <a:ext cx="11401425" cy="14288"/>
          </a:xfrm>
          <a:prstGeom prst="rect">
            <a:avLst/>
          </a:prstGeom>
          <a:solidFill>
            <a:srgbClr val="B8BCC4"/>
          </a:solidFill>
          <a:ln w="0">
            <a:noFill/>
            <a:prstDash val="solid"/>
          </a:ln>
        </p:spPr>
      </p:sp>
      <p:sp>
        <p:nvSpPr>
          <p:cNvPr id="5" name="矩形 4"/>
          <p:cNvSpPr>
            <a:spLocks noGrp="1"/>
          </p:cNvSpPr>
          <p:nvPr/>
        </p:nvSpPr>
        <p:spPr>
          <a:xfrm>
            <a:off x="11277600" y="6276975"/>
            <a:ext cx="514350" cy="238125"/>
          </a:xfrm>
          <a:prstGeom prst="rect">
            <a:avLst/>
          </a:prstGeom>
        </p:spPr>
        <p:txBody>
          <a:bodyPr lIns="0" tIns="0" rIns="0" bIns="0" anchor="ctr">
            <a:normAutofit/>
          </a:bodyPr>
          <a:lstStyle/>
          <a:p>
            <a:pPr algn="r">
              <a:defRPr sz="11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18</a:t>
            </a: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390525" y="1809750"/>
            <a:ext cx="7048500" cy="32385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algn="l">
              <a:defRPr sz="1800" b="1">
                <a:solidFill>
                  <a:srgbClr val="555555"/>
                </a:solidFill>
                <a:latin typeface="PingFang SC"/>
                <a:ea typeface="PingFang SC"/>
                <a:cs typeface="PingFang SC"/>
              </a:defRPr>
            </a:pPr>
            <a:r>
              <a:t>宁波大学科学技术学院工作坊｜学员创建智能体成果</a:t>
            </a: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390525" y="2343150"/>
            <a:ext cx="3429000" cy="2381250"/>
          </a:xfrm>
          <a:prstGeom prst="rect">
            <a:avLst/>
          </a:prstGeom>
          <a:solidFill>
            <a:srgbClr val="F6F6F6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8" name="矩形 7"/>
          <p:cNvSpPr>
            <a:spLocks noGrp="1"/>
          </p:cNvSpPr>
          <p:nvPr/>
        </p:nvSpPr>
        <p:spPr>
          <a:xfrm>
            <a:off x="619125" y="2571750"/>
            <a:ext cx="2971800" cy="342900"/>
          </a:xfrm>
          <a:prstGeom prst="rect">
            <a:avLst/>
          </a:prstGeom>
        </p:spPr>
        <p:txBody>
          <a:bodyPr lIns="0" tIns="0" rIns="0" bIns="0" anchor="ctr">
            <a:normAutofit/>
          </a:bodyPr>
          <a:lstStyle/>
          <a:p>
            <a:pPr algn="l">
              <a:defRPr sz="1875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招生招考类 · 36 个</a:t>
            </a: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619125" y="3028950"/>
            <a:ext cx="2971800" cy="150495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algn="l">
              <a:defRPr sz="120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代表智能体：招生百晓生、招生指南针、招考解码器、宁大科院招生助手、招生咨询导航、招生智囊、招生百事通、科院一点通等
验证需求：咨询、导航、答疑、简章解读等高频服务</a:t>
            </a: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4381500" y="2343150"/>
            <a:ext cx="3429000" cy="2381250"/>
          </a:xfrm>
          <a:prstGeom prst="rect">
            <a:avLst/>
          </a:prstGeom>
          <a:solidFill>
            <a:srgbClr val="F6F6F6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11" name="矩形 10"/>
          <p:cNvSpPr>
            <a:spLocks noGrp="1"/>
          </p:cNvSpPr>
          <p:nvPr/>
        </p:nvSpPr>
        <p:spPr>
          <a:xfrm>
            <a:off x="4610100" y="2571750"/>
            <a:ext cx="2971800" cy="342900"/>
          </a:xfrm>
          <a:prstGeom prst="rect">
            <a:avLst/>
          </a:prstGeom>
        </p:spPr>
        <p:txBody>
          <a:bodyPr lIns="0" tIns="0" rIns="0" bIns="0" anchor="ctr">
            <a:normAutofit/>
          </a:bodyPr>
          <a:lstStyle/>
          <a:p>
            <a:pPr algn="l">
              <a:defRPr sz="1875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课堂场景构建类 · 12 个</a:t>
            </a: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4610100" y="3028950"/>
            <a:ext cx="2971800" cy="150495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algn="l">
              <a:defRPr sz="120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代表智能体：课堂场景构建师、课堂场景设计师、课堂构建师、虚拟课堂构建师、课堂创意生成器、课件互动生成器等
验证需求：课堂活动、互动设计和场景搭建</a:t>
            </a: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8372475" y="2343150"/>
            <a:ext cx="3429000" cy="2381250"/>
          </a:xfrm>
          <a:prstGeom prst="rect">
            <a:avLst/>
          </a:prstGeom>
          <a:solidFill>
            <a:srgbClr val="000000"/>
          </a:solidFill>
          <a:ln w="0">
            <a:noFill/>
            <a:prstDash val="solid"/>
          </a:ln>
        </p:spPr>
      </p:sp>
      <p:sp>
        <p:nvSpPr>
          <p:cNvPr id="14" name="矩形 13"/>
          <p:cNvSpPr>
            <a:spLocks noGrp="1"/>
          </p:cNvSpPr>
          <p:nvPr/>
        </p:nvSpPr>
        <p:spPr>
          <a:xfrm>
            <a:off x="8601075" y="2571750"/>
            <a:ext cx="2971800" cy="342900"/>
          </a:xfrm>
          <a:prstGeom prst="rect">
            <a:avLst/>
          </a:prstGeom>
        </p:spPr>
        <p:txBody>
          <a:bodyPr lIns="0" tIns="0" rIns="0" bIns="0" anchor="ctr">
            <a:normAutofit/>
          </a:bodyPr>
          <a:lstStyle/>
          <a:p>
            <a:pPr algn="l">
              <a:defRPr sz="1875" b="1">
                <a:solidFill>
                  <a:srgbClr val="FF6B35"/>
                </a:solidFill>
                <a:latin typeface="PingFang SC"/>
                <a:ea typeface="PingFang SC"/>
                <a:cs typeface="PingFang SC"/>
              </a:defRPr>
            </a:pPr>
            <a:r>
              <a:t>课件制作工坊类 · 16 个</a:t>
            </a: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8601075" y="3028950"/>
            <a:ext cx="2971800" cy="150495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t>代表智能体：课件编织者、课件创制工坊、课件魔方、课件智创师、课件生成师、课件互动工坊、课件交互设计师等
验证需求：内容生产、课件生成和交互设计</a:t>
            </a: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390525" y="5314950"/>
            <a:ext cx="11401425" cy="685800"/>
          </a:xfrm>
          <a:prstGeom prst="rect">
            <a:avLst/>
          </a:prstGeom>
          <a:solidFill>
            <a:srgbClr val="F6F6F6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17" name="矩形 16"/>
          <p:cNvSpPr>
            <a:spLocks noGrp="1"/>
          </p:cNvSpPr>
          <p:nvPr/>
        </p:nvSpPr>
        <p:spPr>
          <a:xfrm>
            <a:off x="704850" y="5495925"/>
            <a:ext cx="10763250" cy="323850"/>
          </a:xfrm>
          <a:prstGeom prst="rect">
            <a:avLst/>
          </a:prstGeom>
        </p:spPr>
        <p:txBody>
          <a:bodyPr lIns="0" tIns="0" rIns="0" bIns="0" anchor="ctr">
            <a:normAutofit/>
          </a:bodyPr>
          <a:lstStyle/>
          <a:p>
            <a:pPr algn="ctr">
              <a:defRPr sz="1575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三类成果说明：Lucky、资料库和空间可快速承载业务咨询、教学设计、课件生产和实训成果沉淀。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390525" y="342900"/>
            <a:ext cx="2857500" cy="247650"/>
          </a:xfrm>
          <a:prstGeom prst="rect">
            <a:avLst/>
          </a:prstGeom>
        </p:spPr>
        <p:txBody>
          <a:bodyPr lIns="0" tIns="0" rIns="0" bIns="0" anchor="ctr">
            <a:normAutofit/>
          </a:bodyPr>
          <a:lstStyle/>
          <a:p>
            <a:pPr algn="l">
              <a:defRPr sz="1200" b="1">
                <a:solidFill>
                  <a:srgbClr val="555555"/>
                </a:solidFill>
                <a:latin typeface="PingFang SC"/>
                <a:ea typeface="PingFang SC"/>
                <a:cs typeface="PingFang SC"/>
              </a:defRPr>
            </a:pPr>
            <a:r>
              <a:t>场景现状</a:t>
            </a: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390525" y="666750"/>
            <a:ext cx="11401425" cy="7239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algn="l">
              <a:defRPr sz="2775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当前重点完善 AI 通识教学和培训实训两大场景</a:t>
            </a: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390525" y="1504950"/>
            <a:ext cx="11401425" cy="14288"/>
          </a:xfrm>
          <a:prstGeom prst="rect">
            <a:avLst/>
          </a:prstGeom>
          <a:solidFill>
            <a:srgbClr val="B8BCC4"/>
          </a:solidFill>
          <a:ln w="0">
            <a:noFill/>
            <a:prstDash val="solid"/>
          </a:ln>
        </p:spPr>
      </p:sp>
      <p:sp>
        <p:nvSpPr>
          <p:cNvPr id="5" name="矩形 4"/>
          <p:cNvSpPr>
            <a:spLocks noGrp="1"/>
          </p:cNvSpPr>
          <p:nvPr/>
        </p:nvSpPr>
        <p:spPr>
          <a:xfrm>
            <a:off x="11277600" y="6276975"/>
            <a:ext cx="514350" cy="238125"/>
          </a:xfrm>
          <a:prstGeom prst="rect">
            <a:avLst/>
          </a:prstGeom>
        </p:spPr>
        <p:txBody>
          <a:bodyPr lIns="0" tIns="0" rIns="0" bIns="0" anchor="ctr">
            <a:normAutofit/>
          </a:bodyPr>
          <a:lstStyle/>
          <a:p>
            <a:pPr algn="r">
              <a:defRPr sz="11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19</a:t>
            </a: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390525" y="1885950"/>
            <a:ext cx="1714500" cy="3048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algn="l">
              <a:defRPr sz="1800" b="1">
                <a:solidFill>
                  <a:srgbClr val="555555"/>
                </a:solidFill>
                <a:latin typeface="PingFang SC"/>
                <a:ea typeface="PingFang SC"/>
                <a:cs typeface="PingFang SC"/>
              </a:defRPr>
            </a:pPr>
            <a:r>
              <a:t>场景现状</a:t>
            </a: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390525" y="2362200"/>
            <a:ext cx="5334000" cy="1962150"/>
          </a:xfrm>
          <a:prstGeom prst="rect">
            <a:avLst/>
          </a:prstGeom>
          <a:solidFill>
            <a:srgbClr val="F6F6F6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8" name="矩形 7"/>
          <p:cNvSpPr>
            <a:spLocks noGrp="1"/>
          </p:cNvSpPr>
          <p:nvPr/>
        </p:nvSpPr>
        <p:spPr>
          <a:xfrm>
            <a:off x="619125" y="2590800"/>
            <a:ext cx="4876800" cy="342900"/>
          </a:xfrm>
          <a:prstGeom prst="rect">
            <a:avLst/>
          </a:prstGeom>
        </p:spPr>
        <p:txBody>
          <a:bodyPr lIns="0" tIns="0" rIns="0" bIns="0" anchor="ctr">
            <a:normAutofit/>
          </a:bodyPr>
          <a:lstStyle/>
          <a:p>
            <a:pPr algn="l">
              <a:defRPr sz="210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AI 通识教学 + 市场对接</a:t>
            </a: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619125" y="3048000"/>
            <a:ext cx="4876800" cy="108585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algn="l">
              <a:defRPr sz="150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面向学校、区域和机构客户的人工智能素养提升需求，承接通识课程、智能体体验、教学案例和场景实践，作为平台进入客户的切入口。</a:t>
            </a: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6457950" y="2362200"/>
            <a:ext cx="5334000" cy="1962150"/>
          </a:xfrm>
          <a:prstGeom prst="rect">
            <a:avLst/>
          </a:prstGeom>
          <a:solidFill>
            <a:srgbClr val="000000"/>
          </a:solidFill>
          <a:ln w="0">
            <a:noFill/>
            <a:prstDash val="solid"/>
          </a:ln>
        </p:spPr>
      </p:sp>
      <p:sp>
        <p:nvSpPr>
          <p:cNvPr id="11" name="矩形 10"/>
          <p:cNvSpPr>
            <a:spLocks noGrp="1"/>
          </p:cNvSpPr>
          <p:nvPr/>
        </p:nvSpPr>
        <p:spPr>
          <a:xfrm>
            <a:off x="6686550" y="2590800"/>
            <a:ext cx="4876800" cy="342900"/>
          </a:xfrm>
          <a:prstGeom prst="rect">
            <a:avLst/>
          </a:prstGeom>
        </p:spPr>
        <p:txBody>
          <a:bodyPr lIns="0" tIns="0" rIns="0" bIns="0" anchor="ctr">
            <a:normAutofit/>
          </a:bodyPr>
          <a:lstStyle/>
          <a:p>
            <a:pPr algn="l">
              <a:defRPr sz="2100" b="1">
                <a:solidFill>
                  <a:srgbClr val="FF6B35"/>
                </a:solidFill>
                <a:latin typeface="PingFang SC"/>
                <a:ea typeface="PingFang SC"/>
                <a:cs typeface="PingFang SC"/>
              </a:defRPr>
            </a:pPr>
            <a:r>
              <a:t>培训场景：线下实训 + 智能体平台</a:t>
            </a: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6686550" y="3048000"/>
            <a:ext cx="4876800" cy="108585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algn="l">
              <a:defRPr sz="1425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t>宁波大学科学技术学院工作坊已完成线下验证，平台承载实训授课、课件生成、智能体创建、操作练习和成果沉淀。</a:t>
            </a: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390525" y="4933950"/>
            <a:ext cx="11401425" cy="819150"/>
          </a:xfrm>
          <a:prstGeom prst="rect">
            <a:avLst/>
          </a:prstGeom>
          <a:solidFill>
            <a:srgbClr val="F6F6F6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14" name="矩形 13"/>
          <p:cNvSpPr>
            <a:spLocks noGrp="1"/>
          </p:cNvSpPr>
          <p:nvPr/>
        </p:nvSpPr>
        <p:spPr>
          <a:xfrm>
            <a:off x="685800" y="5143500"/>
            <a:ext cx="10810875" cy="381000"/>
          </a:xfrm>
          <a:prstGeom prst="rect">
            <a:avLst/>
          </a:prstGeom>
        </p:spPr>
        <p:txBody>
          <a:bodyPr lIns="0" tIns="0" rIns="0" bIns="0" anchor="ctr">
            <a:normAutofit/>
          </a:bodyPr>
          <a:lstStyle/>
          <a:p>
            <a:pPr algn="ctr">
              <a:defRPr sz="1875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下一步从场景验证进入产品化完善，把两大场景沉淀为标准方案、空间模板和商业化套件。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390525" y="342900"/>
            <a:ext cx="2857500" cy="247650"/>
          </a:xfrm>
          <a:prstGeom prst="rect">
            <a:avLst/>
          </a:prstGeom>
        </p:spPr>
        <p:txBody>
          <a:bodyPr lIns="0" tIns="0" rIns="0" bIns="0" anchor="ctr">
            <a:normAutofit/>
          </a:bodyPr>
          <a:lstStyle/>
          <a:p>
            <a:pPr algn="l">
              <a:defRPr sz="1200" b="1">
                <a:solidFill>
                  <a:srgbClr val="555555"/>
                </a:solidFill>
                <a:latin typeface="PingFang SC"/>
                <a:ea typeface="PingFang SC"/>
                <a:cs typeface="PingFang SC"/>
              </a:defRPr>
            </a:pPr>
            <a:r>
              <a:t>后续方向</a:t>
            </a: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390525" y="666750"/>
            <a:ext cx="11401425" cy="7239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algn="l">
              <a:defRPr sz="270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后续方向：把两大场景做深，并形成可销售的商业化套件</a:t>
            </a: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390525" y="1504950"/>
            <a:ext cx="11401425" cy="14288"/>
          </a:xfrm>
          <a:prstGeom prst="rect">
            <a:avLst/>
          </a:prstGeom>
          <a:solidFill>
            <a:srgbClr val="B8BCC4"/>
          </a:solidFill>
          <a:ln w="0">
            <a:noFill/>
            <a:prstDash val="solid"/>
          </a:ln>
        </p:spPr>
      </p:sp>
      <p:sp>
        <p:nvSpPr>
          <p:cNvPr id="5" name="矩形 4"/>
          <p:cNvSpPr>
            <a:spLocks noGrp="1"/>
          </p:cNvSpPr>
          <p:nvPr/>
        </p:nvSpPr>
        <p:spPr>
          <a:xfrm>
            <a:off x="11277600" y="6276975"/>
            <a:ext cx="514350" cy="238125"/>
          </a:xfrm>
          <a:prstGeom prst="rect">
            <a:avLst/>
          </a:prstGeom>
        </p:spPr>
        <p:txBody>
          <a:bodyPr lIns="0" tIns="0" rIns="0" bIns="0" anchor="ctr">
            <a:normAutofit/>
          </a:bodyPr>
          <a:lstStyle/>
          <a:p>
            <a:pPr algn="r">
              <a:defRPr sz="11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20</a:t>
            </a: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390525" y="1866900"/>
            <a:ext cx="2095500" cy="28575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algn="l">
              <a:defRPr sz="1800" b="1">
                <a:solidFill>
                  <a:srgbClr val="555555"/>
                </a:solidFill>
                <a:latin typeface="PingFang SC"/>
                <a:ea typeface="PingFang SC"/>
                <a:cs typeface="PingFang SC"/>
              </a:defRPr>
            </a:pPr>
            <a:r>
              <a:t>两大场景深化</a:t>
            </a: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390525" y="2324100"/>
            <a:ext cx="5334000" cy="2381250"/>
          </a:xfrm>
          <a:prstGeom prst="rect">
            <a:avLst/>
          </a:prstGeom>
          <a:solidFill>
            <a:srgbClr val="F6F6F6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8" name="矩形 7"/>
          <p:cNvSpPr>
            <a:spLocks noGrp="1"/>
          </p:cNvSpPr>
          <p:nvPr/>
        </p:nvSpPr>
        <p:spPr>
          <a:xfrm>
            <a:off x="619125" y="2552700"/>
            <a:ext cx="4876800" cy="342900"/>
          </a:xfrm>
          <a:prstGeom prst="rect">
            <a:avLst/>
          </a:prstGeom>
        </p:spPr>
        <p:txBody>
          <a:bodyPr lIns="0" tIns="0" rIns="0" bIns="0" anchor="ctr">
            <a:normAutofit/>
          </a:bodyPr>
          <a:lstStyle/>
          <a:p>
            <a:pPr algn="l">
              <a:defRPr sz="2025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AI 通识教学平台场景</a:t>
            </a: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619125" y="3009900"/>
            <a:ext cx="4876800" cy="150495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algn="l">
              <a:defRPr sz="120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面向学校、区域和机构客户，建设 AI 通识课程、案例资源、学习任务和智能体体验。
资料库沉淀课程与案例，空间承载班级、项目和任务，Lucky 提供问答、辅导、生成和实践支持。
形成课堂教学、校本培训、区域推广和市场对接的标准场景。</a:t>
            </a: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6457950" y="2324100"/>
            <a:ext cx="5334000" cy="2381250"/>
          </a:xfrm>
          <a:prstGeom prst="rect">
            <a:avLst/>
          </a:prstGeom>
          <a:solidFill>
            <a:srgbClr val="000000"/>
          </a:solidFill>
          <a:ln w="0">
            <a:noFill/>
            <a:prstDash val="solid"/>
          </a:ln>
        </p:spPr>
      </p:sp>
      <p:sp>
        <p:nvSpPr>
          <p:cNvPr id="11" name="矩形 10"/>
          <p:cNvSpPr>
            <a:spLocks noGrp="1"/>
          </p:cNvSpPr>
          <p:nvPr/>
        </p:nvSpPr>
        <p:spPr>
          <a:xfrm>
            <a:off x="6686550" y="2514600"/>
            <a:ext cx="4876800" cy="571500"/>
          </a:xfrm>
          <a:prstGeom prst="rect">
            <a:avLst/>
          </a:prstGeom>
        </p:spPr>
        <p:txBody>
          <a:bodyPr lIns="0" tIns="0" rIns="0" bIns="0" anchor="ctr">
            <a:normAutofit/>
          </a:bodyPr>
          <a:lstStyle/>
          <a:p>
            <a:pPr algn="l">
              <a:defRPr sz="1875" b="1">
                <a:solidFill>
                  <a:srgbClr val="FF6B35"/>
                </a:solidFill>
                <a:latin typeface="PingFang SC"/>
                <a:ea typeface="PingFang SC"/>
                <a:cs typeface="PingFang SC"/>
              </a:defRPr>
            </a:pPr>
            <a:r>
              <a:t>培训场景：线上/线下培训 + 线上/线下实训
智能体底座</a:t>
            </a: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6686550" y="3200400"/>
            <a:ext cx="4876800" cy="12192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t>围绕干部培训、教师培训和工作坊，形成线上/线下培训、线上/线下实训一体化交付。
线上承载课程学习、资料分发、任务提交和过程跟踪；线下承载集中授课、实操演练和成果点评。
智能体底座提供课件生成、助教答疑、任务辅导、智能体创建、成果评价和案例复用。</a:t>
            </a: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390525" y="5086350"/>
            <a:ext cx="11401425" cy="781050"/>
          </a:xfrm>
          <a:prstGeom prst="rect">
            <a:avLst/>
          </a:prstGeom>
          <a:solidFill>
            <a:srgbClr val="F6F6F6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14" name="矩形 13"/>
          <p:cNvSpPr>
            <a:spLocks noGrp="1"/>
          </p:cNvSpPr>
          <p:nvPr/>
        </p:nvSpPr>
        <p:spPr>
          <a:xfrm>
            <a:off x="695325" y="5276850"/>
            <a:ext cx="2000250" cy="28575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algn="l">
              <a:defRPr sz="1725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商业化套件完善</a:t>
            </a: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2800350" y="5200650"/>
            <a:ext cx="8477250" cy="457200"/>
          </a:xfrm>
          <a:prstGeom prst="rect">
            <a:avLst/>
          </a:prstGeom>
        </p:spPr>
        <p:txBody>
          <a:bodyPr lIns="0" tIns="0" rIns="0" bIns="0" anchor="ctr">
            <a:normAutofit fontScale="90909"/>
          </a:bodyPr>
          <a:lstStyle/>
          <a:p>
            <a:pPr algn="l">
              <a:defRPr sz="165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围绕两大场景形成“解决方案 + 套餐 + 资源包 + 场景模板 + Token算力”的交付套件，完善基础平台包、通识教学包、培训实训包、运营服务包和算力包。</a:t>
            </a: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1323975" y="6010275"/>
            <a:ext cx="1428750" cy="342900"/>
          </a:xfrm>
          <a:prstGeom prst="rect">
            <a:avLst/>
          </a:prstGeom>
          <a:solidFill>
            <a:srgbClr val="FFFFFF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17" name="矩形 16"/>
          <p:cNvSpPr>
            <a:spLocks noGrp="1"/>
          </p:cNvSpPr>
          <p:nvPr/>
        </p:nvSpPr>
        <p:spPr>
          <a:xfrm>
            <a:off x="1419225" y="6067425"/>
            <a:ext cx="1238250" cy="228600"/>
          </a:xfrm>
          <a:prstGeom prst="rect">
            <a:avLst/>
          </a:prstGeom>
        </p:spPr>
        <p:txBody>
          <a:bodyPr lIns="0" tIns="0" rIns="0" bIns="0" anchor="ctr">
            <a:normAutofit/>
          </a:bodyPr>
          <a:lstStyle/>
          <a:p>
            <a:pPr algn="ctr">
              <a:defRPr sz="1275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基础平台包</a:t>
            </a:r>
          </a:p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3248025" y="6010275"/>
            <a:ext cx="1428750" cy="342900"/>
          </a:xfrm>
          <a:prstGeom prst="rect">
            <a:avLst/>
          </a:prstGeom>
          <a:solidFill>
            <a:srgbClr val="FFFFFF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19" name="矩形 18"/>
          <p:cNvSpPr>
            <a:spLocks noGrp="1"/>
          </p:cNvSpPr>
          <p:nvPr/>
        </p:nvSpPr>
        <p:spPr>
          <a:xfrm>
            <a:off x="3343275" y="6067425"/>
            <a:ext cx="1238250" cy="228600"/>
          </a:xfrm>
          <a:prstGeom prst="rect">
            <a:avLst/>
          </a:prstGeom>
        </p:spPr>
        <p:txBody>
          <a:bodyPr lIns="0" tIns="0" rIns="0" bIns="0" anchor="ctr">
            <a:normAutofit/>
          </a:bodyPr>
          <a:lstStyle/>
          <a:p>
            <a:pPr algn="ctr">
              <a:defRPr sz="1275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通识教学包</a:t>
            </a:r>
          </a:p>
        </p:txBody>
      </p:sp>
      <p:sp>
        <p:nvSpPr>
          <p:cNvPr id="20" name="矩形 19"/>
          <p:cNvSpPr>
            <a:spLocks noGrp="1"/>
          </p:cNvSpPr>
          <p:nvPr/>
        </p:nvSpPr>
        <p:spPr>
          <a:xfrm>
            <a:off x="5172075" y="6010275"/>
            <a:ext cx="1428750" cy="342900"/>
          </a:xfrm>
          <a:prstGeom prst="rect">
            <a:avLst/>
          </a:prstGeom>
          <a:solidFill>
            <a:srgbClr val="FFFFFF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21" name="矩形 20"/>
          <p:cNvSpPr>
            <a:spLocks noGrp="1"/>
          </p:cNvSpPr>
          <p:nvPr/>
        </p:nvSpPr>
        <p:spPr>
          <a:xfrm>
            <a:off x="5267325" y="6067425"/>
            <a:ext cx="1238250" cy="228600"/>
          </a:xfrm>
          <a:prstGeom prst="rect">
            <a:avLst/>
          </a:prstGeom>
        </p:spPr>
        <p:txBody>
          <a:bodyPr lIns="0" tIns="0" rIns="0" bIns="0" anchor="ctr">
            <a:normAutofit/>
          </a:bodyPr>
          <a:lstStyle/>
          <a:p>
            <a:pPr algn="ctr">
              <a:defRPr sz="1275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培训实训包</a:t>
            </a:r>
          </a:p>
        </p:txBody>
      </p:sp>
      <p:sp>
        <p:nvSpPr>
          <p:cNvPr id="22" name="矩形 21"/>
          <p:cNvSpPr>
            <a:spLocks noGrp="1"/>
          </p:cNvSpPr>
          <p:nvPr/>
        </p:nvSpPr>
        <p:spPr>
          <a:xfrm>
            <a:off x="7096125" y="6010275"/>
            <a:ext cx="1428750" cy="342900"/>
          </a:xfrm>
          <a:prstGeom prst="rect">
            <a:avLst/>
          </a:prstGeom>
          <a:solidFill>
            <a:srgbClr val="FFFFFF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23" name="矩形 22"/>
          <p:cNvSpPr>
            <a:spLocks noGrp="1"/>
          </p:cNvSpPr>
          <p:nvPr/>
        </p:nvSpPr>
        <p:spPr>
          <a:xfrm>
            <a:off x="7191375" y="6067425"/>
            <a:ext cx="1238250" cy="228600"/>
          </a:xfrm>
          <a:prstGeom prst="rect">
            <a:avLst/>
          </a:prstGeom>
        </p:spPr>
        <p:txBody>
          <a:bodyPr lIns="0" tIns="0" rIns="0" bIns="0" anchor="ctr">
            <a:normAutofit/>
          </a:bodyPr>
          <a:lstStyle/>
          <a:p>
            <a:pPr algn="ctr">
              <a:defRPr sz="1275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运营服务包</a:t>
            </a:r>
          </a:p>
        </p:txBody>
      </p:sp>
      <p:sp>
        <p:nvSpPr>
          <p:cNvPr id="24" name="矩形 23"/>
          <p:cNvSpPr>
            <a:spLocks noGrp="1"/>
          </p:cNvSpPr>
          <p:nvPr/>
        </p:nvSpPr>
        <p:spPr>
          <a:xfrm>
            <a:off x="9020175" y="6010275"/>
            <a:ext cx="1428750" cy="342900"/>
          </a:xfrm>
          <a:prstGeom prst="rect">
            <a:avLst/>
          </a:prstGeom>
          <a:solidFill>
            <a:srgbClr val="FF6B35"/>
          </a:solidFill>
          <a:ln w="9525">
            <a:noFill/>
            <a:prstDash val="solid"/>
          </a:ln>
        </p:spPr>
      </p:sp>
      <p:sp>
        <p:nvSpPr>
          <p:cNvPr id="25" name="矩形 24"/>
          <p:cNvSpPr>
            <a:spLocks noGrp="1"/>
          </p:cNvSpPr>
          <p:nvPr/>
        </p:nvSpPr>
        <p:spPr>
          <a:xfrm>
            <a:off x="9115425" y="6067425"/>
            <a:ext cx="1238250" cy="228600"/>
          </a:xfrm>
          <a:prstGeom prst="rect">
            <a:avLst/>
          </a:prstGeom>
        </p:spPr>
        <p:txBody>
          <a:bodyPr lIns="0" tIns="0" rIns="0" bIns="0" anchor="ctr">
            <a:normAutofit/>
          </a:bodyPr>
          <a:lstStyle/>
          <a:p>
            <a:pPr algn="ctr">
              <a:defRPr sz="12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t>Token 算力包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390525" y="342900"/>
            <a:ext cx="2857500" cy="247650"/>
          </a:xfrm>
          <a:prstGeom prst="rect">
            <a:avLst/>
          </a:prstGeom>
        </p:spPr>
        <p:txBody>
          <a:bodyPr lIns="0" tIns="0" rIns="0" bIns="0" anchor="ctr">
            <a:normAutofit/>
          </a:bodyPr>
          <a:lstStyle/>
          <a:p>
            <a:pPr algn="l">
              <a:defRPr sz="1200" b="1">
                <a:solidFill>
                  <a:srgbClr val="555555"/>
                </a:solidFill>
                <a:latin typeface="PingFang SC"/>
                <a:ea typeface="PingFang SC"/>
                <a:cs typeface="PingFang SC"/>
              </a:defRPr>
            </a:pPr>
            <a:r>
              <a:t>章节目录</a:t>
            </a: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390525" y="666750"/>
            <a:ext cx="11401425" cy="7239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algn="l">
              <a:defRPr sz="330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章节目录：05 生态、愿景与开发模式</a:t>
            </a: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390525" y="1504950"/>
            <a:ext cx="11401425" cy="14288"/>
          </a:xfrm>
          <a:prstGeom prst="rect">
            <a:avLst/>
          </a:prstGeom>
          <a:solidFill>
            <a:srgbClr val="B8BCC4"/>
          </a:solidFill>
          <a:ln w="0">
            <a:noFill/>
            <a:prstDash val="solid"/>
          </a:ln>
        </p:spPr>
      </p:sp>
      <p:sp>
        <p:nvSpPr>
          <p:cNvPr id="5" name="矩形 4"/>
          <p:cNvSpPr>
            <a:spLocks noGrp="1"/>
          </p:cNvSpPr>
          <p:nvPr/>
        </p:nvSpPr>
        <p:spPr>
          <a:xfrm>
            <a:off x="11277600" y="6276975"/>
            <a:ext cx="514350" cy="238125"/>
          </a:xfrm>
          <a:prstGeom prst="rect">
            <a:avLst/>
          </a:prstGeom>
        </p:spPr>
        <p:txBody>
          <a:bodyPr lIns="0" tIns="0" rIns="0" bIns="0" anchor="ctr">
            <a:normAutofit/>
          </a:bodyPr>
          <a:lstStyle/>
          <a:p>
            <a:pPr algn="r">
              <a:defRPr sz="11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21</a:t>
            </a: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390525" y="1676400"/>
            <a:ext cx="1524000" cy="28575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algn="l">
              <a:defRPr sz="1800" b="1">
                <a:solidFill>
                  <a:srgbClr val="555555"/>
                </a:solidFill>
                <a:latin typeface="PingFang SC"/>
                <a:ea typeface="PingFang SC"/>
                <a:cs typeface="PingFang SC"/>
              </a:defRPr>
            </a:pPr>
            <a:r>
              <a:t>当前位置</a:t>
            </a: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781050" y="1981200"/>
            <a:ext cx="10620375" cy="552450"/>
          </a:xfrm>
          <a:prstGeom prst="rect">
            <a:avLst/>
          </a:prstGeom>
          <a:solidFill>
            <a:srgbClr val="F6F6F6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8" name="矩形 7"/>
          <p:cNvSpPr>
            <a:spLocks noGrp="1"/>
          </p:cNvSpPr>
          <p:nvPr/>
        </p:nvSpPr>
        <p:spPr>
          <a:xfrm>
            <a:off x="1066800" y="2105025"/>
            <a:ext cx="666750" cy="285750"/>
          </a:xfrm>
          <a:prstGeom prst="rect">
            <a:avLst/>
          </a:prstGeom>
        </p:spPr>
        <p:txBody>
          <a:bodyPr lIns="0" tIns="0" rIns="0" bIns="0" anchor="ctr">
            <a:normAutofit fontScale="96154"/>
          </a:bodyPr>
          <a:lstStyle/>
          <a:p>
            <a:pPr algn="ctr">
              <a:defRPr sz="1950" b="1">
                <a:solidFill>
                  <a:srgbClr val="555555"/>
                </a:solidFill>
                <a:latin typeface="PingFang SC"/>
                <a:ea typeface="PingFang SC"/>
                <a:cs typeface="PingFang SC"/>
              </a:defRPr>
            </a:pPr>
            <a:r>
              <a:t>01</a:t>
            </a: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2019300" y="2105025"/>
            <a:ext cx="2857500" cy="285750"/>
          </a:xfrm>
          <a:prstGeom prst="rect">
            <a:avLst/>
          </a:prstGeom>
        </p:spPr>
        <p:txBody>
          <a:bodyPr lIns="0" tIns="0" rIns="0" bIns="0" anchor="ctr">
            <a:normAutofit/>
          </a:bodyPr>
          <a:lstStyle/>
          <a:p>
            <a:pPr algn="l">
              <a:defRPr sz="1875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平台定位与价值</a:t>
            </a: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5143500" y="2124075"/>
            <a:ext cx="5810250" cy="266700"/>
          </a:xfrm>
          <a:prstGeom prst="rect">
            <a:avLst/>
          </a:prstGeom>
        </p:spPr>
        <p:txBody>
          <a:bodyPr lIns="0" tIns="0" rIns="0" bIns="0" anchor="ctr">
            <a:normAutofit/>
          </a:bodyPr>
          <a:lstStyle/>
          <a:p>
            <a:pPr algn="l">
              <a:defRPr sz="1350" b="0">
                <a:solidFill>
                  <a:srgbClr val="555555"/>
                </a:solidFill>
                <a:latin typeface="PingFang SC"/>
                <a:ea typeface="PingFang SC"/>
                <a:cs typeface="PingFang SC"/>
              </a:defRPr>
            </a:pPr>
            <a:r>
              <a:t>说明通答为什么是 AI 原生业务底座，以及平台建设初衷和核心价值。</a:t>
            </a: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781050" y="2705100"/>
            <a:ext cx="10620375" cy="552450"/>
          </a:xfrm>
          <a:prstGeom prst="rect">
            <a:avLst/>
          </a:prstGeom>
          <a:solidFill>
            <a:srgbClr val="F6F6F6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12" name="矩形 11"/>
          <p:cNvSpPr>
            <a:spLocks noGrp="1"/>
          </p:cNvSpPr>
          <p:nvPr/>
        </p:nvSpPr>
        <p:spPr>
          <a:xfrm>
            <a:off x="1066800" y="2828925"/>
            <a:ext cx="666750" cy="285750"/>
          </a:xfrm>
          <a:prstGeom prst="rect">
            <a:avLst/>
          </a:prstGeom>
        </p:spPr>
        <p:txBody>
          <a:bodyPr lIns="0" tIns="0" rIns="0" bIns="0" anchor="ctr">
            <a:normAutofit fontScale="96154"/>
          </a:bodyPr>
          <a:lstStyle/>
          <a:p>
            <a:pPr algn="ctr">
              <a:defRPr sz="1950" b="1">
                <a:solidFill>
                  <a:srgbClr val="555555"/>
                </a:solidFill>
                <a:latin typeface="PingFang SC"/>
                <a:ea typeface="PingFang SC"/>
                <a:cs typeface="PingFang SC"/>
              </a:defRPr>
            </a:pPr>
            <a:r>
              <a:t>02</a:t>
            </a: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2019300" y="2828925"/>
            <a:ext cx="2857500" cy="285750"/>
          </a:xfrm>
          <a:prstGeom prst="rect">
            <a:avLst/>
          </a:prstGeom>
        </p:spPr>
        <p:txBody>
          <a:bodyPr lIns="0" tIns="0" rIns="0" bIns="0" anchor="ctr">
            <a:normAutofit/>
          </a:bodyPr>
          <a:lstStyle/>
          <a:p>
            <a:pPr algn="l">
              <a:defRPr sz="1875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架构与交付体系</a:t>
            </a: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5143500" y="2847975"/>
            <a:ext cx="5810250" cy="266700"/>
          </a:xfrm>
          <a:prstGeom prst="rect">
            <a:avLst/>
          </a:prstGeom>
        </p:spPr>
        <p:txBody>
          <a:bodyPr lIns="0" tIns="0" rIns="0" bIns="0" anchor="ctr">
            <a:normAutofit/>
          </a:bodyPr>
          <a:lstStyle/>
          <a:p>
            <a:pPr algn="l">
              <a:defRPr sz="1350" b="0">
                <a:solidFill>
                  <a:srgbClr val="555555"/>
                </a:solidFill>
                <a:latin typeface="PingFang SC"/>
                <a:ea typeface="PingFang SC"/>
                <a:cs typeface="PingFang SC"/>
              </a:defRPr>
            </a:pPr>
            <a:r>
              <a:t>展开 Lucky、资料库、空间、场景模板，以及组合交付、套餐和租户。</a:t>
            </a: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781050" y="3429000"/>
            <a:ext cx="10620375" cy="552450"/>
          </a:xfrm>
          <a:prstGeom prst="rect">
            <a:avLst/>
          </a:prstGeom>
          <a:solidFill>
            <a:srgbClr val="F6F6F6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16" name="矩形 15"/>
          <p:cNvSpPr>
            <a:spLocks noGrp="1"/>
          </p:cNvSpPr>
          <p:nvPr/>
        </p:nvSpPr>
        <p:spPr>
          <a:xfrm>
            <a:off x="1066800" y="3552825"/>
            <a:ext cx="666750" cy="285750"/>
          </a:xfrm>
          <a:prstGeom prst="rect">
            <a:avLst/>
          </a:prstGeom>
        </p:spPr>
        <p:txBody>
          <a:bodyPr lIns="0" tIns="0" rIns="0" bIns="0" anchor="ctr">
            <a:normAutofit fontScale="96154"/>
          </a:bodyPr>
          <a:lstStyle/>
          <a:p>
            <a:pPr algn="ctr">
              <a:defRPr sz="1950" b="1">
                <a:solidFill>
                  <a:srgbClr val="555555"/>
                </a:solidFill>
                <a:latin typeface="PingFang SC"/>
                <a:ea typeface="PingFang SC"/>
                <a:cs typeface="PingFang SC"/>
              </a:defRPr>
            </a:pPr>
            <a:r>
              <a:t>03</a:t>
            </a:r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2019300" y="3552825"/>
            <a:ext cx="2857500" cy="285750"/>
          </a:xfrm>
          <a:prstGeom prst="rect">
            <a:avLst/>
          </a:prstGeom>
        </p:spPr>
        <p:txBody>
          <a:bodyPr lIns="0" tIns="0" rIns="0" bIns="0" anchor="ctr">
            <a:normAutofit/>
          </a:bodyPr>
          <a:lstStyle/>
          <a:p>
            <a:pPr algn="l">
              <a:defRPr sz="1875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商业模式与渠道</a:t>
            </a:r>
          </a:p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5143500" y="3571875"/>
            <a:ext cx="5810250" cy="266700"/>
          </a:xfrm>
          <a:prstGeom prst="rect">
            <a:avLst/>
          </a:prstGeom>
        </p:spPr>
        <p:txBody>
          <a:bodyPr lIns="0" tIns="0" rIns="0" bIns="0" anchor="ctr">
            <a:normAutofit/>
          </a:bodyPr>
          <a:lstStyle/>
          <a:p>
            <a:pPr algn="l">
              <a:defRPr sz="1350" b="0">
                <a:solidFill>
                  <a:srgbClr val="555555"/>
                </a:solidFill>
                <a:latin typeface="PingFang SC"/>
                <a:ea typeface="PingFang SC"/>
                <a:cs typeface="PingFang SC"/>
              </a:defRPr>
            </a:pPr>
            <a:r>
              <a:t>说明平台、服务、资源、Token 算力和运营商渠道如何形成收入变量。</a:t>
            </a:r>
          </a:p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781050" y="4152900"/>
            <a:ext cx="10620375" cy="552450"/>
          </a:xfrm>
          <a:prstGeom prst="rect">
            <a:avLst/>
          </a:prstGeom>
          <a:solidFill>
            <a:srgbClr val="F6F6F6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20" name="矩形 19"/>
          <p:cNvSpPr>
            <a:spLocks noGrp="1"/>
          </p:cNvSpPr>
          <p:nvPr/>
        </p:nvSpPr>
        <p:spPr>
          <a:xfrm>
            <a:off x="1066800" y="4276725"/>
            <a:ext cx="666750" cy="285750"/>
          </a:xfrm>
          <a:prstGeom prst="rect">
            <a:avLst/>
          </a:prstGeom>
        </p:spPr>
        <p:txBody>
          <a:bodyPr lIns="0" tIns="0" rIns="0" bIns="0" anchor="ctr">
            <a:normAutofit fontScale="96154"/>
          </a:bodyPr>
          <a:lstStyle/>
          <a:p>
            <a:pPr algn="ctr">
              <a:defRPr sz="1950" b="1">
                <a:solidFill>
                  <a:srgbClr val="555555"/>
                </a:solidFill>
                <a:latin typeface="PingFang SC"/>
                <a:ea typeface="PingFang SC"/>
                <a:cs typeface="PingFang SC"/>
              </a:defRPr>
            </a:pPr>
            <a:r>
              <a:t>04</a:t>
            </a:r>
          </a:p>
        </p:txBody>
      </p:sp>
      <p:sp>
        <p:nvSpPr>
          <p:cNvPr id="21" name="矩形 20"/>
          <p:cNvSpPr>
            <a:spLocks noGrp="1"/>
          </p:cNvSpPr>
          <p:nvPr/>
        </p:nvSpPr>
        <p:spPr>
          <a:xfrm>
            <a:off x="2019300" y="4276725"/>
            <a:ext cx="2857500" cy="285750"/>
          </a:xfrm>
          <a:prstGeom prst="rect">
            <a:avLst/>
          </a:prstGeom>
        </p:spPr>
        <p:txBody>
          <a:bodyPr lIns="0" tIns="0" rIns="0" bIns="0" anchor="ctr">
            <a:normAutofit/>
          </a:bodyPr>
          <a:lstStyle/>
          <a:p>
            <a:pPr algn="l">
              <a:defRPr sz="1875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标杆案例与场景深化</a:t>
            </a:r>
          </a:p>
        </p:txBody>
      </p:sp>
      <p:sp>
        <p:nvSpPr>
          <p:cNvPr id="22" name="矩形 21"/>
          <p:cNvSpPr>
            <a:spLocks noGrp="1"/>
          </p:cNvSpPr>
          <p:nvPr/>
        </p:nvSpPr>
        <p:spPr>
          <a:xfrm>
            <a:off x="5143500" y="4295775"/>
            <a:ext cx="5810250" cy="266700"/>
          </a:xfrm>
          <a:prstGeom prst="rect">
            <a:avLst/>
          </a:prstGeom>
        </p:spPr>
        <p:txBody>
          <a:bodyPr lIns="0" tIns="0" rIns="0" bIns="0" anchor="ctr">
            <a:normAutofit/>
          </a:bodyPr>
          <a:lstStyle/>
          <a:p>
            <a:pPr algn="l">
              <a:defRPr sz="1350" b="0">
                <a:solidFill>
                  <a:srgbClr val="555555"/>
                </a:solidFill>
                <a:latin typeface="PingFang SC"/>
                <a:ea typeface="PingFang SC"/>
                <a:cs typeface="PingFang SC"/>
              </a:defRPr>
            </a:pPr>
            <a:r>
              <a:t>用宁波大学科学技术学院工作坊验证交付，并明确两大场景完善方向。</a:t>
            </a:r>
          </a:p>
        </p:txBody>
      </p:sp>
      <p:sp>
        <p:nvSpPr>
          <p:cNvPr id="23" name="矩形 22"/>
          <p:cNvSpPr>
            <a:spLocks noGrp="1"/>
          </p:cNvSpPr>
          <p:nvPr/>
        </p:nvSpPr>
        <p:spPr>
          <a:xfrm>
            <a:off x="781050" y="4876800"/>
            <a:ext cx="10620375" cy="552450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24" name="矩形 23"/>
          <p:cNvSpPr>
            <a:spLocks noGrp="1"/>
          </p:cNvSpPr>
          <p:nvPr/>
        </p:nvSpPr>
        <p:spPr>
          <a:xfrm>
            <a:off x="1066800" y="5000625"/>
            <a:ext cx="666750" cy="285750"/>
          </a:xfrm>
          <a:prstGeom prst="rect">
            <a:avLst/>
          </a:prstGeom>
        </p:spPr>
        <p:txBody>
          <a:bodyPr lIns="0" tIns="0" rIns="0" bIns="0" anchor="ctr">
            <a:normAutofit fontScale="96154"/>
          </a:bodyPr>
          <a:lstStyle/>
          <a:p>
            <a:pPr algn="ctr">
              <a:defRPr sz="1950" b="1">
                <a:solidFill>
                  <a:srgbClr val="FF6B35"/>
                </a:solidFill>
                <a:latin typeface="PingFang SC"/>
                <a:ea typeface="PingFang SC"/>
                <a:cs typeface="PingFang SC"/>
              </a:defRPr>
            </a:pPr>
            <a:r>
              <a:t>05</a:t>
            </a:r>
          </a:p>
        </p:txBody>
      </p:sp>
      <p:sp>
        <p:nvSpPr>
          <p:cNvPr id="25" name="矩形 24"/>
          <p:cNvSpPr>
            <a:spLocks noGrp="1"/>
          </p:cNvSpPr>
          <p:nvPr/>
        </p:nvSpPr>
        <p:spPr>
          <a:xfrm>
            <a:off x="2019300" y="5000625"/>
            <a:ext cx="2857500" cy="285750"/>
          </a:xfrm>
          <a:prstGeom prst="rect">
            <a:avLst/>
          </a:prstGeom>
        </p:spPr>
        <p:txBody>
          <a:bodyPr lIns="0" tIns="0" rIns="0" bIns="0" anchor="ctr">
            <a:normAutofit/>
          </a:bodyPr>
          <a:lstStyle/>
          <a:p>
            <a:pPr algn="l">
              <a:defRPr sz="18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t>生态、愿景与开发模式</a:t>
            </a:r>
          </a:p>
        </p:txBody>
      </p:sp>
      <p:sp>
        <p:nvSpPr>
          <p:cNvPr id="26" name="矩形 25"/>
          <p:cNvSpPr>
            <a:spLocks noGrp="1"/>
          </p:cNvSpPr>
          <p:nvPr/>
        </p:nvSpPr>
        <p:spPr>
          <a:xfrm>
            <a:off x="5143500" y="5019675"/>
            <a:ext cx="5810250" cy="266700"/>
          </a:xfrm>
          <a:prstGeom prst="rect">
            <a:avLst/>
          </a:prstGeom>
        </p:spPr>
        <p:txBody>
          <a:bodyPr lIns="0" tIns="0" rIns="0" bIns="0" anchor="ctr">
            <a:normAutofit/>
          </a:bodyPr>
          <a:lstStyle/>
          <a:p>
            <a:pPr algn="l">
              <a:defRPr sz="135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t>收束研习社、平台闭环、教师全场景愿景和 AI 驱动开发模式创新。</a:t>
            </a:r>
          </a:p>
        </p:txBody>
      </p:sp>
      <p:sp>
        <p:nvSpPr>
          <p:cNvPr id="27" name="矩形 26"/>
          <p:cNvSpPr>
            <a:spLocks noGrp="1"/>
          </p:cNvSpPr>
          <p:nvPr/>
        </p:nvSpPr>
        <p:spPr>
          <a:xfrm>
            <a:off x="781050" y="5810250"/>
            <a:ext cx="10620375" cy="419100"/>
          </a:xfrm>
          <a:prstGeom prst="rect">
            <a:avLst/>
          </a:prstGeom>
          <a:solidFill>
            <a:srgbClr val="F6F6F6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28" name="矩形 27"/>
          <p:cNvSpPr>
            <a:spLocks noGrp="1"/>
          </p:cNvSpPr>
          <p:nvPr/>
        </p:nvSpPr>
        <p:spPr>
          <a:xfrm>
            <a:off x="1066800" y="5905500"/>
            <a:ext cx="10048875" cy="228600"/>
          </a:xfrm>
          <a:prstGeom prst="rect">
            <a:avLst/>
          </a:prstGeom>
        </p:spPr>
        <p:txBody>
          <a:bodyPr lIns="0" tIns="0" rIns="0" bIns="0" anchor="ctr">
            <a:normAutofit/>
          </a:bodyPr>
          <a:lstStyle/>
          <a:p>
            <a:pPr algn="ctr">
              <a:defRPr sz="150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本节重点：从业务闭环延伸到长期增长空间，并说明通答内部如何用 AI 提升研发迭代速度。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390525" y="342900"/>
            <a:ext cx="2857500" cy="247650"/>
          </a:xfrm>
          <a:prstGeom prst="rect">
            <a:avLst/>
          </a:prstGeom>
        </p:spPr>
        <p:txBody>
          <a:bodyPr lIns="0" tIns="0" rIns="0" bIns="0" anchor="ctr">
            <a:normAutofit/>
          </a:bodyPr>
          <a:lstStyle/>
          <a:p>
            <a:pPr algn="l">
              <a:defRPr sz="1200" b="1">
                <a:solidFill>
                  <a:srgbClr val="555555"/>
                </a:solidFill>
                <a:latin typeface="PingFang SC"/>
                <a:ea typeface="PingFang SC"/>
                <a:cs typeface="PingFang SC"/>
              </a:defRPr>
            </a:pPr>
            <a:r>
              <a:t>生态运营</a:t>
            </a: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390525" y="666750"/>
            <a:ext cx="11401425" cy="7239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algn="l">
              <a:defRPr sz="2925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研习社承担平台推广、案例沉淀和内容共创的社区角色</a:t>
            </a: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390525" y="1504950"/>
            <a:ext cx="11401425" cy="14288"/>
          </a:xfrm>
          <a:prstGeom prst="rect">
            <a:avLst/>
          </a:prstGeom>
          <a:solidFill>
            <a:srgbClr val="B8BCC4"/>
          </a:solidFill>
          <a:ln w="0">
            <a:noFill/>
            <a:prstDash val="solid"/>
          </a:ln>
        </p:spPr>
      </p:sp>
      <p:sp>
        <p:nvSpPr>
          <p:cNvPr id="5" name="矩形 4"/>
          <p:cNvSpPr>
            <a:spLocks noGrp="1"/>
          </p:cNvSpPr>
          <p:nvPr/>
        </p:nvSpPr>
        <p:spPr>
          <a:xfrm>
            <a:off x="11277600" y="6276975"/>
            <a:ext cx="514350" cy="238125"/>
          </a:xfrm>
          <a:prstGeom prst="rect">
            <a:avLst/>
          </a:prstGeom>
        </p:spPr>
        <p:txBody>
          <a:bodyPr lIns="0" tIns="0" rIns="0" bIns="0" anchor="ctr">
            <a:normAutofit/>
          </a:bodyPr>
          <a:lstStyle/>
          <a:p>
            <a:pPr algn="r">
              <a:defRPr sz="11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22</a:t>
            </a: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552450" y="2114550"/>
            <a:ext cx="4762500" cy="3143250"/>
          </a:xfrm>
          <a:prstGeom prst="rect">
            <a:avLst/>
          </a:prstGeom>
          <a:solidFill>
            <a:srgbClr val="F6F6F6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7" name="矩形 6"/>
          <p:cNvSpPr>
            <a:spLocks noGrp="1"/>
          </p:cNvSpPr>
          <p:nvPr/>
        </p:nvSpPr>
        <p:spPr>
          <a:xfrm>
            <a:off x="914400" y="2495550"/>
            <a:ext cx="4000500" cy="51435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algn="ctr">
              <a:defRPr sz="330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研习社</a:t>
            </a: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914400" y="3257550"/>
            <a:ext cx="4000500" cy="819150"/>
          </a:xfrm>
          <a:prstGeom prst="rect">
            <a:avLst/>
          </a:prstGeom>
        </p:spPr>
        <p:txBody>
          <a:bodyPr lIns="0" tIns="0" rIns="0" bIns="0" anchor="t">
            <a:normAutofit fontScale="99537"/>
          </a:bodyPr>
          <a:lstStyle/>
          <a:p>
            <a:pPr algn="ctr">
              <a:defRPr sz="180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面向用户、机构和业务伙伴的内容交流社区，也是平台推广、最佳实践传播和生态运营阵地。</a:t>
            </a: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914400" y="4495800"/>
            <a:ext cx="4000500" cy="40005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algn="ctr">
              <a:defRPr sz="2250" b="1">
                <a:solidFill>
                  <a:srgbClr val="FF6B35"/>
                </a:solidFill>
                <a:latin typeface="PingFang SC"/>
                <a:ea typeface="PingFang SC"/>
                <a:cs typeface="PingFang SC"/>
              </a:defRPr>
            </a:pPr>
            <a:r>
              <a:t>UGC + AIGC</a:t>
            </a: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6210300" y="1971675"/>
            <a:ext cx="2381250" cy="1314450"/>
          </a:xfrm>
          <a:prstGeom prst="rect">
            <a:avLst/>
          </a:prstGeom>
          <a:solidFill>
            <a:srgbClr val="EDEDED"/>
          </a:solidFill>
          <a:ln w="0">
            <a:noFill/>
            <a:prstDash val="solid"/>
          </a:ln>
        </p:spPr>
      </p:sp>
      <p:sp>
        <p:nvSpPr>
          <p:cNvPr id="11" name="矩形 10"/>
          <p:cNvSpPr>
            <a:spLocks noGrp="1"/>
          </p:cNvSpPr>
          <p:nvPr/>
        </p:nvSpPr>
        <p:spPr>
          <a:xfrm>
            <a:off x="6438900" y="2200275"/>
            <a:ext cx="1924050" cy="342900"/>
          </a:xfrm>
          <a:prstGeom prst="rect">
            <a:avLst/>
          </a:prstGeom>
        </p:spPr>
        <p:txBody>
          <a:bodyPr lIns="0" tIns="0" rIns="0" bIns="0" anchor="ctr">
            <a:normAutofit/>
          </a:bodyPr>
          <a:lstStyle/>
          <a:p>
            <a:pPr algn="l">
              <a:defRPr sz="1875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最佳实践</a:t>
            </a: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6438900" y="2657475"/>
            <a:ext cx="1924050" cy="438150"/>
          </a:xfrm>
          <a:prstGeom prst="rect">
            <a:avLst/>
          </a:prstGeom>
        </p:spPr>
        <p:txBody>
          <a:bodyPr lIns="0" tIns="0" rIns="0" bIns="0" anchor="t">
            <a:normAutofit fontScale="99942"/>
          </a:bodyPr>
          <a:lstStyle/>
          <a:p>
            <a:pPr algn="l">
              <a:defRPr sz="135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沉淀教师培训、教研和教学应用中的优秀做法。</a:t>
            </a: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9182100" y="1971675"/>
            <a:ext cx="2381250" cy="1314450"/>
          </a:xfrm>
          <a:prstGeom prst="rect">
            <a:avLst/>
          </a:prstGeom>
          <a:solidFill>
            <a:srgbClr val="EDEDED"/>
          </a:solidFill>
          <a:ln w="0">
            <a:noFill/>
            <a:prstDash val="solid"/>
          </a:ln>
        </p:spPr>
      </p:sp>
      <p:sp>
        <p:nvSpPr>
          <p:cNvPr id="14" name="矩形 13"/>
          <p:cNvSpPr>
            <a:spLocks noGrp="1"/>
          </p:cNvSpPr>
          <p:nvPr/>
        </p:nvSpPr>
        <p:spPr>
          <a:xfrm>
            <a:off x="9410700" y="2200275"/>
            <a:ext cx="1924050" cy="342900"/>
          </a:xfrm>
          <a:prstGeom prst="rect">
            <a:avLst/>
          </a:prstGeom>
        </p:spPr>
        <p:txBody>
          <a:bodyPr lIns="0" tIns="0" rIns="0" bIns="0" anchor="ctr">
            <a:normAutofit/>
          </a:bodyPr>
          <a:lstStyle/>
          <a:p>
            <a:pPr algn="l">
              <a:defRPr sz="1875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案例展示</a:t>
            </a: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9410700" y="2657475"/>
            <a:ext cx="1924050" cy="438150"/>
          </a:xfrm>
          <a:prstGeom prst="rect">
            <a:avLst/>
          </a:prstGeom>
        </p:spPr>
        <p:txBody>
          <a:bodyPr lIns="0" tIns="0" rIns="0" bIns="0" anchor="t">
            <a:normAutofit fontScale="99942"/>
          </a:bodyPr>
          <a:lstStyle/>
          <a:p>
            <a:pPr algn="l">
              <a:defRPr sz="135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形成可传播的标杆案例、项目成果和应用样板。</a:t>
            </a: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6210300" y="3905250"/>
            <a:ext cx="2381250" cy="1314450"/>
          </a:xfrm>
          <a:prstGeom prst="rect">
            <a:avLst/>
          </a:prstGeom>
          <a:solidFill>
            <a:srgbClr val="EDEDED"/>
          </a:solidFill>
          <a:ln w="0">
            <a:noFill/>
            <a:prstDash val="solid"/>
          </a:ln>
        </p:spPr>
      </p:sp>
      <p:sp>
        <p:nvSpPr>
          <p:cNvPr id="17" name="矩形 16"/>
          <p:cNvSpPr>
            <a:spLocks noGrp="1"/>
          </p:cNvSpPr>
          <p:nvPr/>
        </p:nvSpPr>
        <p:spPr>
          <a:xfrm>
            <a:off x="6438900" y="4133850"/>
            <a:ext cx="1924050" cy="342900"/>
          </a:xfrm>
          <a:prstGeom prst="rect">
            <a:avLst/>
          </a:prstGeom>
        </p:spPr>
        <p:txBody>
          <a:bodyPr lIns="0" tIns="0" rIns="0" bIns="0" anchor="ctr">
            <a:normAutofit/>
          </a:bodyPr>
          <a:lstStyle/>
          <a:p>
            <a:pPr algn="l">
              <a:defRPr sz="1875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主题交流</a:t>
            </a:r>
          </a:p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6438900" y="4591050"/>
            <a:ext cx="1924050" cy="438150"/>
          </a:xfrm>
          <a:prstGeom prst="rect">
            <a:avLst/>
          </a:prstGeom>
        </p:spPr>
        <p:txBody>
          <a:bodyPr lIns="0" tIns="0" rIns="0" bIns="0" anchor="t">
            <a:normAutofit fontScale="99942"/>
          </a:bodyPr>
          <a:lstStyle/>
          <a:p>
            <a:pPr algn="l">
              <a:defRPr sz="135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围绕新场景、新功能、新方案组织讨论和活动。</a:t>
            </a:r>
          </a:p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9182100" y="3905250"/>
            <a:ext cx="2381250" cy="1314450"/>
          </a:xfrm>
          <a:prstGeom prst="rect">
            <a:avLst/>
          </a:prstGeom>
          <a:solidFill>
            <a:srgbClr val="EDEDED"/>
          </a:solidFill>
          <a:ln w="0">
            <a:noFill/>
            <a:prstDash val="solid"/>
          </a:ln>
        </p:spPr>
      </p:sp>
      <p:sp>
        <p:nvSpPr>
          <p:cNvPr id="20" name="矩形 19"/>
          <p:cNvSpPr>
            <a:spLocks noGrp="1"/>
          </p:cNvSpPr>
          <p:nvPr/>
        </p:nvSpPr>
        <p:spPr>
          <a:xfrm>
            <a:off x="9410700" y="4133850"/>
            <a:ext cx="1924050" cy="342900"/>
          </a:xfrm>
          <a:prstGeom prst="rect">
            <a:avLst/>
          </a:prstGeom>
        </p:spPr>
        <p:txBody>
          <a:bodyPr lIns="0" tIns="0" rIns="0" bIns="0" anchor="ctr">
            <a:normAutofit/>
          </a:bodyPr>
          <a:lstStyle/>
          <a:p>
            <a:pPr algn="l">
              <a:defRPr sz="1875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资源共创</a:t>
            </a:r>
          </a:p>
        </p:txBody>
      </p:sp>
      <p:sp>
        <p:nvSpPr>
          <p:cNvPr id="21" name="矩形 20"/>
          <p:cNvSpPr>
            <a:spLocks noGrp="1"/>
          </p:cNvSpPr>
          <p:nvPr/>
        </p:nvSpPr>
        <p:spPr>
          <a:xfrm>
            <a:off x="9410700" y="4591050"/>
            <a:ext cx="1924050" cy="438150"/>
          </a:xfrm>
          <a:prstGeom prst="rect">
            <a:avLst/>
          </a:prstGeom>
        </p:spPr>
        <p:txBody>
          <a:bodyPr lIns="0" tIns="0" rIns="0" bIns="0" anchor="t">
            <a:normAutofit fontScale="99942"/>
          </a:bodyPr>
          <a:lstStyle/>
          <a:p>
            <a:pPr algn="l">
              <a:defRPr sz="135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用户贡献一线内容，AI 辅助整理、提炼和传播。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390525" y="342900"/>
            <a:ext cx="2857500" cy="247650"/>
          </a:xfrm>
          <a:prstGeom prst="rect">
            <a:avLst/>
          </a:prstGeom>
        </p:spPr>
        <p:txBody>
          <a:bodyPr lIns="0" tIns="0" rIns="0" bIns="0" anchor="ctr">
            <a:normAutofit/>
          </a:bodyPr>
          <a:lstStyle/>
          <a:p>
            <a:pPr algn="l">
              <a:defRPr sz="1200" b="1">
                <a:solidFill>
                  <a:srgbClr val="555555"/>
                </a:solidFill>
                <a:latin typeface="PingFang SC"/>
                <a:ea typeface="PingFang SC"/>
                <a:cs typeface="PingFang SC"/>
              </a:defRPr>
            </a:pPr>
            <a:r>
              <a:t>总结</a:t>
            </a: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390525" y="666750"/>
            <a:ext cx="11401425" cy="7239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algn="l">
              <a:defRPr sz="2925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通答平台最终形成“平台能力 + 场景落地 + 算力商业化”的闭环</a:t>
            </a: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390525" y="1504950"/>
            <a:ext cx="11401425" cy="14288"/>
          </a:xfrm>
          <a:prstGeom prst="rect">
            <a:avLst/>
          </a:prstGeom>
          <a:solidFill>
            <a:srgbClr val="B8BCC4"/>
          </a:solidFill>
          <a:ln w="0">
            <a:noFill/>
            <a:prstDash val="solid"/>
          </a:ln>
        </p:spPr>
      </p:sp>
      <p:sp>
        <p:nvSpPr>
          <p:cNvPr id="5" name="矩形 4"/>
          <p:cNvSpPr>
            <a:spLocks noGrp="1"/>
          </p:cNvSpPr>
          <p:nvPr/>
        </p:nvSpPr>
        <p:spPr>
          <a:xfrm>
            <a:off x="11277600" y="6276975"/>
            <a:ext cx="514350" cy="238125"/>
          </a:xfrm>
          <a:prstGeom prst="rect">
            <a:avLst/>
          </a:prstGeom>
        </p:spPr>
        <p:txBody>
          <a:bodyPr lIns="0" tIns="0" rIns="0" bIns="0" anchor="ctr">
            <a:normAutofit/>
          </a:bodyPr>
          <a:lstStyle/>
          <a:p>
            <a:pPr algn="r">
              <a:defRPr sz="11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23</a:t>
            </a: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390525" y="2038350"/>
            <a:ext cx="3238500" cy="2381250"/>
          </a:xfrm>
          <a:prstGeom prst="rect">
            <a:avLst/>
          </a:prstGeom>
          <a:solidFill>
            <a:srgbClr val="EDEDED"/>
          </a:solidFill>
          <a:ln w="0">
            <a:noFill/>
            <a:prstDash val="solid"/>
          </a:ln>
        </p:spPr>
      </p:sp>
      <p:sp>
        <p:nvSpPr>
          <p:cNvPr id="7" name="矩形 6"/>
          <p:cNvSpPr>
            <a:spLocks noGrp="1"/>
          </p:cNvSpPr>
          <p:nvPr/>
        </p:nvSpPr>
        <p:spPr>
          <a:xfrm>
            <a:off x="619125" y="2266950"/>
            <a:ext cx="2781300" cy="342900"/>
          </a:xfrm>
          <a:prstGeom prst="rect">
            <a:avLst/>
          </a:prstGeom>
        </p:spPr>
        <p:txBody>
          <a:bodyPr lIns="0" tIns="0" rIns="0" bIns="0" anchor="ctr">
            <a:normAutofit/>
          </a:bodyPr>
          <a:lstStyle/>
          <a:p>
            <a:pPr algn="l">
              <a:defRPr sz="210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平台能力产品化</a:t>
            </a: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619125" y="2724150"/>
            <a:ext cx="2781300" cy="150495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algn="l">
              <a:defRPr sz="157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Lucky、资料库、空间、场景模板形成可组合平台能力。</a:t>
            </a: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4476750" y="2038350"/>
            <a:ext cx="3238500" cy="2381250"/>
          </a:xfrm>
          <a:prstGeom prst="rect">
            <a:avLst/>
          </a:prstGeom>
          <a:solidFill>
            <a:srgbClr val="EDEDED"/>
          </a:solidFill>
          <a:ln w="0">
            <a:noFill/>
            <a:prstDash val="solid"/>
          </a:ln>
        </p:spPr>
      </p:sp>
      <p:sp>
        <p:nvSpPr>
          <p:cNvPr id="10" name="矩形 9"/>
          <p:cNvSpPr>
            <a:spLocks noGrp="1"/>
          </p:cNvSpPr>
          <p:nvPr/>
        </p:nvSpPr>
        <p:spPr>
          <a:xfrm>
            <a:off x="4705350" y="2266950"/>
            <a:ext cx="2781300" cy="342900"/>
          </a:xfrm>
          <a:prstGeom prst="rect">
            <a:avLst/>
          </a:prstGeom>
        </p:spPr>
        <p:txBody>
          <a:bodyPr lIns="0" tIns="0" rIns="0" bIns="0" anchor="ctr">
            <a:normAutofit/>
          </a:bodyPr>
          <a:lstStyle/>
          <a:p>
            <a:pPr algn="l">
              <a:defRPr sz="210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业务场景垂直化</a:t>
            </a: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4705350" y="2724150"/>
            <a:ext cx="2781300" cy="150495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algn="l">
              <a:defRPr sz="157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围绕教师培训、教研、教学、干部培训、工作室、工作坊复制解决方案。</a:t>
            </a: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8562975" y="2038350"/>
            <a:ext cx="3238500" cy="2381250"/>
          </a:xfrm>
          <a:prstGeom prst="rect">
            <a:avLst/>
          </a:prstGeom>
          <a:solidFill>
            <a:srgbClr val="000000"/>
          </a:solidFill>
          <a:ln w="0">
            <a:noFill/>
            <a:prstDash val="solid"/>
          </a:ln>
        </p:spPr>
      </p:sp>
      <p:sp>
        <p:nvSpPr>
          <p:cNvPr id="13" name="矩形 12"/>
          <p:cNvSpPr>
            <a:spLocks noGrp="1"/>
          </p:cNvSpPr>
          <p:nvPr/>
        </p:nvSpPr>
        <p:spPr>
          <a:xfrm>
            <a:off x="8791575" y="2266950"/>
            <a:ext cx="2781300" cy="342900"/>
          </a:xfrm>
          <a:prstGeom prst="rect">
            <a:avLst/>
          </a:prstGeom>
        </p:spPr>
        <p:txBody>
          <a:bodyPr lIns="0" tIns="0" rIns="0" bIns="0" anchor="ctr">
            <a:normAutofit/>
          </a:bodyPr>
          <a:lstStyle/>
          <a:p>
            <a:pPr algn="l">
              <a:defRPr sz="21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t>算力渠道商业化</a:t>
            </a: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8791575" y="2724150"/>
            <a:ext cx="2781300" cy="150495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algn="l">
              <a:defRPr sz="1575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t>通过 Token 计量、模型统计和运营商渠道形成持续收入。</a:t>
            </a: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390525" y="5067300"/>
            <a:ext cx="1809750" cy="3048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algn="l">
              <a:defRPr sz="1725" b="1">
                <a:solidFill>
                  <a:srgbClr val="555555"/>
                </a:solidFill>
                <a:latin typeface="PingFang SC"/>
                <a:ea typeface="PingFang SC"/>
                <a:cs typeface="PingFang SC"/>
              </a:defRPr>
            </a:pPr>
            <a:r>
              <a:t>建议下一步</a:t>
            </a: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2209800" y="4914900"/>
            <a:ext cx="8858250" cy="66675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algn="l">
              <a:defRPr sz="180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围绕平台价值验证和宁波大学科学技术学院工作坊等标杆案例，形成解决方案套餐；完善 Token 计量与模型统计；推进运营商试点；启动研习社内容运营。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390525" y="342900"/>
            <a:ext cx="2857500" cy="247650"/>
          </a:xfrm>
          <a:prstGeom prst="rect">
            <a:avLst/>
          </a:prstGeom>
        </p:spPr>
        <p:txBody>
          <a:bodyPr lIns="0" tIns="0" rIns="0" bIns="0" anchor="ctr">
            <a:normAutofit/>
          </a:bodyPr>
          <a:lstStyle/>
          <a:p>
            <a:pPr algn="l">
              <a:defRPr sz="1200" b="1">
                <a:solidFill>
                  <a:srgbClr val="555555"/>
                </a:solidFill>
                <a:latin typeface="PingFang SC"/>
                <a:ea typeface="PingFang SC"/>
                <a:cs typeface="PingFang SC"/>
              </a:defRPr>
            </a:pPr>
            <a:r>
              <a:t>平台愿景</a:t>
            </a: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390525" y="666750"/>
            <a:ext cx="11401425" cy="7239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algn="l">
              <a:defRPr sz="270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平台愿景：面向教师全场景，覆盖更多场景数据，形成持续增购</a:t>
            </a: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390525" y="1504950"/>
            <a:ext cx="11401425" cy="14288"/>
          </a:xfrm>
          <a:prstGeom prst="rect">
            <a:avLst/>
          </a:prstGeom>
          <a:solidFill>
            <a:srgbClr val="B8BCC4"/>
          </a:solidFill>
          <a:ln w="0">
            <a:noFill/>
            <a:prstDash val="solid"/>
          </a:ln>
        </p:spPr>
      </p:sp>
      <p:sp>
        <p:nvSpPr>
          <p:cNvPr id="5" name="矩形 4"/>
          <p:cNvSpPr>
            <a:spLocks noGrp="1"/>
          </p:cNvSpPr>
          <p:nvPr/>
        </p:nvSpPr>
        <p:spPr>
          <a:xfrm>
            <a:off x="11277600" y="6276975"/>
            <a:ext cx="514350" cy="238125"/>
          </a:xfrm>
          <a:prstGeom prst="rect">
            <a:avLst/>
          </a:prstGeom>
        </p:spPr>
        <p:txBody>
          <a:bodyPr lIns="0" tIns="0" rIns="0" bIns="0" anchor="ctr">
            <a:normAutofit/>
          </a:bodyPr>
          <a:lstStyle/>
          <a:p>
            <a:pPr algn="r">
              <a:defRPr sz="11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24</a:t>
            </a: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390525" y="1866900"/>
            <a:ext cx="1714500" cy="28575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algn="l">
              <a:defRPr sz="1800" b="1">
                <a:solidFill>
                  <a:srgbClr val="555555"/>
                </a:solidFill>
                <a:latin typeface="PingFang SC"/>
                <a:ea typeface="PingFang SC"/>
                <a:cs typeface="PingFang SC"/>
              </a:defRPr>
            </a:pPr>
            <a:r>
              <a:t>长期愿景</a:t>
            </a: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390525" y="2362200"/>
            <a:ext cx="2476500" cy="2190750"/>
          </a:xfrm>
          <a:prstGeom prst="rect">
            <a:avLst/>
          </a:prstGeom>
          <a:solidFill>
            <a:srgbClr val="F6F6F6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8" name="矩形 7"/>
          <p:cNvSpPr>
            <a:spLocks noGrp="1"/>
          </p:cNvSpPr>
          <p:nvPr/>
        </p:nvSpPr>
        <p:spPr>
          <a:xfrm>
            <a:off x="619125" y="2590800"/>
            <a:ext cx="2019300" cy="342900"/>
          </a:xfrm>
          <a:prstGeom prst="rect">
            <a:avLst/>
          </a:prstGeom>
        </p:spPr>
        <p:txBody>
          <a:bodyPr lIns="0" tIns="0" rIns="0" bIns="0" anchor="ctr">
            <a:normAutofit/>
          </a:bodyPr>
          <a:lstStyle/>
          <a:p>
            <a:pPr algn="l">
              <a:defRPr sz="2025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教师全场景</a:t>
            </a: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619125" y="3048000"/>
            <a:ext cx="2019300" cy="131445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algn="l">
              <a:defRPr sz="135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覆盖教师培训、教研、教学、工作坊、工作室、AI 通识学习和实训等业务场景，让平台成为教师发展和业务开展的统一入口。</a:t>
            </a: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3248025" y="2362200"/>
            <a:ext cx="2476500" cy="2190750"/>
          </a:xfrm>
          <a:prstGeom prst="rect">
            <a:avLst/>
          </a:prstGeom>
          <a:solidFill>
            <a:srgbClr val="F6F6F6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11" name="矩形 10"/>
          <p:cNvSpPr>
            <a:spLocks noGrp="1"/>
          </p:cNvSpPr>
          <p:nvPr/>
        </p:nvSpPr>
        <p:spPr>
          <a:xfrm>
            <a:off x="3476625" y="2590800"/>
            <a:ext cx="2019300" cy="342900"/>
          </a:xfrm>
          <a:prstGeom prst="rect">
            <a:avLst/>
          </a:prstGeom>
        </p:spPr>
        <p:txBody>
          <a:bodyPr lIns="0" tIns="0" rIns="0" bIns="0" anchor="ctr">
            <a:normAutofit/>
          </a:bodyPr>
          <a:lstStyle/>
          <a:p>
            <a:pPr algn="l">
              <a:defRPr sz="1875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覆盖更多场景数据</a:t>
            </a: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3476625" y="3048000"/>
            <a:ext cx="2019300" cy="131445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algn="l">
              <a:defRPr sz="127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覆盖教学、教研、培训学习、实训操作、资料使用、内容生成、智能体交互和成果沉淀等数据，形成统一的数据资产。</a:t>
            </a: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6105525" y="2362200"/>
            <a:ext cx="2476500" cy="2190750"/>
          </a:xfrm>
          <a:prstGeom prst="rect">
            <a:avLst/>
          </a:prstGeom>
          <a:solidFill>
            <a:srgbClr val="F6F6F6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14" name="矩形 13"/>
          <p:cNvSpPr>
            <a:spLocks noGrp="1"/>
          </p:cNvSpPr>
          <p:nvPr/>
        </p:nvSpPr>
        <p:spPr>
          <a:xfrm>
            <a:off x="6334125" y="2590800"/>
            <a:ext cx="2019300" cy="342900"/>
          </a:xfrm>
          <a:prstGeom prst="rect">
            <a:avLst/>
          </a:prstGeom>
        </p:spPr>
        <p:txBody>
          <a:bodyPr lIns="0" tIns="0" rIns="0" bIns="0" anchor="ctr">
            <a:normAutofit/>
          </a:bodyPr>
          <a:lstStyle/>
          <a:p>
            <a:pPr algn="l">
              <a:defRPr sz="2025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教师全域档案</a:t>
            </a: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6334125" y="3048000"/>
            <a:ext cx="2019300" cy="131445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algn="l">
              <a:defRPr sz="135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从单次培训记录升级为教师成长档案，支撑教师画像、发展建议、资源推荐和组织管理。</a:t>
            </a: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8963025" y="2362200"/>
            <a:ext cx="2476500" cy="2190750"/>
          </a:xfrm>
          <a:prstGeom prst="rect">
            <a:avLst/>
          </a:prstGeom>
          <a:solidFill>
            <a:srgbClr val="000000"/>
          </a:solidFill>
          <a:ln w="0">
            <a:noFill/>
            <a:prstDash val="solid"/>
          </a:ln>
        </p:spPr>
      </p:sp>
      <p:sp>
        <p:nvSpPr>
          <p:cNvPr id="17" name="矩形 16"/>
          <p:cNvSpPr>
            <a:spLocks noGrp="1"/>
          </p:cNvSpPr>
          <p:nvPr/>
        </p:nvSpPr>
        <p:spPr>
          <a:xfrm>
            <a:off x="9191625" y="2590800"/>
            <a:ext cx="2019300" cy="342900"/>
          </a:xfrm>
          <a:prstGeom prst="rect">
            <a:avLst/>
          </a:prstGeom>
        </p:spPr>
        <p:txBody>
          <a:bodyPr lIns="0" tIns="0" rIns="0" bIns="0" anchor="ctr">
            <a:normAutofit/>
          </a:bodyPr>
          <a:lstStyle/>
          <a:p>
            <a:pPr algn="l">
              <a:defRPr sz="2025" b="1">
                <a:solidFill>
                  <a:srgbClr val="FF6B35"/>
                </a:solidFill>
                <a:latin typeface="PingFang SC"/>
                <a:ea typeface="PingFang SC"/>
                <a:cs typeface="PingFang SC"/>
              </a:defRPr>
            </a:pPr>
            <a:r>
              <a:t>持续增购</a:t>
            </a:r>
          </a:p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9191625" y="3048000"/>
            <a:ext cx="2019300" cy="131445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algn="l">
              <a:defRPr sz="135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t>每个新增场景都复用资料库、空间、智能体和档案数据，推动客户从单点采购走向场景持续增购。</a:t>
            </a:r>
          </a:p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390525" y="5219700"/>
            <a:ext cx="11401425" cy="857250"/>
          </a:xfrm>
          <a:prstGeom prst="rect">
            <a:avLst/>
          </a:prstGeom>
          <a:solidFill>
            <a:srgbClr val="000000"/>
          </a:solidFill>
          <a:ln w="0">
            <a:noFill/>
            <a:prstDash val="solid"/>
          </a:ln>
        </p:spPr>
      </p:sp>
      <p:sp>
        <p:nvSpPr>
          <p:cNvPr id="20" name="矩形 19"/>
          <p:cNvSpPr>
            <a:spLocks noGrp="1"/>
          </p:cNvSpPr>
          <p:nvPr/>
        </p:nvSpPr>
        <p:spPr>
          <a:xfrm>
            <a:off x="685800" y="5410200"/>
            <a:ext cx="7381875" cy="457200"/>
          </a:xfrm>
          <a:prstGeom prst="rect">
            <a:avLst/>
          </a:prstGeom>
        </p:spPr>
        <p:txBody>
          <a:bodyPr lIns="0" tIns="0" rIns="0" bIns="0" anchor="ctr">
            <a:normAutofit fontScale="83333"/>
          </a:bodyPr>
          <a:lstStyle/>
          <a:p>
            <a:pPr algn="l">
              <a:defRPr sz="18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t>通答平台的长期价值，是让不同业务场景不再孤立，而是在同一个 AI 原生底座上互相增益。</a:t>
            </a:r>
          </a:p>
        </p:txBody>
      </p:sp>
      <p:sp>
        <p:nvSpPr>
          <p:cNvPr id="21" name="矩形 20"/>
          <p:cNvSpPr>
            <a:spLocks noGrp="1"/>
          </p:cNvSpPr>
          <p:nvPr/>
        </p:nvSpPr>
        <p:spPr>
          <a:xfrm>
            <a:off x="8420100" y="5391150"/>
            <a:ext cx="1238250" cy="323850"/>
          </a:xfrm>
          <a:prstGeom prst="rect">
            <a:avLst/>
          </a:prstGeom>
        </p:spPr>
        <p:txBody>
          <a:bodyPr lIns="0" tIns="0" rIns="0" bIns="0" anchor="ctr">
            <a:normAutofit fontScale="97701"/>
          </a:bodyPr>
          <a:lstStyle/>
          <a:p>
            <a:pPr algn="ctr">
              <a:defRPr sz="2175" b="1">
                <a:solidFill>
                  <a:srgbClr val="FF6B35"/>
                </a:solidFill>
                <a:latin typeface="PingFang SC"/>
                <a:ea typeface="PingFang SC"/>
                <a:cs typeface="PingFang SC"/>
              </a:defRPr>
            </a:pPr>
            <a:r>
              <a:t>1+1&gt;2</a:t>
            </a:r>
          </a:p>
        </p:txBody>
      </p:sp>
      <p:sp>
        <p:nvSpPr>
          <p:cNvPr id="22" name="矩形 21"/>
          <p:cNvSpPr>
            <a:spLocks noGrp="1"/>
          </p:cNvSpPr>
          <p:nvPr/>
        </p:nvSpPr>
        <p:spPr>
          <a:xfrm>
            <a:off x="9505950" y="5391150"/>
            <a:ext cx="2114550" cy="323850"/>
          </a:xfrm>
          <a:prstGeom prst="rect">
            <a:avLst/>
          </a:prstGeom>
        </p:spPr>
        <p:txBody>
          <a:bodyPr lIns="0" tIns="0" rIns="0" bIns="0" anchor="ctr">
            <a:normAutofit/>
          </a:bodyPr>
          <a:lstStyle/>
          <a:p>
            <a:pPr algn="ctr">
              <a:defRPr sz="1575" b="1">
                <a:solidFill>
                  <a:srgbClr val="FF6B35"/>
                </a:solidFill>
                <a:latin typeface="PingFang SC"/>
                <a:ea typeface="PingFang SC"/>
                <a:cs typeface="PingFang SC"/>
              </a:defRPr>
            </a:pPr>
            <a:r>
              <a:t>面向场景持续增购</a:t>
            </a:r>
          </a:p>
        </p:txBody>
      </p:sp>
      <p:sp>
        <p:nvSpPr>
          <p:cNvPr id="23" name="矩形 22"/>
          <p:cNvSpPr>
            <a:spLocks noGrp="1"/>
          </p:cNvSpPr>
          <p:nvPr/>
        </p:nvSpPr>
        <p:spPr>
          <a:xfrm>
            <a:off x="8420100" y="5753100"/>
            <a:ext cx="2971800" cy="209550"/>
          </a:xfrm>
          <a:prstGeom prst="rect">
            <a:avLst/>
          </a:prstGeom>
        </p:spPr>
        <p:txBody>
          <a:bodyPr lIns="0" tIns="0" rIns="0" bIns="0" anchor="ctr">
            <a:normAutofit/>
          </a:bodyPr>
          <a:lstStyle/>
          <a:p>
            <a:pPr algn="ctr">
              <a:defRPr sz="135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t>客户价值和商业收入空间同步放大。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390525" y="342900"/>
            <a:ext cx="2857500" cy="247650"/>
          </a:xfrm>
          <a:prstGeom prst="rect">
            <a:avLst/>
          </a:prstGeom>
        </p:spPr>
        <p:txBody>
          <a:bodyPr lIns="0" tIns="0" rIns="0" bIns="0" anchor="ctr">
            <a:normAutofit/>
          </a:bodyPr>
          <a:lstStyle/>
          <a:p>
            <a:pPr algn="l">
              <a:defRPr sz="1200" b="1">
                <a:solidFill>
                  <a:srgbClr val="555555"/>
                </a:solidFill>
                <a:latin typeface="PingFang SC"/>
                <a:ea typeface="PingFang SC"/>
                <a:cs typeface="PingFang SC"/>
              </a:defRPr>
            </a:pPr>
            <a:r>
              <a:t>开发模式创新</a:t>
            </a: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390525" y="666750"/>
            <a:ext cx="11401425" cy="7239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algn="l">
              <a:defRPr sz="270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通答开发模式创新：拥抱 AI 时代的快速迭代</a:t>
            </a: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390525" y="1504950"/>
            <a:ext cx="11401425" cy="14288"/>
          </a:xfrm>
          <a:prstGeom prst="rect">
            <a:avLst/>
          </a:prstGeom>
          <a:solidFill>
            <a:srgbClr val="B8BCC4"/>
          </a:solidFill>
          <a:ln w="0">
            <a:noFill/>
            <a:prstDash val="solid"/>
          </a:ln>
        </p:spPr>
      </p:sp>
      <p:sp>
        <p:nvSpPr>
          <p:cNvPr id="5" name="矩形 4"/>
          <p:cNvSpPr>
            <a:spLocks noGrp="1"/>
          </p:cNvSpPr>
          <p:nvPr/>
        </p:nvSpPr>
        <p:spPr>
          <a:xfrm>
            <a:off x="11277600" y="6276975"/>
            <a:ext cx="514350" cy="238125"/>
          </a:xfrm>
          <a:prstGeom prst="rect">
            <a:avLst/>
          </a:prstGeom>
        </p:spPr>
        <p:txBody>
          <a:bodyPr lIns="0" tIns="0" rIns="0" bIns="0" anchor="ctr">
            <a:normAutofit/>
          </a:bodyPr>
          <a:lstStyle/>
          <a:p>
            <a:pPr algn="r">
              <a:defRPr sz="11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25</a:t>
            </a: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390525" y="1866900"/>
            <a:ext cx="1714500" cy="28575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algn="l">
              <a:defRPr sz="1800" b="1">
                <a:solidFill>
                  <a:srgbClr val="555555"/>
                </a:solidFill>
                <a:latin typeface="PingFang SC"/>
                <a:ea typeface="PingFang SC"/>
                <a:cs typeface="PingFang SC"/>
              </a:defRPr>
            </a:pPr>
            <a:r>
              <a:t>开发新模式</a:t>
            </a: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390525" y="2324100"/>
            <a:ext cx="4762500" cy="457200"/>
          </a:xfrm>
          <a:prstGeom prst="rect">
            <a:avLst/>
          </a:prstGeom>
        </p:spPr>
        <p:txBody>
          <a:bodyPr lIns="0" tIns="0" rIns="0" bIns="0" anchor="ctr">
            <a:normAutofit/>
          </a:bodyPr>
          <a:lstStyle/>
          <a:p>
            <a:pPr algn="l">
              <a:defRPr sz="270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在 AI 时代，速度即竞争力。</a:t>
            </a: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390525" y="3105150"/>
            <a:ext cx="5715000" cy="104775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algn="l">
              <a:defRPr sz="195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通答以 AI 原生底座和抽象业务模型为基础，
把需求、设计、代码、联调、测试和部署纳入同一条 AI 辅助链路。</a:t>
            </a: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390525" y="4476750"/>
            <a:ext cx="5715000" cy="66675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algn="l">
              <a:defRPr sz="1725" b="0">
                <a:solidFill>
                  <a:srgbClr val="555555"/>
                </a:solidFill>
                <a:latin typeface="PingFang SC"/>
                <a:ea typeface="PingFang SC"/>
                <a:cs typeface="PingFang SC"/>
              </a:defRPr>
            </a:pPr>
            <a:r>
              <a:t>这不是单纯提升代码生成效率，而是重塑从业务需求到产品功能上线的研发协作方式。</a:t>
            </a: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6953250" y="2114550"/>
            <a:ext cx="4000500" cy="2571750"/>
          </a:xfrm>
          <a:prstGeom prst="rect">
            <a:avLst/>
          </a:prstGeom>
          <a:solidFill>
            <a:srgbClr val="000000"/>
          </a:solidFill>
          <a:ln w="0">
            <a:noFill/>
            <a:prstDash val="solid"/>
          </a:ln>
        </p:spPr>
      </p:sp>
      <p:sp>
        <p:nvSpPr>
          <p:cNvPr id="11" name="矩形 10"/>
          <p:cNvSpPr>
            <a:spLocks noGrp="1"/>
          </p:cNvSpPr>
          <p:nvPr/>
        </p:nvSpPr>
        <p:spPr>
          <a:xfrm>
            <a:off x="7524750" y="2552700"/>
            <a:ext cx="2857500" cy="40005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t>快速上线</a:t>
            </a: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7524750" y="3200400"/>
            <a:ext cx="2857500" cy="40005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algn="ctr">
              <a:defRPr sz="2400" b="1">
                <a:solidFill>
                  <a:srgbClr val="FF6B35"/>
                </a:solidFill>
                <a:latin typeface="PingFang SC"/>
                <a:ea typeface="PingFang SC"/>
                <a:cs typeface="PingFang SC"/>
              </a:defRPr>
            </a:pPr>
            <a:r>
              <a:t>快速试错</a:t>
            </a: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7524750" y="3848100"/>
            <a:ext cx="2857500" cy="40005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t>快速迭代</a:t>
            </a: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390525" y="5619750"/>
            <a:ext cx="11401425" cy="514350"/>
          </a:xfrm>
          <a:prstGeom prst="rect">
            <a:avLst/>
          </a:prstGeom>
          <a:solidFill>
            <a:srgbClr val="F6F6F6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15" name="矩形 14"/>
          <p:cNvSpPr>
            <a:spLocks noGrp="1"/>
          </p:cNvSpPr>
          <p:nvPr/>
        </p:nvSpPr>
        <p:spPr>
          <a:xfrm>
            <a:off x="666750" y="5753100"/>
            <a:ext cx="10839450" cy="247650"/>
          </a:xfrm>
          <a:prstGeom prst="rect">
            <a:avLst/>
          </a:prstGeom>
        </p:spPr>
        <p:txBody>
          <a:bodyPr lIns="0" tIns="0" rIns="0" bIns="0" anchor="ctr">
            <a:normAutofit fontScale="98485"/>
          </a:bodyPr>
          <a:lstStyle/>
          <a:p>
            <a:pPr algn="ctr">
              <a:defRPr sz="165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目标：让业务需求更快被理解、被表达、被验证，并更快转化为可上线、可复用、可持续演进的平台能力。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390525" y="342900"/>
            <a:ext cx="2857500" cy="247650"/>
          </a:xfrm>
          <a:prstGeom prst="rect">
            <a:avLst/>
          </a:prstGeom>
        </p:spPr>
        <p:txBody>
          <a:bodyPr lIns="0" tIns="0" rIns="0" bIns="0" anchor="ctr">
            <a:normAutofit/>
          </a:bodyPr>
          <a:lstStyle/>
          <a:p>
            <a:pPr algn="l">
              <a:defRPr sz="1200" b="1">
                <a:solidFill>
                  <a:srgbClr val="555555"/>
                </a:solidFill>
                <a:latin typeface="PingFang SC"/>
                <a:ea typeface="PingFang SC"/>
                <a:cs typeface="PingFang SC"/>
              </a:defRPr>
            </a:pPr>
            <a:r>
              <a:t>开发模式创新</a:t>
            </a: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390525" y="666750"/>
            <a:ext cx="11401425" cy="7239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algn="l">
              <a:defRPr sz="2625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AI 驱动的全链路开发流程把需求到上线压缩成快速闭环</a:t>
            </a: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390525" y="1504950"/>
            <a:ext cx="11401425" cy="14288"/>
          </a:xfrm>
          <a:prstGeom prst="rect">
            <a:avLst/>
          </a:prstGeom>
          <a:solidFill>
            <a:srgbClr val="B8BCC4"/>
          </a:solidFill>
          <a:ln w="0">
            <a:noFill/>
            <a:prstDash val="solid"/>
          </a:ln>
        </p:spPr>
      </p:sp>
      <p:sp>
        <p:nvSpPr>
          <p:cNvPr id="5" name="矩形 4"/>
          <p:cNvSpPr>
            <a:spLocks noGrp="1"/>
          </p:cNvSpPr>
          <p:nvPr/>
        </p:nvSpPr>
        <p:spPr>
          <a:xfrm>
            <a:off x="11277600" y="6276975"/>
            <a:ext cx="514350" cy="238125"/>
          </a:xfrm>
          <a:prstGeom prst="rect">
            <a:avLst/>
          </a:prstGeom>
        </p:spPr>
        <p:txBody>
          <a:bodyPr lIns="0" tIns="0" rIns="0" bIns="0" anchor="ctr">
            <a:normAutofit/>
          </a:bodyPr>
          <a:lstStyle/>
          <a:p>
            <a:pPr algn="r">
              <a:defRPr sz="11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26</a:t>
            </a: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390525" y="1866900"/>
            <a:ext cx="1714500" cy="28575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algn="l">
              <a:defRPr sz="1800" b="1">
                <a:solidFill>
                  <a:srgbClr val="555555"/>
                </a:solidFill>
                <a:latin typeface="PingFang SC"/>
                <a:ea typeface="PingFang SC"/>
                <a:cs typeface="PingFang SC"/>
              </a:defRPr>
            </a:pPr>
            <a:r>
              <a:t>全链路流程</a:t>
            </a: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552450" y="2190750"/>
            <a:ext cx="552450" cy="266700"/>
          </a:xfrm>
          <a:prstGeom prst="rect">
            <a:avLst/>
          </a:prstGeom>
        </p:spPr>
        <p:txBody>
          <a:bodyPr lIns="0" tIns="0" rIns="0" bIns="0" anchor="ctr">
            <a:normAutofit fontScale="93333"/>
          </a:bodyPr>
          <a:lstStyle/>
          <a:p>
            <a:pPr algn="ctr">
              <a:defRPr sz="1875" b="1">
                <a:solidFill>
                  <a:srgbClr val="FF6B35"/>
                </a:solidFill>
                <a:latin typeface="PingFang SC"/>
                <a:ea typeface="PingFang SC"/>
                <a:cs typeface="PingFang SC"/>
              </a:defRPr>
            </a:pPr>
            <a:r>
              <a:t>01</a:t>
            </a: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1257300" y="2133600"/>
            <a:ext cx="3905250" cy="28575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algn="l">
              <a:defRPr sz="180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AI 驱动需求</a:t>
            </a: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1257300" y="2457450"/>
            <a:ext cx="4286250" cy="24765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algn="l">
              <a:defRPr sz="1350" b="0">
                <a:solidFill>
                  <a:srgbClr val="555555"/>
                </a:solidFill>
                <a:latin typeface="PingFang SC"/>
                <a:ea typeface="PingFang SC"/>
                <a:cs typeface="PingFang SC"/>
              </a:defRPr>
            </a:pPr>
            <a:r>
              <a:t>自然语言描述需求，AI 理解并形成结构化方案。</a:t>
            </a: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552450" y="2933700"/>
            <a:ext cx="552450" cy="266700"/>
          </a:xfrm>
          <a:prstGeom prst="rect">
            <a:avLst/>
          </a:prstGeom>
        </p:spPr>
        <p:txBody>
          <a:bodyPr lIns="0" tIns="0" rIns="0" bIns="0" anchor="ctr">
            <a:normAutofit fontScale="93333"/>
          </a:bodyPr>
          <a:lstStyle/>
          <a:p>
            <a:pPr algn="ctr">
              <a:defRPr sz="1875" b="1">
                <a:solidFill>
                  <a:srgbClr val="FF6B35"/>
                </a:solidFill>
                <a:latin typeface="PingFang SC"/>
                <a:ea typeface="PingFang SC"/>
                <a:cs typeface="PingFang SC"/>
              </a:defRPr>
            </a:pPr>
            <a:r>
              <a:t>02</a:t>
            </a: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1257300" y="2876550"/>
            <a:ext cx="3905250" cy="28575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algn="l">
              <a:defRPr sz="180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AI 驱动原型与前端代码</a:t>
            </a: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1257300" y="3200400"/>
            <a:ext cx="4286250" cy="24765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algn="l">
              <a:defRPr sz="1350" b="0">
                <a:solidFill>
                  <a:srgbClr val="555555"/>
                </a:solidFill>
                <a:latin typeface="PingFang SC"/>
                <a:ea typeface="PingFang SC"/>
                <a:cs typeface="PingFang SC"/>
              </a:defRPr>
            </a:pPr>
            <a:r>
              <a:t>自动生成页面原型和前端可用代码。</a:t>
            </a: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552450" y="3676650"/>
            <a:ext cx="552450" cy="266700"/>
          </a:xfrm>
          <a:prstGeom prst="rect">
            <a:avLst/>
          </a:prstGeom>
        </p:spPr>
        <p:txBody>
          <a:bodyPr lIns="0" tIns="0" rIns="0" bIns="0" anchor="ctr">
            <a:normAutofit fontScale="93333"/>
          </a:bodyPr>
          <a:lstStyle/>
          <a:p>
            <a:pPr algn="ctr">
              <a:defRPr sz="1875" b="1">
                <a:solidFill>
                  <a:srgbClr val="FF6B35"/>
                </a:solidFill>
                <a:latin typeface="PingFang SC"/>
                <a:ea typeface="PingFang SC"/>
                <a:cs typeface="PingFang SC"/>
              </a:defRPr>
            </a:pPr>
            <a:r>
              <a:t>03</a:t>
            </a: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1257300" y="3619500"/>
            <a:ext cx="3905250" cy="28575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algn="l">
              <a:defRPr sz="180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AI 驱动后端设计与代码</a:t>
            </a: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1257300" y="3943350"/>
            <a:ext cx="4286250" cy="24765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algn="l">
              <a:defRPr sz="1350" b="0">
                <a:solidFill>
                  <a:srgbClr val="555555"/>
                </a:solidFill>
                <a:latin typeface="PingFang SC"/>
                <a:ea typeface="PingFang SC"/>
                <a:cs typeface="PingFang SC"/>
              </a:defRPr>
            </a:pPr>
            <a:r>
              <a:t>生成后端架构设计方案和后端代码。</a:t>
            </a: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552450" y="4419600"/>
            <a:ext cx="552450" cy="266700"/>
          </a:xfrm>
          <a:prstGeom prst="rect">
            <a:avLst/>
          </a:prstGeom>
        </p:spPr>
        <p:txBody>
          <a:bodyPr lIns="0" tIns="0" rIns="0" bIns="0" anchor="ctr">
            <a:normAutofit fontScale="93333"/>
          </a:bodyPr>
          <a:lstStyle/>
          <a:p>
            <a:pPr algn="ctr">
              <a:defRPr sz="1875" b="1">
                <a:solidFill>
                  <a:srgbClr val="FF6B35"/>
                </a:solidFill>
                <a:latin typeface="PingFang SC"/>
                <a:ea typeface="PingFang SC"/>
                <a:cs typeface="PingFang SC"/>
              </a:defRPr>
            </a:pPr>
            <a:r>
              <a:t>04</a:t>
            </a:r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1257300" y="4362450"/>
            <a:ext cx="3905250" cy="28575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algn="l">
              <a:defRPr sz="180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AI 驱动前后端联调</a:t>
            </a:r>
          </a:p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1257300" y="4686300"/>
            <a:ext cx="4286250" cy="24765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algn="l">
              <a:defRPr sz="1350" b="0">
                <a:solidFill>
                  <a:srgbClr val="555555"/>
                </a:solidFill>
                <a:latin typeface="PingFang SC"/>
                <a:ea typeface="PingFang SC"/>
                <a:cs typeface="PingFang SC"/>
              </a:defRPr>
            </a:pPr>
            <a:r>
              <a:t>辅助接口对接与联调测试，确保数据流转。</a:t>
            </a:r>
          </a:p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552450" y="5162550"/>
            <a:ext cx="552450" cy="266700"/>
          </a:xfrm>
          <a:prstGeom prst="rect">
            <a:avLst/>
          </a:prstGeom>
        </p:spPr>
        <p:txBody>
          <a:bodyPr lIns="0" tIns="0" rIns="0" bIns="0" anchor="ctr">
            <a:normAutofit fontScale="93333"/>
          </a:bodyPr>
          <a:lstStyle/>
          <a:p>
            <a:pPr algn="ctr">
              <a:defRPr sz="1875" b="1">
                <a:solidFill>
                  <a:srgbClr val="FF6B35"/>
                </a:solidFill>
                <a:latin typeface="PingFang SC"/>
                <a:ea typeface="PingFang SC"/>
                <a:cs typeface="PingFang SC"/>
              </a:defRPr>
            </a:pPr>
            <a:r>
              <a:t>05</a:t>
            </a:r>
          </a:p>
        </p:txBody>
      </p:sp>
      <p:sp>
        <p:nvSpPr>
          <p:cNvPr id="20" name="矩形 19"/>
          <p:cNvSpPr>
            <a:spLocks noGrp="1"/>
          </p:cNvSpPr>
          <p:nvPr/>
        </p:nvSpPr>
        <p:spPr>
          <a:xfrm>
            <a:off x="1257300" y="5105400"/>
            <a:ext cx="3905250" cy="28575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algn="l">
              <a:defRPr sz="180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AI 驱动集成测试</a:t>
            </a:r>
          </a:p>
        </p:txBody>
      </p:sp>
      <p:sp>
        <p:nvSpPr>
          <p:cNvPr id="21" name="矩形 20"/>
          <p:cNvSpPr>
            <a:spLocks noGrp="1"/>
          </p:cNvSpPr>
          <p:nvPr/>
        </p:nvSpPr>
        <p:spPr>
          <a:xfrm>
            <a:off x="1257300" y="5429250"/>
            <a:ext cx="4286250" cy="24765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algn="l">
              <a:defRPr sz="1350" b="0">
                <a:solidFill>
                  <a:srgbClr val="555555"/>
                </a:solidFill>
                <a:latin typeface="PingFang SC"/>
                <a:ea typeface="PingFang SC"/>
                <a:cs typeface="PingFang SC"/>
              </a:defRPr>
            </a:pPr>
            <a:r>
              <a:t>自动生成用例，执行集成测试并保障稳定。</a:t>
            </a:r>
          </a:p>
        </p:txBody>
      </p:sp>
      <p:sp>
        <p:nvSpPr>
          <p:cNvPr id="22" name="矩形 21"/>
          <p:cNvSpPr>
            <a:spLocks noGrp="1"/>
          </p:cNvSpPr>
          <p:nvPr/>
        </p:nvSpPr>
        <p:spPr>
          <a:xfrm>
            <a:off x="6553200" y="2076450"/>
            <a:ext cx="4953000" cy="3371850"/>
          </a:xfrm>
          <a:prstGeom prst="rect">
            <a:avLst/>
          </a:prstGeom>
          <a:solidFill>
            <a:srgbClr val="000000"/>
          </a:solidFill>
          <a:ln w="0">
            <a:noFill/>
            <a:prstDash val="solid"/>
          </a:ln>
        </p:spPr>
      </p:sp>
      <p:sp>
        <p:nvSpPr>
          <p:cNvPr id="23" name="矩形 22"/>
          <p:cNvSpPr>
            <a:spLocks noGrp="1"/>
          </p:cNvSpPr>
          <p:nvPr/>
        </p:nvSpPr>
        <p:spPr>
          <a:xfrm>
            <a:off x="6953250" y="2457450"/>
            <a:ext cx="4171950" cy="361950"/>
          </a:xfrm>
          <a:prstGeom prst="rect">
            <a:avLst/>
          </a:prstGeom>
        </p:spPr>
        <p:txBody>
          <a:bodyPr lIns="0" tIns="0" rIns="0" bIns="0" anchor="ctr">
            <a:normAutofit/>
          </a:bodyPr>
          <a:lstStyle/>
          <a:p>
            <a:pPr algn="ctr">
              <a:defRPr sz="21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t>打破边界，敏捷协同，价值共创</a:t>
            </a:r>
          </a:p>
        </p:txBody>
      </p:sp>
      <p:sp>
        <p:nvSpPr>
          <p:cNvPr id="24" name="矩形 23"/>
          <p:cNvSpPr>
            <a:spLocks noGrp="1"/>
          </p:cNvSpPr>
          <p:nvPr/>
        </p:nvSpPr>
        <p:spPr>
          <a:xfrm>
            <a:off x="7067550" y="3181350"/>
            <a:ext cx="3924300" cy="16764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algn="l">
              <a:defRPr sz="150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t>研发提前介入：团队参与产品需求设计阶段
提升综合能力：强化需求分析与理解能力
实现并行工作：需求、设计与开发同步推进
打破线性束缚：减少传递损耗，提升效率
全域能力探索：借助 AI 打破产研能力边界</a:t>
            </a:r>
          </a:p>
        </p:txBody>
      </p:sp>
      <p:sp>
        <p:nvSpPr>
          <p:cNvPr id="25" name="矩形 24"/>
          <p:cNvSpPr>
            <a:spLocks noGrp="1"/>
          </p:cNvSpPr>
          <p:nvPr/>
        </p:nvSpPr>
        <p:spPr>
          <a:xfrm>
            <a:off x="838200" y="5772150"/>
            <a:ext cx="10515600" cy="285750"/>
          </a:xfrm>
          <a:prstGeom prst="rect">
            <a:avLst/>
          </a:prstGeom>
        </p:spPr>
        <p:txBody>
          <a:bodyPr lIns="0" tIns="0" rIns="0" bIns="0" anchor="ctr">
            <a:normAutofit/>
          </a:bodyPr>
          <a:lstStyle/>
          <a:p>
            <a:pPr algn="ctr">
              <a:defRPr sz="1725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价值：把传统串行研发变成 AI 辅助下的并行协同，让业务反馈更快进入产品迭代。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390525" y="342900"/>
            <a:ext cx="2857500" cy="247650"/>
          </a:xfrm>
          <a:prstGeom prst="rect">
            <a:avLst/>
          </a:prstGeom>
        </p:spPr>
        <p:txBody>
          <a:bodyPr lIns="0" tIns="0" rIns="0" bIns="0" anchor="ctr">
            <a:normAutofit/>
          </a:bodyPr>
          <a:lstStyle/>
          <a:p>
            <a:pPr algn="l">
              <a:defRPr sz="1200" b="1">
                <a:solidFill>
                  <a:srgbClr val="555555"/>
                </a:solidFill>
                <a:latin typeface="PingFang SC"/>
                <a:ea typeface="PingFang SC"/>
                <a:cs typeface="PingFang SC"/>
              </a:defRPr>
            </a:pPr>
            <a:r>
              <a:t>开发模式创新</a:t>
            </a: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390525" y="666750"/>
            <a:ext cx="11401425" cy="7239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algn="l">
              <a:defRPr sz="270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产品开发模式探索：稳态、配置、定开三层协同</a:t>
            </a: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390525" y="1504950"/>
            <a:ext cx="11401425" cy="14288"/>
          </a:xfrm>
          <a:prstGeom prst="rect">
            <a:avLst/>
          </a:prstGeom>
          <a:solidFill>
            <a:srgbClr val="B8BCC4"/>
          </a:solidFill>
          <a:ln w="0">
            <a:noFill/>
            <a:prstDash val="solid"/>
          </a:ln>
        </p:spPr>
      </p:sp>
      <p:sp>
        <p:nvSpPr>
          <p:cNvPr id="5" name="矩形 4"/>
          <p:cNvSpPr>
            <a:spLocks noGrp="1"/>
          </p:cNvSpPr>
          <p:nvPr/>
        </p:nvSpPr>
        <p:spPr>
          <a:xfrm>
            <a:off x="11277600" y="6276975"/>
            <a:ext cx="514350" cy="238125"/>
          </a:xfrm>
          <a:prstGeom prst="rect">
            <a:avLst/>
          </a:prstGeom>
        </p:spPr>
        <p:txBody>
          <a:bodyPr lIns="0" tIns="0" rIns="0" bIns="0" anchor="ctr">
            <a:normAutofit/>
          </a:bodyPr>
          <a:lstStyle/>
          <a:p>
            <a:pPr algn="r">
              <a:defRPr sz="11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27</a:t>
            </a: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390525" y="1828800"/>
            <a:ext cx="1714500" cy="28575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algn="l">
              <a:defRPr sz="1800" b="1">
                <a:solidFill>
                  <a:srgbClr val="555555"/>
                </a:solidFill>
                <a:latin typeface="PingFang SC"/>
                <a:ea typeface="PingFang SC"/>
                <a:cs typeface="PingFang SC"/>
              </a:defRPr>
            </a:pPr>
            <a:r>
              <a:t>三层协同</a:t>
            </a: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790575" y="2190750"/>
            <a:ext cx="10610850" cy="990600"/>
          </a:xfrm>
          <a:prstGeom prst="rect">
            <a:avLst/>
          </a:prstGeom>
          <a:solidFill>
            <a:srgbClr val="F6F6F6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8" name="矩形 7"/>
          <p:cNvSpPr>
            <a:spLocks noGrp="1"/>
          </p:cNvSpPr>
          <p:nvPr/>
        </p:nvSpPr>
        <p:spPr>
          <a:xfrm>
            <a:off x="1352550" y="2400300"/>
            <a:ext cx="6096000" cy="32385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algn="l">
              <a:defRPr sz="2100" b="1">
                <a:solidFill>
                  <a:srgbClr val="FF6B35"/>
                </a:solidFill>
                <a:latin typeface="PingFang SC"/>
                <a:ea typeface="PingFang SC"/>
                <a:cs typeface="PingFang SC"/>
              </a:defRPr>
            </a:pPr>
            <a:r>
              <a:t>前台 AI 定制开发层：AI Vibe Coding</a:t>
            </a: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1352550" y="2819400"/>
            <a:ext cx="8953500" cy="2667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algn="l">
              <a:defRPr sz="1500" b="0">
                <a:solidFill>
                  <a:srgbClr val="555555"/>
                </a:solidFill>
                <a:latin typeface="PingFang SC"/>
                <a:ea typeface="PingFang SC"/>
                <a:cs typeface="PingFang SC"/>
              </a:defRPr>
            </a:pPr>
            <a:r>
              <a:t>基于稳态层能力，通过 AI 驱动快速生成前台代码，敏捷响应市场变化与用户个性化需求。</a:t>
            </a:r>
          </a:p>
        </p:txBody>
      </p:sp>
      <p:sp>
        <p:nvSpPr>
          <p:cNvPr id="10" name="上箭头 9"/>
          <p:cNvSpPr>
            <a:spLocks noGrp="1"/>
          </p:cNvSpPr>
          <p:nvPr/>
        </p:nvSpPr>
        <p:spPr>
          <a:xfrm>
            <a:off x="5924550" y="3314700"/>
            <a:ext cx="342900" cy="400050"/>
          </a:xfrm>
          <a:prstGeom prst="upArrow">
            <a:avLst/>
          </a:prstGeom>
          <a:solidFill>
            <a:srgbClr val="FF6B35"/>
          </a:solidFill>
          <a:ln w="0">
            <a:noFill/>
            <a:prstDash val="solid"/>
          </a:ln>
        </p:spPr>
      </p:sp>
      <p:sp>
        <p:nvSpPr>
          <p:cNvPr id="11" name="矩形 10"/>
          <p:cNvSpPr>
            <a:spLocks noGrp="1"/>
          </p:cNvSpPr>
          <p:nvPr/>
        </p:nvSpPr>
        <p:spPr>
          <a:xfrm>
            <a:off x="790575" y="3829050"/>
            <a:ext cx="10610850" cy="990600"/>
          </a:xfrm>
          <a:prstGeom prst="rect">
            <a:avLst/>
          </a:prstGeom>
          <a:solidFill>
            <a:srgbClr val="F6F6F6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12" name="矩形 11"/>
          <p:cNvSpPr>
            <a:spLocks noGrp="1"/>
          </p:cNvSpPr>
          <p:nvPr/>
        </p:nvSpPr>
        <p:spPr>
          <a:xfrm>
            <a:off x="1352550" y="4038600"/>
            <a:ext cx="5334000" cy="32385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algn="l">
              <a:defRPr sz="210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配置层：解决方案与场景模板</a:t>
            </a: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1352550" y="4457700"/>
            <a:ext cx="8953500" cy="2667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algn="l">
              <a:defRPr sz="1500" b="0">
                <a:solidFill>
                  <a:srgbClr val="555555"/>
                </a:solidFill>
                <a:latin typeface="PingFang SC"/>
                <a:ea typeface="PingFang SC"/>
                <a:cs typeface="PingFang SC"/>
              </a:defRPr>
            </a:pPr>
            <a:r>
              <a:t>基于稳态层能力快速组合行业方案，提供丰富空间模板和场景模板，支持一键绑定和快速交付。</a:t>
            </a:r>
          </a:p>
        </p:txBody>
      </p:sp>
      <p:sp>
        <p:nvSpPr>
          <p:cNvPr id="14" name="上箭头 13"/>
          <p:cNvSpPr>
            <a:spLocks noGrp="1"/>
          </p:cNvSpPr>
          <p:nvPr/>
        </p:nvSpPr>
        <p:spPr>
          <a:xfrm>
            <a:off x="5924550" y="4953000"/>
            <a:ext cx="342900" cy="400050"/>
          </a:xfrm>
          <a:prstGeom prst="upArrow">
            <a:avLst/>
          </a:prstGeom>
          <a:solidFill>
            <a:srgbClr val="FF6B35"/>
          </a:solidFill>
          <a:ln w="0">
            <a:noFill/>
            <a:prstDash val="solid"/>
          </a:ln>
        </p:spPr>
      </p:sp>
      <p:sp>
        <p:nvSpPr>
          <p:cNvPr id="15" name="矩形 14"/>
          <p:cNvSpPr>
            <a:spLocks noGrp="1"/>
          </p:cNvSpPr>
          <p:nvPr/>
        </p:nvSpPr>
        <p:spPr>
          <a:xfrm>
            <a:off x="790575" y="5467350"/>
            <a:ext cx="10610850" cy="685800"/>
          </a:xfrm>
          <a:prstGeom prst="rect">
            <a:avLst/>
          </a:prstGeom>
          <a:solidFill>
            <a:srgbClr val="000000"/>
          </a:solidFill>
          <a:ln w="0">
            <a:noFill/>
            <a:prstDash val="solid"/>
          </a:ln>
        </p:spPr>
      </p:sp>
      <p:sp>
        <p:nvSpPr>
          <p:cNvPr id="16" name="矩形 15"/>
          <p:cNvSpPr>
            <a:spLocks noGrp="1"/>
          </p:cNvSpPr>
          <p:nvPr/>
        </p:nvSpPr>
        <p:spPr>
          <a:xfrm>
            <a:off x="1352550" y="5600700"/>
            <a:ext cx="4953000" cy="285750"/>
          </a:xfrm>
          <a:prstGeom prst="rect">
            <a:avLst/>
          </a:prstGeom>
        </p:spPr>
        <p:txBody>
          <a:bodyPr lIns="0" tIns="0" rIns="0" bIns="0" anchor="t">
            <a:normAutofit fontScale="96154"/>
          </a:bodyPr>
          <a:lstStyle/>
          <a:p>
            <a:pPr algn="l">
              <a:defRPr sz="19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t>稳态层：AI 原生产品底座</a:t>
            </a:r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1352550" y="5924550"/>
            <a:ext cx="8953500" cy="190500"/>
          </a:xfrm>
          <a:prstGeom prst="rect">
            <a:avLst/>
          </a:prstGeom>
        </p:spPr>
        <p:txBody>
          <a:bodyPr lIns="0" tIns="0" rIns="0" bIns="0" anchor="t">
            <a:normAutofit fontScale="87719"/>
          </a:bodyPr>
          <a:lstStyle/>
          <a:p>
            <a:pPr algn="l">
              <a:defRPr sz="1425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t>提供稳定、可靠、安全的底层能力支撑，通过开放接口为上层应用提供强大基础。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390525" y="342900"/>
            <a:ext cx="2857500" cy="247650"/>
          </a:xfrm>
          <a:prstGeom prst="rect">
            <a:avLst/>
          </a:prstGeom>
        </p:spPr>
        <p:txBody>
          <a:bodyPr lIns="0" tIns="0" rIns="0" bIns="0" anchor="ctr">
            <a:normAutofit/>
          </a:bodyPr>
          <a:lstStyle/>
          <a:p>
            <a:pPr algn="l">
              <a:defRPr sz="1200" b="1">
                <a:solidFill>
                  <a:srgbClr val="555555"/>
                </a:solidFill>
                <a:latin typeface="PingFang SC"/>
                <a:ea typeface="PingFang SC"/>
                <a:cs typeface="PingFang SC"/>
              </a:defRPr>
            </a:pPr>
            <a:r>
              <a:t>开发模式创新</a:t>
            </a: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390525" y="666750"/>
            <a:ext cx="11401425" cy="7239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algn="l">
              <a:defRPr sz="2625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3 个月实践验证：AI + 敏捷流程带来至少 6 倍提效</a:t>
            </a: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390525" y="1504950"/>
            <a:ext cx="11401425" cy="14288"/>
          </a:xfrm>
          <a:prstGeom prst="rect">
            <a:avLst/>
          </a:prstGeom>
          <a:solidFill>
            <a:srgbClr val="B8BCC4"/>
          </a:solidFill>
          <a:ln w="0">
            <a:noFill/>
            <a:prstDash val="solid"/>
          </a:ln>
        </p:spPr>
      </p:sp>
      <p:sp>
        <p:nvSpPr>
          <p:cNvPr id="5" name="矩形 4"/>
          <p:cNvSpPr>
            <a:spLocks noGrp="1"/>
          </p:cNvSpPr>
          <p:nvPr/>
        </p:nvSpPr>
        <p:spPr>
          <a:xfrm>
            <a:off x="11277600" y="6276975"/>
            <a:ext cx="514350" cy="238125"/>
          </a:xfrm>
          <a:prstGeom prst="rect">
            <a:avLst/>
          </a:prstGeom>
        </p:spPr>
        <p:txBody>
          <a:bodyPr lIns="0" tIns="0" rIns="0" bIns="0" anchor="ctr">
            <a:normAutofit/>
          </a:bodyPr>
          <a:lstStyle/>
          <a:p>
            <a:pPr algn="r">
              <a:defRPr sz="11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28</a:t>
            </a: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390525" y="1866900"/>
            <a:ext cx="1714500" cy="28575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algn="l">
              <a:defRPr sz="1800" b="1">
                <a:solidFill>
                  <a:srgbClr val="555555"/>
                </a:solidFill>
                <a:latin typeface="PingFang SC"/>
                <a:ea typeface="PingFang SC"/>
                <a:cs typeface="PingFang SC"/>
              </a:defRPr>
            </a:pPr>
            <a:r>
              <a:t>成效验证</a:t>
            </a: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390525" y="2286000"/>
            <a:ext cx="4095750" cy="3143250"/>
          </a:xfrm>
          <a:prstGeom prst="rect">
            <a:avLst/>
          </a:prstGeom>
          <a:solidFill>
            <a:srgbClr val="000000"/>
          </a:solidFill>
          <a:ln w="0">
            <a:noFill/>
            <a:prstDash val="solid"/>
          </a:ln>
        </p:spPr>
      </p:sp>
      <p:sp>
        <p:nvSpPr>
          <p:cNvPr id="8" name="矩形 7"/>
          <p:cNvSpPr>
            <a:spLocks noGrp="1"/>
          </p:cNvSpPr>
          <p:nvPr/>
        </p:nvSpPr>
        <p:spPr>
          <a:xfrm>
            <a:off x="781050" y="2724150"/>
            <a:ext cx="3333750" cy="514350"/>
          </a:xfrm>
          <a:prstGeom prst="rect">
            <a:avLst/>
          </a:prstGeom>
        </p:spPr>
        <p:txBody>
          <a:bodyPr lIns="0" tIns="0" rIns="0" bIns="0" anchor="ctr">
            <a:normAutofit fontScale="93750"/>
          </a:bodyPr>
          <a:lstStyle/>
          <a:p>
            <a:pPr algn="ctr">
              <a:defRPr sz="36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t>3 个月</a:t>
            </a: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1162050" y="3486150"/>
            <a:ext cx="1047750" cy="361950"/>
          </a:xfrm>
          <a:prstGeom prst="rect">
            <a:avLst/>
          </a:prstGeom>
        </p:spPr>
        <p:txBody>
          <a:bodyPr lIns="0" tIns="0" rIns="0" bIns="0" anchor="ctr">
            <a:normAutofit/>
          </a:bodyPr>
          <a:lstStyle/>
          <a:p>
            <a:pPr algn="ctr">
              <a:defRPr sz="21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t>至少</a:t>
            </a: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2038350" y="3238500"/>
            <a:ext cx="1428750" cy="876300"/>
          </a:xfrm>
          <a:prstGeom prst="rect">
            <a:avLst/>
          </a:prstGeom>
        </p:spPr>
        <p:txBody>
          <a:bodyPr lIns="0" tIns="0" rIns="0" bIns="0" anchor="ctr">
            <a:normAutofit/>
          </a:bodyPr>
          <a:lstStyle/>
          <a:p>
            <a:pPr algn="ctr">
              <a:defRPr sz="5550" b="1">
                <a:solidFill>
                  <a:srgbClr val="FF6B35"/>
                </a:solidFill>
                <a:latin typeface="PingFang SC"/>
                <a:ea typeface="PingFang SC"/>
                <a:cs typeface="PingFang SC"/>
              </a:defRPr>
            </a:pPr>
            <a:r>
              <a:t>6 倍</a:t>
            </a: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1028700" y="4229100"/>
            <a:ext cx="2819400" cy="400050"/>
          </a:xfrm>
          <a:prstGeom prst="rect">
            <a:avLst/>
          </a:prstGeom>
        </p:spPr>
        <p:txBody>
          <a:bodyPr lIns="0" tIns="0" rIns="0" bIns="0" anchor="ctr">
            <a:normAutofit/>
          </a:bodyPr>
          <a:lstStyle/>
          <a:p>
            <a:pPr algn="ctr">
              <a:defRPr sz="22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t>研发效率提升</a:t>
            </a: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819150" y="4781550"/>
            <a:ext cx="3219450" cy="323850"/>
          </a:xfrm>
          <a:prstGeom prst="rect">
            <a:avLst/>
          </a:prstGeom>
        </p:spPr>
        <p:txBody>
          <a:bodyPr lIns="0" tIns="0" rIns="0" bIns="0" anchor="ctr">
            <a:normAutofit fontScale="82803"/>
          </a:bodyPr>
          <a:lstStyle/>
          <a:p>
            <a:pPr algn="ctr">
              <a:defRPr sz="135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t>AI + 敏捷流程加持，速度、质量、协作同步提升。</a:t>
            </a: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5095875" y="2190750"/>
            <a:ext cx="3067050" cy="1333500"/>
          </a:xfrm>
          <a:prstGeom prst="rect">
            <a:avLst/>
          </a:prstGeom>
          <a:solidFill>
            <a:srgbClr val="F6F6F6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14" name="矩形 13"/>
          <p:cNvSpPr>
            <a:spLocks noGrp="1"/>
          </p:cNvSpPr>
          <p:nvPr/>
        </p:nvSpPr>
        <p:spPr>
          <a:xfrm>
            <a:off x="5324475" y="2419350"/>
            <a:ext cx="2609850" cy="342900"/>
          </a:xfrm>
          <a:prstGeom prst="rect">
            <a:avLst/>
          </a:prstGeom>
        </p:spPr>
        <p:txBody>
          <a:bodyPr lIns="0" tIns="0" rIns="0" bIns="0" anchor="ctr">
            <a:normAutofit/>
          </a:bodyPr>
          <a:lstStyle/>
          <a:p>
            <a:pPr algn="l">
              <a:defRPr sz="1875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需求到上线更快闭环</a:t>
            </a: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5324475" y="2876550"/>
            <a:ext cx="2609850" cy="457200"/>
          </a:xfrm>
          <a:prstGeom prst="rect">
            <a:avLst/>
          </a:prstGeom>
        </p:spPr>
        <p:txBody>
          <a:bodyPr lIns="0" tIns="0" rIns="0" bIns="0" anchor="t">
            <a:normAutofit fontScale="70964"/>
          </a:bodyPr>
          <a:lstStyle/>
          <a:p>
            <a:pPr algn="l">
              <a:defRPr sz="135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AI 辅助需求理解、方案生成、代码生成、联调测试和上线验证，让业务反馈更快进入产品迭代。</a:t>
            </a: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8524875" y="2190750"/>
            <a:ext cx="3067050" cy="1333500"/>
          </a:xfrm>
          <a:prstGeom prst="rect">
            <a:avLst/>
          </a:prstGeom>
          <a:solidFill>
            <a:srgbClr val="F6F6F6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17" name="矩形 16"/>
          <p:cNvSpPr>
            <a:spLocks noGrp="1"/>
          </p:cNvSpPr>
          <p:nvPr/>
        </p:nvSpPr>
        <p:spPr>
          <a:xfrm>
            <a:off x="8753475" y="2419350"/>
            <a:ext cx="2609850" cy="342900"/>
          </a:xfrm>
          <a:prstGeom prst="rect">
            <a:avLst/>
          </a:prstGeom>
        </p:spPr>
        <p:txBody>
          <a:bodyPr lIns="0" tIns="0" rIns="0" bIns="0" anchor="ctr">
            <a:normAutofit/>
          </a:bodyPr>
          <a:lstStyle/>
          <a:p>
            <a:pPr algn="l">
              <a:defRPr sz="1875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产研协同从串行变并行</a:t>
            </a:r>
          </a:p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8753475" y="2876550"/>
            <a:ext cx="2609850" cy="457200"/>
          </a:xfrm>
          <a:prstGeom prst="rect">
            <a:avLst/>
          </a:prstGeom>
        </p:spPr>
        <p:txBody>
          <a:bodyPr lIns="0" tIns="0" rIns="0" bIns="0" anchor="t">
            <a:normAutofit fontScale="87697"/>
          </a:bodyPr>
          <a:lstStyle/>
          <a:p>
            <a:pPr algn="l">
              <a:defRPr sz="135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产品、研发、设计和测试更早参与同一条交付链路，减少等待和传递损耗。</a:t>
            </a:r>
          </a:p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5095875" y="3905250"/>
            <a:ext cx="6496050" cy="1333500"/>
          </a:xfrm>
          <a:prstGeom prst="rect">
            <a:avLst/>
          </a:prstGeom>
          <a:solidFill>
            <a:srgbClr val="F6F6F6"/>
          </a:solidFill>
          <a:ln w="19050">
            <a:solidFill>
              <a:srgbClr val="FF6B35"/>
            </a:solidFill>
            <a:prstDash val="solid"/>
          </a:ln>
        </p:spPr>
      </p:sp>
      <p:sp>
        <p:nvSpPr>
          <p:cNvPr id="20" name="矩形 19"/>
          <p:cNvSpPr>
            <a:spLocks noGrp="1"/>
          </p:cNvSpPr>
          <p:nvPr/>
        </p:nvSpPr>
        <p:spPr>
          <a:xfrm>
            <a:off x="5324475" y="4133850"/>
            <a:ext cx="6038850" cy="342900"/>
          </a:xfrm>
          <a:prstGeom prst="rect">
            <a:avLst/>
          </a:prstGeom>
        </p:spPr>
        <p:txBody>
          <a:bodyPr lIns="0" tIns="0" rIns="0" bIns="0" anchor="ctr">
            <a:normAutofit/>
          </a:bodyPr>
          <a:lstStyle/>
          <a:p>
            <a:pPr algn="l">
              <a:defRPr sz="195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具备产研全域能力</a:t>
            </a:r>
          </a:p>
        </p:txBody>
      </p:sp>
      <p:sp>
        <p:nvSpPr>
          <p:cNvPr id="21" name="矩形 20"/>
          <p:cNvSpPr>
            <a:spLocks noGrp="1"/>
          </p:cNvSpPr>
          <p:nvPr/>
        </p:nvSpPr>
        <p:spPr>
          <a:xfrm>
            <a:off x="5324475" y="4591050"/>
            <a:ext cx="6038850" cy="4572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algn="l">
              <a:defRPr sz="14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团队能力从单点开发扩展到需求理解、产品设计、技术实现、测试验证和迭代运营。</a:t>
            </a:r>
          </a:p>
        </p:txBody>
      </p:sp>
      <p:sp>
        <p:nvSpPr>
          <p:cNvPr id="22" name="矩形 21"/>
          <p:cNvSpPr>
            <a:spLocks noGrp="1"/>
          </p:cNvSpPr>
          <p:nvPr/>
        </p:nvSpPr>
        <p:spPr>
          <a:xfrm>
            <a:off x="390525" y="5753100"/>
            <a:ext cx="11401425" cy="495300"/>
          </a:xfrm>
          <a:prstGeom prst="rect">
            <a:avLst/>
          </a:prstGeom>
          <a:solidFill>
            <a:srgbClr val="F6F6F6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23" name="矩形 22"/>
          <p:cNvSpPr>
            <a:spLocks noGrp="1"/>
          </p:cNvSpPr>
          <p:nvPr/>
        </p:nvSpPr>
        <p:spPr>
          <a:xfrm>
            <a:off x="704850" y="5876925"/>
            <a:ext cx="10763250" cy="247650"/>
          </a:xfrm>
          <a:prstGeom prst="rect">
            <a:avLst/>
          </a:prstGeom>
        </p:spPr>
        <p:txBody>
          <a:bodyPr lIns="0" tIns="0" rIns="0" bIns="0" anchor="ctr">
            <a:normAutofit fontScale="92513"/>
          </a:bodyPr>
          <a:lstStyle/>
          <a:p>
            <a:pPr algn="ctr">
              <a:defRPr sz="1425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这 3 个月的实践说明，通答的开发模式创新不是工具替换，而是用 AI + 敏捷流程重构产研协作方式，让团队同时获得速度、质量和全域能力。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7026</Words>
  <Application>WPS 文字</Application>
  <PresentationFormat>Converted Presentation</PresentationFormat>
  <Paragraphs>788</Paragraphs>
  <Slides>28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28</vt:i4>
      </vt:variant>
    </vt:vector>
  </HeadingPairs>
  <TitlesOfParts>
    <vt:vector size="43" baseType="lpstr">
      <vt:lpstr>Arial</vt:lpstr>
      <vt:lpstr>宋体</vt:lpstr>
      <vt:lpstr>Wingdings</vt:lpstr>
      <vt:lpstr>PingFang SC</vt:lpstr>
      <vt:lpstr>Thonburi</vt:lpstr>
      <vt:lpstr>宋体</vt:lpstr>
      <vt:lpstr>宋体-简</vt:lpstr>
      <vt:lpstr>微软雅黑</vt:lpstr>
      <vt:lpstr>汉仪旗黑</vt:lpstr>
      <vt:lpstr>Arial Unicode MS</vt:lpstr>
      <vt:lpstr>Calibri</vt:lpstr>
      <vt:lpstr>Helvetica Neue</vt:lpstr>
      <vt:lpstr>PingFang SC</vt:lpstr>
      <vt:lpstr>苹方-简</vt:lpstr>
      <vt:lpstr>ChatGPT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张洪磊</cp:lastModifiedBy>
  <cp:revision>1</cp:revision>
  <dcterms:created xsi:type="dcterms:W3CDTF">2026-07-20T09:01:37Z</dcterms:created>
  <dcterms:modified xsi:type="dcterms:W3CDTF">2026-07-20T09:01:37Z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2052-12.1.26030.26030</vt:lpwstr>
  </property>
  <property fmtid="{D5CDD505-2E9C-101B-9397-08002B2CF9AE}" pid="3" name="ICV">
    <vt:lpwstr>AC6C249BC5CEEAF1F1E35D6A50643CFD_42</vt:lpwstr>
  </property>
</Properties>
</file>