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c6db71118542c2" /><Relationship Type="http://schemas.openxmlformats.org/officeDocument/2006/relationships/extended-properties" Target="/docProps/app.xml" Id="Rd857c419a9e5482e" /><Relationship Type="http://schemas.openxmlformats.org/officeDocument/2006/relationships/officeDocument" Target="/ppt/presentation.xml" Id="R8f76591b4f944f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c4bc1b8afd492f"/>
  </p:sldMasterIdLst>
  <p:notesMasterIdLst>
    <p:notesMasterId xmlns:r="http://schemas.openxmlformats.org/officeDocument/2006/relationships" r:id="Rcd8e5d1987684eda"/>
  </p:notesMasterIdLst>
  <p:sldIdLst>
    <p:sldId xmlns:r="http://schemas.openxmlformats.org/officeDocument/2006/relationships" id="256" r:id="Rb9eac93aeb4b498a"/>
    <p:sldId xmlns:r="http://schemas.openxmlformats.org/officeDocument/2006/relationships" id="257" r:id="R7d152207f93b414a"/>
    <p:sldId xmlns:r="http://schemas.openxmlformats.org/officeDocument/2006/relationships" id="258" r:id="Rf0b0fe1fe8ae402b"/>
    <p:sldId xmlns:r="http://schemas.openxmlformats.org/officeDocument/2006/relationships" id="259" r:id="R7870aeb971944e33"/>
    <p:sldId xmlns:r="http://schemas.openxmlformats.org/officeDocument/2006/relationships" id="260" r:id="Rad5df779eea14104"/>
    <p:sldId xmlns:r="http://schemas.openxmlformats.org/officeDocument/2006/relationships" id="261" r:id="Rec4b477260da452b"/>
    <p:sldId xmlns:r="http://schemas.openxmlformats.org/officeDocument/2006/relationships" id="262" r:id="Rb64bf8cd2bff4915"/>
    <p:sldId xmlns:r="http://schemas.openxmlformats.org/officeDocument/2006/relationships" id="263" r:id="R060df97af8564089"/>
    <p:sldId xmlns:r="http://schemas.openxmlformats.org/officeDocument/2006/relationships" id="264" r:id="R89b447a8d7ca4feb"/>
    <p:sldId xmlns:r="http://schemas.openxmlformats.org/officeDocument/2006/relationships" id="265" r:id="Rec989a221f7b474a"/>
    <p:sldId xmlns:r="http://schemas.openxmlformats.org/officeDocument/2006/relationships" id="266" r:id="R40f00032081a467d"/>
    <p:sldId xmlns:r="http://schemas.openxmlformats.org/officeDocument/2006/relationships" id="267" r:id="R76ddd73a68af498a"/>
    <p:sldId xmlns:r="http://schemas.openxmlformats.org/officeDocument/2006/relationships" id="268" r:id="R81636f89c86b406a"/>
    <p:sldId xmlns:r="http://schemas.openxmlformats.org/officeDocument/2006/relationships" id="269" r:id="Rd6831cd950f1469b"/>
    <p:sldId xmlns:r="http://schemas.openxmlformats.org/officeDocument/2006/relationships" id="270" r:id="R1ddf4ba960004b03"/>
    <p:sldId xmlns:r="http://schemas.openxmlformats.org/officeDocument/2006/relationships" id="271" r:id="R0076db11f04947b9"/>
    <p:sldId xmlns:r="http://schemas.openxmlformats.org/officeDocument/2006/relationships" id="272" r:id="Re82312ec794b4777"/>
    <p:sldId xmlns:r="http://schemas.openxmlformats.org/officeDocument/2006/relationships" id="273" r:id="R801ba59874a34375"/>
    <p:sldId xmlns:r="http://schemas.openxmlformats.org/officeDocument/2006/relationships" id="274" r:id="Re1aeb14809114645"/>
    <p:sldId xmlns:r="http://schemas.openxmlformats.org/officeDocument/2006/relationships" id="275" r:id="R5ec061f97c714aef"/>
    <p:sldId xmlns:r="http://schemas.openxmlformats.org/officeDocument/2006/relationships" id="276" r:id="R637eaba2d61e43b2"/>
    <p:sldId xmlns:r="http://schemas.openxmlformats.org/officeDocument/2006/relationships" id="277" r:id="R4b555925268a4d63"/>
    <p:sldId xmlns:r="http://schemas.openxmlformats.org/officeDocument/2006/relationships" id="278" r:id="Rb77d33875b3448b7"/>
    <p:sldId xmlns:r="http://schemas.openxmlformats.org/officeDocument/2006/relationships" id="279" r:id="Rb7e075565ade4347"/>
    <p:sldId xmlns:r="http://schemas.openxmlformats.org/officeDocument/2006/relationships" id="280" r:id="Rbaabc662a0b94ea7"/>
    <p:sldId xmlns:r="http://schemas.openxmlformats.org/officeDocument/2006/relationships" id="281" r:id="R4e4a12410ff34325"/>
    <p:sldId xmlns:r="http://schemas.openxmlformats.org/officeDocument/2006/relationships" id="282" r:id="Rdd0ed64bc1ab4712"/>
    <p:sldId xmlns:r="http://schemas.openxmlformats.org/officeDocument/2006/relationships" id="283" r:id="Ra6c71f43bf794c2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daa50212434ef3" /><Relationship Type="http://schemas.openxmlformats.org/officeDocument/2006/relationships/slideMaster" Target="/ppt/slideMasters/slideMaster1.xml" Id="R8bc4bc1b8afd492f" /><Relationship Type="http://schemas.openxmlformats.org/officeDocument/2006/relationships/notesMaster" Target="/ppt/notesMasters/notesMaster1.xml" Id="Rcd8e5d1987684eda" /><Relationship Type="http://schemas.openxmlformats.org/officeDocument/2006/relationships/presProps" Target="/ppt/presProps.xml" Id="R9ff39cd31cb2455c" /><Relationship Type="http://schemas.openxmlformats.org/officeDocument/2006/relationships/tableStyles" Target="/ppt/tableStyles.xml" Id="Rd0fd7f83096741f0" /><Relationship Type="http://schemas.openxmlformats.org/officeDocument/2006/relationships/slide" Target="/ppt/slides/slide1.xml" Id="Rb9eac93aeb4b498a" /><Relationship Type="http://schemas.openxmlformats.org/officeDocument/2006/relationships/slide" Target="/ppt/slides/slide2.xml" Id="R7d152207f93b414a" /><Relationship Type="http://schemas.openxmlformats.org/officeDocument/2006/relationships/slide" Target="/ppt/slides/slide3.xml" Id="Rf0b0fe1fe8ae402b" /><Relationship Type="http://schemas.openxmlformats.org/officeDocument/2006/relationships/slide" Target="/ppt/slides/slide4.xml" Id="R7870aeb971944e33" /><Relationship Type="http://schemas.openxmlformats.org/officeDocument/2006/relationships/slide" Target="/ppt/slides/slide5.xml" Id="Rad5df779eea14104" /><Relationship Type="http://schemas.openxmlformats.org/officeDocument/2006/relationships/slide" Target="/ppt/slides/slide6.xml" Id="Rec4b477260da452b" /><Relationship Type="http://schemas.openxmlformats.org/officeDocument/2006/relationships/slide" Target="/ppt/slides/slide7.xml" Id="Rb64bf8cd2bff4915" /><Relationship Type="http://schemas.openxmlformats.org/officeDocument/2006/relationships/slide" Target="/ppt/slides/slide8.xml" Id="R060df97af8564089" /><Relationship Type="http://schemas.openxmlformats.org/officeDocument/2006/relationships/slide" Target="/ppt/slides/slide9.xml" Id="R89b447a8d7ca4feb" /><Relationship Type="http://schemas.openxmlformats.org/officeDocument/2006/relationships/slide" Target="/ppt/slides/slide10.xml" Id="Rec989a221f7b474a" /><Relationship Type="http://schemas.openxmlformats.org/officeDocument/2006/relationships/slide" Target="/ppt/slides/slide11.xml" Id="R40f00032081a467d" /><Relationship Type="http://schemas.openxmlformats.org/officeDocument/2006/relationships/slide" Target="/ppt/slides/slide12.xml" Id="R76ddd73a68af498a" /><Relationship Type="http://schemas.openxmlformats.org/officeDocument/2006/relationships/slide" Target="/ppt/slides/slide13.xml" Id="R81636f89c86b406a" /><Relationship Type="http://schemas.openxmlformats.org/officeDocument/2006/relationships/slide" Target="/ppt/slides/slide14.xml" Id="Rd6831cd950f1469b" /><Relationship Type="http://schemas.openxmlformats.org/officeDocument/2006/relationships/slide" Target="/ppt/slides/slide15.xml" Id="R1ddf4ba960004b03" /><Relationship Type="http://schemas.openxmlformats.org/officeDocument/2006/relationships/slide" Target="/ppt/slides/slide16.xml" Id="R0076db11f04947b9" /><Relationship Type="http://schemas.openxmlformats.org/officeDocument/2006/relationships/slide" Target="/ppt/slides/slide17.xml" Id="Re82312ec794b4777" /><Relationship Type="http://schemas.openxmlformats.org/officeDocument/2006/relationships/slide" Target="/ppt/slides/slide18.xml" Id="R801ba59874a34375" /><Relationship Type="http://schemas.openxmlformats.org/officeDocument/2006/relationships/slide" Target="/ppt/slides/slide19.xml" Id="Re1aeb14809114645" /><Relationship Type="http://schemas.openxmlformats.org/officeDocument/2006/relationships/slide" Target="/ppt/slides/slide20.xml" Id="R5ec061f97c714aef" /><Relationship Type="http://schemas.openxmlformats.org/officeDocument/2006/relationships/slide" Target="/ppt/slides/slide21.xml" Id="R637eaba2d61e43b2" /><Relationship Type="http://schemas.openxmlformats.org/officeDocument/2006/relationships/slide" Target="/ppt/slides/slide22.xml" Id="R4b555925268a4d63" /><Relationship Type="http://schemas.openxmlformats.org/officeDocument/2006/relationships/slide" Target="/ppt/slides/slide23.xml" Id="Rb77d33875b3448b7" /><Relationship Type="http://schemas.openxmlformats.org/officeDocument/2006/relationships/slide" Target="/ppt/slides/slide24.xml" Id="Rb7e075565ade4347" /><Relationship Type="http://schemas.openxmlformats.org/officeDocument/2006/relationships/slide" Target="/ppt/slides/slide25.xml" Id="Rbaabc662a0b94ea7" /><Relationship Type="http://schemas.openxmlformats.org/officeDocument/2006/relationships/slide" Target="/ppt/slides/slide26.xml" Id="R4e4a12410ff34325" /><Relationship Type="http://schemas.openxmlformats.org/officeDocument/2006/relationships/slide" Target="/ppt/slides/slide27.xml" Id="Rdd0ed64bc1ab4712" /><Relationship Type="http://schemas.openxmlformats.org/officeDocument/2006/relationships/slide" Target="/ppt/slides/slide28.xml" Id="Ra6c71f43bf794c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cfec2c15d04d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5e2221a8c54ddf" /><Relationship Type="http://schemas.openxmlformats.org/officeDocument/2006/relationships/notesMaster" Target="/ppt/notesMasters/notesMaster1.xml" Id="Rc2c50c78f12140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4c18b7f77d49b7" /><Relationship Type="http://schemas.openxmlformats.org/officeDocument/2006/relationships/notesMaster" Target="/ppt/notesMasters/notesMaster1.xml" Id="R18b2053db37c43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cf75c3c4634dbb" /><Relationship Type="http://schemas.openxmlformats.org/officeDocument/2006/relationships/notesMaster" Target="/ppt/notesMasters/notesMaster1.xml" Id="R2413529419bb47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c21e9b9d8a41cc" /><Relationship Type="http://schemas.openxmlformats.org/officeDocument/2006/relationships/notesMaster" Target="/ppt/notesMasters/notesMaster1.xml" Id="R19827042c3dc42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0d14bb8da74ab5" /><Relationship Type="http://schemas.openxmlformats.org/officeDocument/2006/relationships/notesMaster" Target="/ppt/notesMasters/notesMaster1.xml" Id="Rbe5bd83c5fee40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2ebf71248246d8" /><Relationship Type="http://schemas.openxmlformats.org/officeDocument/2006/relationships/notesMaster" Target="/ppt/notesMasters/notesMaster1.xml" Id="R4f2646ec152744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2a24f41e504e58" /><Relationship Type="http://schemas.openxmlformats.org/officeDocument/2006/relationships/notesMaster" Target="/ppt/notesMasters/notesMaster1.xml" Id="R0a3a48d87a1640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20e7d7aaef4a9d" /><Relationship Type="http://schemas.openxmlformats.org/officeDocument/2006/relationships/notesMaster" Target="/ppt/notesMasters/notesMaster1.xml" Id="Rfc53b992376845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f42a2e750c4659" /><Relationship Type="http://schemas.openxmlformats.org/officeDocument/2006/relationships/notesMaster" Target="/ppt/notesMasters/notesMaster1.xml" Id="R123ec65fe2f446b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a049a8ffde4c3b" /><Relationship Type="http://schemas.openxmlformats.org/officeDocument/2006/relationships/notesMaster" Target="/ppt/notesMasters/notesMaster1.xml" Id="R2d709542f0c543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a4b3f5cf63e4973" /><Relationship Type="http://schemas.openxmlformats.org/officeDocument/2006/relationships/notesMaster" Target="/ppt/notesMasters/notesMaster1.xml" Id="R9b42f85cdd8b419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f1588235cc4c29" /><Relationship Type="http://schemas.openxmlformats.org/officeDocument/2006/relationships/notesMaster" Target="/ppt/notesMasters/notesMaster1.xml" Id="Rd3f4832e35be4b8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2a1236841204b00" /><Relationship Type="http://schemas.openxmlformats.org/officeDocument/2006/relationships/notesMaster" Target="/ppt/notesMasters/notesMaster1.xml" Id="R2cf71b68631b4a1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47420e2b41e4712" /><Relationship Type="http://schemas.openxmlformats.org/officeDocument/2006/relationships/notesMaster" Target="/ppt/notesMasters/notesMaster1.xml" Id="R230e40cf069c41f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4d39cb065e43d8" /><Relationship Type="http://schemas.openxmlformats.org/officeDocument/2006/relationships/notesMaster" Target="/ppt/notesMasters/notesMaster1.xml" Id="R0d1b14b1011648f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168ab3f8ea4c8e" /><Relationship Type="http://schemas.openxmlformats.org/officeDocument/2006/relationships/notesMaster" Target="/ppt/notesMasters/notesMaster1.xml" Id="R5fe357b06d70451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745752cf195410c" /><Relationship Type="http://schemas.openxmlformats.org/officeDocument/2006/relationships/notesMaster" Target="/ppt/notesMasters/notesMaster1.xml" Id="R15e3e07dd05145e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5ad5b34bf364e6d" /><Relationship Type="http://schemas.openxmlformats.org/officeDocument/2006/relationships/notesMaster" Target="/ppt/notesMasters/notesMaster1.xml" Id="R52e6d3449381454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7fb1e04078348b1" /><Relationship Type="http://schemas.openxmlformats.org/officeDocument/2006/relationships/notesMaster" Target="/ppt/notesMasters/notesMaster1.xml" Id="R66d229a2400d4e2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3238c02dd0b4b40" /><Relationship Type="http://schemas.openxmlformats.org/officeDocument/2006/relationships/notesMaster" Target="/ppt/notesMasters/notesMaster1.xml" Id="R64ad672b83534d9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a583575537840db" /><Relationship Type="http://schemas.openxmlformats.org/officeDocument/2006/relationships/notesMaster" Target="/ppt/notesMasters/notesMaster1.xml" Id="R20f18a270df3426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71ba0a7f9b2413a" /><Relationship Type="http://schemas.openxmlformats.org/officeDocument/2006/relationships/notesMaster" Target="/ppt/notesMasters/notesMaster1.xml" Id="Rdb81baa6ae9b4f1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db401ea52bf4817" /><Relationship Type="http://schemas.openxmlformats.org/officeDocument/2006/relationships/notesMaster" Target="/ppt/notesMasters/notesMaster1.xml" Id="Rcfa9149fd3c8493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ed06fb5753e4fa9" /><Relationship Type="http://schemas.openxmlformats.org/officeDocument/2006/relationships/notesMaster" Target="/ppt/notesMasters/notesMaster1.xml" Id="Re65a04c98a234d2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5c0a270bcba4d12" /><Relationship Type="http://schemas.openxmlformats.org/officeDocument/2006/relationships/notesMaster" Target="/ppt/notesMasters/notesMaster1.xml" Id="R6c128014cfa5452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7d69f808b3c4167" /><Relationship Type="http://schemas.openxmlformats.org/officeDocument/2006/relationships/notesMaster" Target="/ppt/notesMasters/notesMaster1.xml" Id="Rd7a562ce10264a6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ee0485ac66c486e" /><Relationship Type="http://schemas.openxmlformats.org/officeDocument/2006/relationships/notesMaster" Target="/ppt/notesMasters/notesMaster1.xml" Id="Rb282ba747554483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3bea9b7059e470e" /><Relationship Type="http://schemas.openxmlformats.org/officeDocument/2006/relationships/notesMaster" Target="/ppt/notesMasters/notesMaster1.xml" Id="Rfd47a88e04d84c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a49372187643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c627cfb0ec411e" /><Relationship Type="http://schemas.openxmlformats.org/officeDocument/2006/relationships/slideLayout" Target="/ppt/slideLayouts/slideLayout1.xml" Id="R04c3012e32da44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c3012e32da44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dd8c147e24405" /><Relationship Type="http://schemas.openxmlformats.org/officeDocument/2006/relationships/notesSlide" Target="/ppt/notesSlides/notesSlide1.xml" Id="R48f156225c4e48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f3de381424649" /><Relationship Type="http://schemas.openxmlformats.org/officeDocument/2006/relationships/notesSlide" Target="/ppt/notesSlides/notesSlide2.xml" Id="R644242814c964a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f4623a3484bb5" /><Relationship Type="http://schemas.openxmlformats.org/officeDocument/2006/relationships/notesSlide" Target="/ppt/notesSlides/notesSlide3.xml" Id="R52b76e2eccbb4e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ca842cdff42a9" /><Relationship Type="http://schemas.openxmlformats.org/officeDocument/2006/relationships/notesSlide" Target="/ppt/notesSlides/notesSlide4.xml" Id="R4b60e15ddaa049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c147b46254b0e" /><Relationship Type="http://schemas.openxmlformats.org/officeDocument/2006/relationships/notesSlide" Target="/ppt/notesSlides/notesSlide5.xml" Id="R07706186f8e646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b8f63cc2d41e3" /><Relationship Type="http://schemas.openxmlformats.org/officeDocument/2006/relationships/notesSlide" Target="/ppt/notesSlides/notesSlide6.xml" Id="Rb3e5422c42d047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546bdad7e451c" /><Relationship Type="http://schemas.openxmlformats.org/officeDocument/2006/relationships/notesSlide" Target="/ppt/notesSlides/notesSlide7.xml" Id="R0e0e64552c3443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6bc37a93ff45a6" /><Relationship Type="http://schemas.openxmlformats.org/officeDocument/2006/relationships/notesSlide" Target="/ppt/notesSlides/notesSlide8.xml" Id="R7c459bf3b88f41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d65944f694cff" /><Relationship Type="http://schemas.openxmlformats.org/officeDocument/2006/relationships/notesSlide" Target="/ppt/notesSlides/notesSlide9.xml" Id="R2477293bebc04b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0b4413ae74960" /><Relationship Type="http://schemas.openxmlformats.org/officeDocument/2006/relationships/notesSlide" Target="/ppt/notesSlides/notesSlide10.xml" Id="R57fb6f381e0a4e4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8c79a0fd641dc" /><Relationship Type="http://schemas.openxmlformats.org/officeDocument/2006/relationships/notesSlide" Target="/ppt/notesSlides/notesSlide11.xml" Id="R31f7b6499fda43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5bcd326ac4b84" /><Relationship Type="http://schemas.openxmlformats.org/officeDocument/2006/relationships/notesSlide" Target="/ppt/notesSlides/notesSlide12.xml" Id="Re468fa033caf4e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bb511b42e94037" /><Relationship Type="http://schemas.openxmlformats.org/officeDocument/2006/relationships/notesSlide" Target="/ppt/notesSlides/notesSlide13.xml" Id="R0d9ad72c1b904e9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c4d309b4941b4" /><Relationship Type="http://schemas.openxmlformats.org/officeDocument/2006/relationships/notesSlide" Target="/ppt/notesSlides/notesSlide14.xml" Id="R7964b5a4f5e340f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a11b52fe54a86" /><Relationship Type="http://schemas.openxmlformats.org/officeDocument/2006/relationships/notesSlide" Target="/ppt/notesSlides/notesSlide15.xml" Id="R417490ebbb994cd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813f009254756" /><Relationship Type="http://schemas.openxmlformats.org/officeDocument/2006/relationships/notesSlide" Target="/ppt/notesSlides/notesSlide16.xml" Id="R433dcc740aa1472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c4d982da243d5" /><Relationship Type="http://schemas.openxmlformats.org/officeDocument/2006/relationships/notesSlide" Target="/ppt/notesSlides/notesSlide17.xml" Id="Rd877582562cb421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12e5e89df46d7" /><Relationship Type="http://schemas.openxmlformats.org/officeDocument/2006/relationships/notesSlide" Target="/ppt/notesSlides/notesSlide18.xml" Id="Rb91c83eb87f94ee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e583ced7149c1" /><Relationship Type="http://schemas.openxmlformats.org/officeDocument/2006/relationships/notesSlide" Target="/ppt/notesSlides/notesSlide19.xml" Id="Rd139779d77d34a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84a93033047b3" /><Relationship Type="http://schemas.openxmlformats.org/officeDocument/2006/relationships/notesSlide" Target="/ppt/notesSlides/notesSlide20.xml" Id="Rf58e776b249e4f6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5e6da5d994e47" /><Relationship Type="http://schemas.openxmlformats.org/officeDocument/2006/relationships/notesSlide" Target="/ppt/notesSlides/notesSlide21.xml" Id="R286245b7c7df461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43434b3f34d98" /><Relationship Type="http://schemas.openxmlformats.org/officeDocument/2006/relationships/notesSlide" Target="/ppt/notesSlides/notesSlide22.xml" Id="R197b41b76518453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cc695987d4214" /><Relationship Type="http://schemas.openxmlformats.org/officeDocument/2006/relationships/notesSlide" Target="/ppt/notesSlides/notesSlide23.xml" Id="R2ab1154ce89f4ab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0d36a33fb468a" /><Relationship Type="http://schemas.openxmlformats.org/officeDocument/2006/relationships/notesSlide" Target="/ppt/notesSlides/notesSlide24.xml" Id="Rbac61e0c571c47c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a34acf7e50417b" /><Relationship Type="http://schemas.openxmlformats.org/officeDocument/2006/relationships/notesSlide" Target="/ppt/notesSlides/notesSlide25.xml" Id="Rf1cb66a87bd44bf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8adde82524d69" /><Relationship Type="http://schemas.openxmlformats.org/officeDocument/2006/relationships/notesSlide" Target="/ppt/notesSlides/notesSlide26.xml" Id="R408daacc6dc64ef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91066f747453a" /><Relationship Type="http://schemas.openxmlformats.org/officeDocument/2006/relationships/notesSlide" Target="/ppt/notesSlides/notesSlide27.xml" Id="R3ac031e47bc84e6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b04d6ab0d47cd" /><Relationship Type="http://schemas.openxmlformats.org/officeDocument/2006/relationships/notesSlide" Target="/ppt/notesSlides/notesSlide28.xml" Id="Rab551985cd5646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E725FE-E77E-4619-A45D-82461DB0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81050"/>
            <a:ext cx="752475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通答平台：从 AI 原生底座
到商业化套件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7E53E4-1D1D-4862-B80D-FE603C6B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2476500"/>
            <a:ext cx="4762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AI 原生教育业务平台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5B4999-5213-4C46-8093-CBA2AD78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3390900"/>
            <a:ext cx="65722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以 Lucky 智能体为智能引擎，以资料库为知识底座，以空间承载业务过程，以场景模板实现业务复制，并通过套餐、租户、服务、资源和 Token 算力形成商业闭环。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5192F4-3027-4B3F-9ACE-B67B92F8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781050"/>
            <a:ext cx="3562350" cy="477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32459-8BC3-4B0A-9A98-716266CA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19200"/>
            <a:ext cx="2905125" cy="2266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Lucky
资料库
空间
场景模板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D7F5E1-C975-400A-8739-BF3F3F65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95725"/>
            <a:ext cx="272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846A15-44AD-44E6-A340-B75BDEFD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7241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从平台能力到业务场景
从算力消耗到商业交付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44A027-7CF8-4045-807F-0F040AE6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902370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023402-64A0-4773-A2F1-978F1A82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目录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72CFE5-5AC3-4374-88CF-FE6D8C66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FAEC3-1122-4235-A264-2CEEDCC1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14D4D-3BF6-4781-BF8F-B8427326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39D26-E8B8-49BF-8AE9-B10C6B42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859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汇报结构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8DE92-7654-4842-A978-7E55441F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43150"/>
            <a:ext cx="3429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673FF-AA19-4582-8DED-792F8F2A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2971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01  平台定位与价值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69B34D-3871-4D26-82E8-309B8451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28950"/>
            <a:ext cx="2971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原生业务底座、建设初衷、平台价值和 AI 原生底座能力。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9F985-6D6C-4B9B-8C78-46CD6FE3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3429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0738F3-5192-496D-B5FB-02C8155C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71750"/>
            <a:ext cx="2971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02  架构与交付体系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BECBF7-678B-48F0-A0FA-A5BD7710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28950"/>
            <a:ext cx="2971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Lucky、资料库、空间、场景模板，以及组合交付、套餐和租户。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4F4D5C-D916-4CF6-8B4D-9857ABFF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343150"/>
            <a:ext cx="3429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7D0F02-DDDE-4C72-9029-3D4B361E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571750"/>
            <a:ext cx="2971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03  商业模式与渠道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F4A165-D0E5-405B-9F9C-79F5E967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028950"/>
            <a:ext cx="2971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平台、服务、资源、Token 算力、模型统计和运营商渠道合作。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A42991-D65F-4107-BA53-E3C99F46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14800"/>
            <a:ext cx="3429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491479-739E-41B6-B62A-723F42EA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43400"/>
            <a:ext cx="2971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04  标杆案例与场景深化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2BC77C-9D31-4C6D-BFF3-CEE4C631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00600"/>
            <a:ext cx="2971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宁波大学科学技术学院工作坊、学员智能体成果、两大场景和商业化套件。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741D47-7699-43B3-BD71-72D7FA08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14800"/>
            <a:ext cx="3429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725C0C-A191-48CC-9D78-BCC62A8F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43400"/>
            <a:ext cx="2971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8348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05  生态、愿景与开发模式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A4C672-1DD0-4912-A766-CBF412A3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800600"/>
            <a:ext cx="2971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研习社、平台闭环、教师全场景愿景，以及 AI 驱动的开发模式创新。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F1BCA7-95F6-489B-B73D-5F52FE49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114800"/>
            <a:ext cx="3429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E3B34C-BB07-4F4D-8A79-637F6E21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971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主线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B6F736-0E3B-4146-B8F9-E9C40292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800600"/>
            <a:ext cx="2971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2858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从 AI 原生底座，到场景化交付，再到商业化增长与研发模式升级。</a:t>
            </a:r>
          </a:p>
        </p:txBody>
      </p:sp>
    </p:spTree>
    <p:extLst>
      <p:ext uri="{BB962C8B-B14F-4D97-AF65-F5344CB8AC3E}">
        <p14:creationId xmlns:p14="http://schemas.microsoft.com/office/powerpoint/2010/main" val="6207874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7DF5BE-DE09-44EA-9832-5296FB1F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平台定位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D62B1-74B7-4311-810E-D82BEFDB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通答平台不是传统系统加 AI，而是 AI 原生的业务底座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D6EFB-2D02-4AA5-9F3F-D83D12EF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E7FFA-3930-4F9C-9D3D-A57F33D6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9B7D3-7538-4E8C-A7A8-5EEBA7BE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431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核心定位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F1FAE0-F66A-4836-B5A6-A9173C7A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5000625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不作为外挂工具存在，而是嵌入资料沉淀、空间协作、角色赋能、流程推进、内容生成和数据分析全过程。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47578-3B72-4CD8-BFE1-FB250157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71950"/>
            <a:ext cx="5000625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平台的目标不是多做一个系统，而是把教师培训、教研、教学等业务转化为可沉淀、可复用、可智能驱动的业务平台。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F3A469-B4DD-4F48-88B2-AE4C1ACC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71675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886F3D-B8B7-41BB-91A5-8FAE1191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00275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知识资产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400DE-B025-4E8B-A517-73B1149F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57475"/>
            <a:ext cx="2019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资料库持续沉淀课程、案例、成果和制度材料。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EF607C-50D4-44B2-8148-54D0EBA4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971675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23D15-4FC6-46C9-9AD6-84717DCD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200275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业务过程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4D2699-B8DC-417C-ADA3-6D5B30C4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57475"/>
            <a:ext cx="2019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空间承载成员、任务、流程、协同与成果。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D0AFBC-0E80-4174-B79B-AE13668C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62375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876B99-040A-4028-9FFC-4A6BB965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90975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智能驱动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EB3047-55B6-47E1-B486-D0181814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48175"/>
            <a:ext cx="2019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7901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 理解资料、场景和角色，辅助业务推进。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D40969-887A-40F2-A5F8-3AAD161A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62375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62513-C676-4349-B432-F63B8C10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990975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场景复制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FACF5-269B-4E9D-BE94-72E5EDC9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448175"/>
            <a:ext cx="2019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场景模板把组件组装为垂直业务解决方案。</a:t>
            </a:r>
          </a:p>
        </p:txBody>
      </p:sp>
    </p:spTree>
    <p:extLst>
      <p:ext uri="{BB962C8B-B14F-4D97-AF65-F5344CB8AC3E}">
        <p14:creationId xmlns:p14="http://schemas.microsoft.com/office/powerpoint/2010/main" val="2040957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B94F17-2D85-46F0-9DC8-C61D5FB5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建设初衷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372C5-03FD-4107-AA32-0E7B927D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通答平台建设初衷，是让前沿技术真正适配市场和用户体验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E18711-1F26-404B-A4F4-CADBCB49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66A1A-A20B-4EF0-AFD7-D36E8AED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1E929-05DA-43CE-A46D-25A06BA2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62150"/>
            <a:ext cx="5334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FF9DC3-F417-4E17-A39A-303381D0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9075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技术前沿性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96DBC2-835E-4C1C-A586-1FAD0043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47950"/>
            <a:ext cx="4876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以AI原生架构、智能体、知识库、空间和场景模板承接大模型能力，把前沿技术内化为平台底座。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9801A-4A1A-4580-85E5-182B745E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62150"/>
            <a:ext cx="5334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D11EE6-A8EE-404D-A950-360EF53E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19075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市场需求适配性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343666-4A73-40EF-AD9F-06AA09F0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47950"/>
            <a:ext cx="4876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面向教师培训、教研、教学、干部培训和区域服务等真实需求，快速转化为可理解、可采购、可使用的场景方案。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2D0EE4-0338-43C1-AC47-DAA1E03D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676650"/>
            <a:ext cx="5334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CC87EF-9A67-4010-AB05-82C516C5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0525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产品灵活性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3E4F6F-D04D-4F09-A9A4-485A58CB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62450"/>
            <a:ext cx="4876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通过Lucky、资料库、空间、场景模板、套餐和租户组合，支持从轻量工具到完整业务平台的多种交付形态。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A42175-0F0B-44AF-8CAA-0D57E86B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5334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B95660-F84E-4242-98BF-4AE1A3CC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0525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体验简单性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85793E-E088-4FA5-9445-F54DE49C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62450"/>
            <a:ext cx="4876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坚持两个简单：UI和交互采用主流方式，操作简单；产品设计克制，概念尽可能少。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FCA4CE-CDCB-487C-9F96-12F8360A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014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847C27-FC47-4F50-B137-42243CCC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10839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建设出发点：用前沿技术匹配市场需求，以灵活产品形态和简单清晰体验支撑规模化落地</a:t>
            </a:r>
          </a:p>
        </p:txBody>
      </p:sp>
    </p:spTree>
    <p:extLst>
      <p:ext uri="{BB962C8B-B14F-4D97-AF65-F5344CB8AC3E}">
        <p14:creationId xmlns:p14="http://schemas.microsoft.com/office/powerpoint/2010/main" val="13558072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F41405-E289-4ECD-8EBE-38778EBB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价值总览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EE975-586A-4D98-932F-128DBD3C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原生平台的价值不只在工具能力，而在业务增长和组织效率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48817-A13A-4609-BB7E-1AAA5CB5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1C49B5-2A4A-4B35-9F1A-2A420501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7900E-512F-4D3B-9C66-6BE0669D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62150"/>
            <a:ext cx="5334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9679E8-9A5F-4F30-ADC6-7ABBFC1B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9075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对公司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2E0AB-6030-4B60-8C5C-0D780645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47950"/>
            <a:ext cx="4876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为后续业务扩展提供统一平台底座，支持从教师培训扩展到教研、教学、干部培训、区域服务等更多场景。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E31EDF-57BE-49DF-89C9-E1BB0CAC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62150"/>
            <a:ext cx="5334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29432C-E54D-470B-BA96-FB94EA89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19075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对用户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019B67-3324-4D08-88A7-3BB4DB46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47950"/>
            <a:ext cx="4876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4266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让教师、干部、教研员等角色获得 AI 助理能力，提升资料处理、内容生成、方案设计和任务执行效率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527688-4814-4C30-8EAC-06CFDDD4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676650"/>
            <a:ext cx="5334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1D2894-FD9A-459F-8BAD-3E1E4DBF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0525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对客户组织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D431A1-497C-43F3-8B83-82C53A91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62450"/>
            <a:ext cx="4876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帮助学校、区域和机构沉淀知识资产、规范业务流程、提升协同效率，并形成可复制的数字化业务能力。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C4528C-7728-41EB-A321-4E18C95E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5334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6AE22B-050C-437F-BD64-7127E15E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0525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商业价值空间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6B397F-BD36-44C2-AD2F-AEF49DCC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62450"/>
            <a:ext cx="48768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250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通过平台、服务、资源和 Token 算力形成持续付费空间，支撑套餐、租户、场景解决方案和运营商合作。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401766-9871-43E7-BB1B-2D667B0A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014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0F51F6-CBDF-42A4-807D-7F3FDAE3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10839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4866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通答平台的核心价值，是把 AI 从单点工具升级为业务基础设施，既支撑客户组织提效，也支撑公司持续扩展业务边界和商业收入空间。</a:t>
            </a:r>
          </a:p>
        </p:txBody>
      </p:sp>
    </p:spTree>
    <p:extLst>
      <p:ext uri="{BB962C8B-B14F-4D97-AF65-F5344CB8AC3E}">
        <p14:creationId xmlns:p14="http://schemas.microsoft.com/office/powerpoint/2010/main" val="8777516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D4B7EB-F870-4325-93C9-396C93FA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AI 原生底座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506D71-86AC-4DB0-9A7B-8D0BD795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原生底座让每个业务模块天然具备智能能力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01EFB-FFF2-4C32-811D-D14FFC3E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5EAB06-5A25-411F-90E4-01341665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41D6D5-71A9-4EC0-BF19-F1651133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096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5411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基于AI原生平台架构，AI不是后续叠加功能，而是所有业务模块的默认能力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F4F494-A2DA-4E97-A63D-F91A9000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1CEB0F-F55F-4AAE-8860-5C228BB0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1524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业务模块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5B20E-E97A-4F36-A671-E76CE0A6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05175"/>
            <a:ext cx="7048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9045D-8C19-4C97-86B3-F6CDB992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004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C1A84-7421-4126-9F59-901BB725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257550"/>
            <a:ext cx="13335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AI能力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44F71-6ABD-463F-B448-7F26B3C3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305175"/>
            <a:ext cx="7048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17BBD7-5DA5-4E43-9C28-38F3A9FD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004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3607A-0DD8-4B00-91F6-1B9748B7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57550"/>
            <a:ext cx="18097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智能体+体验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BC437-186A-4F09-8E79-F6FA68E8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05175"/>
            <a:ext cx="7048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41994B-1BB1-4379-9597-2F8851B0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200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449DD6-0A1A-4BB7-82D9-36867E94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57550"/>
            <a:ext cx="1524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业务场景落地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2C2A22-5B41-4AE5-A063-8D01EFC7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76750"/>
            <a:ext cx="3238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EF8668-BF04-4CF5-BC47-2BC38F86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05350"/>
            <a:ext cx="2781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资料库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31FC7B-EBE0-4EA7-A1D1-2A137306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62550"/>
            <a:ext cx="2781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0044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业务资料天然沉淀为知识资产，支撑检索、问答、生成和复用。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6555C4-AD07-4985-9451-610AF60D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3238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48CD73-5544-4A86-9A17-AFED92AD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705350"/>
            <a:ext cx="2781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EDED17-2E38-495B-990C-2AD11CF1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62550"/>
            <a:ext cx="2781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60044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业务过程天然进入空间，承载成员、任务、流程、协同和成果。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58497D-36DD-49C5-8422-23483F0D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476750"/>
            <a:ext cx="3238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CD7C9B-71D5-45EE-9DE4-6F5B6B0A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705350"/>
            <a:ext cx="2781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智能体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A0FB49-DAAF-4623-9E1E-11A5B5FD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5162550"/>
            <a:ext cx="2781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5425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不同角色天然获得智能助手，形成问答、生成、分析和任务推进能力。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3D4245-00C5-4449-8BF8-EC118320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867400"/>
            <a:ext cx="99822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未来扩展新业务时，不需要重建AI能力，而是直接复用“资料库 + 空间 + 智能体”的平台底座。</a:t>
            </a:r>
          </a:p>
        </p:txBody>
      </p:sp>
    </p:spTree>
    <p:extLst>
      <p:ext uri="{BB962C8B-B14F-4D97-AF65-F5344CB8AC3E}">
        <p14:creationId xmlns:p14="http://schemas.microsoft.com/office/powerpoint/2010/main" val="2022101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3A814C-AC62-466B-B044-36E4D75B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章节目录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30130-C5B5-490A-BE43-F74A624C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章节目录：02 架构与交付体系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A7B1E-6DC6-492D-99CE-7E5494C0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4BB87C-E553-4B36-8E82-84DF86F8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31B38A-89B7-404C-B91C-93D4F272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当前位置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C0EDD-14C2-4823-9664-DF0624C6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92E29-9959-40D5-BC34-73354CD5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050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5A239-C819-47B9-B98C-59FFF93B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050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平台定位与价值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06653-2D87-4954-ACF0-B0435529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240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说明通答为什么是 AI 原生业务底座，以及平台建设初衷和核心价值。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139680-4D38-40F9-960F-6C95726E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0B60B-8AC2-4A36-A1EB-D31258A9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289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46D44D-7B3E-4A0D-9E76-5DF0F1DC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8289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架构与交付体系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934AC4-D980-4414-B259-FA447ECC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479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展开 Lucky、资料库、空间、场景模板，以及组合交付、套餐和租户。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3914D-3E3E-4BC5-8977-5A66B17A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AFCA7E-E8C4-4BA4-96A0-C988CF3E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D9716-570D-4BDA-B2F7-484425B9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528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商业模式与渠道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EEED15-77E0-45F7-8FCF-C3038CD5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718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说明平台、服务、资源、Token 算力和运营商渠道如何形成收入变量。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FAB38-DAAA-4787-8EC0-95F65E1B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2C0B40-06AC-4D31-B08F-2442A289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767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6C9BA7-5785-4B0F-ACDA-D5B8E4E4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2767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标杆案例与场景深化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24D7E1-D3E6-420F-8061-D124281F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957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用宁波大学科学技术学院工作坊验证交付，并明确两大场景完善方向。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83E8E3-BC1C-4FE6-9D47-2388E6EF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118DD-5A22-4FDE-B16E-10E231BE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006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E9B7C3-0E70-4A47-A5FA-F4B7FB21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006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生态、愿景与开发模式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92021D-206F-46C7-8BED-E91586EB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0196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收束研习社、平台闭环、教师全场景愿景和 AI 驱动开发模式创新。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C7C093-1545-485A-A7CC-192534B5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0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1DD8A3-4AEF-4B53-AA05-8D270C32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05500"/>
            <a:ext cx="10048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本节重点：把平台能力拆成可理解、可组合、可复制的产品与交付结构。</a:t>
            </a:r>
          </a:p>
        </p:txBody>
      </p:sp>
    </p:spTree>
    <p:extLst>
      <p:ext uri="{BB962C8B-B14F-4D97-AF65-F5344CB8AC3E}">
        <p14:creationId xmlns:p14="http://schemas.microsoft.com/office/powerpoint/2010/main" val="17460117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0A4102-2F38-46F1-B8AC-63EB4E3B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核心架构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EA17E-0256-4B36-8153-01A7B913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Lucky、资料库和空间构成平台的核心业务架构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CDE1C-8608-4F63-AC19-7D3E271D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DE663-9E81-47D4-AF3A-4FCC229D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E363D-F7B1-4B02-A0EA-837E8531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2476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483B5-A635-4630-930B-F2EA50A0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2476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A7521-45A5-43B3-8220-3190069A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66950"/>
            <a:ext cx="2476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A9F18-90CD-498A-AAAC-22281EDA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019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资料库 / 知识库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BFE18-F7A3-483A-96CE-85908E89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81350"/>
            <a:ext cx="2000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业务资料统一沉淀，形成可检索、可复用、可问答、可生成的知识资产。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BF558-553F-4B77-A627-8A30C148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1676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知识底座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2B68E-6A13-46A3-9480-128997E4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71750"/>
            <a:ext cx="1638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40F3D-F563-4636-B6A4-D9E44907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181350"/>
            <a:ext cx="2095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承载教师培训、教研、教学和项目协作，把成员、权限、流程、工具和成果组织起来。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7B7CD-2035-4758-9027-78423471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457700"/>
            <a:ext cx="1676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业务载体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143A6A-F701-4954-B926-342B069A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0"/>
            <a:ext cx="17907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 智能体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42C8F3-E7EA-424C-86B3-0C601455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81350"/>
            <a:ext cx="2000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可独立使用，也可导入空间，为不同角色提供问答、生成、分析和任务辅助。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1516A4-C6F2-448A-A9AB-963365D8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457700"/>
            <a:ext cx="1676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智能引擎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AEAA23-A332-4727-BBD1-A1337750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43275"/>
            <a:ext cx="10668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FC4022-CEBA-424E-A609-C41CD144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343275"/>
            <a:ext cx="10668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CD59D8-B4C9-4C39-ADE3-13EF5956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829050"/>
            <a:ext cx="1200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资料进入业务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99BA01-3D98-432F-9B0F-9D6D19E3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829050"/>
            <a:ext cx="1200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AI 赋能角色</a:t>
            </a:r>
          </a:p>
        </p:txBody>
      </p:sp>
    </p:spTree>
    <p:extLst>
      <p:ext uri="{BB962C8B-B14F-4D97-AF65-F5344CB8AC3E}">
        <p14:creationId xmlns:p14="http://schemas.microsoft.com/office/powerpoint/2010/main" val="18385302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9581D2-2CB8-4B04-A622-B1BB2F17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场景模板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948E0D-76F0-436E-B8F3-0DA0B34A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空间先把业务组件化，场景模板再把组件装配成垂直业务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54A8AD-DE25-4820-B0A0-3F220466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614BC-F542-4445-BDED-04441D91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14CF18-6AEB-4F2E-A3E5-28B8F5F8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38375"/>
            <a:ext cx="1924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3E731-4A09-46D7-8278-BE411D68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95525"/>
            <a:ext cx="1733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业务抽象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6478F6-94EE-4B5A-AA85-ACA5EADA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400300"/>
            <a:ext cx="6667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19728-8AEC-4F92-B5B9-82E94BBE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38375"/>
            <a:ext cx="1924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12B39D-665A-411A-8FD9-09F5045C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95525"/>
            <a:ext cx="1733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组件化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2C8D68-80FC-48FB-9FD3-52288E19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400300"/>
            <a:ext cx="6667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F0F1B-3085-499F-A403-DACCECC4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38375"/>
            <a:ext cx="1924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1C6B6-C4F7-406C-9DC1-E6A9C5D2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295525"/>
            <a:ext cx="1733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场景模板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853E63-6EE7-433A-BD38-63810220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400300"/>
            <a:ext cx="6667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26380-6C8C-4F68-872E-F692D10C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238375"/>
            <a:ext cx="1924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A955F5-39E1-4B84-B4C7-557A9C31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295525"/>
            <a:ext cx="17335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垂直业务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E1128C-0057-4DAB-B8E5-800563E0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62325"/>
            <a:ext cx="47625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空间的抽象是为了应对多类业务，把资料、任务、角色、权限、工具、协同、评价和智能体能力沉淀为可复用组件。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11C448-2996-4458-A2F8-14D7FBD3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362325"/>
            <a:ext cx="47625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场景模板是组装过程，把通用组件按照教师培训、教研、教学、工作室、工作坊等场景预配置，形成可复制的业务空间。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A39290-C105-4EA1-A352-53CE7CB4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905375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A066CD-3EF1-4EB8-833E-4F14AC18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962525"/>
            <a:ext cx="781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88B941-C379-4C46-A309-23314D70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05375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427F97-F9E3-4BD5-8D93-118421E4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4962525"/>
            <a:ext cx="781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任务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92C1DF-1D39-40DE-8BB6-418C58C2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905375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9E42CE-A5A7-4C67-BB4D-50CE5F4D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962525"/>
            <a:ext cx="781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角色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C952A3-C6D3-4C66-A031-201DAECF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4905375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3188D4-C0C8-44B3-BD4F-441B8706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962525"/>
            <a:ext cx="781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权限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F5AFA0-C72F-4827-8641-C59E7F04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905375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670D98-8E43-4C74-9BCA-3CB8350F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962525"/>
            <a:ext cx="781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工具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C4225-6333-4074-81EE-EE07D95B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05375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639AD4-8B8A-4E5D-BD6D-2D9BFFBF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962525"/>
            <a:ext cx="781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协同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DDF3D0-B10E-47A7-BAAF-BFB7317F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905375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308A97-7F16-4002-BB66-9DDDBAC6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962525"/>
            <a:ext cx="781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评价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678ED8-17CF-4DC2-9743-0C8C4834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905375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315658-DCCE-462B-BF04-5C2F9D4B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4962525"/>
            <a:ext cx="781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智能体</a:t>
            </a:r>
          </a:p>
        </p:txBody>
      </p:sp>
    </p:spTree>
    <p:extLst>
      <p:ext uri="{BB962C8B-B14F-4D97-AF65-F5344CB8AC3E}">
        <p14:creationId xmlns:p14="http://schemas.microsoft.com/office/powerpoint/2010/main" val="12657486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5DCA9C-A2F9-48A4-BF48-174C1FCC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组合交付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C8DEE5-DF0C-4BE6-A865-FC91E7DB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平台能力可以按客户成熟度组合成多种交付形态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75761-E1BE-49D7-AD29-9BFEC879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DC6DA7-4560-45D0-8789-41F2F033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BED1EE-D16A-4FC9-80FD-72488496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3835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C4DC3-14C0-478F-AA93-8DB68E75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6695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B41EE-8434-46C7-8D1A-441E5930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24150"/>
            <a:ext cx="20193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独立智能体平台
适合智能助理、账号订阅、模型能力调用等交付。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51302F-684D-49E3-9022-2F7E13B0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03835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F9BC1B-2F5A-44BC-BDEE-24955E44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6695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 + 资料库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CEF053-F9CE-496B-86B8-A82173F3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724150"/>
            <a:ext cx="20193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形成私域知识服务
适合知识库问答、智能资料库、机构知识助手。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458EB-B5ED-47DB-B604-D3D21C03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03835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F52D24-1BA2-43BC-9307-4C354D7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0162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 + 资料库 + 空间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03FFD-C964-4175-B9C7-3F21AD86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24150"/>
            <a:ext cx="20193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形成 AI 原生业务平台
承载培训、教研、教学和项目协作过程。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A33C69-542A-4ED0-A205-87E14348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03835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3FDFE2-F5E1-42C2-B5A1-9A6185C1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6695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再叠加场景模板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C63B8-B00C-4292-80AF-7CC05EA9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24150"/>
            <a:ext cx="20193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生成多种垂直方案
面向工作室、工作坊、校本研修、区域教师发展等业务。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89F66A-DCA6-4D0D-B6E0-0E00CA74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24500"/>
            <a:ext cx="7429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这些组合都可以支持相应的商业模式交付。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3360E3-89CF-410E-B39D-5A12EE29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562600"/>
            <a:ext cx="5143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1207"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从工具平台到业务平台，再到场景解决方案，交付深度逐级增加。</a:t>
            </a:r>
          </a:p>
        </p:txBody>
      </p:sp>
    </p:spTree>
    <p:extLst>
      <p:ext uri="{BB962C8B-B14F-4D97-AF65-F5344CB8AC3E}">
        <p14:creationId xmlns:p14="http://schemas.microsoft.com/office/powerpoint/2010/main" val="20473158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15D026-634F-4BF6-873A-CB070531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产品化交付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CA1132-D078-44B7-9DBA-97039F48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解决方案、套餐和租户把平台能力转化为可销售的交付体系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0C91B-F547-4F6E-A66E-B7FBCCE1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71DED2-B403-4FAF-AA8D-927F4547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307C2-56A2-49EC-9797-F52738AC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38350"/>
            <a:ext cx="3238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3A357-126D-45D4-8DCA-C0B4EB68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66950"/>
            <a:ext cx="2781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解决方案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871AA-ACC9-45F7-92C3-A87558FE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24150"/>
            <a:ext cx="27813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面向教师培训、教研共同体、校本研修、课堂教学支持等业务，封装场景、流程、资料、角色和智能体能力。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F26D5-96A0-4DA0-9597-C6A371B0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3238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315A04-BE11-4880-ABEC-08452934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66950"/>
            <a:ext cx="2781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套餐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5E408F-DA31-4E2C-810F-11D02BA9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24150"/>
            <a:ext cx="27813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把功能、容量、用户规模、空间数量、智能体能力、数据分析和服务等级组合为标准化售卖形态。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4C9DD3-2F5F-4566-8A2C-16562F90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038350"/>
            <a:ext cx="3238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C5CCF-4BAB-4949-9703-E953C5A2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266950"/>
            <a:ext cx="2781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租户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B77D03-EA0A-402E-BF34-696A37DC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724150"/>
            <a:ext cx="27813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面向教育局、学校、培训机构或项目单位建立独立运营单元，实现数据隔离、权限独立和统一运维。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2E6EC-01B9-4E84-A8EB-97BB95DB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00700"/>
            <a:ext cx="8096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解决方案定义业务价值，套餐定义付费组合，租户承载客户运营。</a:t>
            </a:r>
          </a:p>
        </p:txBody>
      </p:sp>
    </p:spTree>
    <p:extLst>
      <p:ext uri="{BB962C8B-B14F-4D97-AF65-F5344CB8AC3E}">
        <p14:creationId xmlns:p14="http://schemas.microsoft.com/office/powerpoint/2010/main" val="5143235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D7BF7A-9C52-4231-AA0E-8957C188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章节目录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46CE0-BC4C-44EC-A291-EDF6F85F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章节目录：03 商业模式与渠道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5C7A4-E848-4D12-936E-E97BCEC0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26877-82AB-4AEB-89A5-058FF5BF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3BAB1A-1A81-416C-9C21-9432285E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当前位置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F2463F-D0D9-4CB5-9191-0DEDB21D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18958-11EA-4C8F-856E-32D27E70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050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614151-E524-4FA4-ADF9-7AF5C003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050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平台定位与价值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8BFA26-2CE1-427C-B1AC-E12F97A8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240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说明通答为什么是 AI 原生业务底座，以及平台建设初衷和核心价值。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85026D-989E-4950-92B7-D5FFAB10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C7AE51-63E9-4BD0-9F98-90AA60A4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289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4263BA-F5B7-477D-BC1E-C09CEC57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8289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架构与交付体系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00C36-EC3A-4E2B-8FB6-D9B42B23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479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展开 Lucky、资料库、空间、场景模板，以及组合交付、套餐和租户。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C72F35-F2D5-447A-93F0-BEDA5FFF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CCD08B-C921-4651-A5DD-CF408FDF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994318-03B6-4C56-9BA1-FFE33BA9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528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商业模式与渠道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5973B1-EB5C-4DED-9D3E-0C10A819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718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说明平台、服务、资源、Token 算力和运营商渠道如何形成收入变量。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7A6D10-CD16-49DF-8B87-5EDE3655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788E37-4B82-4BD1-8AF5-F2F30D45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767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05020F-58B8-4B73-8C39-A76FDC41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2767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标杆案例与场景深化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88464B-B504-43D8-B884-5F5EE775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957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用宁波大学科学技术学院工作坊验证交付，并明确两大场景完善方向。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765E6-DAE2-4B7B-8252-1F8534AD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84D2C8-5A54-48ED-B4D3-D680D81A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006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01F692-5FB7-4605-A34E-6E66C15C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006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生态、愿景与开发模式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49ED84-CEB6-46A5-9D5A-DBE3FF4E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0196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收束研习社、平台闭环、教师全场景愿景和 AI 驱动开发模式创新。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83E0D7-8FB5-4543-8341-F5FE204C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0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83F146-A94E-4374-A739-FAF3A46E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05500"/>
            <a:ext cx="10048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本节重点：把 AI 算力消耗转化为可计量、可运营、可合作的商业空间。</a:t>
            </a:r>
          </a:p>
        </p:txBody>
      </p:sp>
    </p:spTree>
    <p:extLst>
      <p:ext uri="{BB962C8B-B14F-4D97-AF65-F5344CB8AC3E}">
        <p14:creationId xmlns:p14="http://schemas.microsoft.com/office/powerpoint/2010/main" val="19615565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6BCD14-0AF9-4E3A-BFB2-D65F3ACA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BF1CA-A0F2-4E38-A29D-E10144CB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平台、服务、资源和算力是商业付费模式的四类变量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11D69-96CA-4B8E-9580-C620322E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1C5420-F3D7-446E-9248-D04705BD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F13AE-E18D-4B34-90EB-20336402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57400"/>
            <a:ext cx="24765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23E57-510F-4FB7-A0BE-F4FB138E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8600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F2F09-A3F3-4583-BFDC-80653DE0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43200"/>
            <a:ext cx="20193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账号、租户、空间、功能模块、场景模板。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68DA5-6F31-44DB-9099-DD3355F5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057400"/>
            <a:ext cx="24765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2DFA2B-5CED-4CE0-B434-29C1F0BB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8600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服务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DFCA62-4BD9-45D1-B81C-EC9E48A4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743200"/>
            <a:ext cx="20193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方案设计、场景配置、培训辅导、运营支持、数据分析。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1FA3F-FAD5-494B-890F-244B50F4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057400"/>
            <a:ext cx="24765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2046B7-A350-4B11-9BB5-EC7605A1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62B8F0-B68C-4493-B202-E021D745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43200"/>
            <a:ext cx="20193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课程资源、案例资源、专题包、培训资源、教研资源。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6F545C-01A7-4A72-9BF8-A9367E93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057400"/>
            <a:ext cx="24765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FBB854-F27A-462D-BB5C-08A1EFCD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8600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算力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CAF8E-6DD6-49CC-8679-D7A736B8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43200"/>
            <a:ext cx="20193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以 Token 为核心，计量模型调用和 AI 能力消耗。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E05C0A-DF9C-480F-B8D1-EF511A8D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762500"/>
            <a:ext cx="114014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4C1DF0-BFF1-4036-A66A-E52BAD09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10810875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782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商业设计可以采用“部分免费 + 部分付费”的组合策略：通答 AI 原生底座和应用场景，让 Token 付费模式成立，并可被套餐、租户和场景方案承接为收入变量。</a:t>
            </a:r>
          </a:p>
        </p:txBody>
      </p:sp>
    </p:spTree>
    <p:extLst>
      <p:ext uri="{BB962C8B-B14F-4D97-AF65-F5344CB8AC3E}">
        <p14:creationId xmlns:p14="http://schemas.microsoft.com/office/powerpoint/2010/main" val="16024984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05F223-CB8A-4D30-8964-B434BDA6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Token 算力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20B8DA-9A7B-409B-9CC2-14D188B2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Token 模式把 AI 算力从技术消耗变成可运营的商业资源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CD73AA-F4C2-4B35-B9EB-27D12226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F7173-477B-46A4-B952-772EF26C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E9D5E8-EBDB-4947-BCE6-CF4CBD65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343150"/>
            <a:ext cx="1619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0F4AE-DC6B-4798-950E-7B921CEC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400300"/>
            <a:ext cx="14287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调用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E6626-A58D-4569-9B66-A8CD0330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76500"/>
            <a:ext cx="7048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92452-3923-4E56-A196-4786C841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809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75D0F-3A71-4456-A821-417CA253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00300"/>
            <a:ext cx="1619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Token 消耗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43A30-679E-44E8-BD2A-4A6BCC71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76500"/>
            <a:ext cx="7048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7ACD99-0413-470F-BD4F-B47D536F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50"/>
            <a:ext cx="1809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4D8A4-8DBE-4786-8E03-DB9C6BBD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1619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模型统计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E9828F-D1AD-44A5-AABF-E551C412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76500"/>
            <a:ext cx="7048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1611F6-4DA3-43BF-882B-FC6CAD54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43150"/>
            <a:ext cx="1809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A2AA10-E9B7-4CE6-B244-47BC802E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00300"/>
            <a:ext cx="1619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算力付费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262205-1CD4-49C9-8D62-5EF6B73C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10096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8291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通答通过模型统计模块提供技术支撑，把 AI 调用、Token 消耗和业务维度连接起来，为计量、成本核算、套餐设计、用量预警、客户对账和商业定价提供基础。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A6988-C5BC-466B-B1A2-D697F595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1490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DB3CB9-6899-4148-BD8E-7FF6FAD2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72050"/>
            <a:ext cx="809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租户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6232F6-4B10-4A91-A24C-A6D478AC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1490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0AAE57-FCE6-4A0A-9617-CA4F590C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72050"/>
            <a:ext cx="809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用户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DD5422-9642-4901-B1EE-8EFA201B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91490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BCEF6C-981F-4A74-9639-0174884D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972050"/>
            <a:ext cx="809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AFA4F2-5F4D-4063-B2B8-23D48009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1490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1DFA84-5745-4D96-9A0A-1574FA3E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72050"/>
            <a:ext cx="809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智能体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9C767C-79B3-4AB5-A35B-3C97156F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91490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01678D-CFC6-4336-9EE3-87C623F6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72050"/>
            <a:ext cx="809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6D96F3-3343-40DD-99F3-098F4DC6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467350"/>
            <a:ext cx="704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2332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统计维度覆盖租户、用户、空间、智能体和场景，确保算力付费有记录、有归属、可核算、可结算。</a:t>
            </a:r>
          </a:p>
        </p:txBody>
      </p:sp>
    </p:spTree>
    <p:extLst>
      <p:ext uri="{BB962C8B-B14F-4D97-AF65-F5344CB8AC3E}">
        <p14:creationId xmlns:p14="http://schemas.microsoft.com/office/powerpoint/2010/main" val="13298696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D4AD55-5CD0-4931-AF52-D758E91E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渠道模式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5D3A15-BB3F-4340-AB20-A8F62C06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运营商渠道可以把教育 AI 场景转化为持续算力收入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530D4-1BC1-4B6A-A737-C3A90B3B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5ACC63-3228-4247-A75F-E0E433AD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F1CD9-049D-4B77-AC30-3D10203A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90750"/>
            <a:ext cx="2667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F8833-9D1B-4DA5-B706-6ACDF5E7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19350"/>
            <a:ext cx="2209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3C448-58FC-42E7-AF71-EE784940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76550"/>
            <a:ext cx="22098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提供 AI 原生平台、教育场景、运营服务和解决方案。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1665D-BF15-41A0-94B0-E2BAC530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7810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2A931-6DF7-45CC-B5A8-4A091DD1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2667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6B08E8-6028-4B5C-B727-A071C616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19350"/>
            <a:ext cx="2209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运营商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3023F-D163-4FE5-AC13-8B5C7C70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76550"/>
            <a:ext cx="22098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提供算力、云网、宽带客户关系和区域学校覆盖。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EE0BD5-3DC5-42FB-A92C-3AAC9BBC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43250"/>
            <a:ext cx="7810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A1762D-9943-459E-BFA9-F71AD319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90750"/>
            <a:ext cx="2667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0DB8AD-26DB-4AA7-91C2-A77232C2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19350"/>
            <a:ext cx="2209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区域学校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D9387-1545-4181-B736-D88A0E6D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76550"/>
            <a:ext cx="22098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把 AI 算力作为宽带和教育信息化服务的补充，采购路径更容易操作。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4312E2-258E-4DFB-9CE4-8499090C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114925"/>
            <a:ext cx="1257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合作逻辑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63C7C0-CFF9-4B8C-AC19-CD86D6E5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076825"/>
            <a:ext cx="7886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3182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通答向运营商收取平台费和服务费；运营商利用渠道优势向最终学校用户收取算力费用。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664C59-C0B1-4805-B2F2-DEA8AAD0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105400"/>
            <a:ext cx="2247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563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适用于福州电信等区域合作试点。</a:t>
            </a:r>
          </a:p>
        </p:txBody>
      </p:sp>
    </p:spTree>
    <p:extLst>
      <p:ext uri="{BB962C8B-B14F-4D97-AF65-F5344CB8AC3E}">
        <p14:creationId xmlns:p14="http://schemas.microsoft.com/office/powerpoint/2010/main" val="18561887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DD4A92-470F-40A5-BEB9-D96959D4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章节目录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3AA9BE-E95F-497D-A41E-BFCA7701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章节目录：04 标杆案例与场景深化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196918-A4A0-4415-BFFE-B7747ED6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08DF4-5AF3-4D58-B1D5-F750E2C0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C5C7A9-D11A-4A36-9099-6E059D1A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当前位置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AF492C-FD3A-4B57-975F-2C49BCFB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0A3C0E-9DD6-49EC-8518-29748C00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050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1DC5E1-4DF5-45E2-8AB2-56E3BEE9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050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平台定位与价值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15C2DB-2AC6-42AE-ABD4-4C81D5DD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240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说明通答为什么是 AI 原生业务底座，以及平台建设初衷和核心价值。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83FCE7-9B63-4BAE-863C-5C592CAE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8A9DC4-0070-4F59-8F6F-FA9DCC3D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289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E05C02-22C0-4C0A-B271-5C9C4AED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8289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架构与交付体系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F325EF-D363-4B5D-AD51-07C6DD6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479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展开 Lucky、资料库、空间、场景模板，以及组合交付、套餐和租户。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55F5B6-54F4-4037-9BB5-BCDD66BD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AD1B46-08B7-4132-AD37-58101BC8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1CAF14-63BC-41BC-B59E-9ABC42BC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528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商业模式与渠道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FE08C3-3ED6-47BD-B6F3-7BB6885B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718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说明平台、服务、资源、Token 算力和运营商渠道如何形成收入变量。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B765D1-B266-41AB-AC7F-FDA4A9FF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47F4A5-7BF4-47DA-9C1A-39A64428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767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EC6141-4488-47BE-A2D4-BA9706CB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2767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标杆案例与场景深化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A64BE-9892-48E8-B738-C97A828A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957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用宁波大学科学技术学院工作坊验证交付，并明确两大场景完善方向。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79774C-1239-4E89-BD41-058C1216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8E1A39-8C41-4980-8210-1831DE35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006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B37A08-43F7-4A2D-8B37-F66DF17C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006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生态、愿景与开发模式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F8D0CF-5F74-4BF9-8B6E-916B546C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0196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收束研习社、平台闭环、教师全场景愿景和 AI 驱动开发模式创新。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8F7BC9-FF69-487C-825A-F3DBEE3E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0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3DB3AE-993E-45BC-9F03-5EA97E79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05500"/>
            <a:ext cx="10048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本节重点：用真实培训案例说明平台可落地，再沉淀为通识教学和培训实训两类标准场景。</a:t>
            </a:r>
          </a:p>
        </p:txBody>
      </p:sp>
    </p:spTree>
    <p:extLst>
      <p:ext uri="{BB962C8B-B14F-4D97-AF65-F5344CB8AC3E}">
        <p14:creationId xmlns:p14="http://schemas.microsoft.com/office/powerpoint/2010/main" val="17256396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EF1B6A-1F0D-44B7-9085-7B00AA6C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标杆案例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0D812B-11B5-4082-A7FC-8EC07E35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宁波大学科学技术学院工作坊验证了平台的实训交付能力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CC4522-95DD-4123-8230-CCFF49BF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B142C-D589-4E3B-B5D6-227BA78D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0D44F-7428-4A65-8422-F36E4DEF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62150"/>
            <a:ext cx="495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赋能中层干部管理工作坊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37BBE-53AA-43C8-974B-2A50ED22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71750"/>
            <a:ext cx="495300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基于通答空间实训模式、Lucky 智能体平台和资料库，对学院中层干部开展 AI 能力培训。通答平台既是本次实训授课平台载体，也是实训内容平台。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20F1C9-1968-40AD-B768-21AEBA22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00500"/>
            <a:ext cx="49530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实训课件由 Lucky 辅助生成，学员操作在通答平台内完成，形成内容生成、平台授课、现场实操、反馈沉淀的闭环。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A99AE1-12E4-44FD-B1FE-45D2A3CB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38350"/>
            <a:ext cx="5143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ED93F5-039F-4CB0-8F50-AB3447F0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38375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交付组合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076DD2-EF6E-4360-8896-F50A596C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38375"/>
            <a:ext cx="31051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66834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空间（实训模式） + Lucky 智能体平台 + 资料库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5A9675-6E18-43A1-B06E-BC4B48B3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00400"/>
            <a:ext cx="24003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258E88-CC8C-4BB7-A10D-F15EA2A9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29000"/>
            <a:ext cx="1943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平台载体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94F3AE-58E3-4742-B43B-E8D6372F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86200"/>
            <a:ext cx="19431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254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培训组织、实训流程和现场操作统一在空间中开展。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4B2EFF-A43F-4306-9420-A11E6FFDB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0400"/>
            <a:ext cx="24003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7A14E-F58D-455C-A18F-978B18BE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29000"/>
            <a:ext cx="1943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内容平台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0D5C4F-86D7-4DA0-8F94-E27325D4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86200"/>
            <a:ext cx="19431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课件、任务材料和实训内容由 Lucky 辅助生成。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7E454-3C3B-49B2-B7C6-AC949156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143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9A4A34-1F2D-44D5-A51E-E72B0228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53025"/>
            <a:ext cx="4572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68841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市场和学员反馈较好，可作为高校干部 AI 培训和管理能力提升场景的标杆案例。</a:t>
            </a:r>
          </a:p>
        </p:txBody>
      </p:sp>
    </p:spTree>
    <p:extLst>
      <p:ext uri="{BB962C8B-B14F-4D97-AF65-F5344CB8AC3E}">
        <p14:creationId xmlns:p14="http://schemas.microsoft.com/office/powerpoint/2010/main" val="16854654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A4A12E-A6D3-4410-9E31-BEFDBA8A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工作坊成果清单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BE9DBE-4531-4F46-989E-C3DAFC03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学员智能体成果集中体现招生咨询、课堂构建和课件制作三类需求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CA6BCC-50DD-424C-BBD7-73F9779A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96D2B5-4D98-47E0-9335-7F92D445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27152C-CF50-44E0-9C21-700F6FEE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09750"/>
            <a:ext cx="704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宁波大学科学技术学院工作坊｜学员创建智能体成果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5A119-860F-491D-BA3C-31C6D10A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431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235924-9458-4D7F-84B8-88E3BE83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2971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招生招考类 · 36 个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35852B-C6F2-4C56-85A4-2BC3168C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28950"/>
            <a:ext cx="29718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代表智能体：招生百晓生、招生指南针、招考解码器、宁大科院招生助手、招生咨询导航、招生智囊、招生百事通、科院一点通等
验证需求：咨询、导航、答疑、简章解读等高频服务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65B2B-3C98-4780-A8D7-90ADC31E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95784E-AE97-425F-A4B1-F112B925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71750"/>
            <a:ext cx="2971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课堂场景构建类 · 12 个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3322EE-6653-4668-8E90-FC7F7BE8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28950"/>
            <a:ext cx="29718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代表智能体：课堂场景构建师、课堂场景设计师、课堂构建师、虚拟课堂构建师、课堂创意生成器、课件互动生成器等
验证需求：课堂活动、互动设计和场景搭建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C7372-2839-437C-95DA-C35F2802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3431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144054-ED90-4C3A-A158-555E5065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571750"/>
            <a:ext cx="2971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课件制作工坊类 · 16 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A22383-4B73-41BF-ACE3-3AA6078A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028950"/>
            <a:ext cx="29718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代表智能体：课件编织者、课件创制工坊、课件魔方、课件智创师、课件生成师、课件互动工坊、课件交互设计师等
验证需求：内容生产、课件生成和交互设计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99093C-322A-480C-9482-7CC2D258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314950"/>
            <a:ext cx="114014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865FC1-2DFF-4792-8E4A-8212F363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95925"/>
            <a:ext cx="1076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三类成果说明：Lucky、资料库和空间可快速承载业务咨询、教学设计、课件生产和实训成果沉淀。</a:t>
            </a:r>
          </a:p>
        </p:txBody>
      </p:sp>
    </p:spTree>
    <p:extLst>
      <p:ext uri="{BB962C8B-B14F-4D97-AF65-F5344CB8AC3E}">
        <p14:creationId xmlns:p14="http://schemas.microsoft.com/office/powerpoint/2010/main" val="18885631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4DBF39-876D-4282-9EEF-7012379C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场景现状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F9F816-38EE-4659-8084-ACCFE191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当前重点完善 AI 通识教学和培训实训两大场景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8E4AD9-92E1-4CA7-AB95-34E9E9BD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C1DDF-113E-4AFB-AA99-3B0539AB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D13F26-61FB-476E-9690-E992B192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85950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场景现状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DD4D4-9953-4988-B2FB-9AAEB5CE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62200"/>
            <a:ext cx="53340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F7D8B-05D1-486E-86B4-084CC637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9080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通识教学 + 市场对接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D24B9-D996-435C-991D-2C286BE8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48768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面向学校、区域和机构客户的人工智能素养提升需求，承接通识课程、智能体体验、教学案例和场景实践，作为平台进入客户的切入口。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97A325-5DA4-4379-A975-4C5BEE46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62200"/>
            <a:ext cx="53340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303CCB-4FA7-43B2-A4FE-16761E3E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9080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培训场景：线下实训 + 智能体平台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2FC58-1EC2-4102-973E-543B31C4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48000"/>
            <a:ext cx="48768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宁波大学科学技术学院工作坊已完成线下验证，平台承载实训授课、课件生成、智能体创建、操作练习和成果沉淀。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F024F-8B75-49AE-9099-37065DEA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33950"/>
            <a:ext cx="114014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39C0FA-525D-4F9B-A1B3-31664771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108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下一步从场景验证进入产品化完善，把两大场景沉淀为标准方案、空间模板和商业化套件。</a:t>
            </a:r>
          </a:p>
        </p:txBody>
      </p:sp>
    </p:spTree>
    <p:extLst>
      <p:ext uri="{BB962C8B-B14F-4D97-AF65-F5344CB8AC3E}">
        <p14:creationId xmlns:p14="http://schemas.microsoft.com/office/powerpoint/2010/main" val="125567199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AA4454-C13D-4850-8F8D-66BAB15D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后续方向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64B0E-1BD2-4C79-A0F0-0A82C35D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后续方向：把两大场景做深，并形成可销售的商业化套件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C780C8-62F0-4BD0-ACFB-3EB126EE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AC3AF0-9D37-4A11-A79B-09115A8C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17C34-6508-420B-8E5F-8587204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669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两大场景深化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91D9D0-37D3-421C-B72B-317C6686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24100"/>
            <a:ext cx="5334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FA046D-8811-438F-A46E-D8DCB60B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52700"/>
            <a:ext cx="487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通识教学平台场景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3E1AA2-0932-4B17-B600-A50E426B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9900"/>
            <a:ext cx="48768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面向学校、区域和机构客户，建设 AI 通识课程、案例资源、学习任务和智能体体验。
资料库沉淀课程与案例，空间承载班级、项目和任务，Lucky 提供问答、辅导、生成和实践支持。
形成课堂教学、校本培训、区域推广和市场对接的标准场景。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BF9D3-5469-41F5-A178-714190BC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24100"/>
            <a:ext cx="5334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F71B8-D892-4650-8322-264C45AD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14600"/>
            <a:ext cx="48768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培训场景：线上/线下培训 + 线上/线下实训
智能体底座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F6A02-1865-4595-A332-3CD39671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00400"/>
            <a:ext cx="487680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围绕干部培训、教师培训和工作坊，形成线上/线下培训、线上/线下实训一体化交付。
线上承载课程学习、资料分发、任务提交和过程跟踪；线下承载集中授课、实操演练和成果点评。
智能体底座提供课件生成、助教答疑、任务辅导、智能体创建、成果评价和案例复用。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7C1175-C1E3-4D89-984F-14E076A3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086350"/>
            <a:ext cx="114014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5E62B7-7B55-4229-BFC7-3B82E878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276850"/>
            <a:ext cx="2000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商业化套件完善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3EFEBF-64FB-4282-B96C-18F1DE2E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200650"/>
            <a:ext cx="8477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围绕两大场景形成“解决方案 + 套餐 + 资源包 + 场景模板 + Token算力”的交付套件，完善基础平台包、通识教学包、培训实训包、运营服务包和算力包。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2F1F43-3798-408E-8A4E-E57234C5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6010275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77A834-0E58-4C38-9A7D-CD9D8E79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0674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基础平台包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28A39A-4196-4C63-BECD-1A6FE50E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6010275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209A1E-1874-43FC-B744-F495F4F7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60674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通识教学包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EF5136-1255-4AA2-A961-C6ED738F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6010275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8D6A28-2E3B-465C-8321-A8A4FE80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60674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培训实训包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F21F38-A19E-42EB-9905-15C4EE9C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6010275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F00287-D4A5-4E3C-9758-7A4E5273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60674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运营服务包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5F01D5-4436-4F3A-9201-03D5EAA1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6010275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AD80E2-7DF9-4641-AB5E-FDFD9ACE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60674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Token 算力包</a:t>
            </a:r>
          </a:p>
        </p:txBody>
      </p:sp>
    </p:spTree>
    <p:extLst>
      <p:ext uri="{BB962C8B-B14F-4D97-AF65-F5344CB8AC3E}">
        <p14:creationId xmlns:p14="http://schemas.microsoft.com/office/powerpoint/2010/main" val="15830615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EAEB8D-C59B-4EC3-87E3-E18BBCA9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章节目录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20A4B-F6FB-4729-A9A0-0264EE21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章节目录：05 生态、愿景与开发模式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F034F-E362-4BB2-BB0F-2DD51DFE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538908-F7B4-45CA-87E5-90B55E3D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1B543-E778-47A0-876B-EDF84644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当前位置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CE8EA-4E63-4500-B058-2FA62C31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74BD5-F87A-41BC-8AFB-E9D075D7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050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4DCCF-FC4B-43E0-B9A3-57B933A3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050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平台定位与价值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16291D-AD32-4E51-B415-BD44B7AB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240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说明通答为什么是 AI 原生业务底座，以及平台建设初衷和核心价值。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5BDDF-129D-428A-B426-AB83502A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57C17-3516-40B6-86AC-54DCDEE1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289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B84A2F-9384-4CA2-82EE-0B2F7E48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8289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架构与交付体系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903AA-1ED7-4848-88CF-D06E9E60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479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展开 Lucky、资料库、空间、场景模板，以及组合交付、套餐和租户。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66A59-C83B-4AF6-A25B-DBAACF58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62DFB6-FF0E-4A70-92E9-1BEAD773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C4ECD1-E528-4F34-A4AA-A12B2B70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528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商业模式与渠道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1C499D-060A-495A-90A9-5BD0A437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718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说明平台、服务、资源、Token 算力和运营商渠道如何形成收入变量。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48D3B6-AEB1-4E1B-A549-7F36B592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E4E38F-45B5-433D-9D3D-057D3B75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767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F41B53-0BCD-466A-B1FB-F722BBBC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2767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标杆案例与场景深化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8125A9-1AFE-435C-A0B3-7D4E183A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957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用宁波大学科学技术学院工作坊验证交付，并明确两大场景完善方向。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3F2E7F-D5E0-4C55-B03A-8C8AAD3F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1062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49BF52-8E36-46DB-872E-202792C0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00625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1E0F0D-DAFD-4C4F-BE31-B4742701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0062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生态、愿景与开发模式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558E53-22BF-41A8-A672-D7C73F1F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019675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收束研习社、平台闭环、教师全场景愿景和 AI 驱动开发模式创新。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B99181-10FC-4F06-B373-ABFFD813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0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584DF5-2A74-498E-B11C-87ABCFD6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05500"/>
            <a:ext cx="10048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本节重点：从业务闭环延伸到长期增长空间，并说明通答内部如何用 AI 提升研发迭代速度。</a:t>
            </a:r>
          </a:p>
        </p:txBody>
      </p:sp>
    </p:spTree>
    <p:extLst>
      <p:ext uri="{BB962C8B-B14F-4D97-AF65-F5344CB8AC3E}">
        <p14:creationId xmlns:p14="http://schemas.microsoft.com/office/powerpoint/2010/main" val="46295620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D0B807-541A-409E-8D21-70766870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生态运营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B4204B-0755-409B-9192-14DA419C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研习社承担平台推广、案例沉淀和内容共创的社区角色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80F962-D00F-4F6E-B455-0A41F0DB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470BB9-875D-4F05-8C0B-7C0E73E0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E70B8-4913-4BAD-8F84-0BAB920D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4762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41D302-93C5-4F7C-A589-E4AF4B04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95550"/>
            <a:ext cx="4000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研习社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8E3AFE-8326-4F5D-A91A-D405CEFF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4000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面向用户、机构和业务伙伴的内容交流社区，也是平台推广、最佳实践传播和生态运营阵地。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6151C4-EC85-4C6B-B876-F2DF1252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4000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UGC + AIGC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B5EEE-66DE-40C4-A74D-846218E5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71675"/>
            <a:ext cx="2381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D5314B-4497-469E-A628-54D74F97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00275"/>
            <a:ext cx="1924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最佳实践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53D18-7CF1-4923-97D6-29D73A69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57475"/>
            <a:ext cx="19240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94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沉淀教师培训、教研和教学应用中的优秀做法。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73847-D67D-4DCA-B86A-EA16D372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971675"/>
            <a:ext cx="2381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09E84-1EB1-453B-A7F3-252F97F3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200275"/>
            <a:ext cx="1924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案例展示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D6DB56-1079-4BFE-B217-ACDBB9BB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657475"/>
            <a:ext cx="19240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94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形成可传播的标杆案例、项目成果和应用样板。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450E9-C40B-4D75-83AD-E7E00F9E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05250"/>
            <a:ext cx="2381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68CBCD-ED7D-4CB8-9006-7C9BB190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33850"/>
            <a:ext cx="1924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主题交流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A105B7-4800-400C-89CF-472C2358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91050"/>
            <a:ext cx="19240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94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围绕新场景、新功能、新方案组织讨论和活动。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0E0B96-3756-43B7-84E3-CDCBAE3A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905250"/>
            <a:ext cx="2381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B36A71-40F1-402F-93DA-AA5986F6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133850"/>
            <a:ext cx="1924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资源共创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905CAD-5F65-4C2C-9D14-685583F8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591050"/>
            <a:ext cx="19240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94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用户贡献一线内容，AI 辅助整理、提炼和传播。</a:t>
            </a:r>
          </a:p>
        </p:txBody>
      </p:sp>
    </p:spTree>
    <p:extLst>
      <p:ext uri="{BB962C8B-B14F-4D97-AF65-F5344CB8AC3E}">
        <p14:creationId xmlns:p14="http://schemas.microsoft.com/office/powerpoint/2010/main" val="35474510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B5494D-DCA7-45CA-96F1-5FAA5E73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总结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DC48B-4564-40C2-9FCB-EF3342BB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通答平台最终形成“平台能力 + 场景落地 + 算力商业化”的闭环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C1A11-0AFB-491C-9CA2-E9C373DE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82C22-0994-40F9-970B-0DD8E63D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BD49A2-B331-47A2-8C25-98521125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3835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71F61-C75B-4646-B86B-01795C37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66950"/>
            <a:ext cx="2781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平台能力产品化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AAB43-40B1-4567-8E2C-13769BC4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24150"/>
            <a:ext cx="27813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Lucky、资料库、空间、场景模板形成可组合平台能力。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D8E08-F856-4FCA-8608-8DF33963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0855A4-382E-4DB8-966D-6FB09CC0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66950"/>
            <a:ext cx="2781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业务场景垂直化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A46A9E-18D6-4A28-B14E-F4E427D3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24150"/>
            <a:ext cx="27813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围绕教师培训、教研、教学、干部培训、工作室、工作坊复制解决方案。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2CABAD-D591-46D5-B199-048F3818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03835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15EF61-6946-4EC3-B30A-9DF606C2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266950"/>
            <a:ext cx="2781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算力渠道商业化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566D83-7160-465D-AD98-1B04CD83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724150"/>
            <a:ext cx="27813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通过 Token 计量、模型统计和运营商渠道形成持续收入。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4C869-C0E2-43FC-8872-6CB39A83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067300"/>
            <a:ext cx="1809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建议下一步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A06D02-9AC9-40B6-A8A5-0AB31CE2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914900"/>
            <a:ext cx="8858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围绕平台价值验证和宁波大学科学技术学院工作坊等标杆案例，形成解决方案套餐；完善 Token 计量与模型统计；推进运营商试点；启动研习社内容运营。</a:t>
            </a:r>
          </a:p>
        </p:txBody>
      </p:sp>
    </p:spTree>
    <p:extLst>
      <p:ext uri="{BB962C8B-B14F-4D97-AF65-F5344CB8AC3E}">
        <p14:creationId xmlns:p14="http://schemas.microsoft.com/office/powerpoint/2010/main" val="154586512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9CEBDA-510E-45CF-A9B2-4345ECC7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平台愿景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D94780-3651-4ACA-A54B-2D1BBE07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平台愿景：面向教师全场景，覆盖更多场景数据，形成持续增购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F10891-9F59-40FE-8819-CCA10620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18DC8-90BE-4D27-874C-BD1E568A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04510-2DCA-429B-8C46-23E0D1B2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669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长期愿景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4D8AF-9B11-438D-A454-731A760F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62200"/>
            <a:ext cx="2476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B84342-BEAE-401D-BDF7-5ED6DEB6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9080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教师全场景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5BFDA9-7015-4678-912D-45AC8FF0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201930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覆盖教师培训、教研、教学、工作坊、工作室、AI 通识学习和实训等业务场景，让平台成为教师发展和业务开展的统一入口。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2D51F-1418-4B7A-826D-5E2975C1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362200"/>
            <a:ext cx="2476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2A95A-9350-4C6F-834C-28EBD680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9080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覆盖更多场景数据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43876E-0668-4119-B493-58C18625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48000"/>
            <a:ext cx="201930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覆盖教学、教研、培训学习、实训操作、资料使用、内容生成、智能体交互和成果沉淀等数据，形成统一的数据资产。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C19508-8502-454B-9DE6-310BA5F3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362200"/>
            <a:ext cx="2476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34E992-BB20-429E-9815-3DF0C999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9080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教师全域档案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270B9E-DED3-4960-9AA3-EB6B0610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201930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从单次培训记录升级为教师成长档案，支撑教师画像、发展建议、资源推荐和组织管理。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0A2646-9891-4CA8-9257-178A6213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362200"/>
            <a:ext cx="2476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E9EC59-7F61-4C07-819C-773216A0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59080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持续增购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66E253-6EB3-48E6-AEA5-F2183DAC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048000"/>
            <a:ext cx="201930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每个新增场景都复用资料库、空间、智能体和档案数据，推动客户从单点采购走向场景持续增购。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FFE83C-CD30-4294-8244-1E8D74F5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219700"/>
            <a:ext cx="114014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3AA90F-DB9F-4CAA-B461-E18AD3B6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73818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通答平台的长期价值，是让不同业务场景不再孤立，而是在同一个 AI 原生底座上互相增益。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DEE50B-6F4A-41E8-BD52-BE427D41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391150"/>
            <a:ext cx="1238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7701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1+1&gt;2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60ECD0-2EC6-40AA-9EFE-E1C2DE6E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5391150"/>
            <a:ext cx="2114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面向场景持续增购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704E14-27F1-43D3-AD9E-6E83679F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753100"/>
            <a:ext cx="2971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客户价值和商业收入空间同步放大。</a:t>
            </a:r>
          </a:p>
        </p:txBody>
      </p:sp>
    </p:spTree>
    <p:extLst>
      <p:ext uri="{BB962C8B-B14F-4D97-AF65-F5344CB8AC3E}">
        <p14:creationId xmlns:p14="http://schemas.microsoft.com/office/powerpoint/2010/main" val="163367764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A0C027-6790-433D-9AAE-4C801269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开发模式创新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6FEDC3-8B72-46C0-B3F4-B2BE2C47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通答开发模式创新：拥抱 AI 时代的快速迭代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DD615-78A1-4F9D-9A5D-0448AD38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60B39-BFC1-44AA-9143-BD13F2AC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CD88B-EC66-42F8-BFE9-CEB2884C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669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开发新模式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75C21F-8BD3-4CB7-A5C4-EAAE086D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24100"/>
            <a:ext cx="4762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在 AI 时代，速度即竞争力。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FEAC2-5902-4B7A-9CAF-D65D2E04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05150"/>
            <a:ext cx="5715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通答以 AI 原生底座和抽象业务模型为基础，
把需求、设计、代码、联调、测试和部署纳入同一条 AI 辅助链路。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63465-9891-405E-B449-0CD897B4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76750"/>
            <a:ext cx="5715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这不是单纯提升代码生成效率，而是重塑从业务需求到产品功能上线的研发协作方式。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1857ED-AB9D-488E-AC1A-C0EFE9C7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4000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B118B-D32F-4DDC-90DD-A06D4F98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52700"/>
            <a:ext cx="2857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快速上线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3C2D32-0BDE-4102-BD73-60E09609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00400"/>
            <a:ext cx="2857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快速试错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EEBBA4-C5E1-4EEF-9808-AEC82ABF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2857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快速迭代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500EA8-E0C5-4F6A-B227-97660B1E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19750"/>
            <a:ext cx="114014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F56F31-0270-423F-B5F5-EE262B1F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10839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目标：让业务需求更快被理解、被表达、被验证，并更快转化为可上线、可复用、可持续演进的平台能力。</a:t>
            </a:r>
          </a:p>
        </p:txBody>
      </p:sp>
    </p:spTree>
    <p:extLst>
      <p:ext uri="{BB962C8B-B14F-4D97-AF65-F5344CB8AC3E}">
        <p14:creationId xmlns:p14="http://schemas.microsoft.com/office/powerpoint/2010/main" val="33040546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2CF208-C89F-4F8A-8385-D10AF24F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开发模式创新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A4A8A-B56D-4C41-9DB1-5005D61E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驱动的全链路开发流程把需求到上线压缩成快速闭环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9E694-0DD3-4458-9FA4-17FF9794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00C7B1-D36B-4221-BE97-C39AF1B7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0A354A-1CC1-45F9-A9EC-0D67D1FE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669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全链路流程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45E8D6-6D1F-4B0C-8262-5C9191B6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446B7-3000-42E4-A5AC-0E7894F4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3905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驱动需求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385EB-4A4F-49CB-ADDE-F5566290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57450"/>
            <a:ext cx="428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自然语言描述需求，AI 理解并形成结构化方案。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ABEED2-36F1-460A-9884-F4029B76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337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69D01-B4CF-4BB8-923C-8F85AECA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76550"/>
            <a:ext cx="3905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驱动原型与前端代码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6732A-79AE-44C4-AE6E-8AD0F147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428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自动生成页面原型和前端可用代码。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4BC1E-2E2A-4CE3-9ABA-BFFB37B8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4345C8-5BB1-485E-8591-503A2B48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0"/>
            <a:ext cx="3905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驱动后端设计与代码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6458E5-73C1-47BD-8443-05080DB6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43350"/>
            <a:ext cx="428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生成后端架构设计方案和后端代码。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A3235D-6E7E-4AF7-AF77-2B8DE8D8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FF6CDC-C160-4E58-8060-F8239FFE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3905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驱动前后端联调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39597D-BE71-46B9-881A-F9EB0321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86300"/>
            <a:ext cx="428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辅助接口对接与联调测试，确保数据流转。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67056-671A-438E-9957-5C7C3BF1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0C2E28-D53E-4D7B-B05E-A78DDDE1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05400"/>
            <a:ext cx="3905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驱动集成测试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7F007E-87E1-4116-BD3B-5D220FBF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29250"/>
            <a:ext cx="428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自动生成用例，执行集成测试并保障稳定。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914260-329A-4A6A-B247-B60E4A6B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76450"/>
            <a:ext cx="4953000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376027-6F76-4910-A80B-21E630E0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57450"/>
            <a:ext cx="4171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打破边界，敏捷协同，价值共创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69BB78-86D0-4EEC-880A-B1964111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81350"/>
            <a:ext cx="39243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研发提前介入：团队参与产品需求设计阶段
提升综合能力：强化需求分析与理解能力
实现并行工作：需求、设计与开发同步推进
打破线性束缚：减少传递损耗，提升效率
全域能力探索：借助 AI 打破产研能力边界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9614BF-E27D-4357-87D8-21E73184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0515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价值：把传统串行研发变成 AI 辅助下的并行协同，让业务反馈更快进入产品迭代。</a:t>
            </a:r>
          </a:p>
        </p:txBody>
      </p:sp>
    </p:spTree>
    <p:extLst>
      <p:ext uri="{BB962C8B-B14F-4D97-AF65-F5344CB8AC3E}">
        <p14:creationId xmlns:p14="http://schemas.microsoft.com/office/powerpoint/2010/main" val="115809598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D8C6EC-9678-4099-B618-4BFA3822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开发模式创新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6B2AA-8004-4DE9-B2BA-C4F85E66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产品开发模式探索：稳态、配置、定开三层协同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7E2381-A6DB-4815-A7D1-4053CC92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B8237-8386-408F-8FAC-1FC1B4F9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33AFF-802F-4228-A999-3DAB3B17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288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三层协同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FF535-94C3-4CE3-BE5E-E6EC8A32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190750"/>
            <a:ext cx="106108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028A4-3707-4B31-B361-8E0F664F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00300"/>
            <a:ext cx="609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前台 AI 定制开发层：AI Vibe Coding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AC1B5B-8062-48F8-B3F6-9CF71111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19400"/>
            <a:ext cx="895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基于稳态层能力，通过 AI 驱动快速生成前台代码，敏捷响应市场变化与用户个性化需求。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DC894-79E1-4431-B2F6-A442B251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14700"/>
            <a:ext cx="342900" cy="40005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62CC97-2EDE-4914-96FD-D0C071C2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29050"/>
            <a:ext cx="106108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983674-0C0E-4A86-BDF2-1068C1CA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38600"/>
            <a:ext cx="533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配置层：解决方案与场景模板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86DF4-C783-4EB0-8D37-3823CEDB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57700"/>
            <a:ext cx="895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基于稳态层能力快速组合行业方案，提供丰富空间模板和场景模板，支持一键绑定和快速交付。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B40AEC-F4DA-41EC-85B8-C05DEFC7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953000"/>
            <a:ext cx="342900" cy="40005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0EB80F-15A8-4707-B830-5998D731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467350"/>
            <a:ext cx="10610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B5C786-08A6-484D-B380-D590C25F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007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稳态层：AI 原生产品底座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638C47-2FB1-4B52-93DC-5F2CB67F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924550"/>
            <a:ext cx="895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7719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提供稳定、可靠、安全的底层能力支撑，通过开放接口为上层应用提供强大基础。</a:t>
            </a:r>
          </a:p>
        </p:txBody>
      </p:sp>
    </p:spTree>
    <p:extLst>
      <p:ext uri="{BB962C8B-B14F-4D97-AF65-F5344CB8AC3E}">
        <p14:creationId xmlns:p14="http://schemas.microsoft.com/office/powerpoint/2010/main" val="7256330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9DDD49-00B3-476F-A73B-C8F414AE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开发模式创新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9EB4AF-7461-4950-9FAD-D3A9CAFB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66750"/>
            <a:ext cx="1140142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3 个月实践验证：AI + 敏捷流程带来至少 6 倍提效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D4CAD6-BF6C-4A8D-B674-33BFA979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1401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20D2E4-0CD9-4615-9573-478CFC5E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58FC7-F7A5-4BA6-9C29-6947B115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669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成效验证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416872-16DA-4B7C-B712-3DE8E6D6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286000"/>
            <a:ext cx="4095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27F19-DBA5-4392-A53C-1DA93833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3333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3 个月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B689F-A077-4D19-B5E3-CC457E0A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86150"/>
            <a:ext cx="1047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至少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6E80F6-4D36-4CF7-BDF7-73B53412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238500"/>
            <a:ext cx="14287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6 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97E9BB-2731-48A0-B6B2-B66B87F0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29100"/>
            <a:ext cx="2819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研发效率提升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618C84-9E1B-434B-8DAF-6AA4B638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3219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2803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AI + 敏捷流程加持，速度、质量、协作同步提升。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8D5BE-04A4-4A3E-8592-AB7802BA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190750"/>
            <a:ext cx="30670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C7E48-DDA7-4E2C-BACD-BF04F238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419350"/>
            <a:ext cx="26098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需求到上线更快闭环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01AE34-1A20-4B3D-AE77-0AD7BEB6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876550"/>
            <a:ext cx="2609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7096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辅助需求理解、方案生成、代码生成、联调测试和上线验证，让业务反馈更快进入产品迭代。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A288B2-F492-434F-9AC9-68423060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190750"/>
            <a:ext cx="30670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F0219C-F2BA-4E29-887A-11D77D8F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419350"/>
            <a:ext cx="26098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产研协同从串行变并行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737386-7B08-4D68-B9FA-B951C3E9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76550"/>
            <a:ext cx="2609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769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产品、研发、设计和测试更早参与同一条交付链路，减少等待和传递损耗。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CEF7C5-EA15-4FA1-AC91-2E85CB53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905250"/>
            <a:ext cx="64960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A16098-F4BB-45AA-B0C9-65A29202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133850"/>
            <a:ext cx="60388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具备产研全域能力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3EB491-8BE6-4818-AE08-83DF9ED2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591050"/>
            <a:ext cx="6038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团队能力从单点开发扩展到需求理解、产品设计、技术实现、测试验证和迭代运营。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2EF624-A163-442B-8586-F206D494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53100"/>
            <a:ext cx="114014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0117C6-5D8A-4512-9DD1-1759E573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76925"/>
            <a:ext cx="10763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2513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这 3 个月的实践说明，通答的开发模式创新不是工具替换，而是用 AI + 敏捷流程重构产研协作方式，让团队同时获得速度、质量和全域能力。</a:t>
            </a:r>
          </a:p>
        </p:txBody>
      </p:sp>
    </p:spTree>
    <p:extLst>
      <p:ext uri="{BB962C8B-B14F-4D97-AF65-F5344CB8AC3E}">
        <p14:creationId xmlns:p14="http://schemas.microsoft.com/office/powerpoint/2010/main" val="7836281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2026-07-17T00:42:34.2280000Z</dcterms:created>
  <dcterms:modified xsi:type="dcterms:W3CDTF">2026-07-17T00:42:34.2280000Z</dcterms:modified>
</coreProperties>
</file>