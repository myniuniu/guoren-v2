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59055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果仁</a:t>
            </a:r>
            <a:r>
              <a:rPr lang="zh-CN"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公司</a:t>
            </a:r>
            <a:r>
              <a: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内部运营方案</a:t>
            </a:r>
            <a:endParaRPr sz="45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600200"/>
            <a:ext cx="7239000" cy="14039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用果仁运营果仁，用果仁培训果仁</a:t>
            </a:r>
            <a:endParaRPr sz="21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7620000" y="685800"/>
            <a:ext cx="3714750" cy="40957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7752080" y="90868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lang="zh-CN"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运营方向</a:t>
            </a:r>
            <a:endParaRPr lang="zh-CN" sz="232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8001000" y="1600200"/>
            <a:ext cx="2857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功能发布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系统内测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问题反馈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培训学习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UGC 共创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知识图谱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积分与证书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5334000"/>
            <a:ext cx="5334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400050" y="56007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内部运营机制设计｜面向果仁系统使用、售卖支持、反馈闭环和最佳实践沉淀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果仁认知需要从零散使用走向统一运营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市场、销售、售前、客户成功和内部使用团队，都需要在同一套机制中理解能力、复用案例并反哺问题。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000250"/>
            <a:ext cx="3429000" cy="2381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当前风险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功能理解不一致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客户场景表达不清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演示素材更新滞后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重复答疑和经验丢失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381500" y="2000250"/>
            <a:ext cx="3429000" cy="23812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61010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运营任务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61010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把新功能、培训、反馈、内测、UGC 和最佳实践放进同一个果仁阵地持续运转。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362950" y="2000250"/>
            <a:ext cx="3429000" cy="2381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859155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预期变化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859155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员工会用果仁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对外表达更准确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问题能被收集处理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经验可查、可学、可复用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0292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边界：本方案只服务果仁系统运营。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运营目标先服务对客角色，再形成反馈闭环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目标顺序体现业务优先级：先帮助对外角色讲清果仁，再让系统问题和经验持续回流。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1943100"/>
            <a:ext cx="4953000" cy="20002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1526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首要目标</a:t>
            </a:r>
            <a:endParaRPr sz="1875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571750"/>
            <a:ext cx="44958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帮助市场、销售、售前、客户成功理解果仁能力、客户场景、价值表达和案例素材，辅助果仁更好地推广、售卖和落地。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5772150" y="1943100"/>
            <a:ext cx="2857500" cy="2000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6000750" y="21526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第二目标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6000750" y="2571750"/>
            <a:ext cx="24003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收集系统反馈、内测问题、客户问题和优化建议，形成处理、沉淀和反哺机制。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934450" y="1943100"/>
            <a:ext cx="2857500" cy="2000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9163050" y="21526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基础目标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9163050" y="2571750"/>
            <a:ext cx="24003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让员工知道新功能、会用关键模块、能完成学习培训和使用交接。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45148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扩展目标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shape"/>
          <p:cNvSpPr>
            <a:spLocks noGrp="1"/>
          </p:cNvSpPr>
          <p:nvPr/>
        </p:nvSpPr>
        <p:spPr>
          <a:xfrm>
            <a:off x="1943100" y="4476750"/>
            <a:ext cx="156210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2057400" y="45434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UGC 自主分享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369570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381000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内测验证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shape"/>
          <p:cNvSpPr>
            <a:spLocks noGrp="1"/>
          </p:cNvSpPr>
          <p:nvPr/>
        </p:nvSpPr>
        <p:spPr>
          <a:xfrm>
            <a:off x="5010150" y="4476750"/>
            <a:ext cx="156210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5124450" y="45434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知识图谱复用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hape"/>
          <p:cNvSpPr>
            <a:spLocks noGrp="1"/>
          </p:cNvSpPr>
          <p:nvPr/>
        </p:nvSpPr>
        <p:spPr>
          <a:xfrm>
            <a:off x="676275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687705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积分激励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shape"/>
          <p:cNvSpPr>
            <a:spLocks noGrp="1"/>
          </p:cNvSpPr>
          <p:nvPr/>
        </p:nvSpPr>
        <p:spPr>
          <a:xfrm>
            <a:off x="807720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6" name="text"/>
          <p:cNvSpPr>
            <a:spLocks noGrp="1"/>
          </p:cNvSpPr>
          <p:nvPr/>
        </p:nvSpPr>
        <p:spPr>
          <a:xfrm>
            <a:off x="819150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证书凭证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shape"/>
          <p:cNvSpPr>
            <a:spLocks noGrp="1"/>
          </p:cNvSpPr>
          <p:nvPr/>
        </p:nvSpPr>
        <p:spPr>
          <a:xfrm>
            <a:off x="9391650" y="4476750"/>
            <a:ext cx="15811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9505950" y="4543425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最佳实践沉淀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400050" y="5286375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所有目标都限定在果仁系统相关的信息传递、学习培训、内测反馈、资料沉淀和贡献激励。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总体架构是一主阵地，多模块协同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空间承载运营主阵地，其他模块围绕触达、推进、沉淀、学习、激励和凭证形成闭环。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286250" y="2381250"/>
            <a:ext cx="3619500" cy="14287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4667250" y="26860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果仁运营空间</a:t>
            </a:r>
            <a:endParaRPr sz="25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4552950" y="3219450"/>
            <a:ext cx="308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公告｜任务｜资料｜问卷｜研讨会｜内测｜UGC｜证书｜知识图谱</a:t>
            </a:r>
            <a:endParaRPr sz="1275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00050" y="20955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628650" y="23050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IM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628650" y="26479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触达、答疑、智能整理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400050" y="37338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628650" y="39433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28650" y="42862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责任、时间、状态闭环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shape"/>
          <p:cNvSpPr>
            <a:spLocks noGrp="1"/>
          </p:cNvSpPr>
          <p:nvPr/>
        </p:nvSpPr>
        <p:spPr>
          <a:xfrm>
            <a:off x="3143250" y="44577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3371850" y="46672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 / 资料库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3371850" y="50101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多形态资料与标准知识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6384290" y="4436745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6612890" y="4646295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研习社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6612890" y="4989195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课程、路径、培训记录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shape"/>
          <p:cNvSpPr>
            <a:spLocks noGrp="1"/>
          </p:cNvSpPr>
          <p:nvPr/>
        </p:nvSpPr>
        <p:spPr>
          <a:xfrm>
            <a:off x="9067800" y="20955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9296400" y="23050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问卷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9296400" y="26479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反馈、内测、满意度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shape"/>
          <p:cNvSpPr>
            <a:spLocks noGrp="1"/>
          </p:cNvSpPr>
          <p:nvPr/>
        </p:nvSpPr>
        <p:spPr>
          <a:xfrm>
            <a:off x="9067800" y="37338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text"/>
          <p:cNvSpPr>
            <a:spLocks noGrp="1"/>
          </p:cNvSpPr>
          <p:nvPr/>
        </p:nvSpPr>
        <p:spPr>
          <a:xfrm>
            <a:off x="9296400" y="39433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积分 / 证书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text"/>
          <p:cNvSpPr>
            <a:spLocks noGrp="1"/>
          </p:cNvSpPr>
          <p:nvPr/>
        </p:nvSpPr>
        <p:spPr>
          <a:xfrm>
            <a:off x="9296400" y="42862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贡献激励与学习凭证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2423795" y="5667375"/>
            <a:ext cx="735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知识图谱作为关系导航层，连接模块、功能、场景、问题、课程、案例和售卖素材。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每个载体都有清晰职责，避免运营动作散落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载体不是功能清单，而是把运营动作分配到最适合承载的位置。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95300" y="1447800"/>
            <a:ext cx="10668000" cy="400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66750" y="15335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运营职责</a:t>
            </a:r>
            <a:endParaRPr sz="13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2857500" y="15335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果仁模块</a:t>
            </a:r>
            <a:endParaRPr sz="13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5429250" y="153352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使用方式</a:t>
            </a:r>
            <a:endParaRPr sz="13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hape"/>
          <p:cNvSpPr>
            <a:spLocks noGrp="1"/>
          </p:cNvSpPr>
          <p:nvPr/>
        </p:nvSpPr>
        <p:spPr>
          <a:xfrm>
            <a:off x="495300" y="19050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666750" y="20574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触达与答疑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2857500" y="20574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IM + 智能体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5429250" y="205740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通知、提醒、自动检索资料库、整理问题草稿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hape"/>
          <p:cNvSpPr>
            <a:spLocks noGrp="1"/>
          </p:cNvSpPr>
          <p:nvPr/>
        </p:nvSpPr>
        <p:spPr>
          <a:xfrm>
            <a:off x="495300" y="24955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666750" y="26479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主阵地承载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2857500" y="26479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空间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5429250" y="264795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公告、任务、资料、问卷、研讨会、内测和 UGC 专区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495300" y="30861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666750" y="32385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执行推进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2857500" y="32385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5429250" y="323850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负责人、截止时间、处理状态和闭环结果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hape"/>
          <p:cNvSpPr>
            <a:spLocks noGrp="1"/>
          </p:cNvSpPr>
          <p:nvPr/>
        </p:nvSpPr>
        <p:spPr>
          <a:xfrm>
            <a:off x="495300" y="36766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666750" y="38290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学习培训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2857500" y="38290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在线研讨会 + 研习社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5429250" y="382905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发布会、答疑会、课程路径和学习记录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shape"/>
          <p:cNvSpPr>
            <a:spLocks noGrp="1"/>
          </p:cNvSpPr>
          <p:nvPr/>
        </p:nvSpPr>
        <p:spPr>
          <a:xfrm>
            <a:off x="495300" y="42672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666750" y="44196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知识沉淀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2857500" y="44196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 + 资料库 + 知识图谱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5429250" y="441960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视频文档沉淀、标准知识治理、关系化导航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shape"/>
          <p:cNvSpPr>
            <a:spLocks noGrp="1"/>
          </p:cNvSpPr>
          <p:nvPr/>
        </p:nvSpPr>
        <p:spPr>
          <a:xfrm>
            <a:off x="495300" y="48577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2" name="text"/>
          <p:cNvSpPr>
            <a:spLocks noGrp="1"/>
          </p:cNvSpPr>
          <p:nvPr/>
        </p:nvSpPr>
        <p:spPr>
          <a:xfrm>
            <a:off x="666750" y="50101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激励凭证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text"/>
          <p:cNvSpPr>
            <a:spLocks noGrp="1"/>
          </p:cNvSpPr>
          <p:nvPr/>
        </p:nvSpPr>
        <p:spPr>
          <a:xfrm>
            <a:off x="2857500" y="50101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积分 + 证书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5429250" y="501015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贡献量化、权益兑换、学习和贡献凭证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5" name="shape"/>
          <p:cNvSpPr>
            <a:spLocks noGrp="1"/>
          </p:cNvSpPr>
          <p:nvPr/>
        </p:nvSpPr>
        <p:spPr>
          <a:xfrm>
            <a:off x="495300" y="54483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IM 智能体让问题从聊天自动进入知识沉淀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智能体先用资料库回答，再把未覆盖的问题整理成可审核、可发布的资料草稿。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用户提问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员工在 IM 中提出果仁使用、演示或客户场景问题。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256032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hape"/>
          <p:cNvSpPr>
            <a:spLocks noGrp="1"/>
          </p:cNvSpPr>
          <p:nvPr/>
        </p:nvSpPr>
        <p:spPr>
          <a:xfrm>
            <a:off x="2712720" y="2152650"/>
            <a:ext cx="214122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294132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检索回复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294132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智能体基于空间资料库检索，给出带来源的即时答复。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87299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hape"/>
          <p:cNvSpPr>
            <a:spLocks noGrp="1"/>
          </p:cNvSpPr>
          <p:nvPr/>
        </p:nvSpPr>
        <p:spPr>
          <a:xfrm>
            <a:off x="502539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525399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识别缺口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525399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无法确认、答案冲突或重复出现的问题被标记。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718566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7338060" y="2152650"/>
            <a:ext cx="214122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756666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生成草稿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756666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形成问题摘要、FAQ 草稿、资料库文档草稿和图谱关系建议。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949833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hape"/>
          <p:cNvSpPr>
            <a:spLocks noGrp="1"/>
          </p:cNvSpPr>
          <p:nvPr/>
        </p:nvSpPr>
        <p:spPr>
          <a:xfrm>
            <a:off x="965073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987933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审核沉淀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987933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运营或模块负责人审核后发布到资料库、空间资料或任务。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shape"/>
          <p:cNvSpPr>
            <a:spLocks noGrp="1"/>
          </p:cNvSpPr>
          <p:nvPr/>
        </p:nvSpPr>
        <p:spPr>
          <a:xfrm>
            <a:off x="1257300" y="4857750"/>
            <a:ext cx="9677400" cy="8001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text"/>
          <p:cNvSpPr>
            <a:spLocks noGrp="1"/>
          </p:cNvSpPr>
          <p:nvPr/>
        </p:nvSpPr>
        <p:spPr>
          <a:xfrm>
            <a:off x="1485900" y="5067300"/>
            <a:ext cx="922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运营价值</a:t>
            </a:r>
            <a:endParaRPr sz="165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1485900" y="5295900"/>
            <a:ext cx="9220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减少重复答疑，把真实问题转化为 FAQ、培训内容、图谱节点和产品优化线索。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46518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核心场景围绕发布、内测、培训和反馈形成闭环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每个场景都从触达到沉淀，最后回到任务、资料库、知识图谱和后续优化。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000250"/>
            <a:ext cx="26670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2098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新功能上线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628900"/>
            <a:ext cx="22098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IM 通知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空间专题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研讨会讲解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问卷收集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FAQ 与图谱更新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3333750" y="2000250"/>
            <a:ext cx="26670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3562350" y="22098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系统内测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3562350" y="2628900"/>
            <a:ext cx="22098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内测范围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试用任务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反馈问卷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问题复测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上线建议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6267450" y="2000250"/>
            <a:ext cx="26670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6496050" y="22098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系统培训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496050" y="2628900"/>
            <a:ext cx="22098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研习社课程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在线研讨会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学习任务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课后问卷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证书发放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shape"/>
          <p:cNvSpPr>
            <a:spLocks noGrp="1"/>
          </p:cNvSpPr>
          <p:nvPr/>
        </p:nvSpPr>
        <p:spPr>
          <a:xfrm>
            <a:off x="9201150" y="2000250"/>
            <a:ext cx="25908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9429750" y="22098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问题反馈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9429750" y="2628900"/>
            <a:ext cx="21336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IM/问卷收集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任务跟进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结果同步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资料库沉淀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产品反哺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400050" y="5257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最佳实践、UGC 自主分享、知识图谱、证书和交接支持作为横向机制，贯穿以上场景。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UGC 和积分机制把自主贡献变成可持续供给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用户完成系统内真实行为后，由埋点事件和结构化条件触发积分计算或审核。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08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1943100"/>
            <a:ext cx="3429000" cy="297307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15265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可鼓励的贡献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571750"/>
            <a:ext cx="29718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使用技巧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场景案例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模板贡献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问题复盘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内测体验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自主分享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答疑贡献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362450" y="1943100"/>
            <a:ext cx="3429000" cy="2972435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591050" y="215265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积分规则模型</a:t>
            </a:r>
            <a:endParaRPr sz="1875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591050" y="2571750"/>
            <a:ext cx="29718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系统埋点事件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+ AND / OR 条件树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+ 积分值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+ 审核方式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+ 频次限制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324850" y="1943100"/>
            <a:ext cx="346710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8553450" y="21526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权益与边界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8553450" y="2571750"/>
            <a:ext cx="30099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身份标识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曝光推荐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内测优先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专题答疑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资源与证书兑换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不关联绩效薪酬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2387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“我的积分”只展示已发布任务；规则创建和审核统一在“积分管理”完成。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977011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证书独立承载学习和贡献凭证，只在兑换时关联积分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证书不是积分档案，也不由积分等级直接触发；它是果仁学习与贡献的可见凭证。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09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0050" y="2000250"/>
            <a:ext cx="3429000" cy="265176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2865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证书类型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865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入门结业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模块专项学习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管理员认证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内测官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UGC 贡献者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最佳实践贡献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381500" y="2000250"/>
            <a:ext cx="3429000" cy="265176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61010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发放方式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61010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规则自动发放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用户申请领取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运营方主动发放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积分兑换证书权益后触发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362950" y="2000250"/>
            <a:ext cx="3429000" cy="2656205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59155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运营用途</a:t>
            </a:r>
            <a:endParaRPr sz="1875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59155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学习结业可见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贡献荣誉可追踪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优秀内容可公示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异常和异议可任务化处理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029200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边界：证书仅服务果仁系统运营，不作为公司级资质、绩效或薪酬依据。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知识图谱把分散内容变成可导航的关系网络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它不替代资料库、资料区或研习社，而是把功能、场景、问题、课程、案例和售卖素材连接起来。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10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591050" y="2324100"/>
            <a:ext cx="3009900" cy="14287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5143500" y="27241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知识图谱</a:t>
            </a:r>
            <a:endParaRPr sz="2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5238750" y="3257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关系导航层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00050" y="2000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552450" y="2200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模块 / 功能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shape"/>
          <p:cNvSpPr>
            <a:spLocks noGrp="1"/>
          </p:cNvSpPr>
          <p:nvPr/>
        </p:nvSpPr>
        <p:spPr>
          <a:xfrm>
            <a:off x="400050" y="3905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552450" y="4105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 / FAQ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shape"/>
          <p:cNvSpPr>
            <a:spLocks noGrp="1"/>
          </p:cNvSpPr>
          <p:nvPr/>
        </p:nvSpPr>
        <p:spPr>
          <a:xfrm>
            <a:off x="3648075" y="476250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3800475" y="49625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课程 / 培训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shape"/>
          <p:cNvSpPr>
            <a:spLocks noGrp="1"/>
          </p:cNvSpPr>
          <p:nvPr/>
        </p:nvSpPr>
        <p:spPr>
          <a:xfrm>
            <a:off x="6528435" y="4725035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6680835" y="492506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最佳实践 / UGC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shape"/>
          <p:cNvSpPr>
            <a:spLocks noGrp="1"/>
          </p:cNvSpPr>
          <p:nvPr/>
        </p:nvSpPr>
        <p:spPr>
          <a:xfrm>
            <a:off x="9391650" y="2000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9544050" y="2200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客户场景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shape"/>
          <p:cNvSpPr>
            <a:spLocks noGrp="1"/>
          </p:cNvSpPr>
          <p:nvPr/>
        </p:nvSpPr>
        <p:spPr>
          <a:xfrm>
            <a:off x="9391650" y="3905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9544050" y="4105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售卖素材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400050" y="56769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员工可以从任一入口找到相关资料、课程、FAQ、案例、内测问题和客户表达素材。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运营需要固定节奏、明确角色和可观察指标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日常处理、周度沉淀、月度复盘和季度治理共同保证机制不空转。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11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1943100"/>
            <a:ext cx="333375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1526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运营节奏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571750"/>
            <a:ext cx="28765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每日：答疑、审核、任务跟进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每周：问题汇总、FAQ 更新、内测复测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每月：培训、简报、榜单、图谱更新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每季度：机制复盘和资料治理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419600" y="1943100"/>
            <a:ext cx="333375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648200" y="21526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协作角色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648200" y="2571750"/>
            <a:ext cx="28765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运营负责人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产品负责人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技术支持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使用方接口人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空间管理员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资料库维护人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研习社、图谱、证书负责人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439150" y="1943100"/>
            <a:ext cx="335280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8667750" y="215265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核心指标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8667750" y="2571750"/>
            <a:ext cx="28956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触达率、培训参与率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内测反馈和问题关闭率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UGC 提交与复用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证书领取率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图谱访问和点击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IM 智能体命中率与采纳率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5245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指标用于改进果仁系统运营，不扩展为公司级绩效评价。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三阶段启动后，果仁运营进入常态化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先搭阵地，再形成节奏，最后用数据和内容治理持续优化。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果仁内部运营方案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12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723900" y="2000250"/>
            <a:ext cx="3467100" cy="18097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952500" y="220980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1 个月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952500" y="2552700"/>
            <a:ext cx="3009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上线运营空间、IM 群、内测入口、UGC 入口、知识图谱基础、证书模版和入门课程。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4210050" y="277177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hape"/>
          <p:cNvSpPr>
            <a:spLocks noGrp="1"/>
          </p:cNvSpPr>
          <p:nvPr/>
        </p:nvSpPr>
        <p:spPr>
          <a:xfrm>
            <a:off x="4362450" y="2000250"/>
            <a:ext cx="34671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4591050" y="220980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2-3 个月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4591050" y="2552700"/>
            <a:ext cx="3009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固定培训和案例推送，建立问题台账、内测复测、UGC 积分公示和证书发放机制。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7848600" y="277177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hape"/>
          <p:cNvSpPr>
            <a:spLocks noGrp="1"/>
          </p:cNvSpPr>
          <p:nvPr/>
        </p:nvSpPr>
        <p:spPr>
          <a:xfrm>
            <a:off x="8001000" y="2000250"/>
            <a:ext cx="3467100" cy="18097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8229600" y="220980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4 个月起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8229600" y="2552700"/>
            <a:ext cx="3009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建立数据看板，治理资料库和知识图谱，把高频问题转化为产品优化与课程更新。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shape"/>
          <p:cNvSpPr>
            <a:spLocks noGrp="1"/>
          </p:cNvSpPr>
          <p:nvPr/>
        </p:nvSpPr>
        <p:spPr>
          <a:xfrm>
            <a:off x="1038860" y="4476750"/>
            <a:ext cx="9991090" cy="1310005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1390650" y="4686300"/>
            <a:ext cx="941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最终效果</a:t>
            </a:r>
            <a:endParaRPr sz="18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1390650" y="4953000"/>
            <a:ext cx="941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功能发布有触达，系统内测有验证，员工学习有路径，IM 问题有智能整理，UGC 贡献有激励，证书荣誉有凭证，市场售卖有素材。</a:t>
            </a:r>
            <a:endParaRPr sz="1575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9.15,&quot;left&quot;:31.5,&quot;top&quot;:157.5,&quot;width&quot;:897}"/>
</p:tagLst>
</file>

<file path=ppt/tags/tag2.xml><?xml version="1.0" encoding="utf-8"?>
<p:tagLst xmlns:p="http://schemas.openxmlformats.org/presentationml/2006/main">
  <p:tag name="KSO_WM_DIAGRAM_VIRTUALLY_FRAME" val="{&quot;height&quot;:209.15,&quot;left&quot;:31.5,&quot;top&quot;:157.5,&quot;width&quot;:897}"/>
</p:tagLst>
</file>

<file path=ppt/tags/tag3.xml><?xml version="1.0" encoding="utf-8"?>
<p:tagLst xmlns:p="http://schemas.openxmlformats.org/presentationml/2006/main">
  <p:tag name="KSO_WM_DIAGRAM_VIRTUALLY_FRAME" val="{&quot;height&quot;:209.15,&quot;left&quot;:31.5,&quot;top&quot;:157.5,&quot;width&quot;:897}"/>
</p:tagLst>
</file>

<file path=ppt/tags/tag4.xml><?xml version="1.0" encoding="utf-8"?>
<p:tagLst xmlns:p="http://schemas.openxmlformats.org/presentationml/2006/main">
  <p:tag name="KSO_WM_DIAGRAM_VIRTUALLY_FRAME" val="{&quot;height&quot;:209.15,&quot;left&quot;:31.5,&quot;top&quot;:157.5,&quot;width&quot;:897}"/>
</p:tagLst>
</file>

<file path=ppt/tags/tag5.xml><?xml version="1.0" encoding="utf-8"?>
<p:tagLst xmlns:p="http://schemas.openxmlformats.org/presentationml/2006/main">
  <p:tag name="KSO_WM_DIAGRAM_VIRTUALLY_FRAME" val="{&quot;height&quot;:209.15,&quot;left&quot;:31.5,&quot;top&quot;:157.5,&quot;width&quot;:897}"/>
</p:tagLst>
</file>

<file path=ppt/tags/tag6.xml><?xml version="1.0" encoding="utf-8"?>
<p:tagLst xmlns:p="http://schemas.openxmlformats.org/presentationml/2006/main">
  <p:tag name="KSO_WM_DIAGRAM_VIRTUALLY_FRAME" val="{&quot;height&quot;:209.15,&quot;left&quot;:31.5,&quot;top&quot;:157.5,&quot;width&quot;:897}"/>
</p:tagLst>
</file>

<file path=ppt/tags/tag7.xml><?xml version="1.0" encoding="utf-8"?>
<p:tagLst xmlns:p="http://schemas.openxmlformats.org/presentationml/2006/main">
  <p:tag name="KSO_WM_DIAGRAM_VIRTUALLY_FRAME" val="{&quot;height&quot;:209.15,&quot;left&quot;:31.5,&quot;top&quot;:157.5,&quot;width&quot;:897}"/>
</p:tagLst>
</file>

<file path=ppt/tags/tag8.xml><?xml version="1.0" encoding="utf-8"?>
<p:tagLst xmlns:p="http://schemas.openxmlformats.org/presentationml/2006/main">
  <p:tag name="KSO_WM_DIAGRAM_VIRTUALLY_FRAME" val="{&quot;height&quot;:209.15,&quot;left&quot;:31.5,&quot;top&quot;:157.5,&quot;width&quot;:897}"/>
</p:tagLst>
</file>

<file path=ppt/tags/tag9.xml><?xml version="1.0" encoding="utf-8"?>
<p:tagLst xmlns:p="http://schemas.openxmlformats.org/presentationml/2006/main">
  <p:tag name="KSO_WM_DIAGRAM_VIRTUALLY_FRAME" val="{&quot;height&quot;:209.15,&quot;left&quot;:31.5,&quot;top&quot;:157.5,&quot;width&quot;:897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2604</Words>
  <Application>WPS 文字</Application>
  <PresentationFormat>Converted Presentation</PresentationFormat>
  <Paragraphs>414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PingFang SC</vt:lpstr>
      <vt:lpstr>Thonburi</vt:lpstr>
      <vt:lpstr>宋体</vt:lpstr>
      <vt:lpstr>宋体-简</vt:lpstr>
      <vt:lpstr>微软雅黑</vt:lpstr>
      <vt:lpstr>汉仪旗黑</vt:lpstr>
      <vt:lpstr>Arial Unicode MS</vt:lpstr>
      <vt:lpstr>Calibri</vt:lpstr>
      <vt:lpstr>Helvetica Neue</vt:lpstr>
      <vt:lpstr>PingFang SC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张洪磊</cp:lastModifiedBy>
  <cp:revision>7</cp:revision>
  <dcterms:created xsi:type="dcterms:W3CDTF">2026-07-19T11:43:37Z</dcterms:created>
  <dcterms:modified xsi:type="dcterms:W3CDTF">2026-07-19T11:43:37Z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E952DB184D2A2667A98C5C6A9ABD2047_42</vt:lpwstr>
  </property>
  <property fmtid="{D5CDD505-2E9C-101B-9397-08002B2CF9AE}" pid="3" name="KSOProductBuildVer">
    <vt:lpwstr>2052-12.1.26030.26030</vt:lpwstr>
  </property>
</Properties>
</file>