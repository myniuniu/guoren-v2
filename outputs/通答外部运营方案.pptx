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3d3c932b6b45e0" /><Relationship Type="http://schemas.openxmlformats.org/officeDocument/2006/relationships/extended-properties" Target="/docProps/app.xml" Id="Rcc9e82b5871f4b3b" /><Relationship Type="http://schemas.openxmlformats.org/officeDocument/2006/relationships/officeDocument" Target="/ppt/presentation.xml" Id="Re150fef7a2514a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fbe50076944984"/>
  </p:sldMasterIdLst>
  <p:notesMasterIdLst>
    <p:notesMasterId xmlns:r="http://schemas.openxmlformats.org/officeDocument/2006/relationships" r:id="R6b95e10853284de5"/>
  </p:notesMasterIdLst>
  <p:sldIdLst>
    <p:sldId xmlns:r="http://schemas.openxmlformats.org/officeDocument/2006/relationships" id="256" r:id="R9e3ae7f2a5c84e88"/>
    <p:sldId xmlns:r="http://schemas.openxmlformats.org/officeDocument/2006/relationships" id="257" r:id="R40878d8af9774252"/>
    <p:sldId xmlns:r="http://schemas.openxmlformats.org/officeDocument/2006/relationships" id="258" r:id="Rd148734599f94644"/>
    <p:sldId xmlns:r="http://schemas.openxmlformats.org/officeDocument/2006/relationships" id="259" r:id="R6ce36f4484ac4ee7"/>
    <p:sldId xmlns:r="http://schemas.openxmlformats.org/officeDocument/2006/relationships" id="260" r:id="R47e75a0616d940a2"/>
    <p:sldId xmlns:r="http://schemas.openxmlformats.org/officeDocument/2006/relationships" id="261" r:id="R02b0e8e5e9784745"/>
    <p:sldId xmlns:r="http://schemas.openxmlformats.org/officeDocument/2006/relationships" id="262" r:id="R83c3d7c5de0e45f8"/>
    <p:sldId xmlns:r="http://schemas.openxmlformats.org/officeDocument/2006/relationships" id="263" r:id="R9534f31260a74de4"/>
    <p:sldId xmlns:r="http://schemas.openxmlformats.org/officeDocument/2006/relationships" id="264" r:id="R0a4b33310da64044"/>
    <p:sldId xmlns:r="http://schemas.openxmlformats.org/officeDocument/2006/relationships" id="265" r:id="Rb320c90629b64126"/>
    <p:sldId xmlns:r="http://schemas.openxmlformats.org/officeDocument/2006/relationships" id="266" r:id="R41b41eb0b3744eb6"/>
    <p:sldId xmlns:r="http://schemas.openxmlformats.org/officeDocument/2006/relationships" id="267" r:id="Rb2a19ac8b8c7453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86c72a6bf24dc1" /><Relationship Type="http://schemas.openxmlformats.org/officeDocument/2006/relationships/slideMaster" Target="/ppt/slideMasters/slideMaster1.xml" Id="R00fbe50076944984" /><Relationship Type="http://schemas.openxmlformats.org/officeDocument/2006/relationships/notesMaster" Target="/ppt/notesMasters/notesMaster1.xml" Id="R6b95e10853284de5" /><Relationship Type="http://schemas.openxmlformats.org/officeDocument/2006/relationships/presProps" Target="/ppt/presProps.xml" Id="R031c171c8b40424b" /><Relationship Type="http://schemas.openxmlformats.org/officeDocument/2006/relationships/tableStyles" Target="/ppt/tableStyles.xml" Id="R79ad0fb2e9da42fd" /><Relationship Type="http://schemas.openxmlformats.org/officeDocument/2006/relationships/slide" Target="/ppt/slides/slide1.xml" Id="R9e3ae7f2a5c84e88" /><Relationship Type="http://schemas.openxmlformats.org/officeDocument/2006/relationships/slide" Target="/ppt/slides/slide2.xml" Id="R40878d8af9774252" /><Relationship Type="http://schemas.openxmlformats.org/officeDocument/2006/relationships/slide" Target="/ppt/slides/slide3.xml" Id="Rd148734599f94644" /><Relationship Type="http://schemas.openxmlformats.org/officeDocument/2006/relationships/slide" Target="/ppt/slides/slide4.xml" Id="R6ce36f4484ac4ee7" /><Relationship Type="http://schemas.openxmlformats.org/officeDocument/2006/relationships/slide" Target="/ppt/slides/slide5.xml" Id="R47e75a0616d940a2" /><Relationship Type="http://schemas.openxmlformats.org/officeDocument/2006/relationships/slide" Target="/ppt/slides/slide6.xml" Id="R02b0e8e5e9784745" /><Relationship Type="http://schemas.openxmlformats.org/officeDocument/2006/relationships/slide" Target="/ppt/slides/slide7.xml" Id="R83c3d7c5de0e45f8" /><Relationship Type="http://schemas.openxmlformats.org/officeDocument/2006/relationships/slide" Target="/ppt/slides/slide8.xml" Id="R9534f31260a74de4" /><Relationship Type="http://schemas.openxmlformats.org/officeDocument/2006/relationships/slide" Target="/ppt/slides/slide9.xml" Id="R0a4b33310da64044" /><Relationship Type="http://schemas.openxmlformats.org/officeDocument/2006/relationships/slide" Target="/ppt/slides/slide10.xml" Id="Rb320c90629b64126" /><Relationship Type="http://schemas.openxmlformats.org/officeDocument/2006/relationships/slide" Target="/ppt/slides/slide11.xml" Id="R41b41eb0b3744eb6" /><Relationship Type="http://schemas.openxmlformats.org/officeDocument/2006/relationships/slide" Target="/ppt/slides/slide12.xml" Id="Rb2a19ac8b8c745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6069d87e144a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16270229f04766" /><Relationship Type="http://schemas.openxmlformats.org/officeDocument/2006/relationships/notesMaster" Target="/ppt/notesMasters/notesMaster1.xml" Id="R51ae86129a5d48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8446bb0d12450a" /><Relationship Type="http://schemas.openxmlformats.org/officeDocument/2006/relationships/notesMaster" Target="/ppt/notesMasters/notesMaster1.xml" Id="R2d98200f0c094f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5b1de4ac87454b" /><Relationship Type="http://schemas.openxmlformats.org/officeDocument/2006/relationships/notesMaster" Target="/ppt/notesMasters/notesMaster1.xml" Id="R74128c26b6e34d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3b73ba883444b8" /><Relationship Type="http://schemas.openxmlformats.org/officeDocument/2006/relationships/notesMaster" Target="/ppt/notesMasters/notesMaster1.xml" Id="R8efee8bf6d9b44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9757a2871541a9" /><Relationship Type="http://schemas.openxmlformats.org/officeDocument/2006/relationships/notesMaster" Target="/ppt/notesMasters/notesMaster1.xml" Id="R4ad3bfdf816044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f34a624f584ced" /><Relationship Type="http://schemas.openxmlformats.org/officeDocument/2006/relationships/notesMaster" Target="/ppt/notesMasters/notesMaster1.xml" Id="R7c562633039f4e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2ff9ea8dbf4709" /><Relationship Type="http://schemas.openxmlformats.org/officeDocument/2006/relationships/notesMaster" Target="/ppt/notesMasters/notesMaster1.xml" Id="R5825d153b88e43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45ca2da2da4588" /><Relationship Type="http://schemas.openxmlformats.org/officeDocument/2006/relationships/notesMaster" Target="/ppt/notesMasters/notesMaster1.xml" Id="Rc280708b90fc45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d9e5960ab14d8d" /><Relationship Type="http://schemas.openxmlformats.org/officeDocument/2006/relationships/notesMaster" Target="/ppt/notesMasters/notesMaster1.xml" Id="Rf327d450ef3e4e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ce13e56e3f46d9" /><Relationship Type="http://schemas.openxmlformats.org/officeDocument/2006/relationships/notesMaster" Target="/ppt/notesMasters/notesMaster1.xml" Id="Rc92e00c3dbf343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f7b8523acbc4700" /><Relationship Type="http://schemas.openxmlformats.org/officeDocument/2006/relationships/notesMaster" Target="/ppt/notesMasters/notesMaster1.xml" Id="Ra1737b7ac91346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9a1fbeb0da47a8" /><Relationship Type="http://schemas.openxmlformats.org/officeDocument/2006/relationships/notesMaster" Target="/ppt/notesMasters/notesMaster1.xml" Id="R6846ed5a6a8143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a2d61db81f42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487af093694dbf" /><Relationship Type="http://schemas.openxmlformats.org/officeDocument/2006/relationships/slideLayout" Target="/ppt/slideLayouts/slideLayout1.xml" Id="R9ea7c00993c3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a7c00993c3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a570b367545c7" /><Relationship Type="http://schemas.openxmlformats.org/officeDocument/2006/relationships/notesSlide" Target="/ppt/notesSlides/notesSlide1.xml" Id="R79bcf938b40643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d3da2f81d4004" /><Relationship Type="http://schemas.openxmlformats.org/officeDocument/2006/relationships/notesSlide" Target="/ppt/notesSlides/notesSlide2.xml" Id="R23bae433c44843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a790825cd4d84" /><Relationship Type="http://schemas.openxmlformats.org/officeDocument/2006/relationships/notesSlide" Target="/ppt/notesSlides/notesSlide3.xml" Id="R6511ebc1d93741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1419259e64ef0" /><Relationship Type="http://schemas.openxmlformats.org/officeDocument/2006/relationships/notesSlide" Target="/ppt/notesSlides/notesSlide4.xml" Id="R52146c2b22e94a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151edc2f946fa" /><Relationship Type="http://schemas.openxmlformats.org/officeDocument/2006/relationships/notesSlide" Target="/ppt/notesSlides/notesSlide5.xml" Id="R336761907e1a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3c25eaa3846ab" /><Relationship Type="http://schemas.openxmlformats.org/officeDocument/2006/relationships/notesSlide" Target="/ppt/notesSlides/notesSlide6.xml" Id="Rbb58ba6cff3a47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6ea9e0b6d4ff0" /><Relationship Type="http://schemas.openxmlformats.org/officeDocument/2006/relationships/notesSlide" Target="/ppt/notesSlides/notesSlide7.xml" Id="R4d88cf4d67d74b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87b8e0e2c4518" /><Relationship Type="http://schemas.openxmlformats.org/officeDocument/2006/relationships/notesSlide" Target="/ppt/notesSlides/notesSlide8.xml" Id="Raf7216554ce843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b73ab47b84080" /><Relationship Type="http://schemas.openxmlformats.org/officeDocument/2006/relationships/notesSlide" Target="/ppt/notesSlides/notesSlide9.xml" Id="R799a23064a8248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53e250dfd4008" /><Relationship Type="http://schemas.openxmlformats.org/officeDocument/2006/relationships/notesSlide" Target="/ppt/notesSlides/notesSlide10.xml" Id="Rea33ec0e747544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b36d0a90a416a" /><Relationship Type="http://schemas.openxmlformats.org/officeDocument/2006/relationships/notesSlide" Target="/ppt/notesSlides/notesSlide11.xml" Id="R1d8b9c69b86e40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b0859d7b74bd8" /><Relationship Type="http://schemas.openxmlformats.org/officeDocument/2006/relationships/notesSlide" Target="/ppt/notesSlides/notesSlide12.xml" Id="R3c999bd62d374a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C93D496E-8FFB-41D3-9C47-F2D0DA67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5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B344D84-D165-49BB-9ABA-43ECDC44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21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从客户认知到持续成功的运营闭环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027F77EA-AC96-4A89-9814-51FDB05A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85800"/>
            <a:ext cx="3714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28234CA-319C-4DB7-B1E3-2B78E164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14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运营方向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47C830D-EFFF-4E05-9600-F259D406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71650"/>
            <a:ext cx="2857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市场触达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价值教育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试用启用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培训陪跑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反馈共创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案例复用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续用增长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8DFFFA22-52FE-49D5-A642-04116350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1E6A281-794A-4B7A-A81A-14492B7D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00700"/>
            <a:ext cx="876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外部运营机制设计｜面向目标客户、渠道伙伴、试用用户和存量客户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BA775CE-E856-4E33-9ACF-7142329C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353F00D-E955-4F8A-BF73-D8F87398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551054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62B3C27D-6020-4526-99F4-5BC46779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外部运营要把产品能力转化为客户可理解的价值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67C94EA-B9CD-43ED-B5F6-3C4E6EAF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客户不是只需要知道功能列表，更需要知道通答适合什么场景、如何启用、能解决什么问题。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D69DA8E4-F47D-4026-B8E9-A0674DE6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2A96ECF-301A-4AD9-9136-A9218541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28D1995-53EB-4A37-9E42-7B998677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DE24E270-6E15-40C4-9A7D-C8255993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4C59552-2200-49E0-8F54-5FF4671D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常见断点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4609AC1-0D20-4FBC-A04B-BA34C0F5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29718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客户只听到功能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试用路径不清晰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价值验证周期长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客户问题分散在不同触点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C0B15525-1C79-4207-8983-916F6CB7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D2CBED9-DF95-40A4-8E67-F7E31470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运营任务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CE11BE4-6383-48E8-A346-8933386B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28900"/>
            <a:ext cx="29718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用内容、活动、培训、反馈和案例，把客户从认知带到启用、复用和续用。</a:t>
            </a:r>
          </a:p>
        </p:txBody>
      </p:sp>
      <p:sp>
        <p:nvSpPr>
          <p:cNvPr id="12" name="shape">
            <a:extLst xmlns:a="http://schemas.openxmlformats.org/drawingml/2006/main">
              <a:ext uri="{FF2B5EF4-FFF2-40B4-BE49-F238E27FC236}">
                <a16:creationId xmlns:a16="http://schemas.microsoft.com/office/drawing/2014/main" id="{F341B672-D125-4E02-940A-D1786BA9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BD70FC2-707B-482E-9ADD-FC81A10A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098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预期变化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832F939-1DBA-49FD-9016-C29549E2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28900"/>
            <a:ext cx="29718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客户更快理解价值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试用更容易启动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反馈能进入产品闭环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案例可复用为增长素材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831C2DA-E2FA-438A-B0EC-89177502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边界：外部运营服务通答产品推广、客户教育和客户成功，不替代销售业绩管理、合同管理或交付项目管理。</a:t>
            </a:r>
          </a:p>
        </p:txBody>
      </p:sp>
    </p:spTree>
    <p:extLst>
      <p:ext uri="{BB962C8B-B14F-4D97-AF65-F5344CB8AC3E}">
        <p14:creationId xmlns:p14="http://schemas.microsoft.com/office/powerpoint/2010/main" val="3334982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69E72141-D784-44A2-A422-DAA2FEDD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外部运营目标先帮助客户理解价值，再推动启用和反馈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1A8BD5A-B440-4075-A609-580E4FE9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目标顺序围绕客户旅程展开：先让客户知道为什么用，再帮助客户用起来、用出效果并持续反馈。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F0959F24-3AD7-4DED-8EFA-27CA0A2A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82A4726-E7CA-4018-A627-D0C28B4A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5B75DBD-CFBF-465E-B7E6-AC7747EA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5AA46D9B-CCE1-46C0-8DA5-178CE23A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4953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8C5F8C8-D78B-4012-95C7-2E1A5620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首要目标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BE91F68-A261-4651-95F0-BC6235E2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4495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帮助目标客户、渠道伙伴和试用用户理解通答能力、适用场景、业务价值和成功案例，降低采购、试用和推广决策成本。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81E76C1E-4EEF-443F-8BF9-0E039765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431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484E48B-DC1A-4F99-B22B-7BC01E7C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526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第二目标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A7D8777-222B-4458-BEFA-015487EE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71750"/>
            <a:ext cx="2400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提升试用启用率、培训完成率、关键功能使用率和客户问题响应效率。</a:t>
            </a:r>
          </a:p>
        </p:txBody>
      </p:sp>
      <p:sp>
        <p:nvSpPr>
          <p:cNvPr id="12" name="shape">
            <a:extLst xmlns:a="http://schemas.openxmlformats.org/drawingml/2006/main">
              <a:ext uri="{FF2B5EF4-FFF2-40B4-BE49-F238E27FC236}">
                <a16:creationId xmlns:a16="http://schemas.microsoft.com/office/drawing/2014/main" id="{6007EE15-DC23-44C8-8064-FF86311E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431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DA5FD2F-8D4E-424B-B663-84CB115E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526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第三目标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F3552BE-34CB-453F-95C0-95438D60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71750"/>
            <a:ext cx="2400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收集客户需求、试用反馈、行业问题和最佳实践，反哺产品与内容。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925AA95-E39A-4AD2-ABC3-FAB1EE09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148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扩展目标</a:t>
            </a:r>
          </a:p>
        </p:txBody>
      </p:sp>
      <p:sp>
        <p:nvSpPr>
          <p:cNvPr id="16" name="shape">
            <a:extLst xmlns:a="http://schemas.openxmlformats.org/drawingml/2006/main">
              <a:ext uri="{FF2B5EF4-FFF2-40B4-BE49-F238E27FC236}">
                <a16:creationId xmlns:a16="http://schemas.microsoft.com/office/drawing/2014/main" id="{2DBF0E6C-5113-4671-A082-95E40DC0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767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0542887-2818-4321-88AA-DCDC7951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54342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内容获客</a:t>
            </a:r>
          </a:p>
        </p:txBody>
      </p:sp>
      <p:sp>
        <p:nvSpPr>
          <p:cNvPr id="18" name="shape">
            <a:extLst xmlns:a="http://schemas.openxmlformats.org/drawingml/2006/main">
              <a:ext uri="{FF2B5EF4-FFF2-40B4-BE49-F238E27FC236}">
                <a16:creationId xmlns:a16="http://schemas.microsoft.com/office/drawing/2014/main" id="{833BB705-A32D-4FA6-8A5A-BB357C11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767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A48FA4A-DC97-46CD-B86A-EF6A9F62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4342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客户启用</a:t>
            </a:r>
          </a:p>
        </p:txBody>
      </p:sp>
      <p:sp>
        <p:nvSpPr>
          <p:cNvPr id="20" name="shape">
            <a:extLst xmlns:a="http://schemas.openxmlformats.org/drawingml/2006/main">
              <a:ext uri="{FF2B5EF4-FFF2-40B4-BE49-F238E27FC236}">
                <a16:creationId xmlns:a16="http://schemas.microsoft.com/office/drawing/2014/main" id="{1E220FB1-9D61-405D-9701-68ED97C7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767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40DA2F53-A254-4D82-993A-24C1D036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4342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培训认证</a:t>
            </a:r>
          </a:p>
        </p:txBody>
      </p:sp>
      <p:sp>
        <p:nvSpPr>
          <p:cNvPr id="22" name="shape">
            <a:extLst xmlns:a="http://schemas.openxmlformats.org/drawingml/2006/main">
              <a:ext uri="{FF2B5EF4-FFF2-40B4-BE49-F238E27FC236}">
                <a16:creationId xmlns:a16="http://schemas.microsoft.com/office/drawing/2014/main" id="{6CD34F28-4BC9-4695-A266-417CA060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767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6997A631-51AF-40C7-BC33-20034D77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4342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反馈共创</a:t>
            </a:r>
          </a:p>
        </p:txBody>
      </p:sp>
      <p:sp>
        <p:nvSpPr>
          <p:cNvPr id="24" name="shape">
            <a:extLst xmlns:a="http://schemas.openxmlformats.org/drawingml/2006/main">
              <a:ext uri="{FF2B5EF4-FFF2-40B4-BE49-F238E27FC236}">
                <a16:creationId xmlns:a16="http://schemas.microsoft.com/office/drawing/2014/main" id="{FD14FF17-0B79-4EDD-95C9-9614D9FA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767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8C20A145-029D-4EEA-9CA1-4EB197AF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4342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案例复用</a:t>
            </a:r>
          </a:p>
        </p:txBody>
      </p:sp>
      <p:sp>
        <p:nvSpPr>
          <p:cNvPr id="26" name="shape">
            <a:extLst xmlns:a="http://schemas.openxmlformats.org/drawingml/2006/main">
              <a:ext uri="{FF2B5EF4-FFF2-40B4-BE49-F238E27FC236}">
                <a16:creationId xmlns:a16="http://schemas.microsoft.com/office/drawing/2014/main" id="{CF83C59E-8F7B-4B28-825A-E5D0D0B5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767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5352E8A7-FD83-4C03-8D01-74FF60AD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54342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续费扩展</a:t>
            </a:r>
          </a:p>
        </p:txBody>
      </p:sp>
      <p:sp>
        <p:nvSpPr>
          <p:cNvPr id="28" name="shape">
            <a:extLst xmlns:a="http://schemas.openxmlformats.org/drawingml/2006/main">
              <a:ext uri="{FF2B5EF4-FFF2-40B4-BE49-F238E27FC236}">
                <a16:creationId xmlns:a16="http://schemas.microsoft.com/office/drawing/2014/main" id="{1D86019B-9408-44D4-A828-85E516B8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4767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995894F7-BEB2-43D4-8CDA-44882C3E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54342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伙伴赋能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8BEDA702-B22C-4791-840D-BE68F411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所有动作都围绕通答产品价值、客户场景、启用陪跑、问题闭环和成功案例沉淀。</a:t>
            </a:r>
          </a:p>
        </p:txBody>
      </p:sp>
    </p:spTree>
    <p:extLst>
      <p:ext uri="{BB962C8B-B14F-4D97-AF65-F5344CB8AC3E}">
        <p14:creationId xmlns:p14="http://schemas.microsoft.com/office/powerpoint/2010/main" val="362217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C97D4050-F2C6-4A90-AC2A-A1902FCE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总体架构是一主阵地，多触点协同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B8514E6-D4B6-4D45-B2F4-A6CF0118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外部运营需要一个客户运营主阵地，同时连接市场触达、客户培训、反馈处理和成功案例沉淀。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DF7C3D12-EF46-4F33-B24E-5E371790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3810B12-198C-4245-B514-1836B9ED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083F7D0-6B9C-44E5-B0A5-34A6392D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FE22EAC8-B5C1-4268-BF03-5298728B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81250"/>
            <a:ext cx="3619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87E1184-CE3D-44F5-A685-B531A9E8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通答客户运营空间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439A5D1-386D-4C46-823F-1B392FEF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3086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内容｜活动｜培训｜问卷｜反馈｜案例｜证书｜知识图谱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56B60526-9BCB-4E7A-963A-9164A668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F8EDFDF-0AC0-435D-8046-7A3D0208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官网 / 内容阵地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127655D-77D9-4364-92F6-710EB439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卖点、场景、案例和资料</a:t>
            </a:r>
          </a:p>
        </p:txBody>
      </p:sp>
      <p:sp>
        <p:nvSpPr>
          <p:cNvPr id="12" name="shape">
            <a:extLst xmlns:a="http://schemas.openxmlformats.org/drawingml/2006/main">
              <a:ext uri="{FF2B5EF4-FFF2-40B4-BE49-F238E27FC236}">
                <a16:creationId xmlns:a16="http://schemas.microsoft.com/office/drawing/2014/main" id="{62FFADAE-18BE-4CD7-87B4-C1F3188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E514572-BC02-4861-84F9-21A16EB3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433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社群 / IM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A1D3369-CBE3-4065-8090-56B50233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触达、答疑、活动提醒</a:t>
            </a:r>
          </a:p>
        </p:txBody>
      </p:sp>
      <p:sp>
        <p:nvSpPr>
          <p:cNvPr id="15" name="shape">
            <a:extLst xmlns:a="http://schemas.openxmlformats.org/drawingml/2006/main">
              <a:ext uri="{FF2B5EF4-FFF2-40B4-BE49-F238E27FC236}">
                <a16:creationId xmlns:a16="http://schemas.microsoft.com/office/drawing/2014/main" id="{485C97CA-7072-441B-A803-7C85F175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577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6BDDE66-0A48-4E86-96EC-911A16CE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667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资料 / 资料库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E621DF94-3D36-44CE-BEE4-3D85BCF8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0101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白皮书、FAQ、模板、手册</a:t>
            </a:r>
          </a:p>
        </p:txBody>
      </p:sp>
      <p:sp>
        <p:nvSpPr>
          <p:cNvPr id="18" name="shape">
            <a:extLst xmlns:a="http://schemas.openxmlformats.org/drawingml/2006/main">
              <a:ext uri="{FF2B5EF4-FFF2-40B4-BE49-F238E27FC236}">
                <a16:creationId xmlns:a16="http://schemas.microsoft.com/office/drawing/2014/main" id="{EC79525D-0AA6-49C7-9C0F-E61199C8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577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F196BFA-B632-4315-AA53-2D94FD22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67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客户学院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07C2706D-6E4C-4492-BA3C-9F350C52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101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课程、培训、认证记录</a:t>
            </a:r>
          </a:p>
        </p:txBody>
      </p:sp>
      <p:sp>
        <p:nvSpPr>
          <p:cNvPr id="21" name="shape">
            <a:extLst xmlns:a="http://schemas.openxmlformats.org/drawingml/2006/main">
              <a:ext uri="{FF2B5EF4-FFF2-40B4-BE49-F238E27FC236}">
                <a16:creationId xmlns:a16="http://schemas.microsoft.com/office/drawing/2014/main" id="{B33FDBF1-8EAF-4566-8270-B47D1CE9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955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3F4862DA-1F95-4F38-9A9E-3415B4D9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问卷 / 反馈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0166D200-CD7A-4DF4-9BAF-CE344EAE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79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试用反馈、需求、满意度</a:t>
            </a:r>
          </a:p>
        </p:txBody>
      </p:sp>
      <p:sp>
        <p:nvSpPr>
          <p:cNvPr id="24" name="shape">
            <a:extLst xmlns:a="http://schemas.openxmlformats.org/drawingml/2006/main">
              <a:ext uri="{FF2B5EF4-FFF2-40B4-BE49-F238E27FC236}">
                <a16:creationId xmlns:a16="http://schemas.microsoft.com/office/drawing/2014/main" id="{46AE537F-ED02-422B-BDDE-D5B8AFF3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338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8D65CC7-D5F9-4DC0-A928-937C1744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433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客户成功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3F315181-36A2-44AE-8043-D681A6AF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2862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启用陪跑、健康度、续用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6167DC9-6861-4749-AAB0-B7CDF342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572125"/>
            <a:ext cx="735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知识图谱作为关系导航层，连接行业、场景、痛点、功能、案例、课程和售卖素材。</a:t>
            </a:r>
          </a:p>
        </p:txBody>
      </p:sp>
    </p:spTree>
    <p:extLst>
      <p:ext uri="{BB962C8B-B14F-4D97-AF65-F5344CB8AC3E}">
        <p14:creationId xmlns:p14="http://schemas.microsoft.com/office/powerpoint/2010/main" val="1159093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73235D08-3DCE-4039-A7FF-EEEF6EB7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客户旅程决定外部运营动作的先后顺序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E054A6C-53F7-4223-A05B-7C6E4FAA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外部运营不是单次宣传，而是围绕客户生命周期持续推进价值认知和使用成功。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0988D7A5-FD8A-4D04-A1CA-D8E7B908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DE3DA00-A7D1-4A4F-8202-11B89469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129B987-E55F-457C-AFBA-D14F93D7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A1300D0B-156D-46F7-9B25-CF3CA8AD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933DD5E-F7F6-4A63-AEC8-0090ECF5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认知触达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D754DC7-7671-4C4A-A8CB-BD4CC575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通过官网、内容、活动和行业素材让目标客户理解通答能解决什么问题。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8F2F6ED-F62F-4360-A6D9-04E37F74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shape">
            <a:extLst xmlns:a="http://schemas.openxmlformats.org/drawingml/2006/main">
              <a:ext uri="{FF2B5EF4-FFF2-40B4-BE49-F238E27FC236}">
                <a16:creationId xmlns:a16="http://schemas.microsoft.com/office/drawing/2014/main" id="{0EB6A17C-8599-41F1-8B75-323A07B1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272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B5D3107-4328-4771-97D4-4C775069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132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线索培育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A4F7E88-9703-496B-95BC-682FB76F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132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用场景文章、演示视频、案例和答疑活动持续解释价值。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8B002DE-E4EB-49DD-8CA1-B49AD5DB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shape">
            <a:extLst xmlns:a="http://schemas.openxmlformats.org/drawingml/2006/main">
              <a:ext uri="{FF2B5EF4-FFF2-40B4-BE49-F238E27FC236}">
                <a16:creationId xmlns:a16="http://schemas.microsoft.com/office/drawing/2014/main" id="{3E52EDBA-F4BE-481E-A3A7-0935B714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8858326-8BA4-4D55-A655-F6F2E6D7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试用启用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DFA97BB-CBD3-43E9-B5CD-7D1E14CB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提供上手路径、模板、管理员培训和关键任务陪跑。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2E56DF6-076D-4B34-88C3-E21F0FD1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566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shape">
            <a:extLst xmlns:a="http://schemas.openxmlformats.org/drawingml/2006/main">
              <a:ext uri="{FF2B5EF4-FFF2-40B4-BE49-F238E27FC236}">
                <a16:creationId xmlns:a16="http://schemas.microsoft.com/office/drawing/2014/main" id="{719BDC09-2A32-4C66-8AA2-6364887B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512A800-5165-4295-B26E-FC511971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66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价值验证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B70A628E-850A-4485-B028-30368D97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66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围绕核心场景沉淀使用数据、客户反馈和阶段性成果。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1681C090-9B6D-4666-A573-C72DD549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33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2" name="shape">
            <a:extLst xmlns:a="http://schemas.openxmlformats.org/drawingml/2006/main">
              <a:ext uri="{FF2B5EF4-FFF2-40B4-BE49-F238E27FC236}">
                <a16:creationId xmlns:a16="http://schemas.microsoft.com/office/drawing/2014/main" id="{2F099FE1-A7B7-46DC-A18F-A1E8D1B5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073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32550250-45D1-483C-B4BA-1EDC1456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933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续用扩展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2920D82A-E6FF-499D-834C-645F0ABA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933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将成功案例转化为复用材料，推动更多团队和场景使用。</a:t>
            </a:r>
          </a:p>
        </p:txBody>
      </p:sp>
      <p:sp>
        <p:nvSpPr>
          <p:cNvPr id="25" name="shape">
            <a:extLst xmlns:a="http://schemas.openxmlformats.org/drawingml/2006/main">
              <a:ext uri="{FF2B5EF4-FFF2-40B4-BE49-F238E27FC236}">
                <a16:creationId xmlns:a16="http://schemas.microsoft.com/office/drawing/2014/main" id="{458F8B77-1E1D-4F2C-954A-E1FD7069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9677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5BA12B71-5043-4BD2-BA04-7045DF3B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67300"/>
            <a:ext cx="922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运营价值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083D5EA-1A25-403E-B95E-BC286C96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95900"/>
            <a:ext cx="9220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让客户从“听过通答”走向“知道怎么用、看到价值、愿意持续使用和推荐”。</a:t>
            </a:r>
          </a:p>
        </p:txBody>
      </p:sp>
    </p:spTree>
    <p:extLst>
      <p:ext uri="{BB962C8B-B14F-4D97-AF65-F5344CB8AC3E}">
        <p14:creationId xmlns:p14="http://schemas.microsoft.com/office/powerpoint/2010/main" val="19672007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CFDE01A-C4AB-44E0-96CC-C164CF0F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内容矩阵负责把通答讲清楚、讲具体、讲可复用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837D771-A49A-47ED-B635-61C42B59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对外内容需要同时服务市场获客、销售沟通、客户启用和客户成功。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EE37EC49-8B59-4EED-A81A-4FB038AF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48706D0-D3E5-45EA-AF97-D7F2F525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E0FE56E-2447-411C-B3FD-17E7497C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C4032D73-3D03-4ECD-B0E6-66188E7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47800"/>
            <a:ext cx="1066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B8EECFB-BB94-4844-8FF8-58AF1791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内容目标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F58158B-AB18-4AF6-B00C-2DEBE171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33525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内容载体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BD7BEB9-2009-4629-9EA0-F1EEF156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53352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主要作用</a:t>
            </a:r>
          </a:p>
        </p:txBody>
      </p:sp>
      <p:sp>
        <p:nvSpPr>
          <p:cNvPr id="10" name="shape">
            <a:extLst xmlns:a="http://schemas.openxmlformats.org/drawingml/2006/main">
              <a:ext uri="{FF2B5EF4-FFF2-40B4-BE49-F238E27FC236}">
                <a16:creationId xmlns:a16="http://schemas.microsoft.com/office/drawing/2014/main" id="{2F6DB71A-B724-4786-90AA-CDC7666D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5226EF5-CB2D-4086-B76F-CF74814A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价值认知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08055C9-2B28-4609-B53F-64461E31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574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产品页 / 解决方案页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00F4AF8-7851-441D-AA26-BD9860D6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57400"/>
            <a:ext cx="556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核心卖点、适用行业、典型场景和价值表达</a:t>
            </a:r>
          </a:p>
        </p:txBody>
      </p:sp>
      <p:sp>
        <p:nvSpPr>
          <p:cNvPr id="14" name="shape">
            <a:extLst xmlns:a="http://schemas.openxmlformats.org/drawingml/2006/main">
              <a:ext uri="{FF2B5EF4-FFF2-40B4-BE49-F238E27FC236}">
                <a16:creationId xmlns:a16="http://schemas.microsoft.com/office/drawing/2014/main" id="{31D248C9-1157-41D1-A596-3D18B11E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955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A791B68-929D-4E44-BBBC-279F24D1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场景教育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B971D02-E6DF-47B0-83F6-93EBAA40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文章 / 视频 / 直播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96132DB-F1A4-479D-8AA2-AD052DC8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47950"/>
            <a:ext cx="556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用真实问题解释通答如何落地到业务流程</a:t>
            </a:r>
          </a:p>
        </p:txBody>
      </p:sp>
      <p:sp>
        <p:nvSpPr>
          <p:cNvPr id="18" name="shape">
            <a:extLst xmlns:a="http://schemas.openxmlformats.org/drawingml/2006/main">
              <a:ext uri="{FF2B5EF4-FFF2-40B4-BE49-F238E27FC236}">
                <a16:creationId xmlns:a16="http://schemas.microsoft.com/office/drawing/2014/main" id="{E5F9F1E3-D65E-4CCC-B3F5-8A499922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987A07A7-087A-4402-A70A-3B6A0AE2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试用启用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067C3263-2A00-42F8-9D13-2B3E1D3C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385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手册 / 模板 / 入门课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4AEA2BF-A7C8-477C-951E-907E1A83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38500"/>
            <a:ext cx="556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降低管理员配置、一线用户上手和团队推广成本</a:t>
            </a:r>
          </a:p>
        </p:txBody>
      </p:sp>
      <p:sp>
        <p:nvSpPr>
          <p:cNvPr id="22" name="shape">
            <a:extLst xmlns:a="http://schemas.openxmlformats.org/drawingml/2006/main">
              <a:ext uri="{FF2B5EF4-FFF2-40B4-BE49-F238E27FC236}">
                <a16:creationId xmlns:a16="http://schemas.microsoft.com/office/drawing/2014/main" id="{ACB900F0-EB68-4FE2-8914-A833223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76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347FC1AC-4414-4EE6-AFE4-151FA34D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信任建立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5AC189D8-818F-4EAE-A003-EDB24F0B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客户案例 / 最佳实践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2C3FF52C-71F7-490D-A9C8-B1C1AF45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829050"/>
            <a:ext cx="556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展示客户使用路径、关键动作和可复用经验</a:t>
            </a:r>
          </a:p>
        </p:txBody>
      </p:sp>
      <p:sp>
        <p:nvSpPr>
          <p:cNvPr id="26" name="shape">
            <a:extLst xmlns:a="http://schemas.openxmlformats.org/drawingml/2006/main">
              <a:ext uri="{FF2B5EF4-FFF2-40B4-BE49-F238E27FC236}">
                <a16:creationId xmlns:a16="http://schemas.microsoft.com/office/drawing/2014/main" id="{BF94600F-2EFA-4236-8317-ACDE4C4F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67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6A69DFDC-541A-4035-BE0A-0531EB27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问题自助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68CD56D4-6F6F-4CEA-A210-72F83C74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196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FAQ / 资料库 / 知识图谱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514C1C19-2B11-4447-891E-4B4EF1C7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19600"/>
            <a:ext cx="556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帮助客户快速找到答案，减少重复支持</a:t>
            </a:r>
          </a:p>
        </p:txBody>
      </p:sp>
      <p:sp>
        <p:nvSpPr>
          <p:cNvPr id="30" name="shape">
            <a:extLst xmlns:a="http://schemas.openxmlformats.org/drawingml/2006/main">
              <a:ext uri="{FF2B5EF4-FFF2-40B4-BE49-F238E27FC236}">
                <a16:creationId xmlns:a16="http://schemas.microsoft.com/office/drawing/2014/main" id="{404BC75B-71DF-4A61-813A-62DD7F8E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B8D6DC05-7C81-456C-9711-7E4A23C0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伙伴赋能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ACA72902-4A33-4A27-8B36-E022A926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10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演示脚本 / 方案素材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72E417E5-9243-4E68-9D08-20C4FFD2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010150"/>
            <a:ext cx="556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帮助渠道伙伴、售前和客户成功统一表达</a:t>
            </a:r>
          </a:p>
        </p:txBody>
      </p:sp>
      <p:sp>
        <p:nvSpPr>
          <p:cNvPr id="34" name="shape">
            <a:extLst xmlns:a="http://schemas.openxmlformats.org/drawingml/2006/main">
              <a:ext uri="{FF2B5EF4-FFF2-40B4-BE49-F238E27FC236}">
                <a16:creationId xmlns:a16="http://schemas.microsoft.com/office/drawing/2014/main" id="{1A4DFCA4-28F6-4A0D-B24F-15E1A387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37891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26784F92-69C9-48CD-B7C0-61B1E0A7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客户启用要把培训、任务和反馈放在同一条线上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88017D6-D874-4F4D-92A7-1FF8030A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外部培训不是泛化课程，而是帮助客户完成通答核心场景的真实启用。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7B300F7F-1E49-4A1C-B3D8-5A325168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88923C2-1E6C-4D90-90F8-6CA5DE3E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1BFBB09-A5C1-4D79-9FE1-FB3D2A91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9FD60775-59D2-491C-8C2A-F458C37A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E94AFDC-D442-434B-B418-F6C793EF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决策人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27A5940-4686-413A-A9E0-A3853731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2209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价值说明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行业场景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投入产出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成功案例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阶段成果复盘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16950BFF-73D0-45CC-BCF9-5D676706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F0109E3-4D84-4E94-B428-F79824EF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09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管理员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08ECFD0-5C4F-4403-B156-86549532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28900"/>
            <a:ext cx="2209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空间配置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权限说明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模板使用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数据与资料治理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问题处理路径</a:t>
            </a:r>
          </a:p>
        </p:txBody>
      </p:sp>
      <p:sp>
        <p:nvSpPr>
          <p:cNvPr id="12" name="shape">
            <a:extLst xmlns:a="http://schemas.openxmlformats.org/drawingml/2006/main">
              <a:ext uri="{FF2B5EF4-FFF2-40B4-BE49-F238E27FC236}">
                <a16:creationId xmlns:a16="http://schemas.microsoft.com/office/drawing/2014/main" id="{B3278DEA-AA7F-4E0C-BC5A-A3E5B4A5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00250"/>
            <a:ext cx="2667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87AB109-8788-401E-9D81-029583A5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09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一线用户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87C1BE2-7E73-4A0F-8C39-2C28702F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28900"/>
            <a:ext cx="2209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基础操作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常见任务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资料查找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问卷反馈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自助 FAQ</a:t>
            </a:r>
          </a:p>
        </p:txBody>
      </p:sp>
      <p:sp>
        <p:nvSpPr>
          <p:cNvPr id="15" name="shape">
            <a:extLst xmlns:a="http://schemas.openxmlformats.org/drawingml/2006/main">
              <a:ext uri="{FF2B5EF4-FFF2-40B4-BE49-F238E27FC236}">
                <a16:creationId xmlns:a16="http://schemas.microsoft.com/office/drawing/2014/main" id="{CEF87D6C-898E-4AF9-9468-CA8EEFEC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00250"/>
            <a:ext cx="25908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CFF7452-1957-4296-BA38-3C873F80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098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伙伴团队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2225F2D-9BB1-4628-85D3-63151FAF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28900"/>
            <a:ext cx="21336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演示路径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方案素材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客户问题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竞品问答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交付注意事项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26E9F089-BED6-471E-BEF5-B1601401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培训结果应回到客户任务、资料库、使用数据和客户成功复盘，而不只停留在参会记录。</a:t>
            </a:r>
          </a:p>
        </p:txBody>
      </p:sp>
    </p:spTree>
    <p:extLst>
      <p:ext uri="{BB962C8B-B14F-4D97-AF65-F5344CB8AC3E}">
        <p14:creationId xmlns:p14="http://schemas.microsoft.com/office/powerpoint/2010/main" val="850133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342CB0EE-BE71-4710-A2B5-EEFB5AE2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客户反馈要形成产品、内容和服务的共同输入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33B8664-1225-4CF5-B829-807BC9E3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外部反馈比内部反馈更靠近真实采购、试用和业务落地场景，需要更严格地分类和跟进。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6623F335-F6E9-4F43-8809-4F0A5872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A6AFC8C-DECB-4A0F-80D5-02260D09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4B3FAB8-F7D0-44E3-898A-2A4B629D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1722684E-2BE0-410E-86E0-07D0FEBB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C90ABA1-11F4-4FEC-AEFE-1244CA4C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多入口收集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F34C61D-28AD-4F0E-ADFF-2053F614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社群、培训、问卷、客户成功、工单和试用回访统一进入反馈池。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707D1CC-60CD-4D80-937A-8BD2A1E4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shape">
            <a:extLst xmlns:a="http://schemas.openxmlformats.org/drawingml/2006/main">
              <a:ext uri="{FF2B5EF4-FFF2-40B4-BE49-F238E27FC236}">
                <a16:creationId xmlns:a16="http://schemas.microsoft.com/office/drawing/2014/main" id="{8838AAE1-8CDA-4BFE-8A75-D0B5CF1A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272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BA10B11-DF83-4543-9710-156DA180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132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分级分类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92E8816-9220-41D9-8BD4-7AEE4669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132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区分问题、需求、体验建议、行业场景、内容缺口和商机信号。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283AA09-D901-4C0D-B6E9-28557FE3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shape">
            <a:extLst xmlns:a="http://schemas.openxmlformats.org/drawingml/2006/main">
              <a:ext uri="{FF2B5EF4-FFF2-40B4-BE49-F238E27FC236}">
                <a16:creationId xmlns:a16="http://schemas.microsoft.com/office/drawing/2014/main" id="{5A506640-8E78-4B0D-B58C-52CFEDEF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846035C1-1C19-486A-BE19-A47DAA05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任务跟进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4C1C3EB-8A37-4924-BB69-DB8603D6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明确负责人、处理状态、客户期望和下一次同步时间。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C45DE1B0-4013-4C3A-A181-1E663F06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566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shape">
            <a:extLst xmlns:a="http://schemas.openxmlformats.org/drawingml/2006/main">
              <a:ext uri="{FF2B5EF4-FFF2-40B4-BE49-F238E27FC236}">
                <a16:creationId xmlns:a16="http://schemas.microsoft.com/office/drawing/2014/main" id="{90C37BEB-040F-41FF-BB1E-2E48C476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3E6E701-5200-4726-A914-17BEF0DA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66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沉淀复用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5BB6FFD-0794-4843-8DFD-BFDA329C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66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高频问题进入 FAQ，典型需求进入知识图谱和方案素材。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667D186-4F88-4704-A867-32261E5E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330" y="306705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2" name="shape">
            <a:extLst xmlns:a="http://schemas.openxmlformats.org/drawingml/2006/main">
              <a:ext uri="{FF2B5EF4-FFF2-40B4-BE49-F238E27FC236}">
                <a16:creationId xmlns:a16="http://schemas.microsoft.com/office/drawing/2014/main" id="{CFE85510-5E4D-4D22-9843-66FA8C15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0730" y="2152650"/>
            <a:ext cx="214122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9F2422AF-F142-48FF-A8EB-20EF942A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9330" y="2362200"/>
            <a:ext cx="168402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反哺发布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3C6B6F5E-C679-4252-99B2-C2FB94BB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9330" y="2705100"/>
            <a:ext cx="168402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产品改进、内容更新和服务变化通过客户空间或社群同步。</a:t>
            </a:r>
          </a:p>
        </p:txBody>
      </p:sp>
      <p:sp>
        <p:nvSpPr>
          <p:cNvPr id="25" name="shape">
            <a:extLst xmlns:a="http://schemas.openxmlformats.org/drawingml/2006/main">
              <a:ext uri="{FF2B5EF4-FFF2-40B4-BE49-F238E27FC236}">
                <a16:creationId xmlns:a16="http://schemas.microsoft.com/office/drawing/2014/main" id="{8AF31E4D-3CC2-4F61-9186-C01AE090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9677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01A6B9AD-C903-40E9-8437-E4B184C4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67300"/>
            <a:ext cx="922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运营价值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FC491D33-F556-4EE0-85C6-E357E31F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95900"/>
            <a:ext cx="9220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把客户声音从“零散反馈”变成产品路线、销售素材、培训内容和客户成功动作的稳定来源。</a:t>
            </a:r>
          </a:p>
        </p:txBody>
      </p:sp>
    </p:spTree>
    <p:extLst>
      <p:ext uri="{BB962C8B-B14F-4D97-AF65-F5344CB8AC3E}">
        <p14:creationId xmlns:p14="http://schemas.microsoft.com/office/powerpoint/2010/main" val="3030874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B1EBE1A5-59A8-4161-AD4A-0A4BB296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客户案例和知识图谱让外部运营可复用、可放大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DBD727A-13E9-4163-8EE9-1F50F134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案例解决信任问题，知识图谱解决查找和复用问题，两者共同支撑市场、销售和客户成功。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0AF231EC-8611-412D-AEB1-C15889EA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9AE1B76-BA1E-4CC4-AADA-EAAEC1B6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CAA2D55-29B9-4CE1-AD85-9841DFA1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EFA64901-8189-4746-BEDB-8C66F491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30099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E53F262-A4EA-41A1-A759-869E3FF3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24150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外部知识图谱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2F8FA00-6E17-4560-A337-11DD1940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场景与素材导航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F5ADED25-6A8F-4DA3-8261-D39391BD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4E8C689-8F27-4271-9991-03B886CE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002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行业 / 客群</a:t>
            </a:r>
          </a:p>
        </p:txBody>
      </p:sp>
      <p:sp>
        <p:nvSpPr>
          <p:cNvPr id="11" name="shape">
            <a:extLst xmlns:a="http://schemas.openxmlformats.org/drawingml/2006/main">
              <a:ext uri="{FF2B5EF4-FFF2-40B4-BE49-F238E27FC236}">
                <a16:creationId xmlns:a16="http://schemas.microsoft.com/office/drawing/2014/main" id="{AD7A4AEB-0FBB-4229-A91F-A431ABC1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0525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DC5C8D5-B2EC-4E3B-8D2C-936005F6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52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客户痛点</a:t>
            </a:r>
          </a:p>
        </p:txBody>
      </p:sp>
      <p:sp>
        <p:nvSpPr>
          <p:cNvPr id="13" name="shape">
            <a:extLst xmlns:a="http://schemas.openxmlformats.org/drawingml/2006/main">
              <a:ext uri="{FF2B5EF4-FFF2-40B4-BE49-F238E27FC236}">
                <a16:creationId xmlns:a16="http://schemas.microsoft.com/office/drawing/2014/main" id="{16BB17B8-37A7-4FBC-8B57-F37E15DE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76250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4C859E0-2E4B-44AF-92AE-AC403862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9625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功能 / 方案</a:t>
            </a:r>
          </a:p>
        </p:txBody>
      </p:sp>
      <p:sp>
        <p:nvSpPr>
          <p:cNvPr id="15" name="shape">
            <a:extLst xmlns:a="http://schemas.openxmlformats.org/drawingml/2006/main">
              <a:ext uri="{FF2B5EF4-FFF2-40B4-BE49-F238E27FC236}">
                <a16:creationId xmlns:a16="http://schemas.microsoft.com/office/drawing/2014/main" id="{22F41A5A-3378-4DCA-BAD4-E5199BE0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6250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84F1AC7-B50E-4CDA-9CA6-F0295E29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625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客户案例</a:t>
            </a:r>
          </a:p>
        </p:txBody>
      </p:sp>
      <p:sp>
        <p:nvSpPr>
          <p:cNvPr id="17" name="shape">
            <a:extLst xmlns:a="http://schemas.openxmlformats.org/drawingml/2006/main">
              <a:ext uri="{FF2B5EF4-FFF2-40B4-BE49-F238E27FC236}">
                <a16:creationId xmlns:a16="http://schemas.microsoft.com/office/drawing/2014/main" id="{FE4732FE-2274-4A90-B31F-D8B3C252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0025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A41E6E0-FFAC-4605-BD53-DB210165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2002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培训 / FAQ</a:t>
            </a:r>
          </a:p>
        </p:txBody>
      </p:sp>
      <p:sp>
        <p:nvSpPr>
          <p:cNvPr id="19" name="shape">
            <a:extLst xmlns:a="http://schemas.openxmlformats.org/drawingml/2006/main">
              <a:ext uri="{FF2B5EF4-FFF2-40B4-BE49-F238E27FC236}">
                <a16:creationId xmlns:a16="http://schemas.microsoft.com/office/drawing/2014/main" id="{AC0F3491-74B2-43E5-ABCF-00F9675C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0525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8FEC3AF-BB35-45D2-95CB-1BFB2CE1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052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销售素材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ED5C5DE-A68E-4E1A-8F1E-3A351E57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运营团队可以从客户问题入口找到对应功能、课程、案例、FAQ 和销售表达素材。</a:t>
            </a:r>
          </a:p>
        </p:txBody>
      </p:sp>
    </p:spTree>
    <p:extLst>
      <p:ext uri="{BB962C8B-B14F-4D97-AF65-F5344CB8AC3E}">
        <p14:creationId xmlns:p14="http://schemas.microsoft.com/office/powerpoint/2010/main" val="7549074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15FE127-E0D9-49A0-9318-2298D789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客户共创和权益机制帮助外部运营持续获得真实素材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BF2382E-759B-4874-B200-4A7BED13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外部 UGC 不追求热闹，重点是让真实客户经验变成可传播、可学习、可复用的内容。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10D7164D-F630-4E64-ADB4-1C5FAF34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EA1149F-6B51-4030-9314-47DCC7DF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1301138-EC59-4C6C-97BE-7942B320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FD55AC2F-A121-4CF1-ABB5-B2488463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3429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97DA6A4-4B60-40CB-A2CC-E5E5A164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可共创的内容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D6FF585-5BC7-4570-B45D-EB5856B5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9718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客户故事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行业场景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使用模板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问题复盘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管理员经验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伙伴方案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最佳实践分享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39DA14AB-33E1-4FEF-810C-4762042C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43100"/>
            <a:ext cx="3429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ADB8E01-430C-49C2-9D5B-3953A63A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运营机制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1C0AEF7-46C8-4D76-AC32-1F3871D3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71750"/>
            <a:ext cx="29718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主题征集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内容初审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脱敏加工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公开分享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案例沉淀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复用反馈</a:t>
            </a:r>
          </a:p>
        </p:txBody>
      </p:sp>
      <p:sp>
        <p:nvSpPr>
          <p:cNvPr id="12" name="shape">
            <a:extLst xmlns:a="http://schemas.openxmlformats.org/drawingml/2006/main">
              <a:ext uri="{FF2B5EF4-FFF2-40B4-BE49-F238E27FC236}">
                <a16:creationId xmlns:a16="http://schemas.microsoft.com/office/drawing/2014/main" id="{AA5F3094-5208-4902-A193-EC628A16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43100"/>
            <a:ext cx="34671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59763B0-D678-4972-8A9F-8D142E32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526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权益设计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B3A1CA3-CE2A-4E7F-8737-CB2887E3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71750"/>
            <a:ext cx="30099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客户证书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标杆客户展示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共创会邀请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优先试用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专题培训名额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联合传播机会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2C8D54F-945B-481F-9206-0CF418D3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3875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所有客户共创内容都需要经过客户授权、信息脱敏和对外发布审核。</a:t>
            </a:r>
          </a:p>
        </p:txBody>
      </p:sp>
    </p:spTree>
    <p:extLst>
      <p:ext uri="{BB962C8B-B14F-4D97-AF65-F5344CB8AC3E}">
        <p14:creationId xmlns:p14="http://schemas.microsoft.com/office/powerpoint/2010/main" val="2140785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6C13883E-8D37-4F20-A5F3-16E2FAFC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外部运营需要固定节奏和能反映客户价值的指标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ED3A83E-D9D2-425A-A2D5-C886D6B3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指标不只看曝光，也要看客户是否完成启用、是否看到价值、是否持续反馈和复用。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6261A56A-B0BC-4BE6-BE02-20C3CB55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A19FC0D-C251-4EE1-A4EF-D45D1861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72134B1-2668-426E-B328-1A67019B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F7F70B47-3FC7-41E0-9874-0B7750C3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33337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907BFD2-0DA5-4FC2-A379-2F8FFD77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运营节奏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4C31FFD-9E46-49A4-A583-B09A446D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87655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每周：内容发布、社群答疑、试用跟进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每月：公开课、客户案例、反馈复盘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每季度：客户健康复盘、案例评选、图谱治理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DC8AB51F-A809-4F45-80C9-4D5476F5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43100"/>
            <a:ext cx="33337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F20694C-BC9F-445F-9816-D4C98917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52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协作角色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80CAB94-313E-44BF-AECB-003879B1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571750"/>
            <a:ext cx="287655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市场运营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销售 / 售前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客户成功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产品负责人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技术支持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内容与资料库维护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伙伴运营</a:t>
            </a:r>
          </a:p>
        </p:txBody>
      </p:sp>
      <p:sp>
        <p:nvSpPr>
          <p:cNvPr id="12" name="shape">
            <a:extLst xmlns:a="http://schemas.openxmlformats.org/drawingml/2006/main">
              <a:ext uri="{FF2B5EF4-FFF2-40B4-BE49-F238E27FC236}">
                <a16:creationId xmlns:a16="http://schemas.microsoft.com/office/drawing/2014/main" id="{734BCCCD-D0BC-4DC9-93F9-E3CBC68C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43100"/>
            <a:ext cx="33528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3ABC6FC-2061-48AF-BBDA-518FFA90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5265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核心指标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3B5DB20-E337-4FAB-860D-AAB8C36E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71750"/>
            <a:ext cx="28956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内容访问与线索转化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试用启用率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培训完成率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关键功能使用率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问题关闭率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案例数量与复用次数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续费和扩展线索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B6C8095-C8CA-47A1-BAEA-77E31F6C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指标用于优化外部运营效率和客户价值实现，不替代销售绩效或交付考核。</a:t>
            </a:r>
          </a:p>
        </p:txBody>
      </p:sp>
    </p:spTree>
    <p:extLst>
      <p:ext uri="{BB962C8B-B14F-4D97-AF65-F5344CB8AC3E}">
        <p14:creationId xmlns:p14="http://schemas.microsoft.com/office/powerpoint/2010/main" val="8445160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444F38B3-3A08-4B49-AFCC-515BAFD6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三阶段启动后，通答外部运营进入增长循环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547A10D-3880-49D0-8CDC-A2F4E94E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012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先补齐客户触点和内容资产，再形成活动与反馈节奏，最后用客户成功和案例复用放大增长。</a:t>
            </a:r>
          </a:p>
        </p:txBody>
      </p:sp>
      <p:sp>
        <p:nvSpPr>
          <p:cNvPr id="3" name="shape">
            <a:extLst xmlns:a="http://schemas.openxmlformats.org/drawingml/2006/main">
              <a:ext uri="{FF2B5EF4-FFF2-40B4-BE49-F238E27FC236}">
                <a16:creationId xmlns:a16="http://schemas.microsoft.com/office/drawing/2014/main" id="{C37DC8B7-A1E2-42DC-8BB1-DCC551F7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C1866E2-6EB6-4B6A-8F8E-ADE475F4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通答外部运营方案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C5C636A-3FFF-4BB7-8DCA-D9B4DB12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BED5F959-FB1E-462D-AD66-7D4723F5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34671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C181D70-4728-4B0D-B0FD-04D2EF67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 1 个月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13510AA-D6DA-4B9A-9612-5C6193D6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3009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搭建客户运营空间、资料库、公开课入口、试用路径、基础 FAQ 和首批行业场景内容。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FFE06A0-61E5-49DB-B9D1-55948C5D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71775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shape">
            <a:extLst xmlns:a="http://schemas.openxmlformats.org/drawingml/2006/main">
              <a:ext uri="{FF2B5EF4-FFF2-40B4-BE49-F238E27FC236}">
                <a16:creationId xmlns:a16="http://schemas.microsoft.com/office/drawing/2014/main" id="{1A07FC49-F402-4D49-AF19-60BDC180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34671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91A2662-6A88-4F09-BFD5-E073DAFE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098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 2-3 个月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3D11D61-86BA-4033-88CC-18604E56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52700"/>
            <a:ext cx="3009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固定直播培训、社群答疑、客户反馈跟进和案例征集，形成内容和问题闭环。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51A291D-8AFC-4A95-8FEB-7EEF5260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71775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shape">
            <a:extLst xmlns:a="http://schemas.openxmlformats.org/drawingml/2006/main">
              <a:ext uri="{FF2B5EF4-FFF2-40B4-BE49-F238E27FC236}">
                <a16:creationId xmlns:a16="http://schemas.microsoft.com/office/drawing/2014/main" id="{5D6DF1FC-1250-4693-891C-BC943260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34671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C38C5A8-A2E2-4A1D-97AB-4E6D396D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 4 个月起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A12231C-3544-41DF-AFED-79CCFF91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3009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建立客户健康看板、外部知识图谱和标杆客户机制，推动续用、扩展和伙伴复用。</a:t>
            </a:r>
          </a:p>
        </p:txBody>
      </p:sp>
      <p:sp>
        <p:nvSpPr>
          <p:cNvPr id="17" name="shape">
            <a:extLst xmlns:a="http://schemas.openxmlformats.org/drawingml/2006/main">
              <a:ext uri="{FF2B5EF4-FFF2-40B4-BE49-F238E27FC236}">
                <a16:creationId xmlns:a16="http://schemas.microsoft.com/office/drawing/2014/main" id="{EA9199E9-2F30-4287-B68C-CD62EC6E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76750"/>
            <a:ext cx="9867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8EE64C4-B064-410C-9256-6FDC658C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863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最终效果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6C39D06-8B05-4F8E-BA37-EA163C39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53000"/>
            <a:ext cx="941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客户认知有内容，试用启用有路径，培训陪跑有节奏，反馈问题有闭环，客户案例可复用，伙伴销售有素材，续费扩展有依据。</a:t>
            </a:r>
          </a:p>
        </p:txBody>
      </p:sp>
    </p:spTree>
    <p:extLst>
      <p:ext uri="{BB962C8B-B14F-4D97-AF65-F5344CB8AC3E}">
        <p14:creationId xmlns:p14="http://schemas.microsoft.com/office/powerpoint/2010/main" val="16638705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2026-07-21T07:41:42.9940000Z</dcterms:created>
  <dcterms:modified xsi:type="dcterms:W3CDTF">2026-07-21T07:41:42.9940000Z</dcterms:modified>
</coreProperties>
</file>