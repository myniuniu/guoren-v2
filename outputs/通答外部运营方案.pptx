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59055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45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60020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从客户认知到持续成功的运营闭环</a:t>
            </a:r>
            <a:endParaRPr sz="21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7620000" y="685800"/>
            <a:ext cx="3714750" cy="40957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8001000" y="11430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运营方向</a:t>
            </a:r>
            <a:endParaRPr sz="232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8001000" y="1771650"/>
            <a:ext cx="2857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市场触达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价值教育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试用启用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培训陪跑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反馈共创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案例复用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续用增长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5334000"/>
            <a:ext cx="5334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400050" y="56007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外部运营机制设计｜面向目标客户、渠道伙伴、试用用户和存量客户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外部运营要把产品能力转化为客户可理解的价值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客户不是只需要知道功能列表，更需要知道通答适合什么场景、如何启用、能解决什么问题。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000250"/>
            <a:ext cx="3429000" cy="2381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常见断点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客户只听到功能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试用路径不清晰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价值验证周期长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客户问题分散在不同触点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381500" y="2000250"/>
            <a:ext cx="3429000" cy="23812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61010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运营任务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61010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用内容、活动、培训、反馈和案例，把客户从认知带到启用、复用和续用。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362950" y="2000250"/>
            <a:ext cx="3429000" cy="2381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5915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预期变化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5915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客户更快理解价值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试用更容易启动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反馈能进入产品闭环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案例可复用为增长素材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0292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边界：外部运营服务通答产品推广、客户教育和客户成功，不替代销售业绩管理、合同管理或交付项目管理。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985456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外部运营目标先帮助客户理解价值，再推动启用和反馈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目标顺序围绕客户旅程展开：先让客户知道为什么用，再帮助客户用起来、用出效果并持续反馈。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1943100"/>
            <a:ext cx="4953000" cy="20002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1526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首要目标</a:t>
            </a:r>
            <a:endParaRPr sz="1875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571750"/>
            <a:ext cx="44958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帮助目标客户、渠道伙伴和试用用户理解通答能力、适用场景、业务价值和成功案例，降低采购、试用和推广决策成本。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5772150" y="1943100"/>
            <a:ext cx="2857500" cy="2000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000750" y="21526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第二目标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000750" y="2571750"/>
            <a:ext cx="24003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提升试用启用率、培训完成率、关键功能使用率和客户问题响应效率。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934450" y="1943100"/>
            <a:ext cx="2857500" cy="2000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9163050" y="21526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第三目标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9163050" y="2571750"/>
            <a:ext cx="24003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收集客户需求、试用反馈、行业问题和最佳实践，反哺产品与内容。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45148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扩展目标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shape"/>
          <p:cNvSpPr>
            <a:spLocks noGrp="1"/>
          </p:cNvSpPr>
          <p:nvPr/>
        </p:nvSpPr>
        <p:spPr>
          <a:xfrm>
            <a:off x="194310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205740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内容获客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325755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337185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客户启用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shape"/>
          <p:cNvSpPr>
            <a:spLocks noGrp="1"/>
          </p:cNvSpPr>
          <p:nvPr/>
        </p:nvSpPr>
        <p:spPr>
          <a:xfrm>
            <a:off x="457200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468630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培训认证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588645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600075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反馈共创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shape"/>
          <p:cNvSpPr>
            <a:spLocks noGrp="1"/>
          </p:cNvSpPr>
          <p:nvPr/>
        </p:nvSpPr>
        <p:spPr>
          <a:xfrm>
            <a:off x="720090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6" name="text"/>
          <p:cNvSpPr>
            <a:spLocks noGrp="1"/>
          </p:cNvSpPr>
          <p:nvPr/>
        </p:nvSpPr>
        <p:spPr>
          <a:xfrm>
            <a:off x="731520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案例复用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shape"/>
          <p:cNvSpPr>
            <a:spLocks noGrp="1"/>
          </p:cNvSpPr>
          <p:nvPr/>
        </p:nvSpPr>
        <p:spPr>
          <a:xfrm>
            <a:off x="851535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862965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续费扩展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shape"/>
          <p:cNvSpPr>
            <a:spLocks noGrp="1"/>
          </p:cNvSpPr>
          <p:nvPr/>
        </p:nvSpPr>
        <p:spPr>
          <a:xfrm>
            <a:off x="982980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30" name="text"/>
          <p:cNvSpPr>
            <a:spLocks noGrp="1"/>
          </p:cNvSpPr>
          <p:nvPr/>
        </p:nvSpPr>
        <p:spPr>
          <a:xfrm>
            <a:off x="994410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伙伴赋能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text"/>
          <p:cNvSpPr>
            <a:spLocks noGrp="1"/>
          </p:cNvSpPr>
          <p:nvPr/>
        </p:nvSpPr>
        <p:spPr>
          <a:xfrm>
            <a:off x="400050" y="528637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所有动作都围绕通答产品价值、客户场景、启用陪跑、问题闭环和成功案例沉淀。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总体架构是一主阵地，多触点协同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外部运营需要一个客户运营主阵地，同时连接市场触达、客户培训、反馈处理和成功案例沉淀。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286250" y="2381250"/>
            <a:ext cx="3619500" cy="14287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4591050" y="2686050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通答客户运营空间</a:t>
            </a:r>
            <a:endParaRPr sz="25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4552950" y="3219450"/>
            <a:ext cx="308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内容｜活动｜培训｜问卷｜反馈｜案例｜证书｜知识图谱</a:t>
            </a:r>
            <a:endParaRPr sz="1275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00050" y="20955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28650" y="23050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官网 / 内容阵地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28650" y="26479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卖点、场景、案例和资料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400050" y="37338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628650" y="39433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社群 / IM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28650" y="42862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触达、答疑、活动提醒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hape"/>
          <p:cNvSpPr>
            <a:spLocks noGrp="1"/>
          </p:cNvSpPr>
          <p:nvPr/>
        </p:nvSpPr>
        <p:spPr>
          <a:xfrm>
            <a:off x="3143250" y="44577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3371850" y="46672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 / 资料库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3371850" y="50101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白皮书、FAQ、模板、手册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8096250" y="44577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8324850" y="46672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客户学院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8324850" y="50101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课程、培训、认证记录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shape"/>
          <p:cNvSpPr>
            <a:spLocks noGrp="1"/>
          </p:cNvSpPr>
          <p:nvPr/>
        </p:nvSpPr>
        <p:spPr>
          <a:xfrm>
            <a:off x="9067800" y="20955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9296400" y="23050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问卷 / 反馈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9296400" y="26479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试用反馈、需求、满意度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shape"/>
          <p:cNvSpPr>
            <a:spLocks noGrp="1"/>
          </p:cNvSpPr>
          <p:nvPr/>
        </p:nvSpPr>
        <p:spPr>
          <a:xfrm>
            <a:off x="9067800" y="37338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text"/>
          <p:cNvSpPr>
            <a:spLocks noGrp="1"/>
          </p:cNvSpPr>
          <p:nvPr/>
        </p:nvSpPr>
        <p:spPr>
          <a:xfrm>
            <a:off x="9296400" y="39433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客户成功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text"/>
          <p:cNvSpPr>
            <a:spLocks noGrp="1"/>
          </p:cNvSpPr>
          <p:nvPr/>
        </p:nvSpPr>
        <p:spPr>
          <a:xfrm>
            <a:off x="9296400" y="42862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启用陪跑、健康度、续用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2419350" y="5572125"/>
            <a:ext cx="735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知识图谱作为关系导航层，连接行业、场景、痛点、功能、案例、课程和售卖素材。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客户旅程决定外部运营动作的先后顺序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外部运营不是单次宣传，而是围绕客户生命周期持续推进价值认知和使用成功。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认知触达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通过官网、内容、活动和行业素材让目标客户理解通答能解决什么问题。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256032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2712720" y="2152650"/>
            <a:ext cx="214122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294132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线索培育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294132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用场景文章、演示视频、案例和答疑活动持续解释价值。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87299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502539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525399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试用启用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525399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提供上手路径、模板、管理员培训和关键任务陪跑。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718566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7338060" y="2152650"/>
            <a:ext cx="214122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756666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价值验证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756666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围绕核心场景沉淀使用数据、客户反馈和阶段性成果。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949833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965073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987933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续用扩展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987933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将成功案例转化为复用材料，推动更多团队和场景使用。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shape"/>
          <p:cNvSpPr>
            <a:spLocks noGrp="1"/>
          </p:cNvSpPr>
          <p:nvPr/>
        </p:nvSpPr>
        <p:spPr>
          <a:xfrm>
            <a:off x="1257300" y="4857750"/>
            <a:ext cx="9677400" cy="8001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1485900" y="5067300"/>
            <a:ext cx="922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运营价值</a:t>
            </a:r>
            <a:endParaRPr sz="165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1485900" y="5295900"/>
            <a:ext cx="9220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让客户从“听过通答”走向“知道怎么用、看到价值、愿意持续使用和推荐”。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内容矩阵负责把通答讲清楚、讲具体、讲可复用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对外内容需要同时服务市场获客、销售沟通、客户启用和客户成功。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95300" y="1447800"/>
            <a:ext cx="1066800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66750" y="15335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内容目标</a:t>
            </a:r>
            <a:endParaRPr sz="1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2857500" y="15335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内容载体</a:t>
            </a:r>
            <a:endParaRPr sz="1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5429250" y="153352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主要作用</a:t>
            </a:r>
            <a:endParaRPr sz="1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495300" y="19050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666750" y="20574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价值认知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2857500" y="20574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产品页 / 解决方案页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5429250" y="205740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核心卖点、适用行业、典型场景和价值表达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495300" y="24955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666750" y="26479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场景教育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2857500" y="26479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文章 / 视频 / 直播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5429250" y="264795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用真实问题解释通答如何落地到业务流程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495300" y="30861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666750" y="32385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试用启用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2857500" y="32385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手册 / 模板 / 入门课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5429250" y="323850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降低管理员配置、一线用户上手和团队推广成本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495300" y="36766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666750" y="38290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信任建立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2857500" y="38290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客户案例 / 最佳实践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5429250" y="382905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展示客户使用路径、关键动作和可复用经验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shape"/>
          <p:cNvSpPr>
            <a:spLocks noGrp="1"/>
          </p:cNvSpPr>
          <p:nvPr/>
        </p:nvSpPr>
        <p:spPr>
          <a:xfrm>
            <a:off x="495300" y="42672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666750" y="44196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问题自助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2857500" y="44196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FAQ / 资料库 / 知识图谱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5429250" y="441960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帮助客户快速找到答案，减少重复支持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shape"/>
          <p:cNvSpPr>
            <a:spLocks noGrp="1"/>
          </p:cNvSpPr>
          <p:nvPr/>
        </p:nvSpPr>
        <p:spPr>
          <a:xfrm>
            <a:off x="495300" y="48577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2" name="text"/>
          <p:cNvSpPr>
            <a:spLocks noGrp="1"/>
          </p:cNvSpPr>
          <p:nvPr/>
        </p:nvSpPr>
        <p:spPr>
          <a:xfrm>
            <a:off x="666750" y="50101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伙伴赋能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text"/>
          <p:cNvSpPr>
            <a:spLocks noGrp="1"/>
          </p:cNvSpPr>
          <p:nvPr/>
        </p:nvSpPr>
        <p:spPr>
          <a:xfrm>
            <a:off x="2857500" y="50101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演示脚本 / 方案素材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5429250" y="501015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帮助渠道伙伴、售前和客户成功统一表达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5" name="shape"/>
          <p:cNvSpPr>
            <a:spLocks noGrp="1"/>
          </p:cNvSpPr>
          <p:nvPr/>
        </p:nvSpPr>
        <p:spPr>
          <a:xfrm>
            <a:off x="495300" y="54483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客户启用要把培训、任务和反馈放在同一条线上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外部培训不是泛化课程，而是帮助客户完成通答核心场景的真实启用。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000250"/>
            <a:ext cx="26670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209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决策人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628900"/>
            <a:ext cx="22098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价值说明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行业场景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投入产出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成功案例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阶段成果复盘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3333750" y="2000250"/>
            <a:ext cx="26670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3562350" y="2209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管理员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3562350" y="2628900"/>
            <a:ext cx="22098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空间配置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权限说明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模板使用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数据与资料治理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问题处理路径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6267450" y="2000250"/>
            <a:ext cx="26670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6496050" y="2209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一线用户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496050" y="2628900"/>
            <a:ext cx="22098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基础操作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常见任务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资料查找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问卷反馈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自助 FAQ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hape"/>
          <p:cNvSpPr>
            <a:spLocks noGrp="1"/>
          </p:cNvSpPr>
          <p:nvPr/>
        </p:nvSpPr>
        <p:spPr>
          <a:xfrm>
            <a:off x="9201150" y="2000250"/>
            <a:ext cx="25908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9429750" y="22098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伙伴团队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9429750" y="2628900"/>
            <a:ext cx="21336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演示路径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方案素材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客户问题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竞品问答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交付注意事项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400050" y="5257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培训结果应回到客户任务、资料库、使用数据和客户成功复盘，而不只停留在参会记录。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客户反馈要形成产品、内容和服务的共同输入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外部反馈比内部反馈更靠近真实采购、试用和业务落地场景，需要更严格地分类和跟进。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08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多入口收集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社群、培训、问卷、客户成功、工单和试用回访统一进入反馈池。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256032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2712720" y="2152650"/>
            <a:ext cx="214122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294132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分级分类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294132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区分问题、需求、体验建议、行业场景、内容缺口和商机信号。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87299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502539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525399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任务跟进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525399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明确负责人、处理状态、客户期望和下一次同步时间。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718566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7338060" y="2152650"/>
            <a:ext cx="214122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756666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沉淀复用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756666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高频问题进入 FAQ，典型需求进入知识图谱和方案素材。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949833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965073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987933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反哺发布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987933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产品改进、内容更新和服务变化通过客户空间或社群同步。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shape"/>
          <p:cNvSpPr>
            <a:spLocks noGrp="1"/>
          </p:cNvSpPr>
          <p:nvPr/>
        </p:nvSpPr>
        <p:spPr>
          <a:xfrm>
            <a:off x="1257300" y="4857750"/>
            <a:ext cx="9677400" cy="8001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1485900" y="5067300"/>
            <a:ext cx="922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运营价值</a:t>
            </a:r>
            <a:endParaRPr sz="165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1485900" y="5295900"/>
            <a:ext cx="9220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把客户声音从“零散反馈”变成产品路线、销售素材、培训内容和客户成功动作的稳定来源。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客户案例和知识图谱让外部运营可复用、可放大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案例解决信任问题，知识图谱解决查找和复用问题，两者共同支撑市场、销售和客户成功。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09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591050" y="2324100"/>
            <a:ext cx="3009900" cy="14287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5010150" y="2724150"/>
            <a:ext cx="217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外部知识图谱</a:t>
            </a:r>
            <a:endParaRPr sz="25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5219700" y="32575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场景与素材导航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00050" y="2000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552450" y="2200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行业 / 客群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shape"/>
          <p:cNvSpPr>
            <a:spLocks noGrp="1"/>
          </p:cNvSpPr>
          <p:nvPr/>
        </p:nvSpPr>
        <p:spPr>
          <a:xfrm>
            <a:off x="400050" y="3905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552450" y="4105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客户痛点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shape"/>
          <p:cNvSpPr>
            <a:spLocks noGrp="1"/>
          </p:cNvSpPr>
          <p:nvPr/>
        </p:nvSpPr>
        <p:spPr>
          <a:xfrm>
            <a:off x="3190875" y="476250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3343275" y="49625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功能 / 方案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hape"/>
          <p:cNvSpPr>
            <a:spLocks noGrp="1"/>
          </p:cNvSpPr>
          <p:nvPr/>
        </p:nvSpPr>
        <p:spPr>
          <a:xfrm>
            <a:off x="7715250" y="476250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7867650" y="49625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客户案例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shape"/>
          <p:cNvSpPr>
            <a:spLocks noGrp="1"/>
          </p:cNvSpPr>
          <p:nvPr/>
        </p:nvSpPr>
        <p:spPr>
          <a:xfrm>
            <a:off x="9391650" y="2000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9544050" y="2200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培训 / FAQ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shape"/>
          <p:cNvSpPr>
            <a:spLocks noGrp="1"/>
          </p:cNvSpPr>
          <p:nvPr/>
        </p:nvSpPr>
        <p:spPr>
          <a:xfrm>
            <a:off x="9391650" y="3905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9544050" y="4105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销售素材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400050" y="56769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运营团队可以从客户问题入口找到对应功能、课程、案例、FAQ 和销售表达素材。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客户共创和权益机制帮助外部运营持续获得真实素材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外部 UGC 不追求热闹，重点是让真实客户经验变成可传播、可学习、可复用的内容。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10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1943100"/>
            <a:ext cx="3429000" cy="27241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15265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可共创的内容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571750"/>
            <a:ext cx="29718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客户故事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行业场景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使用模板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问题复盘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管理员经验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伙伴方案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最佳实践分享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362450" y="1943100"/>
            <a:ext cx="3429000" cy="27241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591050" y="215265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运营机制</a:t>
            </a:r>
            <a:endParaRPr sz="1875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591050" y="2571750"/>
            <a:ext cx="29718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主题征集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内容初审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脱敏加工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公开分享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案例沉淀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复用反馈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324850" y="1943100"/>
            <a:ext cx="3467100" cy="27241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553450" y="21526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权益设计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553450" y="2571750"/>
            <a:ext cx="30099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客户证书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标杆客户展示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共创会邀请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优先试用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专题培训名额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联合传播机会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2387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所有客户共创内容都需要经过客户授权、信息脱敏和对外发布审核。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外部运营需要固定节奏和能反映客户价值的指标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指标不只看曝光，也要看客户是否完成启用、是否看到价值、是否持续反馈和复用。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11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1943100"/>
            <a:ext cx="333375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1526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运营节奏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571750"/>
            <a:ext cx="28765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每周：内容发布、社群答疑、试用跟进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每月：公开课、客户案例、反馈复盘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每季度：客户健康复盘、案例评选、图谱治理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419600" y="1943100"/>
            <a:ext cx="333375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648200" y="21526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协作角色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648200" y="2571750"/>
            <a:ext cx="28765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市场运营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销售 / 售前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客户成功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产品负责人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技术支持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内容与资料库维护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伙伴运营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439150" y="1943100"/>
            <a:ext cx="335280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667750" y="215265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核心指标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667750" y="2571750"/>
            <a:ext cx="28956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内容访问与线索转化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试用启用率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培训完成率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关键功能使用率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问题关闭率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案例数量与复用次数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续费和扩展线索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5245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指标用于优化外部运营效率和客户价值实现，不替代销售绩效或交付考核。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三阶段启动后，通答外部运营进入增长循环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先补齐客户触点和内容资产，再形成活动与反馈节奏，最后用客户成功和案例复用放大增长。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通答外部运营方案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12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723900" y="2000250"/>
            <a:ext cx="3467100" cy="18097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952500" y="22098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1 个月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952500" y="2552700"/>
            <a:ext cx="3009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搭建客户运营空间、资料库、公开课入口、试用路径、基础 FAQ 和首批行业场景内容。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4210050" y="27717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4362450" y="2000250"/>
            <a:ext cx="34671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4591050" y="22098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2-3 个月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4591050" y="2552700"/>
            <a:ext cx="3009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固定直播培训、社群答疑、客户反馈跟进和案例征集，形成内容和问题闭环。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7848600" y="27717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8001000" y="2000250"/>
            <a:ext cx="3467100" cy="18097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8229600" y="22098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4 个月起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229600" y="2552700"/>
            <a:ext cx="3009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建立客户健康看板、外部知识图谱和标杆客户机制，推动续用、扩展和伙伴复用。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shape"/>
          <p:cNvSpPr>
            <a:spLocks noGrp="1"/>
          </p:cNvSpPr>
          <p:nvPr/>
        </p:nvSpPr>
        <p:spPr>
          <a:xfrm>
            <a:off x="1162050" y="4476750"/>
            <a:ext cx="9867900" cy="95250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1390650" y="4686300"/>
            <a:ext cx="941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最终效果</a:t>
            </a:r>
            <a:endParaRPr sz="18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1390650" y="4953000"/>
            <a:ext cx="941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客户认知有内容，试用启用有路径，培训陪跑有节奏，反馈问题有闭环，客户案例可复用，伙伴销售有素材，续费扩展有依据。</a:t>
            </a:r>
            <a:endParaRPr sz="1575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2727</Words>
  <Application>WPS 演示</Application>
  <PresentationFormat>Converted Presentation</PresentationFormat>
  <Paragraphs>424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PingFang SC</vt:lpstr>
      <vt:lpstr>Thonburi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PingFang SC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张洪磊</cp:lastModifiedBy>
  <cp:revision>1</cp:revision>
  <dcterms:created xsi:type="dcterms:W3CDTF">2026-07-22T03:05:31Z</dcterms:created>
  <dcterms:modified xsi:type="dcterms:W3CDTF">2026-07-22T03:05:31Z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2052-12.1.26030.26030</vt:lpwstr>
  </property>
  <property fmtid="{D5CDD505-2E9C-101B-9397-08002B2CF9AE}" pid="3" name="ICV">
    <vt:lpwstr>BFA502259A7A212E7B33606A97F365CC_42</vt:lpwstr>
  </property>
</Properties>
</file>