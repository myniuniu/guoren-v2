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35dd8a0f2d4386" /><Relationship Type="http://schemas.openxmlformats.org/officeDocument/2006/relationships/extended-properties" Target="/docProps/app.xml" Id="R4dd981a2e4f041bb" /><Relationship Type="http://schemas.openxmlformats.org/officeDocument/2006/relationships/officeDocument" Target="/ppt/presentation.xml" Id="R4e7b539ef018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8186f4f4e34a4a"/>
  </p:sldMasterIdLst>
  <p:notesMasterIdLst>
    <p:notesMasterId xmlns:r="http://schemas.openxmlformats.org/officeDocument/2006/relationships" r:id="R9dcac904ef214c4f"/>
  </p:notesMasterIdLst>
  <p:sldIdLst>
    <p:sldId xmlns:r="http://schemas.openxmlformats.org/officeDocument/2006/relationships" id="256" r:id="R9bcdd7bef454416d"/>
    <p:sldId xmlns:r="http://schemas.openxmlformats.org/officeDocument/2006/relationships" id="257" r:id="R7dbe57c0c5874521"/>
    <p:sldId xmlns:r="http://schemas.openxmlformats.org/officeDocument/2006/relationships" id="258" r:id="R4e606df6c77840bc"/>
    <p:sldId xmlns:r="http://schemas.openxmlformats.org/officeDocument/2006/relationships" id="259" r:id="R424b9d3eb4be45bb"/>
    <p:sldId xmlns:r="http://schemas.openxmlformats.org/officeDocument/2006/relationships" id="260" r:id="Rfedd440b92ef4e05"/>
    <p:sldId xmlns:r="http://schemas.openxmlformats.org/officeDocument/2006/relationships" id="261" r:id="R209bb44aa5f64252"/>
    <p:sldId xmlns:r="http://schemas.openxmlformats.org/officeDocument/2006/relationships" id="262" r:id="Rebd378234cfb49a3"/>
    <p:sldId xmlns:r="http://schemas.openxmlformats.org/officeDocument/2006/relationships" id="263" r:id="Raee7b9807017448a"/>
    <p:sldId xmlns:r="http://schemas.openxmlformats.org/officeDocument/2006/relationships" id="264" r:id="Rd6c3a891fd11419d"/>
    <p:sldId xmlns:r="http://schemas.openxmlformats.org/officeDocument/2006/relationships" id="265" r:id="R3a4bb00884f343ae"/>
    <p:sldId xmlns:r="http://schemas.openxmlformats.org/officeDocument/2006/relationships" id="266" r:id="R6d1bc6e976534e6d"/>
    <p:sldId xmlns:r="http://schemas.openxmlformats.org/officeDocument/2006/relationships" id="267" r:id="R537ec4e6954b4f72"/>
    <p:sldId xmlns:r="http://schemas.openxmlformats.org/officeDocument/2006/relationships" id="268" r:id="R0f17e4a6528d4b5d"/>
    <p:sldId xmlns:r="http://schemas.openxmlformats.org/officeDocument/2006/relationships" id="269" r:id="R25541c52ebca4f01"/>
    <p:sldId xmlns:r="http://schemas.openxmlformats.org/officeDocument/2006/relationships" id="270" r:id="R149b1968663548a8"/>
    <p:sldId xmlns:r="http://schemas.openxmlformats.org/officeDocument/2006/relationships" id="271" r:id="R50978cfbb7e7483e"/>
    <p:sldId xmlns:r="http://schemas.openxmlformats.org/officeDocument/2006/relationships" id="272" r:id="R2a4c939562ff458d"/>
    <p:sldId xmlns:r="http://schemas.openxmlformats.org/officeDocument/2006/relationships" id="273" r:id="R9c315be8f28f44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d882c9ea2547ad" /><Relationship Type="http://schemas.openxmlformats.org/officeDocument/2006/relationships/slideMaster" Target="/ppt/slideMasters/slideMaster1.xml" Id="R5c8186f4f4e34a4a" /><Relationship Type="http://schemas.openxmlformats.org/officeDocument/2006/relationships/notesMaster" Target="/ppt/notesMasters/notesMaster1.xml" Id="R9dcac904ef214c4f" /><Relationship Type="http://schemas.openxmlformats.org/officeDocument/2006/relationships/presProps" Target="/ppt/presProps.xml" Id="R9a69b14e8ac14d46" /><Relationship Type="http://schemas.openxmlformats.org/officeDocument/2006/relationships/viewProps" Target="/ppt/viewProps.xml" Id="Rfa3c9cad2bf14ce6" /><Relationship Type="http://schemas.openxmlformats.org/officeDocument/2006/relationships/tableStyles" Target="/ppt/tableStyles.xml" Id="R86d93dfdc65d452e" /><Relationship Type="http://schemas.openxmlformats.org/officeDocument/2006/relationships/slide" Target="/ppt/slides/slide1.xml" Id="R9bcdd7bef454416d" /><Relationship Type="http://schemas.openxmlformats.org/officeDocument/2006/relationships/slide" Target="/ppt/slides/slide2.xml" Id="R7dbe57c0c5874521" /><Relationship Type="http://schemas.openxmlformats.org/officeDocument/2006/relationships/slide" Target="/ppt/slides/slide3.xml" Id="R4e606df6c77840bc" /><Relationship Type="http://schemas.openxmlformats.org/officeDocument/2006/relationships/slide" Target="/ppt/slides/slide4.xml" Id="R424b9d3eb4be45bb" /><Relationship Type="http://schemas.openxmlformats.org/officeDocument/2006/relationships/slide" Target="/ppt/slides/slide5.xml" Id="Rfedd440b92ef4e05" /><Relationship Type="http://schemas.openxmlformats.org/officeDocument/2006/relationships/slide" Target="/ppt/slides/slide6.xml" Id="R209bb44aa5f64252" /><Relationship Type="http://schemas.openxmlformats.org/officeDocument/2006/relationships/slide" Target="/ppt/slides/slide7.xml" Id="Rebd378234cfb49a3" /><Relationship Type="http://schemas.openxmlformats.org/officeDocument/2006/relationships/slide" Target="/ppt/slides/slide8.xml" Id="Raee7b9807017448a" /><Relationship Type="http://schemas.openxmlformats.org/officeDocument/2006/relationships/slide" Target="/ppt/slides/slide9.xml" Id="Rd6c3a891fd11419d" /><Relationship Type="http://schemas.openxmlformats.org/officeDocument/2006/relationships/slide" Target="/ppt/slides/slide10.xml" Id="R3a4bb00884f343ae" /><Relationship Type="http://schemas.openxmlformats.org/officeDocument/2006/relationships/slide" Target="/ppt/slides/slide11.xml" Id="R6d1bc6e976534e6d" /><Relationship Type="http://schemas.openxmlformats.org/officeDocument/2006/relationships/slide" Target="/ppt/slides/slide12.xml" Id="R537ec4e6954b4f72" /><Relationship Type="http://schemas.openxmlformats.org/officeDocument/2006/relationships/slide" Target="/ppt/slides/slide13.xml" Id="R0f17e4a6528d4b5d" /><Relationship Type="http://schemas.openxmlformats.org/officeDocument/2006/relationships/slide" Target="/ppt/slides/slide14.xml" Id="R25541c52ebca4f01" /><Relationship Type="http://schemas.openxmlformats.org/officeDocument/2006/relationships/slide" Target="/ppt/slides/slide15.xml" Id="R149b1968663548a8" /><Relationship Type="http://schemas.openxmlformats.org/officeDocument/2006/relationships/slide" Target="/ppt/slides/slide16.xml" Id="R50978cfbb7e7483e" /><Relationship Type="http://schemas.openxmlformats.org/officeDocument/2006/relationships/slide" Target="/ppt/slides/slide17.xml" Id="R2a4c939562ff458d" /><Relationship Type="http://schemas.openxmlformats.org/officeDocument/2006/relationships/slide" Target="/ppt/slides/slide18.xml" Id="R9c315be8f28f44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b3aca848f64d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7291fb4aac475a" /><Relationship Type="http://schemas.openxmlformats.org/officeDocument/2006/relationships/notesMaster" Target="/ppt/notesMasters/notesMaster1.xml" Id="R054f6269b08b46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a8e133b3e04bb3" /><Relationship Type="http://schemas.openxmlformats.org/officeDocument/2006/relationships/notesMaster" Target="/ppt/notesMasters/notesMaster1.xml" Id="Rac68bf550d8441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78195b4664cca" /><Relationship Type="http://schemas.openxmlformats.org/officeDocument/2006/relationships/notesMaster" Target="/ppt/notesMasters/notesMaster1.xml" Id="Rbeb8ef2c562842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41f2bf308b4b49" /><Relationship Type="http://schemas.openxmlformats.org/officeDocument/2006/relationships/notesMaster" Target="/ppt/notesMasters/notesMaster1.xml" Id="R621410a2cf32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602a82c7c94463" /><Relationship Type="http://schemas.openxmlformats.org/officeDocument/2006/relationships/notesMaster" Target="/ppt/notesMasters/notesMaster1.xml" Id="R2bc5fe1d812848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fda5eddde7457e" /><Relationship Type="http://schemas.openxmlformats.org/officeDocument/2006/relationships/notesMaster" Target="/ppt/notesMasters/notesMaster1.xml" Id="Rcaf50548103444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7da2fe7514861" /><Relationship Type="http://schemas.openxmlformats.org/officeDocument/2006/relationships/notesMaster" Target="/ppt/notesMasters/notesMaster1.xml" Id="R7d38ff068e824c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f4f98b17b3405b" /><Relationship Type="http://schemas.openxmlformats.org/officeDocument/2006/relationships/notesMaster" Target="/ppt/notesMasters/notesMaster1.xml" Id="R930521ae36d84e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a3b65486b4c12" /><Relationship Type="http://schemas.openxmlformats.org/officeDocument/2006/relationships/notesMaster" Target="/ppt/notesMasters/notesMaster1.xml" Id="Rf78d5342fc3e44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c77078472644e5" /><Relationship Type="http://schemas.openxmlformats.org/officeDocument/2006/relationships/notesMaster" Target="/ppt/notesMasters/notesMaster1.xml" Id="R286d38656bb54e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7510b5ef3c427d" /><Relationship Type="http://schemas.openxmlformats.org/officeDocument/2006/relationships/notesMaster" Target="/ppt/notesMasters/notesMaster1.xml" Id="Re702df07cd6346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0619c7c60140d9" /><Relationship Type="http://schemas.openxmlformats.org/officeDocument/2006/relationships/notesMaster" Target="/ppt/notesMasters/notesMaster1.xml" Id="R46832b7cdbef4c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38a59e3471447a" /><Relationship Type="http://schemas.openxmlformats.org/officeDocument/2006/relationships/notesMaster" Target="/ppt/notesMasters/notesMaster1.xml" Id="Rcf9dd5d83d6349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2e872c7d914e18" /><Relationship Type="http://schemas.openxmlformats.org/officeDocument/2006/relationships/notesMaster" Target="/ppt/notesMasters/notesMaster1.xml" Id="R3b588b12b40246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ce7309efbf447e" /><Relationship Type="http://schemas.openxmlformats.org/officeDocument/2006/relationships/notesMaster" Target="/ppt/notesMasters/notesMaster1.xml" Id="R445f83155fb942d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ffc6515a7d4b60" /><Relationship Type="http://schemas.openxmlformats.org/officeDocument/2006/relationships/notesMaster" Target="/ppt/notesMasters/notesMaster1.xml" Id="R1fc50798fd6e4e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8bdfca448c4d8f" /><Relationship Type="http://schemas.openxmlformats.org/officeDocument/2006/relationships/notesMaster" Target="/ppt/notesMasters/notesMaster1.xml" Id="R3c7eadb8820643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967de93b4b402b" /><Relationship Type="http://schemas.openxmlformats.org/officeDocument/2006/relationships/notesMaster" Target="/ppt/notesMasters/notesMaster1.xml" Id="Raf3199bc1650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05026eec141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1ed4d63194f3c" /><Relationship Type="http://schemas.openxmlformats.org/officeDocument/2006/relationships/slideLayout" Target="/ppt/slideLayouts/slideLayout1.xml" Id="R574ab7d3fb984c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4ab7d3fb984c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5cb0a89aa4a43" /><Relationship Type="http://schemas.openxmlformats.org/officeDocument/2006/relationships/notesSlide" Target="/ppt/notesSlides/notesSlide1.xml" Id="R47e7c66bc14145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caed338e3474c" /><Relationship Type="http://schemas.openxmlformats.org/officeDocument/2006/relationships/notesSlide" Target="/ppt/notesSlides/notesSlide2.xml" Id="R58532ddfcdfd4a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b3ad527804947" /><Relationship Type="http://schemas.openxmlformats.org/officeDocument/2006/relationships/notesSlide" Target="/ppt/notesSlides/notesSlide3.xml" Id="Rd1f80d4aa46149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01cf4cdfa42d9" /><Relationship Type="http://schemas.openxmlformats.org/officeDocument/2006/relationships/notesSlide" Target="/ppt/notesSlides/notesSlide4.xml" Id="R5970d0d8bceb42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3ab2380b641aa" /><Relationship Type="http://schemas.openxmlformats.org/officeDocument/2006/relationships/notesSlide" Target="/ppt/notesSlides/notesSlide5.xml" Id="Re15d05a25d3248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918bfc45e4fc8" /><Relationship Type="http://schemas.openxmlformats.org/officeDocument/2006/relationships/notesSlide" Target="/ppt/notesSlides/notesSlide6.xml" Id="R0110687c758549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55f19e9db49b0" /><Relationship Type="http://schemas.openxmlformats.org/officeDocument/2006/relationships/notesSlide" Target="/ppt/notesSlides/notesSlide7.xml" Id="R5e56b21ecfbc4d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605dc3a3f453c" /><Relationship Type="http://schemas.openxmlformats.org/officeDocument/2006/relationships/notesSlide" Target="/ppt/notesSlides/notesSlide8.xml" Id="Rc9926c9e7b3641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7196edf0246c0" /><Relationship Type="http://schemas.openxmlformats.org/officeDocument/2006/relationships/notesSlide" Target="/ppt/notesSlides/notesSlide9.xml" Id="R3e832c602c7b44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e1d741eaa4b30" /><Relationship Type="http://schemas.openxmlformats.org/officeDocument/2006/relationships/notesSlide" Target="/ppt/notesSlides/notesSlide10.xml" Id="R9db565eec4134b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c92ac909a42ae" /><Relationship Type="http://schemas.openxmlformats.org/officeDocument/2006/relationships/notesSlide" Target="/ppt/notesSlides/notesSlide11.xml" Id="R2225bdc5b3c046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8e9cced044474" /><Relationship Type="http://schemas.openxmlformats.org/officeDocument/2006/relationships/notesSlide" Target="/ppt/notesSlides/notesSlide12.xml" Id="R571635291b8142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78906f3cf46d5" /><Relationship Type="http://schemas.openxmlformats.org/officeDocument/2006/relationships/notesSlide" Target="/ppt/notesSlides/notesSlide13.xml" Id="Rce385f51e5684b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c17694aa54e28" /><Relationship Type="http://schemas.openxmlformats.org/officeDocument/2006/relationships/notesSlide" Target="/ppt/notesSlides/notesSlide14.xml" Id="Raa75e02861eb44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9cb6de1704f68" /><Relationship Type="http://schemas.openxmlformats.org/officeDocument/2006/relationships/notesSlide" Target="/ppt/notesSlides/notesSlide15.xml" Id="Rae8cb8813aa142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cdd93d445463b" /><Relationship Type="http://schemas.openxmlformats.org/officeDocument/2006/relationships/notesSlide" Target="/ppt/notesSlides/notesSlide16.xml" Id="R284b50ba01c94c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f11a3c5694e46" /><Relationship Type="http://schemas.openxmlformats.org/officeDocument/2006/relationships/notesSlide" Target="/ppt/notesSlides/notesSlide17.xml" Id="Ra44c7cb958844b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1f0071f2c4fea" /><Relationship Type="http://schemas.openxmlformats.org/officeDocument/2006/relationships/notesSlide" Target="/ppt/notesSlides/notesSlide18.xml" Id="R27babc9c917944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5C6A9D0-D45E-49AE-8B36-F92FF0C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81050"/>
            <a:ext cx="752475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果仁培训产品蓝图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三大子系统架构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A3018DB-945D-446F-B6E3-4B916EC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7650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原生底座上的员工发展活动运营平台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3464738-2FC1-4EF4-93BF-EA22B9C8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90900"/>
            <a:ext cx="65722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3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 Lucky 智能体为智能引擎，以资料库和知识图谱为知识底座，以空间承载课程学习、研讨会、评课、工作坊和项目复盘等发展活动，并通过解决方案、套餐、租户、证书和效果报告形成交付闭环。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60966-F492-4B27-B16D-02399CB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81050"/>
            <a:ext cx="3562350" cy="477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440114A-E347-418D-988E-57EA58F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905125" cy="2266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资料库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发展活动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2C3838F-7B98-4B6B-A0FB-2783514D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0044901-89FD-4B60-B019-17848E6F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0050"/>
            <a:ext cx="27241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从培训项目到发展活动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从过程数据到能力成长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A632702-285F-4632-9685-D48069B0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44354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E6FED4-C71C-4503-BD7F-ACCD0B49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目录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2041A7-3AF0-48FA-9FC7-69ED551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7528DA2-0B2E-4007-8177-C906ACC8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6A98F3-4650-4837-A2D8-6697E913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汇报结构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09FB9D9-B08E-4F46-9CCD-BC44E919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4C9826-C02F-45A0-BB64-C0E5A65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01  产品定位与目标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838324-C462-4C07-AFEF-6B053DE9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为什么以果仁承载广义培训，核心价值和目标对象。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D6D054-B7D2-4E1A-988B-259A445E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2DE51EE-5400-478D-9544-F243549A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02  总体架构与子系统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058460-4286-4C5D-ABC2-AB15FA92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培训信息管理、培训过程运营、培训效果评估三大子系统。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249ED5-77DF-4F6E-995C-90EB2995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431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057A412-D097-455D-AF31-F543180D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7175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  业务闭环与数据模型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757CAC3-5AB9-4380-9E3F-25A104A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2895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74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发展项目、活动、参与者、记录和报告如何贯通。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0998B8A-E2EC-4F77-A818-DDF69759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516CE7-9DCD-4595-A826-B98A679A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  AI 原生能力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2087ADC-B613-4682-9DAB-F31B942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研讨纪要、评课分析、成长证据、活动运营和效果报告。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FB6C113-75E0-45DB-869F-0A7B2EC7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E21889-EADA-4B47-B0BD-1BB14458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434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  交付与演进路径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D092266-8FD4-4B75-9F6C-D6187A3A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800600"/>
            <a:ext cx="2971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解决方案、套餐、租户、活动场景包和阶段路线图。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1936A10-B845-45B6-A5FF-DCBFF6A0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148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8770122-8A45-46A8-912C-6D24640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43400"/>
            <a:ext cx="29718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主线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BC9A485-0B3C-4A39-91A9-AFDC2A1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800600"/>
            <a:ext cx="2971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用果仁底座把培训从课程交付升级为员工发展活动的组织、记录、评价和沉淀体系。</a:t>
            </a:r>
          </a:p>
        </p:txBody>
      </p:sp>
    </p:spTree>
    <p:extLst>
      <p:ext uri="{BB962C8B-B14F-4D97-AF65-F5344CB8AC3E}">
        <p14:creationId xmlns:p14="http://schemas.microsoft.com/office/powerpoint/2010/main" val="181010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C67C41-E56E-4C2D-85C1-A5C5436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1B5E36B-E4B1-4A8E-B782-9CFC7BEA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果仁培训平台重新定义培训：凡有利于员工发展的活动都可纳入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F3FDA4-E9B6-4657-9B3D-29DEF124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CA37E8-8A24-40BD-AC7C-0669E5E3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800F22E-AA46-412E-B23A-92659C1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431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培训外延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155896-F103-43E4-8FE9-6DD0984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5000625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培训的外延超出课程、排期和考试；研讨会、评课、听评课、工作坊、导师带教、项目复盘、案例共创和行动学习，都可以成为发展活动。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24692A-EFC7-4032-B01F-8494C785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71950"/>
            <a:ext cx="5000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平台目标是把这些活动转化为可设计、可组织、可参与、可记录、可评价、可沉淀、可复用的员工发展资产。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202CDFA-5BCC-4149-AC6F-38E1501F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28B51A2-ED9F-41D0-9713-D3E7C93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活动资产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0D820E0-674B-4AFC-A72C-E8FAC613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66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发展项目、活动类型、参与者、主持人、专家和成果要求统一沉淀。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A960F71-FD98-421B-A977-D1753B0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8E9C11C-FE6A-4ED6-A8B4-59AF89C8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02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过程参与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CAB3DC0-1B5D-4757-943D-B9B45616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3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空间承载研讨、评课、任务、互动、点评、作业和成果。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4A804C-8D5F-4373-B750-E983E534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C03295F-3459-46C0-BED7-A183F613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智能辅助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8869738-D6D9-45E6-9A68-B7E56AC7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790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支持活动策划、纪要整理、评课分析和成长证据归档。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C6CBA9F-78DB-446D-9A6E-496F99EE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62375"/>
            <a:ext cx="2476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17DB32A-F0FB-4732-A98A-BA69779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90975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发展闭环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7D52D33-DA4A-4F9A-A136-543C4F1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48175"/>
            <a:ext cx="2019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5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效果评估反哺能力模型、活动设计和下一轮发展计划。</a:t>
            </a:r>
          </a:p>
        </p:txBody>
      </p:sp>
    </p:spTree>
    <p:extLst>
      <p:ext uri="{BB962C8B-B14F-4D97-AF65-F5344CB8AC3E}">
        <p14:creationId xmlns:p14="http://schemas.microsoft.com/office/powerpoint/2010/main" val="190532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2B82964-40E1-4C6C-8C9E-F9F32DC6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总体架构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C52530-DAD4-4C9A-97C8-A67779B4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发展活动产品在果仁底座上形成五层协同架构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E447CA5-FFB3-4109-863A-40197E95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8E5834-DFC1-4A4B-98B3-7446C3B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BD29CFE-CBE0-4CFE-92C7-B590A70F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096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面向课程、研讨、评课、工作坊、导师带教和项目复盘，统一用发展活动对象串联人员、内容、过程、AI 能力、数据和交付商业化。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7A8AC0-A8B3-4E15-BA38-4DB41823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28C787D-DEAE-4E2D-BFC4-0123699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活动入口</a:t>
            </a:r>
          </a:p>
        </p:txBody>
      </p:sp>
      <p:sp>
        <p:nvSpPr>
          <p:cNvPr id="9" name="右箭头 8">
            <a:extLst xmlns:a="http://schemas.openxmlformats.org/drawingml/2006/main">
              <a:ext uri="{FF2B5EF4-FFF2-40B4-BE49-F238E27FC236}">
                <a16:creationId xmlns:a16="http://schemas.microsoft.com/office/drawing/2014/main" id="{32A70D23-71F8-4741-B21F-212737F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DA7CC1-1DFC-488D-BF72-1703439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004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93AEF9A-D967-4399-8912-424C3DF6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1333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业务子系统</a:t>
            </a:r>
          </a:p>
        </p:txBody>
      </p:sp>
      <p:sp>
        <p:nvSpPr>
          <p:cNvPr id="12" name="右箭头 11">
            <a:extLst xmlns:a="http://schemas.openxmlformats.org/drawingml/2006/main">
              <a:ext uri="{FF2B5EF4-FFF2-40B4-BE49-F238E27FC236}">
                <a16:creationId xmlns:a16="http://schemas.microsoft.com/office/drawing/2014/main" id="{E5DD8A2F-E467-439C-9EB7-CD390029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A93F15D-48D4-4220-9B67-C1C3DAE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C219FB3-A687-4897-A94A-39104546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1809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AI 能力层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7559AD2F-73C9-4413-BD9F-D1F3E36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05175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BB25D8A-BEB5-4DD4-97EB-28812F16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00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CB3CDF-A8CA-4CC9-9982-537B4620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57550"/>
            <a:ext cx="1524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果仁底座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DBD47C-829E-492D-B985-BC566CE7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1C2CE1-AD48-4553-B061-C344F470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资料库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22A5FB1-0F8B-43AB-AEB3-BDD99C7D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4902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沉淀课程、课件、案例、评课记录、研讨纪要和活动成果，支撑检索、问答与复用。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C364131-C0FE-4506-9FFD-FA7C224D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786FBBF-D10A-41E0-89B0-1D561565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843029D-95E9-4500-A5F4-B7A7A2A6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23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承载发展项目、活动成员、日程、任务、研讨、问卷、点评和过程协同。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A9FD481-2416-44C6-88C8-40A0B02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767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D6ADBA-C21F-4280-9316-8F1C2E7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7053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Lucky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DC5C385-EDAF-4EA8-9E84-C9AD3CE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162550"/>
            <a:ext cx="278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523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为管理员、主持人、讲师、专家、参与者和运营人员提供智能助手矩阵。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BC435B9-B585-48F9-9F05-B1F925D5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998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底层能力一次建设，多种发展活动复用：企业内训、教师发展、研讨会、评课、工作坊和项目制学习。</a:t>
            </a:r>
          </a:p>
        </p:txBody>
      </p:sp>
    </p:spTree>
    <p:extLst>
      <p:ext uri="{BB962C8B-B14F-4D97-AF65-F5344CB8AC3E}">
        <p14:creationId xmlns:p14="http://schemas.microsoft.com/office/powerpoint/2010/main" val="1408102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29BB91-60A3-4448-8C02-02B369C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子系统架构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80596C-DC9F-4CF7-832A-C06B7971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发展活动中心连接信息管理、过程运营和效果评估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ABCAC4-D3D3-4904-A2DD-0BAAC1D0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1FF774-98D2-4343-A4EB-5B26D24E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EDC9512-DE58-46DF-94F8-517A026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94A8F60-06FD-47AA-91CA-7D556F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AE7EF2A-23D4-40F1-A0C7-84AA90D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24765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F6C8C0B-69A4-48E1-81AB-EAB90B9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19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F82CDB8-D738-4E72-B31F-BE249689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管理项目、活动类型、参与对象、主持人/讲师/专家、资源、规则和成果要求。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7BD45B9-926A-4385-AF0F-1819DD3A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D56D04-1536-4CFC-A812-9F673AF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8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15D5886-3299-4378-9531-5CE6FB3C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81350"/>
            <a:ext cx="209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承载课程学习、研讨会、评课、工作坊、导师带教、任务作业、互动和提醒。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931A28A-1BE0-4425-9173-807BB08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活动中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C565800-F3EC-4E9D-8BC3-4201FE3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790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E7EA16-B014-490B-AB8E-BA61B012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0002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汇总参与度、互动质量、成果质量、能力变化、行为改进和组织沉淀。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61FC7B-0366-42DF-87F3-6666BC9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676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活动后</a:t>
            </a:r>
          </a:p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4D1EE6FB-7CFA-427C-BCEC-F91F8844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4EF3D742-EB42-4D82-8D65-DD66A06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43275"/>
            <a:ext cx="10668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6F2AD04-8B74-45AE-9433-E43E22F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信息进入活动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E2706E9-3B99-4417-84ED-B969649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829050"/>
            <a:ext cx="1200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数据反哺发展</a:t>
            </a:r>
          </a:p>
        </p:txBody>
      </p:sp>
    </p:spTree>
    <p:extLst>
      <p:ext uri="{BB962C8B-B14F-4D97-AF65-F5344CB8AC3E}">
        <p14:creationId xmlns:p14="http://schemas.microsoft.com/office/powerpoint/2010/main" val="255154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培训信息管理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信息管理子系统把发展活动从临时组织变成标准化资产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发展项目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维护发展目标、周期、负责人、对象、活动范围和启用模块。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活动与人员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支持报名、导入、分组、主持人/讲师/专家绑定、角色权限和组织维度管理。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内容与资源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统一管理课程、议题、课件、案例、评课表、任务、标签和适用对象。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规则配置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配置参与条件、成果要求、证书/证明、积分规则、提醒策略和数据权限。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输出统一发展台账：谁参与了什么活动、贡献了什么互动、沉淀了什么成果、形成了什么成长证据。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1985812-ADB9-456F-9ED0-35289AEE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培训过程运营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B847D03-BA29-461B-BBA4-B8F09860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过程子系统用空间和任务把发展活动变成可跟踪闭环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485809-83FA-4433-AACD-A0164F01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1173D4-C787-49B8-9036-EACE97B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39DDCBA-4C97-498C-95D1-CF3D907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5C07029-E822-4178-B7F2-6F9ABD98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活动交付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BF1313-2677-4763-8177-C67B7F9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研习社承载课程，空间承载研讨/评课/工作坊，资料库分发内容。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E51BB19-C19B-49CC-8229-CB8FF41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BFB76A-0AC1-4947-80C5-CDF1B883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过程参与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D08118-9794-4EF8-933F-E0698001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空间组织成员、讨论、日程、签到、发言、点评、任务和阶段成果。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E7B250B-6C69-4F98-9FFF-A2DC2ADA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E8F3C82-D803-441B-9A15-360F099C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运营触达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19E6718-B9E3-47AA-9108-1DD20AC9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消息与任务联动提醒未完成项，支持活动看板、参与记录和风险名单。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72B410-3ACB-4010-B9E9-CCEDBF7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C40177-D14D-466C-838E-89B89285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AI 陪伴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FDCD92-451D-407A-B00E-02017B19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学习教练与活动助手答疑、生成纪要、分析评课、归档成长证据。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DB89248-387C-46CC-8565-BD39643B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973E798-89CD-4714-A3FF-31D2A7F5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关键不是把课程放上去，而是让每一次发展活动可参与、可记录、可评价、可沉淀。</a:t>
            </a:r>
          </a:p>
        </p:txBody>
      </p:sp>
    </p:spTree>
    <p:extLst>
      <p:ext uri="{BB962C8B-B14F-4D97-AF65-F5344CB8AC3E}">
        <p14:creationId xmlns:p14="http://schemas.microsoft.com/office/powerpoint/2010/main" val="235758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F0A572-C97E-4474-93BE-08410BF5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培训效果评估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CF12FB-00E8-4F15-87E8-F0435902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效果子系统把活动结果从满意度统计升级为能力与行为改进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EB1B5EF-B471-47A6-BECB-FB17E661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59E75B4-EC59-4940-96CE-C90F5C62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00B3215-8BA2-44FE-ADEC-C1ACCA31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评估框架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380E0B0-0A5B-4E4F-A065-7BA83609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BC64481-3B98-4077-9195-DD653EB4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反应层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E7EAEB-B887-49E5-9377-042126C3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满意度、活动评价、讲师/专家评价、反馈问卷和问题建议。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E67C1D5-F50F-414F-995D-66A5C02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DEB59B-D57C-420A-ADBE-E4176C27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学习层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9BFFD77-64B1-4721-8EDD-E3B48A8B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知识掌握、案例理解、任务完成、观点表达和能力达成。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60AF1D1-7CA5-44B9-8BCC-0B59453E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6F4B743-6602-49F4-842B-2127F4C6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行为层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B9A3DF8-0563-40FE-A33A-E5C19CF1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训后任务、课堂改进、岗位应用、主管评价、专家评审和同伴互评。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6A09B89-EF55-402B-8B13-17ECAF2A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62200"/>
            <a:ext cx="2476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A2261C7-DCE8-43B2-AEE3-F5D85B95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908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结果层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66607EA-33F6-4B58-BADD-DC9CBCF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20193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组织指标、业务改善、教师成长证据、知识资产和投入产出分析。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362A027-79C8-4C49-BD76-67B5DDDA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11401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6DA5CFE-5174-40C2-A00B-D2ADA053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73818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53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效果评估的价值，是把活动结论转化为改进建议、成长档案、资源复用和组织决策。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8A6984-5BCC-4AC5-BE08-2683926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4 层评估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648FD11-D56F-4FE3-88E8-F91F450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391150"/>
            <a:ext cx="2114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从活动反馈到发展改进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24B50E2-EC9D-4F5D-9E53-BA8AFB9E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53100"/>
            <a:ext cx="297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个人、活动、项目、组织四类报告</a:t>
            </a:r>
          </a:p>
        </p:txBody>
      </p:sp>
    </p:spTree>
    <p:extLst>
      <p:ext uri="{BB962C8B-B14F-4D97-AF65-F5344CB8AC3E}">
        <p14:creationId xmlns:p14="http://schemas.microsoft.com/office/powerpoint/2010/main" val="887848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E07C92-8E27-4EFC-BCB1-8C61C02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业务闭环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4D9619A-F3A5-4A18-B9C9-74D7846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发展活动从需求到改进形成一条可复制的运营链路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B96ECAA-E0B8-414F-9A7F-1971FE3A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AF3E9F8-D85E-49D0-AA62-D488DB4C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DBABC2-F905-41D0-BBBD-6EAB146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94D7EC4-23DF-4FF3-956E-AD27C05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需求识别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2B267AD4-5DBE-41BD-A32E-9935AB07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D56656-9EC3-4FFF-B59F-41B39687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FCC81B-3318-4B13-BB94-16D23CB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活动设计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2C1961F0-568F-4BB7-A0FB-2559CAC4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01A7030-0D78-4222-84A7-C969626E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30E04D-9EF1-4415-88FF-28736BA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过程参与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0DC23A62-5ACC-480E-B89D-E0F5AE46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F1E0586-FE2C-4A46-8406-7237FCD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2CAC4F1-E112-4539-843A-C1558DFA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95525"/>
            <a:ext cx="1543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E053247-5596-4BC3-95AF-5AC552B4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活动前明确发展目标、对象和能力差距，建立项目、活动、资源、规则、成果要求和智能体配置。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E88B94F-918A-4BE1-B269-CEEB5FA3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6232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活动中记录参与、互动、点评、任务、问卷、AI 使用和运营动作；活动后输出报告并沉淀成果、案例和改进项。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E76A41-9C86-46F3-A9F7-305A2018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38DF815-D513-47EA-AF50-55F707BC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1ED7A5-8F3A-4395-B72D-085508A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62588D-DB9E-461E-B08A-531539D4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46CA0E8-354A-475B-A07C-B1D5E3EF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F0C73FD-421A-4BC8-8D7A-F43FEAF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课程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E49D92E-B869-4EBF-8DDB-FAE543AB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063027-8C2B-41BF-A0D6-D4DBD03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A530434-8D23-46EF-8FC2-A1902F5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2EE751-800E-4104-9FF7-5A4BB48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任务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B952C08-9960-469E-9A30-CA7CA768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C5F8035-996F-43CB-9C09-50AE3143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评价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3C2C31F-DA14-4059-8B9E-A49A219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DC4F7B6-E1BF-458A-9474-817C7C3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成果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9047D73-7265-448E-80DE-01325840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905375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C9ABFC3-2C12-4BB9-A94B-6D0B23C2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962525"/>
            <a:ext cx="781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报告</a:t>
            </a:r>
          </a:p>
        </p:txBody>
      </p:sp>
      <p:sp>
        <p:nvSpPr>
          <p:cNvPr id="35" name="流程箭头">
            <a:extLst xmlns:a="http://schemas.openxmlformats.org/drawingml/2006/main">
              <a:ext uri="{FF2B5EF4-FFF2-40B4-BE49-F238E27FC236}">
                <a16:creationId xmlns:a16="http://schemas.microsoft.com/office/drawing/2014/main" id="{0887AD3D-E7D5-4099-8D69-A6EB6E49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476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流程节点-效果改进">
            <a:extLst xmlns:a="http://schemas.openxmlformats.org/drawingml/2006/main">
              <a:ext uri="{FF2B5EF4-FFF2-40B4-BE49-F238E27FC236}">
                <a16:creationId xmlns:a16="http://schemas.microsoft.com/office/drawing/2014/main" id="{446D60A3-4A18-41F9-84B4-55C91A04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38375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流程文本-效果改进">
            <a:extLst xmlns:a="http://schemas.openxmlformats.org/drawingml/2006/main">
              <a:ext uri="{FF2B5EF4-FFF2-40B4-BE49-F238E27FC236}">
                <a16:creationId xmlns:a16="http://schemas.microsoft.com/office/drawing/2014/main" id="{6425A14C-B7A0-4DE8-BC1A-CB8F0D81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295525"/>
            <a:ext cx="1543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效果改进</a:t>
            </a:r>
          </a:p>
        </p:txBody>
      </p:sp>
    </p:spTree>
    <p:extLst>
      <p:ext uri="{BB962C8B-B14F-4D97-AF65-F5344CB8AC3E}">
        <p14:creationId xmlns:p14="http://schemas.microsoft.com/office/powerpoint/2010/main" val="365762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7AD117-CAB3-48C6-95A0-5C2CA79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核心对象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1488235-5010-4D73-8BEA-1C8BB44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统一数据模型让三大子系统围绕发展活动运行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5FE147A-1788-4659-9F22-448D112C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1828B8-B179-492A-A2FC-4F013BE7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5EC397-E672-419F-BB35-BBFA066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934069-DEFA-4978-B18C-0750D2B9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45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Development Program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8EF3A0C-490D-49C0-9EB4-ACF7A4D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发展项目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承接目标、周期、负责人、对象范围、解决方案模板和启用模块。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1F66FA5-ACBA-4D64-B02F-907CF0B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4982A19-0272-44EE-BF3B-51175B65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0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Development Activity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9C8134-C8E6-4D76-B576-D4263D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发展活动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承接课程、研讨、评课、工作坊、复盘等活动类型和过程配置。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2A862E1-4849-43C2-8E79-5ECC15A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CF82C7D-9CCF-4A3F-847B-131FEFE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Participant Record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E647F38-4960-4077-A690-0B1A32AB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参与与发展记录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记录签到、发言、互动、点评、任务、成果、评价和 AI 使用。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2C67C4C-1037-42BF-A86A-891E9B6D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38350"/>
            <a:ext cx="24765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F5F8954-C151-47EC-900A-F87A1245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6695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00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Evidence &amp; Report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7B1E8B5-102B-4751-8CC6-5CB3145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20193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成长证据与报告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按个人、活动、项目、组织生成结论、证据、风险和改进建议。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45B7D-99C6-4470-B44E-8C0DBA85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24500"/>
            <a:ext cx="742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对象统一，才能让信息管理、过程运营和效果评估不割裂。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8E28F72-85DA-4090-81DF-B36E28E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56260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232"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发展项目是主对象，活动是过程单元，记录和报告是效果资产。</a:t>
            </a:r>
          </a:p>
        </p:txBody>
      </p:sp>
    </p:spTree>
    <p:extLst>
      <p:ext uri="{BB962C8B-B14F-4D97-AF65-F5344CB8AC3E}">
        <p14:creationId xmlns:p14="http://schemas.microsoft.com/office/powerpoint/2010/main" val="13373577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098CFD8-C6EA-470F-A7AD-FB7099E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AI 原生能力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516BB9D-7ECA-4398-8617-91CF7047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Lucky 智能体矩阵覆盖发展活动前、中、后的关键工作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D45A5CE-A619-4B69-9E95-CA5CBB6A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64EEB8-337F-4859-BA27-24761EC1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75843E-1B21-4D5D-9E81-A4B4884E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437AA3-FBEE-48C9-8177-BC5AB34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活动策划助手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237357F-0B13-4D9B-8083-21A1EF03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生成活动方案、议题设计、任务模板、问卷模板和成果规则建议。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24A6943-9334-4EEB-B9CB-D689A271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37416D-31F4-4F61-B7C4-20A57B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研讨纪要助手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DA2906F-AEA7-4557-BA78-9B46D918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整理发言观点、共识结论、待办事项和可沉淀案例。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FCDB309-7B8D-47CA-9C03-B767F4A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E6F5FA2-6E78-4865-99AD-BF820375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评课分析助手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DB43F07-F192-4634-BDE0-180C3B2C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基于课堂观察、专家点评和同伴互评生成结构化改进建议。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6A596EE-3583-41B3-997D-EDE1C8B0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057400"/>
            <a:ext cx="24765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7FB4F22-6728-4522-9CE8-905004AD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2019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成长证据助手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70EDC53-F17B-4C23-AF33-7D808BA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43200"/>
            <a:ext cx="20193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汇总参与记录、成果材料和评价意见，生成成长档案与项目报告。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6AD55A-B384-48F4-A8F7-2DF614A0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62500"/>
            <a:ext cx="11401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EF3D0E-239D-4987-9A29-F9BA8C8E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108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输出作为建议稿进入人工确认；关键评价、成长证据和发展结论保留人工审核。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1165429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2899CDD-80BF-4332-9E1B-80F55CE9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数据与分析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5584CE-043C-484A-9CD1-997437DA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活动数据进入分析模型，最终输出可行动的发展效果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0763D6-4FA9-4D42-A46E-BB6464A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6043DA-375F-4BD8-B477-0854E9C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0403E6-143C-4CDD-B8EC-2803EB54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43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2B6893E-69D5-4FDF-8B2E-638581CE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400300"/>
            <a:ext cx="1428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活动记录</a:t>
            </a:r>
          </a:p>
        </p:txBody>
      </p:sp>
      <p:sp>
        <p:nvSpPr>
          <p:cNvPr id="8" name="右箭头 7">
            <a:extLst xmlns:a="http://schemas.openxmlformats.org/drawingml/2006/main">
              <a:ext uri="{FF2B5EF4-FFF2-40B4-BE49-F238E27FC236}">
                <a16:creationId xmlns:a16="http://schemas.microsoft.com/office/drawing/2014/main" id="{6BD117B6-183C-458E-B722-EFBA604F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6265274-BBBA-43AC-B535-D3BD40BC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CA0E22C-7383-4FC0-8049-4A999169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指标计算</a:t>
            </a:r>
          </a:p>
        </p:txBody>
      </p:sp>
      <p:sp>
        <p:nvSpPr>
          <p:cNvPr id="11" name="右箭头 10">
            <a:extLst xmlns:a="http://schemas.openxmlformats.org/drawingml/2006/main">
              <a:ext uri="{FF2B5EF4-FFF2-40B4-BE49-F238E27FC236}">
                <a16:creationId xmlns:a16="http://schemas.microsoft.com/office/drawing/2014/main" id="{48013BA5-DF49-443C-9C99-5E307D72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69E8C3-A531-4D33-8502-9B77B21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AA1ADD-83C9-440F-ABB6-3F96687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效果分析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FBE25CBB-C835-42A3-BF54-B18FE85A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7048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6C392F-88ED-4785-8B68-5D51E334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DDF41F-18DA-4AAE-98CB-70AB149C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619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改进行动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755076-5BAE-4FF7-8D99-80F40F3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10096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签到、发言、互动、点评、任务、成果、问卷、证书和 AI 使用记录统一归集，形成发展数据资产。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BAAEE99-F6D6-4AB5-92CC-805884F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5D9E1E-CF55-4FC4-BDD4-3101D3E4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F91180-79E5-4755-812C-78907AF9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F4D1DC0-1794-4D1A-A4E8-B633B6F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项目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1BD375-C2CF-4D7A-89BD-4A9B05E7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6AA548E-B56A-4C5C-AB66-CA752EFF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B01FE1C-68FA-47DF-B6A6-079E6514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E5A8804-BF92-4C65-9433-F9C16C3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参与者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628781-27E0-4DD9-80BF-638FDE6A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167FA7C-3B54-437E-8933-C5136F0C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8096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资源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E6C09C5-44BD-4F33-B0AF-8EB84AC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67350"/>
            <a:ext cx="704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3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指标覆盖参与率、互动质量、成果质量、满意度、能力变化、行为改进和知识沉淀。</a:t>
            </a:r>
          </a:p>
        </p:txBody>
      </p:sp>
    </p:spTree>
    <p:extLst>
      <p:ext uri="{BB962C8B-B14F-4D97-AF65-F5344CB8AC3E}">
        <p14:creationId xmlns:p14="http://schemas.microsoft.com/office/powerpoint/2010/main" val="14820227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62602DD-880E-4969-B819-9051B523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产品化交付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F4A11B-6CEF-48DD-A8C2-D7459767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解决方案、套餐和租户把发展活动能力转成可交付产品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3F683C-6F34-468E-9D93-146EAED8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70F9F0-1533-441B-95EE-FC63F9D8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D1916AB-CC65-4957-BBB2-01FD799C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2438B06-3CE9-45DA-B46B-E1441AF5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AF9F9E2-F910-4FEB-B7C9-1223AF43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定义发展场景和业务价值：新员工培训、岗位提升、教师发展、研讨评课、客户赋能等。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E023AE-43EE-4D9B-BA94-BEDE3F6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AA3A17-F566-48AB-B6C1-CD3E40CD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套餐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6BA735-0A52-4ADA-B0F4-83ED726A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定义用户数、活动数、空间数、资料容量、AI 调用、问卷、证书、报表和服务等级。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8F910C-EACC-4AF0-98F1-C62EA93F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9FE403-DC98-4492-BE5C-BB0D7B3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30B5D84-8850-469F-918B-12CFF00B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承接客户主体、组织架构、数据隔离、权限边界、服务周期和客户成功运营。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447E6C4-D5BC-4C7B-BEB9-47162D65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007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解决方案定义“发展什么”，套餐定义“按什么额度发展”，租户定义“给谁交付和运营”。</a:t>
            </a:r>
          </a:p>
        </p:txBody>
      </p:sp>
    </p:spTree>
    <p:extLst>
      <p:ext uri="{BB962C8B-B14F-4D97-AF65-F5344CB8AC3E}">
        <p14:creationId xmlns:p14="http://schemas.microsoft.com/office/powerpoint/2010/main" val="801338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637F405-E560-4260-B01E-CCDA3917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场景包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DECC312-ED01-45A7-843E-C04490EB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发展活动平台以场景包方式适配多类客户需求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F71566C-5E52-4327-A64A-DB924AA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7660A1-23C5-4F58-9A91-B53934A7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64C014D-1432-4E5D-ACCE-B23C3EC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典型场景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A1B040D-2F0D-461E-BB0F-EB68D663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2231CAE-A639-4464-A06B-020E87F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企业内训 / 岗位提升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C8FF9FF-DD98-4AF1-9BA1-3B5AD83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围绕岗位能力模型，承接新人上手、制度合规、复盘会、导师制、项目共创和案例萃取。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B72B89-0266-4382-9831-7850F014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533400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D00E0CE-38DA-4A3D-B749-4EFA16B8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908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教育培训 / 教师发展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EDB0A08-9FC2-49DF-A1C9-44F6A9A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8768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围绕专题研讨、听评课、集体备课、教研共同体、公开课磨课和教师成长档案形成标准方案。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09EE8AA-44D7-423A-B7EC-2E5CB63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33950"/>
            <a:ext cx="11401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C184E3D-2C69-43BC-8CB1-0552477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这些活动虽然不都是传统课程，但都能形成发展证据和组织知识资产，并沉淀为可复用场景包。</a:t>
            </a:r>
          </a:p>
        </p:txBody>
      </p:sp>
    </p:spTree>
    <p:extLst>
      <p:ext uri="{BB962C8B-B14F-4D97-AF65-F5344CB8AC3E}">
        <p14:creationId xmlns:p14="http://schemas.microsoft.com/office/powerpoint/2010/main" val="18118797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1EBD627-D5F6-4040-867F-D8E10C32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实施路线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C71BC9A-84E2-4699-A8A5-DF808A38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从基础闭环到商业增长，分五阶段落地发展活动产品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0F10E7-D2D6-409D-BD1F-E7E5912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994A347-9772-4A5A-9FF3-70503AD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AECF60-953E-472E-AFB6-21A50F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路线图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C8CEB8-9C6C-47F2-8895-4C09082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E1FE599-A4AE-4D70-8EA2-0E0AFEC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V1 基础闭环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31218A3-DE49-4174-A5DD-304CAAB4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0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项目、活动、参与者、任务、问卷、证书/证明和发展台账。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00E1B55-BF39-4C49-AE05-D1ADCB3A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358B7-475B-4D13-9E9B-9EE18F2C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V2 AI 增强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E04C6DD-895B-49B0-A8EF-5AADC262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活动方案生成、资料问答、研讨纪要、评课分析和运营预警。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74D9F-235D-473A-BBFB-28019D83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DEE9E36-68D3-4976-9F9C-D587E9A7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195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V3 效果运营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A56C8E4-02FE-40B6-879C-34CB2DBF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活动前/后对比、成长证据、行为改进追踪和组织驾驶舱。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215A30-234C-4328-AC96-C9C95E6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285AAA-BF78-468C-A55C-59EC5789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V4 场景复制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D2C58A1-6CDD-48A1-B405-679A009C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8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沉淀企业内训、教师发展、研讨评课、客户赋能等场景包。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030BC2-970D-4EA5-97E9-35D870B0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D056F5C-7429-41E2-8A3B-C5118FC3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3905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V5 商业化增长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59CA98E-2248-4CF6-821F-0ED736C0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428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套餐、资源包、Token 流量、运营服务和渠道合作。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67FE7E-8104-4CE8-A589-D934BF4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953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37F77B2-B936-4488-A7D4-3C20FC52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7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实施重点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B43872B-21A1-4B96-B770-5CDC54C8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39243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先跑通一个标准发展活动，再把数据、智能体和模板沉淀为可复制能力。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每个阶段都保留人工审核、权限隔离、成本监控和数据归档。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056D5F7-E528-4B5E-B6B0-18C70AC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价值：让发展活动从项目制人力驱动，逐步升级为平台化、智能化、可规模复制的产品能力。</a:t>
            </a:r>
          </a:p>
        </p:txBody>
      </p:sp>
    </p:spTree>
    <p:extLst>
      <p:ext uri="{BB962C8B-B14F-4D97-AF65-F5344CB8AC3E}">
        <p14:creationId xmlns:p14="http://schemas.microsoft.com/office/powerpoint/2010/main" val="21177667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AFE91-C5DB-4806-B18F-74CF9694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商业化套件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239F66D-7E13-45EA-9925-9DBBC74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围绕发展活动形成“平台 + 资源 + 服务 + 算力”的组合包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42B12F-19AD-4098-ABC2-9F95C60C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58A598-445F-45F7-B2D3-7E20CB2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4D457B-DCAB-4BBC-858D-BBD65D13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669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套件结构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56CCF7C-F039-48BB-A08E-AFB7ADD8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8978A75-2723-43FA-9354-84FD1E52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基础平台包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C7C8A22-2034-4C19-80E9-9A484616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48768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租户、组织、空间、资料库、研习社、任务、消息、问卷、证书和发展档案等基础能力。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0D1BAFD-009A-4025-B6F0-B298CED6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A19BBBB-F2D1-4F6E-B1F7-C645D0E3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4876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发展场景包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智能体底座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7BE789E-D005-4119-BA03-324C225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48768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企业内训、教师发展、研讨评课、客户赋能等模板，内置活动、任务、问卷、报告和智能体。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49C2C60-6AD8-4EE3-95F9-867F3D35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AE856C6-343D-4FB4-9974-826910E8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768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商业化组件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7EA9D2-067D-404B-8D57-F9D7651E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00650"/>
            <a:ext cx="8477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97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以解决方案、套餐、资源包、运营服务和 Token 算力组合报价，支持试用、升级和增购。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BC284-8A93-4355-83B1-A6049912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442BC8-6EFA-4503-AC4D-04731F2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平台底座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9C7E572-B117-4B52-B1C7-B9FC1319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A57A9E2-A23E-49E7-A609-A2E8ED00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活动资源包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DA7FCD-A8E7-4C37-ABCB-D49C21BC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70FB79C-2F0A-40D9-940F-4794828B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智能体包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57610B1-3D6E-433E-9A8B-11466003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2A744-78F4-4A1A-82F5-3307E02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运营服务包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5DBA1C4-0454-4335-8FFB-834B386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10275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65BEB6B-BBE7-4AA5-BE33-483E25DA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067425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Token 算力包</a:t>
            </a:r>
          </a:p>
        </p:txBody>
      </p:sp>
    </p:spTree>
    <p:extLst>
      <p:ext uri="{BB962C8B-B14F-4D97-AF65-F5344CB8AC3E}">
        <p14:creationId xmlns:p14="http://schemas.microsoft.com/office/powerpoint/2010/main" val="18322091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F92383-4772-4372-A565-B1AE0AB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治理与边界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55D6AF1-D74B-4EFE-BFF4-B42093F3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发展活动产品需要同时处理权限、质量、合规和 AI 使用边界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0548E-E020-4C7E-BA14-562FBAA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48C33D6-62F9-44CC-9C7A-68BD1F7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BBFF39D-AFDE-4475-953A-8E28706B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3BCEDB-EB05-42CA-B786-4AC698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权限隔离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6906E12-F90C-4636-BF0C-F3144CE3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按租户、项目、活动、角色和资料范围控制数据访问，避免跨项目越权。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1F5564E-BCCC-4A1C-9E43-FFB1945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621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738BAB9-0D28-40EA-B606-C6E77E0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907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质量审核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E65A6DE-5A01-4A86-BFB2-76B105F8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29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AI 生成活动方案、纪要、评课分析、报告和评价建议均进入人工确认流程。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657AABA-92E8-4DBA-B6A5-0F3DDAB2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486FDF-5CDA-44E4-9CD3-F0824E1B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成本治理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460BA9-CAA7-4ACF-A888-2B3B6E42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按租户、项目、活动、智能体和模型统计 Token 消耗，支撑预警、对账和套餐设计。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D60747C-9F01-4653-BA19-EFE786B9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5334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29D9C91-D8B1-492D-9A16-FD8E348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487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6B35"/>
                </a:solidFill>
                <a:latin typeface="PingFang SC"/>
                <a:ea typeface="PingFang SC"/>
                <a:cs typeface="PingFang SC"/>
              </a:defRPr>
            </a:pPr>
            <a:r>
              <a:t>数据沉淀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EA3B50A-B27C-4231-A8E4-053ABAA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876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参与记录、成果、证书/证明、成长证据和效果报告进入档案，支持长期追踪和复用。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F9CE01D-188B-44E9-819E-128499D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11401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5A41E37-AFEA-426B-AD7D-E3B3F98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39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治理目标：让发展活动既能快速复制，又能在数据安全、AI 质量和商业成本上可控。</a:t>
            </a:r>
          </a:p>
        </p:txBody>
      </p:sp>
    </p:spTree>
    <p:extLst>
      <p:ext uri="{BB962C8B-B14F-4D97-AF65-F5344CB8AC3E}">
        <p14:creationId xmlns:p14="http://schemas.microsoft.com/office/powerpoint/2010/main" val="15002576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AE69035-3F95-4EF3-AF36-FC3A12F7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总结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B5455C-532E-47E1-B5AF-F462D00C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0"/>
            <a:ext cx="1140142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445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果仁培训产品最终形成“底座复用 + 发展活动闭环 + 效果运营”的产品体系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FC33A9-53C3-40EF-AB16-1E76BA1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11401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66DA6A-6915-4D1C-8581-96AE3282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7E214B-B2A7-4A65-B551-08C84B61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42E8ED9-13EF-437F-8A38-FDCAADA1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底座复用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AB46D67-E50D-4619-9827-480C8A34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复用果仁的租户、解决方案、套餐、空间、资料库、Lucky、任务、问卷、证书和统计能力。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0CA60DE-F2E3-4783-A2D9-8A2BC862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1BCF2C-9067-4172-8759-2B41AA5B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发展活动闭环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FBDB2A6-32EB-436D-BD72-2B95FF85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围绕发展项目贯通信息管理、过程运营、效果评估和成果沉淀。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88C326-7F23-4A87-8EAC-C8D09E41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9049C6C-4F6D-4317-8198-6DA2F135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6695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效果运营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F5C4016-F906-4A07-B4EB-3F42CE68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724150"/>
            <a:ext cx="2781300" cy="150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用数据和 AI 把活动结果转化为成长证据、改进建议、资源复用和持续增购。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DD0D712-E1FA-48F8-8338-F9B3E2F3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t>建议下一步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4F0E3D5-0688-4C6B-82EB-1DADFEC3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14900"/>
            <a:ext cx="885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7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t>选取一个标准发展活动做 MVP：先跑通活动设计、过程记录、成果沉淀、证书/证明和报告，再逐步叠加智能体和效果驾驶舱。</a:t>
            </a:r>
          </a:p>
        </p:txBody>
      </p:sp>
    </p:spTree>
    <p:extLst>
      <p:ext uri="{BB962C8B-B14F-4D97-AF65-F5344CB8AC3E}">
        <p14:creationId xmlns:p14="http://schemas.microsoft.com/office/powerpoint/2010/main" val="1821108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2026-07-27T02:06:07.9950000Z</dcterms:created>
  <dcterms:modified xsi:type="dcterms:W3CDTF">2026-07-27T02:06:07.9950000Z</dcterms:modified>
</coreProperties>
</file>