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fa1b784a3748b8" /><Relationship Type="http://schemas.openxmlformats.org/officeDocument/2006/relationships/extended-properties" Target="/docProps/app.xml" Id="R55f677214fc54e53" /><Relationship Type="http://schemas.openxmlformats.org/officeDocument/2006/relationships/officeDocument" Target="/ppt/presentation.xml" Id="Raaadaf8c844047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6d318340044dc6"/>
  </p:sldMasterIdLst>
  <p:notesMasterIdLst>
    <p:notesMasterId xmlns:r="http://schemas.openxmlformats.org/officeDocument/2006/relationships" r:id="Rcc6a766f659d42df"/>
  </p:notesMasterIdLst>
  <p:sldIdLst>
    <p:sldId xmlns:r="http://schemas.openxmlformats.org/officeDocument/2006/relationships" id="256" r:id="Rfd7a7994d30a40ab"/>
    <p:sldId xmlns:r="http://schemas.openxmlformats.org/officeDocument/2006/relationships" id="257" r:id="R2d9d1e6b4a1547bd"/>
    <p:sldId xmlns:r="http://schemas.openxmlformats.org/officeDocument/2006/relationships" id="258" r:id="R3b32fbc7610d4c5c"/>
    <p:sldId xmlns:r="http://schemas.openxmlformats.org/officeDocument/2006/relationships" id="259" r:id="R6f71dc54f6924e77"/>
    <p:sldId xmlns:r="http://schemas.openxmlformats.org/officeDocument/2006/relationships" id="260" r:id="R84a01a1648014265"/>
    <p:sldId xmlns:r="http://schemas.openxmlformats.org/officeDocument/2006/relationships" id="261" r:id="R9b43caac8ea84af4"/>
    <p:sldId xmlns:r="http://schemas.openxmlformats.org/officeDocument/2006/relationships" id="262" r:id="R4c57dd5de45e434b"/>
    <p:sldId xmlns:r="http://schemas.openxmlformats.org/officeDocument/2006/relationships" id="263" r:id="Rf9db375ed782449e"/>
    <p:sldId xmlns:r="http://schemas.openxmlformats.org/officeDocument/2006/relationships" id="264" r:id="R64cfc3abbe944537"/>
    <p:sldId xmlns:r="http://schemas.openxmlformats.org/officeDocument/2006/relationships" id="265" r:id="R3112fdd99d1944ee"/>
    <p:sldId xmlns:r="http://schemas.openxmlformats.org/officeDocument/2006/relationships" id="266" r:id="Rb25c560a0ef745c5"/>
    <p:sldId xmlns:r="http://schemas.openxmlformats.org/officeDocument/2006/relationships" id="267" r:id="Rf57c7d6def6b4eda"/>
    <p:sldId xmlns:r="http://schemas.openxmlformats.org/officeDocument/2006/relationships" id="268" r:id="R0b572eefdb2b414a"/>
    <p:sldId xmlns:r="http://schemas.openxmlformats.org/officeDocument/2006/relationships" id="269" r:id="Rfc9087c2bffc4e7b"/>
    <p:sldId xmlns:r="http://schemas.openxmlformats.org/officeDocument/2006/relationships" id="270" r:id="R68341b6c5711467d"/>
    <p:sldId xmlns:r="http://schemas.openxmlformats.org/officeDocument/2006/relationships" id="271" r:id="R344949a546f24b85"/>
    <p:sldId xmlns:r="http://schemas.openxmlformats.org/officeDocument/2006/relationships" id="272" r:id="R6bcd93e89f254204"/>
    <p:sldId xmlns:r="http://schemas.openxmlformats.org/officeDocument/2006/relationships" id="273" r:id="Rbb74dae5c01642a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a42788a4ea492e" /><Relationship Type="http://schemas.openxmlformats.org/officeDocument/2006/relationships/slideMaster" Target="/ppt/slideMasters/slideMaster1.xml" Id="R406d318340044dc6" /><Relationship Type="http://schemas.openxmlformats.org/officeDocument/2006/relationships/notesMaster" Target="/ppt/notesMasters/notesMaster1.xml" Id="Rcc6a766f659d42df" /><Relationship Type="http://schemas.openxmlformats.org/officeDocument/2006/relationships/presProps" Target="/ppt/presProps.xml" Id="Rba879af24a364e06" /><Relationship Type="http://schemas.openxmlformats.org/officeDocument/2006/relationships/viewProps" Target="/ppt/viewProps.xml" Id="R899bbfe697814ab2" /><Relationship Type="http://schemas.openxmlformats.org/officeDocument/2006/relationships/tableStyles" Target="/ppt/tableStyles.xml" Id="R6e62489dabe24ae7" /><Relationship Type="http://schemas.openxmlformats.org/officeDocument/2006/relationships/slide" Target="/ppt/slides/slide1.xml" Id="Rfd7a7994d30a40ab" /><Relationship Type="http://schemas.openxmlformats.org/officeDocument/2006/relationships/slide" Target="/ppt/slides/slide2.xml" Id="R2d9d1e6b4a1547bd" /><Relationship Type="http://schemas.openxmlformats.org/officeDocument/2006/relationships/slide" Target="/ppt/slides/slide3.xml" Id="R3b32fbc7610d4c5c" /><Relationship Type="http://schemas.openxmlformats.org/officeDocument/2006/relationships/slide" Target="/ppt/slides/slide4.xml" Id="R6f71dc54f6924e77" /><Relationship Type="http://schemas.openxmlformats.org/officeDocument/2006/relationships/slide" Target="/ppt/slides/slide5.xml" Id="R84a01a1648014265" /><Relationship Type="http://schemas.openxmlformats.org/officeDocument/2006/relationships/slide" Target="/ppt/slides/slide6.xml" Id="R9b43caac8ea84af4" /><Relationship Type="http://schemas.openxmlformats.org/officeDocument/2006/relationships/slide" Target="/ppt/slides/slide7.xml" Id="R4c57dd5de45e434b" /><Relationship Type="http://schemas.openxmlformats.org/officeDocument/2006/relationships/slide" Target="/ppt/slides/slide8.xml" Id="Rf9db375ed782449e" /><Relationship Type="http://schemas.openxmlformats.org/officeDocument/2006/relationships/slide" Target="/ppt/slides/slide9.xml" Id="R64cfc3abbe944537" /><Relationship Type="http://schemas.openxmlformats.org/officeDocument/2006/relationships/slide" Target="/ppt/slides/slide10.xml" Id="R3112fdd99d1944ee" /><Relationship Type="http://schemas.openxmlformats.org/officeDocument/2006/relationships/slide" Target="/ppt/slides/slide11.xml" Id="Rb25c560a0ef745c5" /><Relationship Type="http://schemas.openxmlformats.org/officeDocument/2006/relationships/slide" Target="/ppt/slides/slide12.xml" Id="Rf57c7d6def6b4eda" /><Relationship Type="http://schemas.openxmlformats.org/officeDocument/2006/relationships/slide" Target="/ppt/slides/slide13.xml" Id="R0b572eefdb2b414a" /><Relationship Type="http://schemas.openxmlformats.org/officeDocument/2006/relationships/slide" Target="/ppt/slides/slide14.xml" Id="Rfc9087c2bffc4e7b" /><Relationship Type="http://schemas.openxmlformats.org/officeDocument/2006/relationships/slide" Target="/ppt/slides/slide15.xml" Id="R68341b6c5711467d" /><Relationship Type="http://schemas.openxmlformats.org/officeDocument/2006/relationships/slide" Target="/ppt/slides/slide16.xml" Id="R344949a546f24b85" /><Relationship Type="http://schemas.openxmlformats.org/officeDocument/2006/relationships/slide" Target="/ppt/slides/slide17.xml" Id="R6bcd93e89f254204" /><Relationship Type="http://schemas.openxmlformats.org/officeDocument/2006/relationships/slide" Target="/ppt/slides/slide18.xml" Id="Rbb74dae5c01642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bbe1cf89ca48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2e9e5698774ba5" /><Relationship Type="http://schemas.openxmlformats.org/officeDocument/2006/relationships/notesMaster" Target="/ppt/notesMasters/notesMaster1.xml" Id="R3df036aeab5548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04fa5ea0ff4707" /><Relationship Type="http://schemas.openxmlformats.org/officeDocument/2006/relationships/notesMaster" Target="/ppt/notesMasters/notesMaster1.xml" Id="R8a4e3a7e7fcf43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d955d1861a496e" /><Relationship Type="http://schemas.openxmlformats.org/officeDocument/2006/relationships/notesMaster" Target="/ppt/notesMasters/notesMaster1.xml" Id="R28d3e906937341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5fcc27532047db" /><Relationship Type="http://schemas.openxmlformats.org/officeDocument/2006/relationships/notesMaster" Target="/ppt/notesMasters/notesMaster1.xml" Id="R9a97dd0837974d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17fefe12e34347" /><Relationship Type="http://schemas.openxmlformats.org/officeDocument/2006/relationships/notesMaster" Target="/ppt/notesMasters/notesMaster1.xml" Id="Rc9a8497bf59048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f9c338cc134050" /><Relationship Type="http://schemas.openxmlformats.org/officeDocument/2006/relationships/notesMaster" Target="/ppt/notesMasters/notesMaster1.xml" Id="Rc44da52bc36c4a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5cf0de09314224" /><Relationship Type="http://schemas.openxmlformats.org/officeDocument/2006/relationships/notesMaster" Target="/ppt/notesMasters/notesMaster1.xml" Id="Ra164dcc40e484b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3477bbacbd474f" /><Relationship Type="http://schemas.openxmlformats.org/officeDocument/2006/relationships/notesMaster" Target="/ppt/notesMasters/notesMaster1.xml" Id="R622852bb74fb4a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8d2e349345490b" /><Relationship Type="http://schemas.openxmlformats.org/officeDocument/2006/relationships/notesMaster" Target="/ppt/notesMasters/notesMaster1.xml" Id="Rbdb6b0d4bfe64a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cc52cfeb16493e" /><Relationship Type="http://schemas.openxmlformats.org/officeDocument/2006/relationships/notesMaster" Target="/ppt/notesMasters/notesMaster1.xml" Id="Rfe41b7db973e41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d0bb8b94f54e82" /><Relationship Type="http://schemas.openxmlformats.org/officeDocument/2006/relationships/notesMaster" Target="/ppt/notesMasters/notesMaster1.xml" Id="R182098318c9149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2c7d183d8342bd" /><Relationship Type="http://schemas.openxmlformats.org/officeDocument/2006/relationships/notesMaster" Target="/ppt/notesMasters/notesMaster1.xml" Id="R5b45f44e658a45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425c389c8a43b6" /><Relationship Type="http://schemas.openxmlformats.org/officeDocument/2006/relationships/notesMaster" Target="/ppt/notesMasters/notesMaster1.xml" Id="R04e6aa1dbfc94e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ca7b6517b943d0" /><Relationship Type="http://schemas.openxmlformats.org/officeDocument/2006/relationships/notesMaster" Target="/ppt/notesMasters/notesMaster1.xml" Id="Rbf0573f50a7c42e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35fb226703d463a" /><Relationship Type="http://schemas.openxmlformats.org/officeDocument/2006/relationships/notesMaster" Target="/ppt/notesMasters/notesMaster1.xml" Id="R20f8b1789792418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4037ca5f8ea488a" /><Relationship Type="http://schemas.openxmlformats.org/officeDocument/2006/relationships/notesMaster" Target="/ppt/notesMasters/notesMaster1.xml" Id="R7a76bcbd19b14e5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b262c08ddfa4203" /><Relationship Type="http://schemas.openxmlformats.org/officeDocument/2006/relationships/notesMaster" Target="/ppt/notesMasters/notesMaster1.xml" Id="R3fd8e78683b14e0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50e48471354463" /><Relationship Type="http://schemas.openxmlformats.org/officeDocument/2006/relationships/notesMaster" Target="/ppt/notesMasters/notesMaster1.xml" Id="Rf2eeed1ba6b94a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a78067bf8344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32189351304bba" /><Relationship Type="http://schemas.openxmlformats.org/officeDocument/2006/relationships/slideLayout" Target="/ppt/slideLayouts/slideLayout1.xml" Id="R4cfc640e63064af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fc640e63064a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c15427c1f43f9" /><Relationship Type="http://schemas.openxmlformats.org/officeDocument/2006/relationships/notesSlide" Target="/ppt/notesSlides/notesSlide1.xml" Id="Re84946cc188a46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9b87c7b534792" /><Relationship Type="http://schemas.openxmlformats.org/officeDocument/2006/relationships/notesSlide" Target="/ppt/notesSlides/notesSlide2.xml" Id="Rfef4213ba5b744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77dd5f6d94d8a" /><Relationship Type="http://schemas.openxmlformats.org/officeDocument/2006/relationships/notesSlide" Target="/ppt/notesSlides/notesSlide3.xml" Id="R7754174e3f4946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47d51789c4fb0" /><Relationship Type="http://schemas.openxmlformats.org/officeDocument/2006/relationships/notesSlide" Target="/ppt/notesSlides/notesSlide4.xml" Id="R5298b6e3a78f47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bea1c7ad64943" /><Relationship Type="http://schemas.openxmlformats.org/officeDocument/2006/relationships/notesSlide" Target="/ppt/notesSlides/notesSlide5.xml" Id="Rf2c8dbe00dc544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decbf71f148e6" /><Relationship Type="http://schemas.openxmlformats.org/officeDocument/2006/relationships/notesSlide" Target="/ppt/notesSlides/notesSlide6.xml" Id="R25bb4953ede641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899d23e234a9e" /><Relationship Type="http://schemas.openxmlformats.org/officeDocument/2006/relationships/notesSlide" Target="/ppt/notesSlides/notesSlide7.xml" Id="Rd3acd7cb1a784e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225c0dfc74b1a" /><Relationship Type="http://schemas.openxmlformats.org/officeDocument/2006/relationships/notesSlide" Target="/ppt/notesSlides/notesSlide8.xml" Id="R351ff1a6593245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8eae5c0b14601" /><Relationship Type="http://schemas.openxmlformats.org/officeDocument/2006/relationships/notesSlide" Target="/ppt/notesSlides/notesSlide9.xml" Id="R84086c145fe34e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cbb6b2c444493" /><Relationship Type="http://schemas.openxmlformats.org/officeDocument/2006/relationships/notesSlide" Target="/ppt/notesSlides/notesSlide10.xml" Id="R4498efe2f9334b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d1b7c8e714869" /><Relationship Type="http://schemas.openxmlformats.org/officeDocument/2006/relationships/notesSlide" Target="/ppt/notesSlides/notesSlide11.xml" Id="R37a9ffa882264f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7ea6df1024c2e" /><Relationship Type="http://schemas.openxmlformats.org/officeDocument/2006/relationships/notesSlide" Target="/ppt/notesSlides/notesSlide12.xml" Id="Redbaaec4e86540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28f48dbdd4386" /><Relationship Type="http://schemas.openxmlformats.org/officeDocument/2006/relationships/notesSlide" Target="/ppt/notesSlides/notesSlide13.xml" Id="R2d9668c6f76f4e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ea40187fa45b3" /><Relationship Type="http://schemas.openxmlformats.org/officeDocument/2006/relationships/notesSlide" Target="/ppt/notesSlides/notesSlide14.xml" Id="Reae5b052cef946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f695fb53a40e9" /><Relationship Type="http://schemas.openxmlformats.org/officeDocument/2006/relationships/notesSlide" Target="/ppt/notesSlides/notesSlide15.xml" Id="R414417fbfc1b44d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386b512b64bad" /><Relationship Type="http://schemas.openxmlformats.org/officeDocument/2006/relationships/notesSlide" Target="/ppt/notesSlides/notesSlide16.xml" Id="R40908ba8a99240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47003ee9246c2" /><Relationship Type="http://schemas.openxmlformats.org/officeDocument/2006/relationships/notesSlide" Target="/ppt/notesSlides/notesSlide17.xml" Id="R710e93bb9111485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0654689c840a5" /><Relationship Type="http://schemas.openxmlformats.org/officeDocument/2006/relationships/notesSlide" Target="/ppt/notesSlides/notesSlide18.xml" Id="R6d83c8f014a440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5C6A9D0-D45E-49AE-8B36-F92FF0CF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81050"/>
            <a:ext cx="752475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果仁培训产品蓝图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三大子系统架构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A3018DB-945D-446F-B6E3-4B916EC7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47650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AI 原生平台上的培训业务解决方案蓝图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3464738-2FC1-4EF4-93BF-EA22B9C8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390900"/>
            <a:ext cx="6572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果仁不重新定义培训、研修、评课、评估等业务，而是提供 AI 原生平台与 Lucky 智能体能力，让教发平台、智慧继教、行业服务等核心应用产品以解决方案形态生长出来。信息管理独立建设，空间承载活动过程，数据反哺效果运营。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8660966-F492-4B27-B16D-02399CB9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81050"/>
            <a:ext cx="3562350" cy="477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440114A-E347-418D-988E-57EA58F7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2905125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AI 原生平台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解决方案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活动空间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数据闭环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2C3838F-7B98-4B6B-A0FB-2783514D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95725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0044901-89FD-4B60-B019-17848E6F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0050"/>
            <a:ext cx="2724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产品生长在平台上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空间承载活动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A632702-285F-4632-9685-D48069B0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443546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E6FED4-C71C-4503-BD7F-ACCD0B49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目录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D2041A7-3AF0-48FA-9FC7-69ED5512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7528DA2-0B2E-4007-8177-C906ACC8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66A98F3-4650-4837-A2D8-6697E913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859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汇报结构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09FB9D9-B08E-4F46-9CCD-BC44E919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4315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F4C9826-C02F-45A0-BB64-C0E5A65D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01  产品定位与目标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F838324-C462-4C07-AFEF-6B053DE9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为什么果仁关注 AI 原生业务模式，而不是改写业务定义。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ED6D054-B7D2-4E1A-988B-259A445E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2DE51EE-5400-478D-9544-F243549A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02  总体架构与子系统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7058460-4286-4C5D-ABC2-AB15FA92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培训信息管理、培训过程运营、培训效果评估三大子系统。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F249ED5-77DF-4F6E-995C-90EB2995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34315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培训信息管理、培训过程运营、培训效果评估三大子系统边界。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057A412-D097-455D-AF31-F543180D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57175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03  业务闭环与数据模型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757CAC3-5AB9-4380-9E3F-25A104A2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0289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平台、解决方案、信息系统、活动空间和报告如何组成 AI 原生模式。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0998B8A-E2EC-4F77-A818-DDF69759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1480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2516CE7-9DCD-4595-A826-B98A679A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4340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04  AI 原生能力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2087ADC-B613-4682-9DAB-F31B942A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00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11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信息建模助手、活动运营助手、纪要分析和报告生成。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FB6C113-75E0-45DB-869F-0A7B2EC7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AE21889-EADA-4B47-B0BD-1BB14458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4340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05  交付与演进路径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D092266-8FD4-4B75-9F6C-D6187A3A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800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74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解决方案、套餐、租户、空间模板和阶段路线图。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1936A10-B845-45B6-A5FF-DCBFF6A0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11480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8770122-8A45-46A8-912C-6D246401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43400"/>
            <a:ext cx="297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主线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BC9A485-0B3C-4A39-91A9-AFDC2A14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80060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用果仁 AI 原生平台把培训业务升级为：独立信息管理、空间承载活动、解决方案生长、数据闭环运营。</a:t>
            </a:r>
          </a:p>
        </p:txBody>
      </p:sp>
    </p:spTree>
    <p:extLst>
      <p:ext uri="{BB962C8B-B14F-4D97-AF65-F5344CB8AC3E}">
        <p14:creationId xmlns:p14="http://schemas.microsoft.com/office/powerpoint/2010/main" val="18101001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DC67C41-E56E-4C2D-85C1-A5C54367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产品定位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1B5E36B-E4B1-4A8E-B782-9CFC7BEA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果仁重新定义的是 AI 原生业务模式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F3FDA4-E9B6-4657-9B3D-29DEF124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BCA37E8-8A24-40BD-AC7C-0669E5E3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800F22E-AA46-412E-B23A-92659C13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431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业务不被重写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7155896-F103-43E4-8FE9-6DD09842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5000625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8068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课程学习、研讨、评课、工作坊、网络研修、行业赋能等业务已有自己的规则；果仁把它们接入 AI 原生平台，以解决方案、活动空间、数据和智能体重新组织运行方式。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24692A-EFC7-4032-B01F-8494C785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71950"/>
            <a:ext cx="5000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平台目标：让业务从单次项目交付，升级为可配置、可运营、可沉淀、可复用的 AI 原生业务模式。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202CDFA-5BCC-4149-AC6F-38E1501F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71675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28B51A2-ED9F-41D0-9713-D3E7C93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0275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平台底座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0D820E0-674B-4AFC-A72C-E8FAC613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5747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206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提供租户、账号、资料库、权限、数据、Lucky 和集成能力。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A960F71-FD98-421B-A977-D1753B0E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71675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8E9C11C-FE6A-4ED6-A8B4-59AF89C8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00275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CAB3DC0-1B5D-4757-943D-B9B45616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5747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206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教发平台、智慧继教、行业服务等核心应用产品在平台上生长。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94A804C-8D5F-4373-B750-E983E534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62375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C03295F-3459-46C0-BED7-A183F613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0975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活动空间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8869738-D6D9-45E6-9A68-B7E56AC7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4817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空间承载课程、研讨、评课、工作坊等活动过程。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C6CBA9F-78DB-446D-9A6E-496F99EE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62375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17DB32A-F0FB-4732-A98A-BA69779C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90975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模式迭代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7D52D33-DA4A-4F9A-A136-543C4F18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4817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206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评估报告反哺信息模型、空间模板、资源复用和下一轮运营。</a:t>
            </a:r>
          </a:p>
        </p:txBody>
      </p:sp>
    </p:spTree>
    <p:extLst>
      <p:ext uri="{BB962C8B-B14F-4D97-AF65-F5344CB8AC3E}">
        <p14:creationId xmlns:p14="http://schemas.microsoft.com/office/powerpoint/2010/main" val="1905328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2B82964-40E1-4C6C-8C9E-F9F32DC6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总体架构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C52530-DAD4-4C9A-97C8-A67779B4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核心应用产品生长在 AI 原生平台之上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E447CA5-FFB3-4109-863A-40197E95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8E5834-DFC1-4A4B-98B3-7446C3B6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BD29CFE-CBE0-4CFE-92C7-B590A70F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096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06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参考平台定位，果仁先建设可复用的 AI 原生底座能力，再面向教发、继教、党建、行业服务等场景形成解决方案；空间只承载活动过程，信息管理和评估作为独立子系统与空间协同。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57A8AC0-A8B3-4E15-BA38-4DB41823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28C787D-DEAE-4E2D-BFC4-01236990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524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应用场景</a:t>
            </a:r>
          </a:p>
        </p:txBody>
      </p:sp>
      <p:sp>
        <p:nvSpPr>
          <p:cNvPr id="9" name="右箭头 8">
            <a:extLst xmlns:a="http://schemas.openxmlformats.org/drawingml/2006/main">
              <a:ext uri="{FF2B5EF4-FFF2-40B4-BE49-F238E27FC236}">
                <a16:creationId xmlns:a16="http://schemas.microsoft.com/office/drawing/2014/main" id="{32A70D23-71F8-4741-B21F-212737F2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05175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DA7CC1-1DFC-488D-BF72-17034399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004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93AEF9A-D967-4399-8912-424C3DF6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57550"/>
            <a:ext cx="1333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</a:t>
            </a:r>
          </a:p>
        </p:txBody>
      </p:sp>
      <p:sp>
        <p:nvSpPr>
          <p:cNvPr id="12" name="右箭头 11">
            <a:extLst xmlns:a="http://schemas.openxmlformats.org/drawingml/2006/main">
              <a:ext uri="{FF2B5EF4-FFF2-40B4-BE49-F238E27FC236}">
                <a16:creationId xmlns:a16="http://schemas.microsoft.com/office/drawing/2014/main" id="{E5DD8A2F-E467-439C-9EB7-CD390029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05175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A93F15D-48D4-4220-9B67-C1C3DAEE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004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C219FB3-A687-4897-A94A-39104546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57550"/>
            <a:ext cx="1809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活动空间</a:t>
            </a:r>
          </a:p>
        </p:txBody>
      </p:sp>
      <p:sp>
        <p:nvSpPr>
          <p:cNvPr id="15" name="右箭头 14">
            <a:extLst xmlns:a="http://schemas.openxmlformats.org/drawingml/2006/main">
              <a:ext uri="{FF2B5EF4-FFF2-40B4-BE49-F238E27FC236}">
                <a16:creationId xmlns:a16="http://schemas.microsoft.com/office/drawing/2014/main" id="{7559AD2F-73C9-4413-BD9F-D1F3E362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05175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BB25D8A-BEB5-4DD4-97EB-28812F16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00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1CB3CDF-A8CA-4CC9-9982-537B4620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57550"/>
            <a:ext cx="1524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AI 原生平台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DBD47C-829E-492D-B985-BC566CE7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767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A1C2CE1-AD48-4553-B061-C344F470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053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信息管理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22A5FB1-0F8B-43AB-AEB3-BDD99C7D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62550"/>
            <a:ext cx="278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4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独立管理项目、人员组织、资源规则、学分/证书、报名与台账，不在空间中开展。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C364131-C0FE-4506-9FFD-FA7C224D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786FBBF-D10A-41E0-89B0-1D561565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053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活动空间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843029D-95E9-4500-A5F4-B7A7A2A6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62550"/>
            <a:ext cx="278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189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承载研讨、评课、工作坊、课程学习、网络研修等活动现场。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7A9FD481-2416-44C6-88C8-40A0B02E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767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1D6ADBA-C21F-4280-9316-8F1C2E70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7053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Lucky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DC5C385-EDAF-4EA8-9E84-C9AD3CEA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162550"/>
            <a:ext cx="278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189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为信息建模、空间运营、纪要分析、评估报告提供助手能力。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BC435B9-B585-48F9-9F05-B1F925D5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67400"/>
            <a:ext cx="9982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底座能力通过解决方案进入业务：信息先被建模，活动再进入空间，数据最终回流评估。</a:t>
            </a:r>
          </a:p>
        </p:txBody>
      </p:sp>
    </p:spTree>
    <p:extLst>
      <p:ext uri="{BB962C8B-B14F-4D97-AF65-F5344CB8AC3E}">
        <p14:creationId xmlns:p14="http://schemas.microsoft.com/office/powerpoint/2010/main" val="14081029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29BB91-60A3-4448-8C02-02B369C6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子系统架构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80596C-DC9F-4CF7-832A-C06B7971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三大子系统分工清楚：信息独立，活动进空间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CABCAC4-D3D3-4904-A2DD-0BAAC1D0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B1FF774-98D2-4343-A4EB-5B26D24E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EDC9512-DE58-46DF-94F8-517A0261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476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94A8F60-06FD-47AA-91CA-7D556F53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2476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AE7EF2A-23D4-40F1-A0C7-84AA90DE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66950"/>
            <a:ext cx="2476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F6C8C0B-69A4-48E1-81AB-EAB90B94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19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培训信息管理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F82CDB8-D738-4E72-B31F-BE249689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81350"/>
            <a:ext cx="2000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单独建设信息关系系统，用 AI 原生方式管理项目、人员、组织、资源、规则、学分、证书和台账。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7BD45B9-926A-4385-AF0F-1819DD3A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1676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活动前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BD56D04-1536-4CFC-A812-9F673AF3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1638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8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培训过程运营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15D5886-3299-4378-9531-5CE6FB3C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81350"/>
            <a:ext cx="2095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空间承载课程、研讨、评课、工作坊、网络研修等活动现场，负责触达、参与、互动和证据。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931A28A-1BE0-4425-9173-807BB08F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57700"/>
            <a:ext cx="1676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活动中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C565800-F3EC-4E9D-8BC3-4201FE3D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1790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培训效果评估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7E7EA16-B014-490B-AB8E-BA61B012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81350"/>
            <a:ext cx="2000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整合信息台账与空间过程数据，生成个人证明、组织报告、改进建议和复用资产。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B61FC7B-0366-42DF-87F3-6666BC99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57700"/>
            <a:ext cx="1676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活动后</a:t>
            </a:r>
          </a:p>
        </p:txBody>
      </p:sp>
      <p:sp>
        <p:nvSpPr>
          <p:cNvPr id="18" name="右箭头 17">
            <a:extLst xmlns:a="http://schemas.openxmlformats.org/drawingml/2006/main">
              <a:ext uri="{FF2B5EF4-FFF2-40B4-BE49-F238E27FC236}">
                <a16:creationId xmlns:a16="http://schemas.microsoft.com/office/drawing/2014/main" id="{4D1EE6FB-7CFA-427C-BCEC-F91F8844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43275"/>
            <a:ext cx="1066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右箭头 18">
            <a:extLst xmlns:a="http://schemas.openxmlformats.org/drawingml/2006/main">
              <a:ext uri="{FF2B5EF4-FFF2-40B4-BE49-F238E27FC236}">
                <a16:creationId xmlns:a16="http://schemas.microsoft.com/office/drawing/2014/main" id="{4EF3D742-EB42-4D82-8D65-DD66A060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43275"/>
            <a:ext cx="1066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6F2AD04-8B74-45AE-9433-E43E22FD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829050"/>
            <a:ext cx="120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信息发起活动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E2706E9-3B99-4417-84ED-B9696493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829050"/>
            <a:ext cx="120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数据回流评估</a:t>
            </a:r>
          </a:p>
        </p:txBody>
      </p:sp>
    </p:spTree>
    <p:extLst>
      <p:ext uri="{BB962C8B-B14F-4D97-AF65-F5344CB8AC3E}">
        <p14:creationId xmlns:p14="http://schemas.microsoft.com/office/powerpoint/2010/main" val="255154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3F92383-4772-4372-A565-B1AE0ABE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培训信息管理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55D6AF1-D74B-4EFE-BFF4-B42093F3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信息管理子系统独立管理培训信息关系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D0548E-E020-4C7E-BA14-562FBAA9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48C33D6-62F9-44CC-9C7A-68BD1F77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BBFF39D-AFDE-4475-953A-8E28706B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93BCEDB-EB05-42CA-B786-4AC6984B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培训信息台账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6906E12-F90C-4636-BF0C-F3144CE3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维护项目、活动类型、周期、负责人、经费、学分/证书、报名渠道和独立部署要求。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1F5564E-BCCC-4A1C-9E43-FFB1945E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738BAB9-0D28-40EA-B606-C6E77E07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人员与组织关系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E65A6DE-5A01-4A86-BFB2-76B105F8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管理组织成员、外部参与者、来源组织、讲师/专家、群组、身份标签和联系方式。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657AABA-92E8-4DBA-B6A5-0F3DDAB2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2486FDF-5CDA-44E4-9CD3-F0824E1B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资源与规则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460BA9-CAA7-4ACF-A888-2B3B6E42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管理课程、课件、案例、评课表、成果要求、准入、名额、权限和有效期。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D60747C-9F01-4653-BA19-EFE786B9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29D9C91-D8B1-492D-9A16-FD8E348E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与空间衔接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EA3B50A-B27C-4231-A8E4-053ABAA6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当活动需要运营时，将活动、人员、资源、规则和智能体配置同步到对应空间。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F9CE01D-188B-44E9-819E-128499D9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01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5A41E37-AFEA-426B-AD7D-E3B3F985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39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输出：AI 原生培训信息关系图谱；空间只承载被发起的活动过程。</a:t>
            </a:r>
          </a:p>
        </p:txBody>
      </p:sp>
    </p:spTree>
    <p:extLst>
      <p:ext uri="{BB962C8B-B14F-4D97-AF65-F5344CB8AC3E}">
        <p14:creationId xmlns:p14="http://schemas.microsoft.com/office/powerpoint/2010/main" val="15002576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1985812-ADB9-456F-9ED0-35289AEE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培训过程运营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B847D03-BA29-461B-BBA4-B8F09860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培训过程运营在空间开展，空间是活动载体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1485809-83FA-4433-AACD-A0164F01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1173D4-C787-49B8-9036-EACE97B2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07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39DDCBA-4C97-498C-95D1-CF3D9070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5C07029-E822-4178-B7F2-6F9ABD98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活动空间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9BF1313-2677-4763-8177-C67B7F91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研习社、资料库、任务、问卷和账号体系进入空间，承载课程、研讨、评课、工作坊、网络研修等活动。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E51BB19-C19B-49CC-8229-CB8FF411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4BFB76A-0AC1-4947-80C5-CDF1B883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过程参与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BD08118-9794-4EF8-933F-E0698001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在空间内组织签到核验、发言互动、任务提交、资料授权、专家点评和阶段成果。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E7B250B-6C69-4F98-9FFF-A2DC2ADA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E8F3C82-D803-441B-9A15-360F099C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运营触达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19E6718-B9E3-47AA-9108-1DD20AC9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消息与任务提醒参与者，支持报名审核结果承接、空间看板、风险名单和运营台账。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72B410-3ACB-4010-B9E9-CCEDBF7F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3C40177-D14D-466C-838E-89B89285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AI 陪伴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6FDCD92-451D-407A-B00E-02017B19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活动助手在空间内答疑、生成纪要、分析评课、整理问卷和证明材料。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DB89248-387C-46CC-8565-BD39643B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01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973E798-89CD-4714-A3FF-31D2A7F5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39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边界：空间负责活动过程，不替代信息管理系统；活动所需人员、资源和规则从信息管理子系统进入空间。</a:t>
            </a:r>
          </a:p>
        </p:txBody>
      </p:sp>
    </p:spTree>
    <p:extLst>
      <p:ext uri="{BB962C8B-B14F-4D97-AF65-F5344CB8AC3E}">
        <p14:creationId xmlns:p14="http://schemas.microsoft.com/office/powerpoint/2010/main" val="2357589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DF0A572-C97E-4474-93BE-08410BF5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培训效果评估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3CF12FB-00E8-4F15-87E8-F0435902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培训效果评估连接信息台账与活动证据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EB1B5EF-B471-47A6-BECB-FB17E661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59E75B4-EC59-4940-96CE-C90F5C62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00B3215-8BA2-44FE-ADEC-C1ACCA31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评估框架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380E0B0-0A5B-4E4F-A065-7BA83609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622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BC64481-3B98-4077-9195-DD653EB4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908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反应层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7EAEB-B887-49E5-9377-042126C3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20193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满意度、活动评价、讲师/专家评价、反馈问卷和问题建议。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E67C1D5-F50F-414F-995D-66A5C02A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3622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2DEB59B-D57C-420A-ADBE-E4176C27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908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学习层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9BFFD77-64B1-4721-8EDD-E3B48A8B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48000"/>
            <a:ext cx="20193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知识掌握、案例理解、任务完成、观点表达、能力达成和完成率。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60AF1D1-7CA5-44B9-8BCC-0B59453E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3622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6F4B743-6602-49F4-842B-2127F4C6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908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行为层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B9A3DF8-0563-40FE-A33A-E5C19CF1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48000"/>
            <a:ext cx="20193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训后任务、场景应用、主管/客户评价、专家评审和同伴互评。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6A09B89-EF55-402B-8B13-17ECAF2A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3622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A2261C7-DCE8-43B2-AEE3-F5D85B95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908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结果层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66607EA-33F6-4B58-BADD-DC9CBCF4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48000"/>
            <a:ext cx="20193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组织报告、空间复盘、转化线索、复训建议、业务改善和知识资产。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362A027-79C8-4C49-BD76-67B5DDDA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19700"/>
            <a:ext cx="114014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6DA5CFE-5174-40C2-A00B-D2ADA05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73818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效果评估的价值，是把信息台账、空间记录和成果证据转化为个人证明、组织报告、改进建议、资源复用和模式迭代。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A8A6984-5BCC-4AC5-BE08-2683926B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9115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24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信息 + 空间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648FD11-D56F-4FE3-88E8-F91F450F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391150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746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形成个人、项目、组织、解决方案四类报告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24B50E2-EC9D-4F5D-9E53-BA8AFB9E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753100"/>
            <a:ext cx="2971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74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个人、空间、项目、组织/客户四类报告</a:t>
            </a:r>
          </a:p>
        </p:txBody>
      </p:sp>
    </p:spTree>
    <p:extLst>
      <p:ext uri="{BB962C8B-B14F-4D97-AF65-F5344CB8AC3E}">
        <p14:creationId xmlns:p14="http://schemas.microsoft.com/office/powerpoint/2010/main" val="8878482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E07C92-8E27-4EFC-BCB1-8C61C02E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业务闭环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4D9619A-F3A5-4A18-B9C9-74D7846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业务闭环从信息建模进入活动空间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B96ECAA-E0B8-414F-9A7F-1971FE3A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AF3E9F8-D85E-49D0-AA62-D488DB4C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CDBABC2-F905-41D0-BBBD-6EAB146B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94D7EC4-23DF-4FF3-956E-AD27C053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95525"/>
            <a:ext cx="1543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需求识别</a:t>
            </a:r>
          </a:p>
        </p:txBody>
      </p:sp>
      <p:sp>
        <p:nvSpPr>
          <p:cNvPr id="8" name="右箭头 7">
            <a:extLst xmlns:a="http://schemas.openxmlformats.org/drawingml/2006/main">
              <a:ext uri="{FF2B5EF4-FFF2-40B4-BE49-F238E27FC236}">
                <a16:creationId xmlns:a16="http://schemas.microsoft.com/office/drawing/2014/main" id="{2B267AD4-5DBE-41BD-A32E-9935AB07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00300"/>
            <a:ext cx="476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6D56656-9EC3-4FFF-B59F-41B39687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0FCC81B-3318-4B13-BB94-16D23CB5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95525"/>
            <a:ext cx="1543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信息建模</a:t>
            </a:r>
          </a:p>
        </p:txBody>
      </p:sp>
      <p:sp>
        <p:nvSpPr>
          <p:cNvPr id="11" name="右箭头 10">
            <a:extLst xmlns:a="http://schemas.openxmlformats.org/drawingml/2006/main">
              <a:ext uri="{FF2B5EF4-FFF2-40B4-BE49-F238E27FC236}">
                <a16:creationId xmlns:a16="http://schemas.microsoft.com/office/drawing/2014/main" id="{2C1961F0-568F-4BB7-A0FB-2559CAC4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476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01A7030-0D78-4222-84A7-C969626E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38375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C30E04D-9EF1-4415-88FF-28736BAA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295525"/>
            <a:ext cx="1543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发起空间</a:t>
            </a:r>
          </a:p>
        </p:txBody>
      </p:sp>
      <p:sp>
        <p:nvSpPr>
          <p:cNvPr id="14" name="右箭头 13">
            <a:extLst xmlns:a="http://schemas.openxmlformats.org/drawingml/2006/main">
              <a:ext uri="{FF2B5EF4-FFF2-40B4-BE49-F238E27FC236}">
                <a16:creationId xmlns:a16="http://schemas.microsoft.com/office/drawing/2014/main" id="{0DC23A62-5ACC-480E-B89D-E0F5AE46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00300"/>
            <a:ext cx="476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F1E0586-FE2C-4A46-8406-7237FCD2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2CAC4F1-E112-4539-843A-C1558DFA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95525"/>
            <a:ext cx="1543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成果沉淀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E053247-5596-4BC3-95AF-5AC552B4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62325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活动前先在信息管理子系统建立项目、人员、组织、资源、规则、学分/证书和报名关系；需要过程运营时再发起活动空间。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E88B94F-918A-4BE1-B269-CEEB5FA3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62325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3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活动中在空间记录签到、互动、点评、任务、问卷、AI 使用和运营动作；活动后沉淀证明、报告、案例和改进建议。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0E76A41-9C86-46F3-A9F7-305A2018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38DF815-D513-47EA-AF50-55F707BC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信息台账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21ED7A5-8F3A-4395-B72D-085508AF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E62588D-DB9E-461E-B08A-531539D4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活动空间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46CA0E8-354A-475B-A07C-B1D5E3EF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F0C73FD-421A-4BC8-8D7A-F43FEAFD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报名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E49D92E-B869-4EBF-8DDB-FAE543AB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8063027-8C2B-41BF-A0D6-D4DBD03A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参与者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A530434-8D23-46EF-8FC2-A1902F59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92EE751-800E-4104-9FF7-5A4BB483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任务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CB952C08-9960-469E-9A30-CA7CA768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EC5F8035-996F-43CB-9C09-50AE3143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评价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3C2C31F-DA14-4059-8B9E-A49A2193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CDC4F7B6-E1BF-458A-9474-817C7C31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成果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09047D73-7265-448E-80DE-01325840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C9ABFC3-2C12-4BB9-A94B-6D0B23C2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报告</a:t>
            </a:r>
          </a:p>
        </p:txBody>
      </p:sp>
      <p:sp>
        <p:nvSpPr>
          <p:cNvPr id="35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0887AD3D-E7D5-4099-8D69-A6EB6E49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00300"/>
            <a:ext cx="476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流程节点-效果改进">
            <a:extLst xmlns:a="http://schemas.openxmlformats.org/drawingml/2006/main">
              <a:ext uri="{FF2B5EF4-FFF2-40B4-BE49-F238E27FC236}">
                <a16:creationId xmlns:a16="http://schemas.microsoft.com/office/drawing/2014/main" id="{446D60A3-4A18-41F9-84B4-55C91A04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38375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流程文本-效果改进">
            <a:extLst xmlns:a="http://schemas.openxmlformats.org/drawingml/2006/main">
              <a:ext uri="{FF2B5EF4-FFF2-40B4-BE49-F238E27FC236}">
                <a16:creationId xmlns:a16="http://schemas.microsoft.com/office/drawing/2014/main" id="{6425A14C-B7A0-4DE8-BC1A-CB8F0D81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295525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效果改进</a:t>
            </a:r>
          </a:p>
        </p:txBody>
      </p:sp>
    </p:spTree>
    <p:extLst>
      <p:ext uri="{BB962C8B-B14F-4D97-AF65-F5344CB8AC3E}">
        <p14:creationId xmlns:p14="http://schemas.microsoft.com/office/powerpoint/2010/main" val="3657629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67AD117-CAB3-48C6-95A0-5C2CA79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核心对象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1488235-5010-4D73-8BEA-1C8BB446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核心对象模型区分信息关系与活动空间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5FE147A-1788-4659-9F22-448D112C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41828B8-B179-492A-A2FC-4F013BE7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F5EC397-E672-419F-BB35-BBFA066A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934069-DEFA-4978-B18C-0750D2B9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7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Training Info Graph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8EF3A0C-490D-49C0-9EB4-ACF7A4D0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2019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培训信息关系 管理项目、人员、组织、资源、规则、学分/证书、报名和台账，独立于空间建设。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1F66FA5-ACBA-4D64-B02F-907CF0B7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3835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4982A19-0272-44EE-BF3B-51175B65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669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Activity Space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59C8134-C8E6-4D76-B576-D4263DC8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24150"/>
            <a:ext cx="2019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活动空间 承载课程、研讨、评课、工作坊、网络研修等活动过程，接收信息配置。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2A862E1-4849-43C2-8E79-5ECC15AF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03835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CF82C7D-9CCF-4A3F-847B-131FEFED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669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9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Participant Record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E647F38-4960-4077-A690-0B1A32AB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24150"/>
            <a:ext cx="2019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参与者记录 记录报名、签到、互动、任务、成果、AI 使用和身份/来源。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2C67C4C-1037-42BF-A86A-891E9B6D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3835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F5F8954-C151-47EC-900A-F87A1245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669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008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Evidence &amp; Report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7B1E8B5-102B-4751-8CC6-5CB3145E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24150"/>
            <a:ext cx="2019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证明与报告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按个人、活动、项目、来源组织生成证书/证明、效果报告和改进建议。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7445B7D-99C6-4470-B44E-8C0DBA85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0"/>
            <a:ext cx="7429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信息关系定义业务对象，活动空间承载过程。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8E28F72-85DA-4090-81DF-B36E28EF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562600"/>
            <a:ext cx="514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362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评估报告同时消费信息台账和空间证据，支撑解决方案复制。</a:t>
            </a:r>
          </a:p>
        </p:txBody>
      </p:sp>
    </p:spTree>
    <p:extLst>
      <p:ext uri="{BB962C8B-B14F-4D97-AF65-F5344CB8AC3E}">
        <p14:creationId xmlns:p14="http://schemas.microsoft.com/office/powerpoint/2010/main" val="13373577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098CFD8-C6EA-470F-A7AD-FB7099EA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AI 原生能力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516BB9D-7ECA-4398-8617-91CF7047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Lucky 覆盖信息建模、空间运营和效果报告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D45A5CE-A619-4B69-9E95-CA5CBB6A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364EEB8-337F-4859-BA27-24761EC1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75843E-1B21-4D5D-9E81-A4B4884E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574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3437AA3-FBEE-48C9-8177-BC5AB341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信息建模助手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237357F-0B13-4D9B-8083-21A1EF03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43200"/>
            <a:ext cx="20193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辅助生成项目结构、人员范围、资源规则、学分/证书、报名表单和活动发起建议。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24A6943-9334-4EEB-B9CB-D689A271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574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37416D-31F4-4F61-B7C4-20A57BB0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860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空间运营助手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DA2906F-AEA7-4557-BA78-9B46D918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43200"/>
            <a:ext cx="20193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回答空间介绍、日程安排、资料权限、任务要求和证书获取问题。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FCDB309-7B8D-47CA-9C03-B767F4A3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0574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E6F5FA2-6E78-4865-99AD-BF820375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860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过程分析助手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DB43F07-F192-4634-BDE0-180C3B2C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43200"/>
            <a:ext cx="20193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整理空间中的研讨观点、评课意见、参与者互动和问卷反馈，识别低活跃风险。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6A596EE-3583-41B3-997D-EDE1C8B0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574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7FB4F22-6728-4522-9CE8-905004AD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860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报告生成助手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70EDC53-F17B-4C23-AF33-7D808BA3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43200"/>
            <a:ext cx="20193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汇总信息台账、空间参与记录、成果材料、满意度和完成率，生成证明与组织报告。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46AD55A-B384-48F4-A8F7-2DF614A0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62500"/>
            <a:ext cx="114014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5EF3D0E-239D-4987-9A29-F9BA8C8E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108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40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输出作为业务模式运营建议稿进入人工确认；信息关系、活动评价、证书/证明、组织报告和数据结论保留人工审核。</a:t>
            </a:r>
          </a:p>
        </p:txBody>
      </p:sp>
    </p:spTree>
    <p:extLst>
      <p:ext uri="{BB962C8B-B14F-4D97-AF65-F5344CB8AC3E}">
        <p14:creationId xmlns:p14="http://schemas.microsoft.com/office/powerpoint/2010/main" val="11165429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2899CDD-80BF-4332-9E1B-80F55CE9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数据与分析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45584CE-043C-484A-9CD1-997437DA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数据分析从信息关系与空间过程两端取数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B0763D6-4FA9-4D42-A46E-BB6464AB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C6043DA-375F-4BD8-B477-0854E9C0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70403E6-143C-4CDD-B8EC-2803EB54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431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2B6893E-69D5-4FDF-8B2E-638581CE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00300"/>
            <a:ext cx="1428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信息台账</a:t>
            </a:r>
          </a:p>
        </p:txBody>
      </p:sp>
      <p:sp>
        <p:nvSpPr>
          <p:cNvPr id="8" name="右箭头 7">
            <a:extLst xmlns:a="http://schemas.openxmlformats.org/drawingml/2006/main">
              <a:ext uri="{FF2B5EF4-FFF2-40B4-BE49-F238E27FC236}">
                <a16:creationId xmlns:a16="http://schemas.microsoft.com/office/drawing/2014/main" id="{6BD117B6-183C-458E-B722-EFBA604F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76500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6265274-BBBA-43AC-B535-D3BD40BC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431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CA0E22C-7383-4FC0-8049-4A999169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1619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空间记录</a:t>
            </a:r>
          </a:p>
        </p:txBody>
      </p:sp>
      <p:sp>
        <p:nvSpPr>
          <p:cNvPr id="11" name="右箭头 10">
            <a:extLst xmlns:a="http://schemas.openxmlformats.org/drawingml/2006/main">
              <a:ext uri="{FF2B5EF4-FFF2-40B4-BE49-F238E27FC236}">
                <a16:creationId xmlns:a16="http://schemas.microsoft.com/office/drawing/2014/main" id="{48013BA5-DF49-443C-9C99-5E307D72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76500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369E8C3-A531-4D33-8502-9B77B215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FAA1ADD-83C9-440F-ABB6-3F966874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1619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效果报告</a:t>
            </a:r>
          </a:p>
        </p:txBody>
      </p:sp>
      <p:sp>
        <p:nvSpPr>
          <p:cNvPr id="14" name="右箭头 13">
            <a:extLst xmlns:a="http://schemas.openxmlformats.org/drawingml/2006/main">
              <a:ext uri="{FF2B5EF4-FFF2-40B4-BE49-F238E27FC236}">
                <a16:creationId xmlns:a16="http://schemas.microsoft.com/office/drawing/2014/main" id="{FBE25CBB-C835-42A3-BF54-B18FE85A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76500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D6C392F-88ED-4785-8B68-5D51E334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FDDF41F-18DA-4AAE-98CB-70AB149C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0300"/>
            <a:ext cx="1619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改进行动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4755076-5BAE-4FF7-8D99-80F40F32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10096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既有业务的项目、人员、来源组织、资源、规则、报名等信息台账，与空间中的签到、互动、任务、成果、问卷和 AI 使用记录统一归集，形成运营数据资产。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BAAEE99-F6D6-4AB5-92CC-805884F8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55D9E1E-CF55-4FC4-BDD4-3101D3E4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租户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1F91180-79E5-4755-812C-78907AF9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F4D1DC0-1794-4D1A-A4E8-B633B6F0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项目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D1BD375-C2CF-4D7A-89BD-4A9B05E7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6AA548E-B56A-4C5C-AB66-CA752EFF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信息关系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B01FE1C-68FA-47DF-B6A6-079E6514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E5A8804-BF92-4C65-9433-F9C16C38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活动空间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C628781-27E0-4DD9-80BF-638FDE6A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167FA7C-3B54-437E-8933-C5136F0C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来源组织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E6C09C5-44BD-4F33-B0AF-8EB84ACD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67350"/>
            <a:ext cx="7048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037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指标覆盖报名转化、到场率、完成率、互动质量、成果质量、满意度、组织报告和解决方案复用价值。</a:t>
            </a:r>
          </a:p>
        </p:txBody>
      </p:sp>
    </p:spTree>
    <p:extLst>
      <p:ext uri="{BB962C8B-B14F-4D97-AF65-F5344CB8AC3E}">
        <p14:creationId xmlns:p14="http://schemas.microsoft.com/office/powerpoint/2010/main" val="14820227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62602DD-880E-4969-B819-9051B523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产品化交付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7F4A11B-6CEF-48DD-A8C2-D7459767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核心应用产品是平台上生长出的解决方案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3F683C-6F34-468E-9D93-146EAED8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670F9F0-1533-441B-95EE-FC63F9D8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D1916AB-CC65-4957-BBB2-01FD799C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3238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2438B06-3CE9-45DA-B46B-E1441AF5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AF9F9E2-F910-4FEB-B7C9-1223AF43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27813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面向教发平台、智慧继教、智慧党建、行业服务、AI 通识等产品线，组合信息管理、活动空间、评估和 Lucky 能力。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FE023AE-43EE-4D9B-BA94-BEDE3F6E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238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2AA3A17-F566-48AB-B6C1-CD3E40CD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套餐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B6BA735-0A52-4ADA-B0F4-83ED726A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27813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定义参与者规模、空间数、活动数、资料容量、AI 调用、信息台账、报名审核、证书、报表和服务等级。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8F910C-EACC-4AF0-98F1-C62EA93F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38350"/>
            <a:ext cx="3238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99FE403-DC98-4492-BE5C-BB0D7B35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租户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30B5D84-8850-469F-918B-12CFF00B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724150"/>
            <a:ext cx="27813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承接客户主体、组织架构、信息数据、业务空间、外部来源组织、数据隔离、权限边界和服务周期。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447E6C4-D5BC-4C7B-BEB9-47162D65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0700"/>
            <a:ext cx="809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766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解决方案定义服务谁和解决什么；信息管理定义业务对象；空间定义活动如何运行。</a:t>
            </a:r>
          </a:p>
        </p:txBody>
      </p:sp>
    </p:spTree>
    <p:extLst>
      <p:ext uri="{BB962C8B-B14F-4D97-AF65-F5344CB8AC3E}">
        <p14:creationId xmlns:p14="http://schemas.microsoft.com/office/powerpoint/2010/main" val="801338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637F405-E560-4260-B01E-CCDA3917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场景包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DECC312-ED01-45A7-843E-C04490EB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场景包沉淀的是解决方案模式与活动空间模板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F71566C-5E52-4327-A64A-DB924AA4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37660A1-23C5-4F58-9A91-B53934A7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64C014D-1432-4E5D-ACCE-B23C3EC4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8595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典型场景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A1B040D-2F0D-461E-BB0F-EB68D663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62200"/>
            <a:ext cx="53340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2231CAE-A639-4464-A06B-020E87FD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9080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教育 / 教发场景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C8FF9FF-DD98-4AF1-9BA1-3B5AD83F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48768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承接专题研讨、听评课、集体备课、公开课磨课、教师成长档案和跨校研修；信息独立管理，活动进入空间。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CB72B89-0266-4382-9831-7850F014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53340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D00E0CE-38DA-4A3D-B749-4EFA16B8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9080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行业 / 组织赋能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EDB0A08-9FC2-49DF-A1C9-44F6A9AA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48000"/>
            <a:ext cx="48768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承接客户培训、伙伴赋能、认证活动、公开工作坊、复盘会、导师制和案例共创；以解决方案方式交付。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09EE8AA-44D7-423A-B7EC-2E5CB639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33950"/>
            <a:ext cx="114014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C184E3D-2C69-43BC-8CB1-05524777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108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场景包不重造场景：它沉淀信息模型、空间模板、智能体配置、评估指标和交付资产。</a:t>
            </a:r>
          </a:p>
        </p:txBody>
      </p:sp>
    </p:spTree>
    <p:extLst>
      <p:ext uri="{BB962C8B-B14F-4D97-AF65-F5344CB8AC3E}">
        <p14:creationId xmlns:p14="http://schemas.microsoft.com/office/powerpoint/2010/main" val="18118797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1EBD627-D5F6-4040-867F-D8E10C32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实施路线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C71BC9A-84E2-4699-A8A5-DF808A38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路线图先建信息底座，再复制空间化解决方案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C0F10E7-D2D6-409D-BD1F-E7E59121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994A347-9772-4A5A-9FF3-70503ADA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15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4AECF60-953E-472E-AFB6-21A50F33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路线图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C8CEB8-9C6C-47F2-8895-4C09082D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E1FE599-A4AE-4D70-8EA2-0E0AFECC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3360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V1 信息管理闭环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31218A3-DE49-4174-A5DD-304CAAB4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0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项目、人员、组织、资源、规则、报名、学分/证书和台账。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00E1B55-BF39-4C49-AE05-D1ADCB3A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C3358B7-475B-4D13-9E9B-9EE18F2C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7655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V2 活动空间运营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E04C6DD-895B-49B0-A8EF-5AADC262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0040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9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课程、研讨、评课、工作坊、网络研修活动进入空间，形成过程记录。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B374D9F-235D-473A-BBFB-28019D83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DEE9E36-68D3-4976-9F9C-D587E9A7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V3 AI 原生增强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A56C8E4-02FE-40B6-879C-34CB2DBF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206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信息建模、空间问答、资料问答、研讨纪要、评课分析和运营预警。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5215A30-234C-4328-AC96-C9C95E6F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6285AAA-BF78-468C-A55C-59EC5789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V4 效果运营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D2C58A1-6CDD-48A1-B405-679A009C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个人证明、组织报告、改进建议、资源复用和评估驾驶舱。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A030BC2-970D-4EA5-97E9-35D870B0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D056F5C-7429-41E2-8A3B-C5118FC3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0540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V5 解决方案复制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59CA98E-2248-4CF6-821F-0ED736C0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2925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0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教发、继教、党建、行业服务等解决方案套餐化与渠道合作。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D67FE7E-8104-4CE8-A589-D934BF42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49530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37F77B2-B936-4488-A7D4-3C20FC52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417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实施重点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B43872B-21A1-4B96-B770-5CDC54C8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81350"/>
            <a:ext cx="39243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先跑通一个标准业务：用信息管理子系统建立对象和规则，再把活动发起到空间，最后用评估报告反哺解决方案。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每个阶段都保留人工审核、数据隔离、成本监控和账号有效期。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056D5F7-E528-4B5E-B6B0-18C70AC0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0515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价值：让培训与发展业务从项目制交付，升级为 AI 原生平台上的解决方案运营。</a:t>
            </a:r>
          </a:p>
        </p:txBody>
      </p:sp>
    </p:spTree>
    <p:extLst>
      <p:ext uri="{BB962C8B-B14F-4D97-AF65-F5344CB8AC3E}">
        <p14:creationId xmlns:p14="http://schemas.microsoft.com/office/powerpoint/2010/main" val="21177667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FAAFE91-C5DB-4806-B18F-74CF9694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商业化套件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239F66D-7E13-45EA-9925-9DBBC743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商业化套件围绕平台、解决方案、空间和 AI 组合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842B12F-19AD-4098-ABC2-9F95C60C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58A598-445F-45F7-B2D3-7E20CB25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F4D457B-DCAB-4BBC-858D-BBD65D13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套件结构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56CCF7C-F039-48BB-A08E-AFB7ADD8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24100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8978A75-2723-43FA-9354-84FD1E52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5270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基础平台包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C7C8A22-2034-4C19-80E9-9A484616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9900"/>
            <a:ext cx="48768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租户、组织、外部人员、信息管理、资料库、活动空间、研习社、任务、消息、问卷、证书和统计能力。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0D1BAFD-009A-4025-B6F0-B298CED6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A19BBBB-F2D1-4F6E-B1F7-C645D0E3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14600"/>
            <a:ext cx="4876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解决方案包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智能体底座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7BE789E-D005-4119-BA03-324C2258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00400"/>
            <a:ext cx="48768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教发平台、智慧继教、智慧党建、行业服务等解决方案，内置信息模型、空间模板、评估指标和智能体。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49C2C60-6AD8-4EE3-95F9-867F3D35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8635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AE856C6-343D-4FB4-9974-826910E8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7685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商业化组件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7EA9D2-067D-404B-8D57-F9D7651E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00650"/>
            <a:ext cx="8477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以平台底座、解决方案、活动空间、资源包、运营服务和 Token 算力组合报价，支持试用、升级和增购。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BC284-8A93-4355-83B1-A6049912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0442BC8-6EFA-4503-AC4D-04731F24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解决方案包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9C7E572-B117-4B52-B1C7-B9FC1319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A57A9E2-A23E-49E7-A609-A2E8ED00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资源包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ADA7FCD-A8E7-4C37-ABCB-D49C21BC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70FB79C-2F0A-40D9-940F-4794828B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智能体包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57610B1-3D6E-433E-9A8B-11466003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152A744-78F4-4A1A-82F5-3307E023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运营服务包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5DBA1C4-0454-4335-8FFB-834B3866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65BEB6B-BBE7-4AA5-BE33-483E25DA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Token 算力包</a:t>
            </a:r>
          </a:p>
        </p:txBody>
      </p:sp>
    </p:spTree>
    <p:extLst>
      <p:ext uri="{BB962C8B-B14F-4D97-AF65-F5344CB8AC3E}">
        <p14:creationId xmlns:p14="http://schemas.microsoft.com/office/powerpoint/2010/main" val="18322091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3F92383-4772-4372-A565-B1AE0ABE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治理与边界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55D6AF1-D74B-4EFE-BFF4-B42093F3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治理边界同时覆盖信息、空间、身份和 AI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D0548E-E020-4C7E-BA14-562FBAA9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48C33D6-62F9-44CC-9C7A-68BD1F77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17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BBFF39D-AFDE-4475-953A-8E28706B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93BCEDB-EB05-42CA-B786-4AC6984B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权限隔离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6906E12-F90C-4636-BF0C-F3144CE3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按租户、项目、信息对象、空间、活动、角色、来源组织和资料范围控制访问，活动结束后回收临时权限。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1F5564E-BCCC-4A1C-9E43-FFB1945E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738BAB9-0D28-40EA-B606-C6E77E07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质量审核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E65A6DE-5A01-4A86-BFB2-76B105F8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099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生成的信息结构、空间模式、报名问答、报告、证书/证明和评价建议均进入人工确认。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657AABA-92E8-4DBA-B6A5-0F3DDAB2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2486FDF-5CDA-44E4-9CD3-F0824E1B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成本治理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460BA9-CAA7-4ACF-A888-2B3B6E42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按租户、项目、解决方案、空间、活动、人数、智能体和模型统计 Token 消耗，支撑预警、对账和套餐设计。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D60747C-9F01-4653-BA19-EFE786B9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29D9C91-D8B1-492D-9A16-FD8E348E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数据沉淀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EA3B50A-B27C-4231-A8E4-053ABAA6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信息台账、空间参与记录、成果、证书/证明和效果报告进入档案，跨组织报告脱敏输出。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F9CE01D-188B-44E9-819E-128499D9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01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5A41E37-AFEA-426B-AD7D-E3B3F985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39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治理目标：信息关系可追溯，活动空间可管控，报告可脱敏，AI 使用和商业成本可计量。</a:t>
            </a:r>
          </a:p>
        </p:txBody>
      </p:sp>
    </p:spTree>
    <p:extLst>
      <p:ext uri="{BB962C8B-B14F-4D97-AF65-F5344CB8AC3E}">
        <p14:creationId xmlns:p14="http://schemas.microsoft.com/office/powerpoint/2010/main" val="15002576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AE69035-3F95-4EF3-AF36-FC3A12F7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总结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B5455C-532E-47E1-B5AF-F462D00C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平台底座 + 解决方案 + 活动空间 + 效果运营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EFC33A9-53C3-40EF-AB16-1E76BA1E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F66DA6A-6915-4D1C-8581-96AE3282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47E214B-B2A7-4A65-B551-08C84B61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42E8ED9-13EF-437F-8A38-FDCAADA1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平台底座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AB46D67-E50D-4619-9827-480C8A34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27813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复用果仁租户、账号、信息管理、资料库、权限、Lucky、数据、任务、问卷、证书和统计能力。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0CA60DE-F2E3-4783-A2D9-8A2BC862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01BCF2C-9067-4172-8759-2B41AA5B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解决方案运行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FBDB2A6-32EB-436D-BD72-2B95FF85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27813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核心应用产品以解决方案形态生长在 AI 原生平台上；空间负责承载课程、研讨、评课、工作坊等活动。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B88C326-7F23-4A87-8EAC-C8D09E41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383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9049C6C-4F6D-4317-8198-6DA2F135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效果运营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F5C4016-F906-4A07-B4EB-3F42CE68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724150"/>
            <a:ext cx="27813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用信息台账、空间证据和 AI 分析生成个人证明、组织报告、改进建议、资源复用和模式增长。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DD0D712-E1FA-48F8-8338-F9B3E2F3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6730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建议下一步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4F0E3D5-0688-4C6B-82EB-1DADFEC3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14900"/>
            <a:ext cx="885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10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建议以一个标准解决方案做 MVP：先建信息管理对象和规则，再发起活动空间跑通过程记录、证书/证明和组织报告，最后叠加智能体与驾驶舱。</a:t>
            </a:r>
          </a:p>
        </p:txBody>
      </p:sp>
    </p:spTree>
    <p:extLst>
      <p:ext uri="{BB962C8B-B14F-4D97-AF65-F5344CB8AC3E}">
        <p14:creationId xmlns:p14="http://schemas.microsoft.com/office/powerpoint/2010/main" val="1821108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2026-07-27T08:08:14.2120000Z</dcterms:created>
  <dcterms:modified xsi:type="dcterms:W3CDTF">2026-07-27T08:08:14.2120000Z</dcterms:modified>
</coreProperties>
</file>