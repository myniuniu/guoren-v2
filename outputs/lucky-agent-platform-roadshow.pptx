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d9b1b6c5784c6c" /><Relationship Type="http://schemas.openxmlformats.org/officeDocument/2006/relationships/extended-properties" Target="/docProps/app.xml" Id="R4b70b6d5ace54131" /><Relationship Type="http://schemas.openxmlformats.org/officeDocument/2006/relationships/officeDocument" Target="/ppt/presentation.xml" Id="R08d77d4dcbb741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719b2053945fd"/>
  </p:sldMasterIdLst>
  <p:notesMasterIdLst>
    <p:notesMasterId xmlns:r="http://schemas.openxmlformats.org/officeDocument/2006/relationships" r:id="R0e3df5d2a3794683"/>
  </p:notesMasterIdLst>
  <p:sldIdLst>
    <p:sldId xmlns:r="http://schemas.openxmlformats.org/officeDocument/2006/relationships" id="256" r:id="Rcf731b79569947b4"/>
    <p:sldId xmlns:r="http://schemas.openxmlformats.org/officeDocument/2006/relationships" id="257" r:id="R556734f2a0b348ce"/>
    <p:sldId xmlns:r="http://schemas.openxmlformats.org/officeDocument/2006/relationships" id="258" r:id="Rcefb1c99aba2450f"/>
    <p:sldId xmlns:r="http://schemas.openxmlformats.org/officeDocument/2006/relationships" id="259" r:id="R7802e5b6e6e24503"/>
    <p:sldId xmlns:r="http://schemas.openxmlformats.org/officeDocument/2006/relationships" id="260" r:id="R6c8d43ed256d49a0"/>
    <p:sldId xmlns:r="http://schemas.openxmlformats.org/officeDocument/2006/relationships" id="261" r:id="Rae80da7ea9224840"/>
    <p:sldId xmlns:r="http://schemas.openxmlformats.org/officeDocument/2006/relationships" id="262" r:id="R3c5438a94e5e40d2"/>
    <p:sldId xmlns:r="http://schemas.openxmlformats.org/officeDocument/2006/relationships" id="263" r:id="Rde725191e6de400e"/>
    <p:sldId xmlns:r="http://schemas.openxmlformats.org/officeDocument/2006/relationships" id="264" r:id="R0c0a71725d76433b"/>
    <p:sldId xmlns:r="http://schemas.openxmlformats.org/officeDocument/2006/relationships" id="265" r:id="R97268384ed7849b6"/>
    <p:sldId xmlns:r="http://schemas.openxmlformats.org/officeDocument/2006/relationships" id="266" r:id="R0451588bb9d54037"/>
    <p:sldId xmlns:r="http://schemas.openxmlformats.org/officeDocument/2006/relationships" id="267" r:id="R6bdd78e0a603497f"/>
    <p:sldId xmlns:r="http://schemas.openxmlformats.org/officeDocument/2006/relationships" id="268" r:id="R0b37cfc63d3b4808"/>
    <p:sldId xmlns:r="http://schemas.openxmlformats.org/officeDocument/2006/relationships" id="269" r:id="R8486fd60e6d54083"/>
    <p:sldId xmlns:r="http://schemas.openxmlformats.org/officeDocument/2006/relationships" id="270" r:id="R7259a250392b45c6"/>
    <p:sldId xmlns:r="http://schemas.openxmlformats.org/officeDocument/2006/relationships" id="271" r:id="Re2e1d553d3a949f4"/>
    <p:sldId xmlns:r="http://schemas.openxmlformats.org/officeDocument/2006/relationships" id="272" r:id="R01bb8baf342d4a6a"/>
    <p:sldId xmlns:r="http://schemas.openxmlformats.org/officeDocument/2006/relationships" id="273" r:id="Rb44a613f508d4104"/>
    <p:sldId xmlns:r="http://schemas.openxmlformats.org/officeDocument/2006/relationships" id="274" r:id="R68eee5ba33de46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5785d4b582421e" /><Relationship Type="http://schemas.openxmlformats.org/officeDocument/2006/relationships/slideMaster" Target="/ppt/slideMasters/slideMaster1.xml" Id="Rae9719b2053945fd" /><Relationship Type="http://schemas.openxmlformats.org/officeDocument/2006/relationships/notesMaster" Target="/ppt/notesMasters/notesMaster1.xml" Id="R0e3df5d2a3794683" /><Relationship Type="http://schemas.openxmlformats.org/officeDocument/2006/relationships/presProps" Target="/ppt/presProps.xml" Id="R7e8951b1df5e4b8b" /><Relationship Type="http://schemas.openxmlformats.org/officeDocument/2006/relationships/tableStyles" Target="/ppt/tableStyles.xml" Id="R42c5b32e0cb04fee" /><Relationship Type="http://schemas.openxmlformats.org/officeDocument/2006/relationships/slide" Target="/ppt/slides/slide1.xml" Id="Rcf731b79569947b4" /><Relationship Type="http://schemas.openxmlformats.org/officeDocument/2006/relationships/slide" Target="/ppt/slides/slide2.xml" Id="R556734f2a0b348ce" /><Relationship Type="http://schemas.openxmlformats.org/officeDocument/2006/relationships/slide" Target="/ppt/slides/slide3.xml" Id="Rcefb1c99aba2450f" /><Relationship Type="http://schemas.openxmlformats.org/officeDocument/2006/relationships/slide" Target="/ppt/slides/slide4.xml" Id="R7802e5b6e6e24503" /><Relationship Type="http://schemas.openxmlformats.org/officeDocument/2006/relationships/slide" Target="/ppt/slides/slide5.xml" Id="R6c8d43ed256d49a0" /><Relationship Type="http://schemas.openxmlformats.org/officeDocument/2006/relationships/slide" Target="/ppt/slides/slide6.xml" Id="Rae80da7ea9224840" /><Relationship Type="http://schemas.openxmlformats.org/officeDocument/2006/relationships/slide" Target="/ppt/slides/slide7.xml" Id="R3c5438a94e5e40d2" /><Relationship Type="http://schemas.openxmlformats.org/officeDocument/2006/relationships/slide" Target="/ppt/slides/slide8.xml" Id="Rde725191e6de400e" /><Relationship Type="http://schemas.openxmlformats.org/officeDocument/2006/relationships/slide" Target="/ppt/slides/slide9.xml" Id="R0c0a71725d76433b" /><Relationship Type="http://schemas.openxmlformats.org/officeDocument/2006/relationships/slide" Target="/ppt/slides/slide10.xml" Id="R97268384ed7849b6" /><Relationship Type="http://schemas.openxmlformats.org/officeDocument/2006/relationships/slide" Target="/ppt/slides/slide11.xml" Id="R0451588bb9d54037" /><Relationship Type="http://schemas.openxmlformats.org/officeDocument/2006/relationships/slide" Target="/ppt/slides/slide12.xml" Id="R6bdd78e0a603497f" /><Relationship Type="http://schemas.openxmlformats.org/officeDocument/2006/relationships/slide" Target="/ppt/slides/slide13.xml" Id="R0b37cfc63d3b4808" /><Relationship Type="http://schemas.openxmlformats.org/officeDocument/2006/relationships/slide" Target="/ppt/slides/slide14.xml" Id="R8486fd60e6d54083" /><Relationship Type="http://schemas.openxmlformats.org/officeDocument/2006/relationships/slide" Target="/ppt/slides/slide15.xml" Id="R7259a250392b45c6" /><Relationship Type="http://schemas.openxmlformats.org/officeDocument/2006/relationships/slide" Target="/ppt/slides/slide16.xml" Id="Re2e1d553d3a949f4" /><Relationship Type="http://schemas.openxmlformats.org/officeDocument/2006/relationships/slide" Target="/ppt/slides/slide17.xml" Id="R01bb8baf342d4a6a" /><Relationship Type="http://schemas.openxmlformats.org/officeDocument/2006/relationships/slide" Target="/ppt/slides/slide18.xml" Id="Rb44a613f508d4104" /><Relationship Type="http://schemas.openxmlformats.org/officeDocument/2006/relationships/slide" Target="/ppt/slides/slide19.xml" Id="R68eee5ba33de46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bce01b0d044e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8c834156494dce" /><Relationship Type="http://schemas.openxmlformats.org/officeDocument/2006/relationships/notesMaster" Target="/ppt/notesMasters/notesMaster1.xml" Id="R76892c3ba7d146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2ff1d7fc96439b" /><Relationship Type="http://schemas.openxmlformats.org/officeDocument/2006/relationships/notesMaster" Target="/ppt/notesMasters/notesMaster1.xml" Id="Re45f2f788cda47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952c4bf38e4efa" /><Relationship Type="http://schemas.openxmlformats.org/officeDocument/2006/relationships/notesMaster" Target="/ppt/notesMasters/notesMaster1.xml" Id="R168cd0abd00b4a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4cfa58c02c47bf" /><Relationship Type="http://schemas.openxmlformats.org/officeDocument/2006/relationships/notesMaster" Target="/ppt/notesMasters/notesMaster1.xml" Id="R5c75f79700764b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5ee391c7b44849" /><Relationship Type="http://schemas.openxmlformats.org/officeDocument/2006/relationships/notesMaster" Target="/ppt/notesMasters/notesMaster1.xml" Id="R7a0755d3ed1845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78cde9e82d4465" /><Relationship Type="http://schemas.openxmlformats.org/officeDocument/2006/relationships/notesMaster" Target="/ppt/notesMasters/notesMaster1.xml" Id="R13432c48afa948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b168c578744bae" /><Relationship Type="http://schemas.openxmlformats.org/officeDocument/2006/relationships/notesMaster" Target="/ppt/notesMasters/notesMaster1.xml" Id="R07a1f385434941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708d66f27946c6" /><Relationship Type="http://schemas.openxmlformats.org/officeDocument/2006/relationships/notesMaster" Target="/ppt/notesMasters/notesMaster1.xml" Id="Rb5569dd65c4d42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d967d2781f4329" /><Relationship Type="http://schemas.openxmlformats.org/officeDocument/2006/relationships/notesMaster" Target="/ppt/notesMasters/notesMaster1.xml" Id="Rdabd0019099d45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20a53fc3dc4a9c" /><Relationship Type="http://schemas.openxmlformats.org/officeDocument/2006/relationships/notesMaster" Target="/ppt/notesMasters/notesMaster1.xml" Id="R92923d4fca1e41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6ebc856b4645bf" /><Relationship Type="http://schemas.openxmlformats.org/officeDocument/2006/relationships/notesMaster" Target="/ppt/notesMasters/notesMaster1.xml" Id="Rcaa50e9957a445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7a375a62524bf7" /><Relationship Type="http://schemas.openxmlformats.org/officeDocument/2006/relationships/notesMaster" Target="/ppt/notesMasters/notesMaster1.xml" Id="R1346840dcc424f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535f70a85c42a8" /><Relationship Type="http://schemas.openxmlformats.org/officeDocument/2006/relationships/notesMaster" Target="/ppt/notesMasters/notesMaster1.xml" Id="R4c7132d228674d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484f9666804b49" /><Relationship Type="http://schemas.openxmlformats.org/officeDocument/2006/relationships/notesMaster" Target="/ppt/notesMasters/notesMaster1.xml" Id="R264e28ef37b443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7f3e66c59d46e5" /><Relationship Type="http://schemas.openxmlformats.org/officeDocument/2006/relationships/notesMaster" Target="/ppt/notesMasters/notesMaster1.xml" Id="R0a8dbfa6202d46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925004a29542cc" /><Relationship Type="http://schemas.openxmlformats.org/officeDocument/2006/relationships/notesMaster" Target="/ppt/notesMasters/notesMaster1.xml" Id="R2113eb83d7d349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5bc066ea544892" /><Relationship Type="http://schemas.openxmlformats.org/officeDocument/2006/relationships/notesMaster" Target="/ppt/notesMasters/notesMaster1.xml" Id="R14e841246b9746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6a27147bed475b" /><Relationship Type="http://schemas.openxmlformats.org/officeDocument/2006/relationships/notesMaster" Target="/ppt/notesMasters/notesMaster1.xml" Id="R3822d9f234f94a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21dc28cab04118" /><Relationship Type="http://schemas.openxmlformats.org/officeDocument/2006/relationships/notesMaster" Target="/ppt/notesMasters/notesMaster1.xml" Id="Racdcf323b69a40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this as a platform for building and operating agents, not as a single chatbot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果仁与 LearnBuddy 对比分析本地文档: /Users/zhanghl/Documents/GitHub/guoren-v2/docs/guoren-vs-learnbuddy-ai-native-platform.md</a:t>
            </a:r>
          </a:p>
          <a:p xmlns:a="http://schemas.openxmlformats.org/drawingml/2006/main">
            <a:r>
              <a:t>- 果仁样板间产品页面源码: /Users/zhanghl/Documents/GitHub/guoren-v2/src/solutionShowroom/SolutionShowroomPortal.jsx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create the need for a construction platform: knowledge, scenarios, and agent operations must be managed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果仁与 LearnBuddy 对比分析本地文档: /Users/zhanghl/Documents/GitHub/guoren-v2/docs/guoren-vs-learnbuddy-ai-native-platform.md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diagram follows the user's reference image: knowledge enters the business space, then Lucky empowers roles and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果仁样板间产品页面源码: /Users/zhanghl/Documents/GitHub/guoren-v2/src/solutionShowroom/SolutionShowroomPortal.jsx</a:t>
            </a:r>
          </a:p>
          <a:p xmlns:a="http://schemas.openxmlformats.org/drawingml/2006/main">
            <a:r>
              <a:t>- 用户提供参考图 1: /var/folders/b1/n7l3tg6951bg2fxcv64856x00000gn/T/codex-clipboard-fe142be4-2baa-4fdb-8293-9f8e62f1a49d.png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product as a repeatable construction pipeline that customers can start small and expand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果仁样板间产品页面源码: /Users/zhanghl/Documents/GitHub/guoren-v2/src/solutionShowroom/SolutionShowroomPortal.jsx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knowledge quality is the prerequisite for reliable agent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果仁与 LearnBuddy 对比分析本地文档: /Users/zhanghl/Documents/GitHub/guoren-v2/docs/guoren-vs-learnbuddy-ai-native-platform.md</a:t>
            </a:r>
          </a:p>
          <a:p xmlns:a="http://schemas.openxmlformats.org/drawingml/2006/main">
            <a:r>
              <a:t>- 果仁样板间产品页面源码: /Users/zhanghl/Documents/GitHub/guoren-v2/src/solutionShowroom/SolutionShowroomPortal.jsx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Space is the business container: it binds people, permissions, workflows, tools, and outputs into an executable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果仁样板间产品页面源码: /Users/zhanghl/Documents/GitHub/guoren-v2/src/solutionShowroom/SolutionShowroomPortal.jsx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 the knowledge-base section with the user's module screenshot: resource library unifies many resource types and makes them AI-recognizable and AI-generatable.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用户提供模块补充截图: /var/folders/b1/n7l3tg6951bg2fxcv64856x00000gn/T/codex-clipboard-78400771-9e11-4cc4-8bff-d2626c6a3e16.png</a:t>
            </a:r>
          </a:p>
          <a:p xmlns:a="http://schemas.openxmlformats.org/drawingml/2006/main">
            <a:r>
              <a:t>- 资料库模块源码: /Users/zhanghl/Documents/GitHub/guoren-v2/src/resourceLib/ResourceLibrary.jsx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 the space section with the user's screenshot: space supports multi-scenario business, resource references, assessment rules, built-in collaboration components, permission control, and AI-native scene creation.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用户提供模块补充截图: /var/folders/b1/n7l3tg6951bg2fxcv64856x00000gn/T/codex-clipboard-78400771-9e11-4cc4-8bff-d2626c6a3e16.png</a:t>
            </a:r>
          </a:p>
          <a:p xmlns:a="http://schemas.openxmlformats.org/drawingml/2006/main">
            <a:r>
              <a:t>- 空间模式产品源码: /Users/zhanghl/Documents/GitHub/guoren-v2/src/TopicDetail.jsx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 the platform architecture with knowledge space: the user's screenshot emphasizes multi-organization knowledge systems, member setup, permissions, and department-owned knowledge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用户提供模块补充截图: /var/folders/b1/n7l3tg6951bg2fxcv64856x00000gn/T/codex-clipboard-78400771-9e11-4cc4-8bff-d2626c6a3e16.png</a:t>
            </a:r>
          </a:p>
          <a:p xmlns:a="http://schemas.openxmlformats.org/drawingml/2006/main">
            <a:r>
              <a:t>- 知识空间模块源码: /Users/zhanghl/Documents/GitHub/guoren-v2/src/knowledgeSpace/KnowledgeSpaceModule.jsx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human-agent responsibility boundary clear: Lucky executes and assists, humans confirm and judge key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Lucky's actual workspace modes and navigation entries before going into grouped capability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用户提供 Lucky 核心功能截图: /var/folders/b1/n7l3tg6951bg2fxcv64856x00000gn/T/codex-clipboard-84e60447-97c7-4d3e-93d7-2321f91ae6a7.png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actual Lucky module copy for automation and project semantics, then connect it to task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Lucky's agent editor tabs, library scopes, and market categories to the platform construction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Lucky 模块源码: /Users/zhanghl/Documents/GitHub/guoren-v2/src/lucky/LuckyModule.jsx</a:t>
            </a:r>
          </a:p>
          <a:p xmlns:a="http://schemas.openxmlformats.org/drawingml/2006/main">
            <a:r>
              <a:t>- 解决方案原型模块源码: /Users/zhanghl/Documents/GitHub/guoren-v2/src/solutionPrototype/SolutionPrototypeModule.jsx</a:t>
            </a:r>
          </a:p>
          <a:p xmlns:a="http://schemas.openxmlformats.org/drawingml/2006/main">
            <a:r>
              <a:t>- 用户提供 Lucky 核心功能截图: /var/folders/b1/n7l3tg6951bg2fxcv64856x00000gn/T/codex-clipboard-84e60447-97c7-4d3e-93d7-2321f91ae6a7.png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follows the user's second reference image and reframes combinations as maturity-based delivery packages.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用户提供参考图 2: /var/folders/b1/n7l3tg6951bg2fxcv64856x00000gn/T/codex-clipboard-e6a131c5-9be4-4c66-a04c-7f40c1f6776f.png</a:t>
            </a:r>
          </a:p>
          <a:p xmlns:a="http://schemas.openxmlformats.org/drawingml/2006/main">
            <a:r>
              <a:t>- 果仁样板间产品页面源码: /Users/zhanghl/Documents/GitHub/guoren-v2/src/solutionShowroom/SolutionShowroomPortal.jsx</a:t>
            </a:r>
          </a:p>
          <a:p xmlns:a="http://schemas.openxmlformats.org/drawingml/2006/main">
            <a:r>
              <a:t>- 果仁与 LearnBuddy 对比分析本地文档: /Users/zhanghl/Documents/GitHub/guoren-v2/docs/guoren-vs-learnbuddy-ai-native-platform.md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space modes to agent-building scenarios and staged customer adoption.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空间模式产品源码: /Users/zhanghl/Documents/GitHub/guoren-v2/src/TopicDetail.jsx</a:t>
            </a:r>
          </a:p>
          <a:p xmlns:a="http://schemas.openxmlformats.org/drawingml/2006/main">
            <a:r>
              <a:t>- 果仁样板间产品页面源码: /Users/zhanghl/Documents/GitHub/guoren-v2/src/solutionShowroom/SolutionShowroomPortal.jsx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 use cases into reusable scenario templates so the roadshow feels concrete without overloading the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果仁样板间产品页面源码: /Users/zhanghl/Documents/GitHub/guoren-v2/src/solutionShowroom/SolutionShowroomPortal.jsx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commercial slide pricing-free: it explains packaging logic rather than inventing price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果仁与 LearnBuddy 对比分析本地文档: /Users/zhanghl/Documents/GitHub/guoren-v2/docs/guoren-vs-learnbuddy-ai-native-platform.md</a:t>
            </a:r>
          </a:p>
          <a:p xmlns:a="http://schemas.openxmlformats.org/drawingml/2006/main">
            <a:r>
              <a:t>- 果仁样板间产品页面源码: /Users/zhanghl/Documents/GitHub/guoren-v2/src/solutionShowroom/SolutionShowroomPortal.jsx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roadshow should end the solution section with a pragmatic adoption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core triad and a concrete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原生业务执行模式本地文档: /Users/zhanghl/Documents/GitHub/guoren-v2/docs/ai-native-driven-system-use-cases.md</a:t>
            </a:r>
          </a:p>
          <a:p xmlns:a="http://schemas.openxmlformats.org/drawingml/2006/main">
            <a:r>
              <a:t>- 果仁与 LearnBuddy 对比分析本地文档: /Users/zhanghl/Documents/GitHub/guoren-v2/docs/guoren-vs-learnbuddy-ai-native-platform.md</a:t>
            </a:r>
          </a:p>
          <a:p xmlns:a="http://schemas.openxmlformats.org/drawingml/2006/main">
            <a:r>
              <a:t>- 果仁样板间产品页面源码: /Users/zhanghl/Documents/GitHub/guoren-v2/src/solutionShowroom/SolutionShowroomPortal.jsx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1e9e0dba74d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5fe4f8bd2a4ea2" /><Relationship Type="http://schemas.openxmlformats.org/officeDocument/2006/relationships/slideLayout" Target="/ppt/slideLayouts/slideLayout1.xml" Id="R991647fd341a4c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1647fd341a4c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d823507d74256" /><Relationship Type="http://schemas.openxmlformats.org/officeDocument/2006/relationships/notesSlide" Target="/ppt/notesSlides/notesSlide1.xml" Id="Reb8225e41ba44c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f6bf877fc48e4" /><Relationship Type="http://schemas.openxmlformats.org/officeDocument/2006/relationships/notesSlide" Target="/ppt/notesSlides/notesSlide2.xml" Id="R02821955f9b04a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19cfb7eb6492b" /><Relationship Type="http://schemas.openxmlformats.org/officeDocument/2006/relationships/notesSlide" Target="/ppt/notesSlides/notesSlide3.xml" Id="Rb358f1e232c343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65d66556a4280" /><Relationship Type="http://schemas.openxmlformats.org/officeDocument/2006/relationships/notesSlide" Target="/ppt/notesSlides/notesSlide4.xml" Id="R08808957786943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896a9f0c04286" /><Relationship Type="http://schemas.openxmlformats.org/officeDocument/2006/relationships/notesSlide" Target="/ppt/notesSlides/notesSlide5.xml" Id="R2c3b50b7051f4d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316ad110a4f9a" /><Relationship Type="http://schemas.openxmlformats.org/officeDocument/2006/relationships/notesSlide" Target="/ppt/notesSlides/notesSlide6.xml" Id="Rc917c5a30f3d48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4899fdcf242f4" /><Relationship Type="http://schemas.openxmlformats.org/officeDocument/2006/relationships/notesSlide" Target="/ppt/notesSlides/notesSlide7.xml" Id="R21df31e6d4d842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7cff7bbf84414" /><Relationship Type="http://schemas.openxmlformats.org/officeDocument/2006/relationships/notesSlide" Target="/ppt/notesSlides/notesSlide8.xml" Id="R7f5d755918f04b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134ccda454aa5" /><Relationship Type="http://schemas.openxmlformats.org/officeDocument/2006/relationships/notesSlide" Target="/ppt/notesSlides/notesSlide9.xml" Id="R29dcb64fa0ee43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49d1fcd374292" /><Relationship Type="http://schemas.openxmlformats.org/officeDocument/2006/relationships/notesSlide" Target="/ppt/notesSlides/notesSlide10.xml" Id="R7b4757402cf442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eb1d6db6848ff" /><Relationship Type="http://schemas.openxmlformats.org/officeDocument/2006/relationships/notesSlide" Target="/ppt/notesSlides/notesSlide11.xml" Id="R12ca285b8ea941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63a4213dd4664" /><Relationship Type="http://schemas.openxmlformats.org/officeDocument/2006/relationships/notesSlide" Target="/ppt/notesSlides/notesSlide12.xml" Id="R8578e3f5a8d24e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81d551d164e44" /><Relationship Type="http://schemas.openxmlformats.org/officeDocument/2006/relationships/notesSlide" Target="/ppt/notesSlides/notesSlide13.xml" Id="Rabab95ab2ae243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e1664c5094931" /><Relationship Type="http://schemas.openxmlformats.org/officeDocument/2006/relationships/notesSlide" Target="/ppt/notesSlides/notesSlide14.xml" Id="R902e8e0c654b45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4d95992c349a3" /><Relationship Type="http://schemas.openxmlformats.org/officeDocument/2006/relationships/notesSlide" Target="/ppt/notesSlides/notesSlide15.xml" Id="R75a27116181f48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915f8beb249c9" /><Relationship Type="http://schemas.openxmlformats.org/officeDocument/2006/relationships/notesSlide" Target="/ppt/notesSlides/notesSlide16.xml" Id="Rc330856e6d184d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40d7245904708" /><Relationship Type="http://schemas.openxmlformats.org/officeDocument/2006/relationships/notesSlide" Target="/ppt/notesSlides/notesSlide17.xml" Id="Rcc4c9b6b0f0948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d558c955c4195" /><Relationship Type="http://schemas.openxmlformats.org/officeDocument/2006/relationships/notesSlide" Target="/ppt/notesSlides/notesSlide18.xml" Id="R211c98e0a8864b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0486bebb34a9b" /><Relationship Type="http://schemas.openxmlformats.org/officeDocument/2006/relationships/notesSlide" Target="/ppt/notesSlides/notesSlide19.xml" Id="Re9489c6d6b3745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866F5-89E1-4B64-B42A-9499EB84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智能体建设平台路演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BC641-F97A-4BD5-869C-30F3FFFA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 智能体建设平台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4AC50-1F3D-49B1-BCA5-0312AB24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用资料库沉淀知识，用空间承载业务，让智能体从问答走向任务执行。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C1DA5-18D3-4DB6-AA89-DBF0BDDA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C1959-7F1F-4E3A-939E-F6E4FA10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E8F16-610F-4664-B7B8-A2F8C65D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知识资产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49FF2-9EF3-407D-BB23-2C431AD1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0530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9DB60-0246-4F62-BD0D-B71063ED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场景模板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461B2-CF5D-4C39-804D-53B7447E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22042-00B8-4BC7-8884-588BF30D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386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智能体运营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9060C-BD02-46D0-8250-C4EDC751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"/>
            <a:ext cx="165735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ABEE6-F847-4E39-9A92-8D41C129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38350"/>
            <a:ext cx="1428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BUILD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D41AD-3D16-490A-8183-C0CE37CB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10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Lucky + 资料库 + 空间</a:t>
            </a:r>
          </a:p>
        </p:txBody>
      </p:sp>
    </p:spTree>
    <p:extLst>
      <p:ext uri="{BB962C8B-B14F-4D97-AF65-F5344CB8AC3E}">
        <p14:creationId xmlns:p14="http://schemas.microsoft.com/office/powerpoint/2010/main" val="514577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E359F-1B0E-4422-A3B1-D8109112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市场判断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AB53C-4538-4307-A1C0-BBB775D4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客户真正需要的是可建设的智能体体系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61840-2206-4A75-B2BC-B0B949D4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单点 AI 工具很容易演示，但很难持续交付、复用和治理。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3F44C-9F69-4475-97AE-B24506B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E3135-FD53-43C9-87AD-18CB2626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7A181-114A-4E54-8BCB-8E65E934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AAFF8-5F57-41D8-8B0E-E257564C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知识不可控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13A5C-1FF6-4482-B37B-4A779231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资料分散在文件、群聊和个人经验里，智能体回答难追溯、难更新。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F202B-8535-4661-A90D-A96D1BD4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D10C5-90BC-49BE-ADBF-A56E8739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场景不可复用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DC86B-7F9D-4B0A-BA42-3072FFE7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909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每次项目都重新搭流程、导资料、配权限，交付能力很难规模化。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33809-0A8C-487A-B378-D51E8EE6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37A6D-685B-47CA-82ED-E2DFC356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智能体不可运营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81BF8-1671-40CA-8E02-86F91DA2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创建一个助手不难，难的是持续管理角色、技能、成本、效果和责任边界。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99F38-CA9B-4616-82A8-B0833F10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平台的价值，是把一次性智能问答变成可治理、可复制、可进化的组织能力。</a:t>
            </a:r>
          </a:p>
        </p:txBody>
      </p:sp>
    </p:spTree>
    <p:extLst>
      <p:ext uri="{BB962C8B-B14F-4D97-AF65-F5344CB8AC3E}">
        <p14:creationId xmlns:p14="http://schemas.microsoft.com/office/powerpoint/2010/main" val="14616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CA4B9-6C90-47BF-A088-5E2E8CA2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核心架构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2CD83-1D42-41CA-A710-8EE03413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Lucky、资料库和空间构成平台的核心业务架构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62E9A-8549-432F-A034-0BC4FCFC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68342-E3B9-44B1-9224-C133A1D4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1D8BE-B14E-474B-80EB-33ACC851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628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14DE8-8E09-4F7B-9EF6-6A0A190B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资料库 / 知识库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C7B89-11CA-472D-B87F-D0B3FB3F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1981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业务资料统一沉淀，形成可检索、可复用、可问答、可生成的知识资产。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2CD13-D251-4398-A436-F986BF67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816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知识底座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815CB-3C30-483F-AEE6-2B0F7A0B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628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4E67F-9ECB-4961-8B8D-2F7DB62F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194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空间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B3DBF-9E48-4259-A9CF-E8E1027E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24300"/>
            <a:ext cx="1981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承载培训、教研、教学和项目协作，把成员、权限、流程、工具和成果组织起来。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D2E35-470D-4E47-8B02-7DCC436F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1816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业务载体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F6F94-063A-4F6B-A7B9-57FE23BF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2628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8B71F-3C19-4915-8B24-BEB07D9A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Lucky 智能体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39BD3-50A4-4B3E-96AB-51A5126E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24300"/>
            <a:ext cx="1981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可独立使用，也可导入空间，为不同角色提供问答、生成、分析和任务辅助。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FA4EC-62E1-49F1-B4BC-17C4896D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816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智能引擎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39020-B943-468D-A924-ACC39D36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33800"/>
            <a:ext cx="11239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380F7-85BD-41A1-A5C8-C6CC6715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815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资料进入业务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2BDB6-AE08-48F3-88FE-A831A2BD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33800"/>
            <a:ext cx="11239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F41C1-55A2-4816-AD57-62B774A9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815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AI 赋能角色</a:t>
            </a:r>
          </a:p>
        </p:txBody>
      </p:sp>
    </p:spTree>
    <p:extLst>
      <p:ext uri="{BB962C8B-B14F-4D97-AF65-F5344CB8AC3E}">
        <p14:creationId xmlns:p14="http://schemas.microsoft.com/office/powerpoint/2010/main" val="1440067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8C2239-3071-48AC-8023-29CC8D65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建设逻辑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5BF1F-E5B1-4582-9359-5495C59A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平台不是聊天入口，而是一套智能体建设流水线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52795-7F3E-4A79-90B0-A1252405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每个智能体都需要知识来源、业务边界、权限规则和运营指标。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F4098-5834-41EF-94C2-E5DC8D2E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5C064-49EE-4D1A-A741-43A99228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8E838-B85F-4200-A700-4EE054C4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040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4182C-9091-408E-AB1B-AF6BA45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72656-D381-4FFC-B760-EC4942FF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132A7-3480-402B-A8D7-1DB9A7EC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导入资料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43FCC-D2BB-4C2F-89FE-5C4A5AD3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文档、案例、课程、流程和项目记录进入资料库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6D24A-6927-4B4C-8C11-0FED50D5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8B496-D1A4-4670-B285-2A334F5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14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4CF41-8BF1-44F6-9384-FA02FB2A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33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知识治理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C0F04-24A3-4097-8305-9A9D8D9B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100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解析、标签、版本、来源和权限形成可用资产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B1444-9D96-4125-AEE8-972031B6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AA8AB-4568-4385-B718-790EBF04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39C8E-58A8-407B-98F3-45238776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创建空间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4AF7C-9557-4243-A877-40109F76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100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把成员、目标、流程、工具和成果组织成场景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66185-3E0C-414F-ADEA-5EEDAFB2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8FE78-3015-4A83-BBDB-89D3BB51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41E26-2DEF-4F11-9A2E-8B113D9F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配置角色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AA324-33C1-4B2C-B063-3EE1F6B6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为教师、运营、项目经理等角色配置智能体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E498F-F360-4D15-9541-81E8CB5E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B4B64-E081-4113-8009-3C208174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33ADA6-ACFB-453B-8C92-BFE35EAF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33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运行任务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C629FD-7522-4469-9747-E30E4ADA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100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问答、生成、分析、提醒、转交和协作推进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1F80F-A22D-4471-8C77-E8B2FD4A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53BB8-BE41-41E4-A3E3-C4295BEB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14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067C03-3A19-4052-8FFF-EEA567BF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33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评估优化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B7CE02-A044-4F0F-9142-D343041B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10050"/>
            <a:ext cx="144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看使用效果、命中率、成本、满意度和沉淀质量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29B849-250C-4035-BF5D-B8700927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81650"/>
            <a:ext cx="868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A989A-B93D-47D9-83F5-804509C7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0547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从“创建一个机器人”升级为“建设一套可运营的智能体能力”。</a:t>
            </a:r>
          </a:p>
        </p:txBody>
      </p:sp>
    </p:spTree>
    <p:extLst>
      <p:ext uri="{BB962C8B-B14F-4D97-AF65-F5344CB8AC3E}">
        <p14:creationId xmlns:p14="http://schemas.microsoft.com/office/powerpoint/2010/main" val="8104298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68A18-33AA-4CC0-9A8A-9FB7B1E2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能力一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473AD-F4B1-429A-A519-DF45F76D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资料库把组织资产变成智能体可用的知识底座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D30FC-9969-4D07-8FEC-E9822DC8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4F498-6EE4-4D3B-9848-489E2392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F5600-21C3-4F02-9EAA-22D65345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33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242C0-AB5C-41DA-B4D0-02BEB155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FD4FD-FAA1-421F-BBBA-A1C30062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不是文件仓库，而是可检索、可引用、可生成的知识资产层。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0E4B1-A93D-4FAD-BCB1-9FAABC5A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2895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C2E0F-45F4-451A-806B-8C6C92F4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908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资料统一沉淀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7DB15-4C66-47E9-AB4C-7F63010C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99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课程资料、制度流程、项目文档、案例模板进入统一资产池。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C58F2-8107-45AA-B9BB-8E4E46EE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2895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8064D-A329-4E19-BA70-E76A51C2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解析与标签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F28BF-E702-46A8-8905-DB71DBCF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围绕主题、场景、角色和权限建立检索与生成上下文。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85544-BF85-434F-A23B-443819D8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895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C0926-1A88-4162-A8D7-5F7E70D6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481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来源可追溯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2B0AC-DD34-40CC-B4AE-9C4CDCDA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672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回答、生成和分析都能回到资料来源，减少黑箱输出。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7FDDE-9361-4321-8D82-F1EE44EE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2895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45150-2DB5-48BF-893D-2595AAA5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模板案例复用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27168-D5A8-43AE-8931-9F3B252A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672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把高频方案、交付经验和最佳实践变成可调用资产。</a:t>
            </a:r>
          </a:p>
        </p:txBody>
      </p:sp>
    </p:spTree>
    <p:extLst>
      <p:ext uri="{BB962C8B-B14F-4D97-AF65-F5344CB8AC3E}">
        <p14:creationId xmlns:p14="http://schemas.microsoft.com/office/powerpoint/2010/main" val="1830817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98E3F-2A5B-4B3E-AF0C-9FCE93A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能力二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DE956-5357-40F3-AD2D-2A0AD375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空间把业务场景变成智能体可执行的工作场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202E1-7BF1-4F83-A37C-68FF00DA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88C16-EDA3-44F3-B40F-4D75357C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9DA9A-C619-4311-A19C-704F9DE0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99822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9BF5B-B23B-4F16-88A9-20BBC02D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业务空间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A7797-C5CC-4852-9253-D093C4A7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3AD15-C257-4E25-940D-971B151F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480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成员 / 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81CE7-5C68-4B91-9B78-E1C4BA59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52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老师、学员、运营、项目经理、专家和管理员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B06F2-EB0E-4FE2-A336-5B6B3066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63B18-B192-4E69-8540-6346407D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958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流程 / 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08D06-FCC3-457B-B771-14694CF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006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计划、待办、审批、提醒、复盘和异常转交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769D7-F7C1-45C9-84AF-DA4D269B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25745-5835-4E65-94EB-4F2442D2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480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工具 / 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98CC3-C2F5-4AD3-B28B-7BE1EEE5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52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研讨会、问卷、资料、白板、作业和报告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4E416-6B93-486F-BBD9-17E7FE4B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30863-48C5-4E08-AAA4-1D831C05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权限 / 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4ED39-E113-463C-8BC4-71452F19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资料范围、角色权限、过程记录和效果数据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9F071-D98C-42B3-AA07-27FCFBB1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2930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空间让智能体不只知道“答案”，还知道“在哪个业务场景里、为哪个角色、按照什么规则做事”。</a:t>
            </a:r>
          </a:p>
        </p:txBody>
      </p:sp>
    </p:spTree>
    <p:extLst>
      <p:ext uri="{BB962C8B-B14F-4D97-AF65-F5344CB8AC3E}">
        <p14:creationId xmlns:p14="http://schemas.microsoft.com/office/powerpoint/2010/main" val="21002355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FDBE1-D0A7-475B-99D3-2D25CF19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模块补充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C65E8-416E-4EE9-8172-BA0E9BDC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资料库统一管理多类型资料，并让资料天然可被智能体调用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80D93-6AEA-44F2-A7A3-69EF5A83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资料库不只是上传文件，而是把业务资料、学习材料、过程产物和评价结果变成可识别、可生成、可复用的资产。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F6776-A5AC-4901-B25D-CB394F2F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E62D8-6C59-4D96-827E-0DCF825E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122E8-BFBB-42BE-A3D7-3E34DA41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0386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64036-CE64-47FA-A2E0-D742D10F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61F22-D943-4ED0-8EB7-BE0C3B20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覆盖 office、md、pdf、音视频、会议回放、在线文档、白板、问卷、投票、考试、报名、接龙、测评、实训任务、知识图谱、能力模型、虚拟课堂、html 课件、案例仿真和 AI 课堂评价报告等。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CEEEE-D407-43EA-9098-B2607F17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471A4-BEEF-490B-B379-514DFA6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通过【资料库】模块实现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9A527-8502-40D8-B20C-D6D976B1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2819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BE184-80AE-4D95-B1EA-206C670A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98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智能体识别所有资料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A4F22-421E-461C-AF0E-6CFDD02E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资料进入统一资产层后，可以成为问答、分析、推荐和生成的上下文来源。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53B99-CCCE-48A6-8E63-0BFAC208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819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6CCA5-CE74-49E6-8A8D-86B32C1C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智能体生成各类资料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19251-030B-423B-9F34-7FA24E2F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289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方案、课件、报告、问卷、任务和评价材料都可以由智能体辅助产出。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C4ECD-98D2-423C-B879-A2D46E71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14800"/>
            <a:ext cx="628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A517F-C026-4785-B8A4-797D09F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582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资料沉淀到业务过程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47438-F910-49D3-8DE7-1BBAE61A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625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资料不再停留在文件夹里，可以被空间、项目和 Lucky 在真实任务中持续调用。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40FDB-EDEA-4409-BCB8-A4553168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53100"/>
            <a:ext cx="902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5BBA6-9086-48FF-AEA7-FC79F829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86450"/>
            <a:ext cx="830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资料库让知识资产从“存起来”，变成“智能体能理解并直接参与业务”。</a:t>
            </a:r>
          </a:p>
        </p:txBody>
      </p:sp>
    </p:spTree>
    <p:extLst>
      <p:ext uri="{BB962C8B-B14F-4D97-AF65-F5344CB8AC3E}">
        <p14:creationId xmlns:p14="http://schemas.microsoft.com/office/powerpoint/2010/main" val="456861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1877F-312B-4DB1-A2EC-D91E1C26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模块补充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61BA8-FFD6-4168-99D4-CB3BB455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空间承载多场景业务，并把资料、成员、组件和智能体组织起来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B035E-1B36-4634-AF50-539E63AF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组织培训、教研、教学等场景可以在空间中组合资料库、任务、日历、IM、权限和智能体能力。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61EF1-4D70-4ACD-8873-1691E3F9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7824C-8B91-416B-A76F-F9A2BF50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88366-1EEC-46D6-AFEA-292C1DBC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CF70B-98DF-4A4C-92BC-1E0C89FB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多场景支持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B830F-C251-41FC-9244-970E121A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覆盖组织培训、教研、教学等场景，支持后续自定义场景模式。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B9E96-3476-4ED7-BFAD-89A1E896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24A27-838E-46F5-8373-53A159E8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引用资料库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76DE0-7C2C-45AB-9A49-C6DA1C50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场景内可引用资料库内容，让教、学、研资料类型更丰富。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07FE0-A2AF-452D-A921-252FC10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0F1E9-BD05-4995-A401-E9DC0767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灵活考核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91242-92DF-4A6C-82D4-8320E1AB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可面向不同资料设置考核规则，并逐步支持拖拽配置考核内容。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AA414-6ADB-478F-BBCD-60380B8D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9F8BC-8298-451C-A199-E170AA9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引入智能体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EFD3B-DB3C-4999-9C2C-B3E78DE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智能体感知场景数据和活动，形成助学、助管、助评、助教能力。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4EAC7-DA67-48FB-AF44-2A3B6506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F541F-D222-4752-9424-44F62C14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386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协同组件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750EB-E68B-4C27-87DB-97E6AC66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9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内置任务、日历、IM，支持任务下发、日程查看和团队沟通。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3CD18-BB7D-4567-9D85-D461FC58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D40F5-C58A-4005-A41E-32A9F906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权限与模式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2A0E9-78FC-47C5-9617-BD31C051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9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支持人员导入、功能权限、数据权限，以及知识、AI、实训等模式。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E15D9-16C3-4A7C-B87A-0E533A73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998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76312-BD84-4E4E-BE73-D45FECAB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10250"/>
            <a:ext cx="887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原生：场景可被智能体识别和创建，包括场景内组件。通过【空间】模块实现。</a:t>
            </a:r>
          </a:p>
        </p:txBody>
      </p:sp>
    </p:spTree>
    <p:extLst>
      <p:ext uri="{BB962C8B-B14F-4D97-AF65-F5344CB8AC3E}">
        <p14:creationId xmlns:p14="http://schemas.microsoft.com/office/powerpoint/2010/main" val="1531045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3A9FE6-E02C-498E-9980-FF05EA36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模块补充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24A9C-82E3-411A-A2DF-D4693C92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知识空间支持多组织知识体系，让不同部门拥有自己的知识边界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BDF51-C705-4A6E-8DD3-D10FEFD7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知识空间面向组织、部门和项目建立知识体系，并通过成员、角色、可见范围和图谱绑定保持治理边界。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E1485-B5E5-4A99-BDB2-79EFDB17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9E775-803A-40B9-9650-85829686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7DD78-78B5-4D68-AA0C-A3EF9513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2766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50CE1-A346-4145-B5E3-251C853B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4A879-1D02-475A-9AC8-384433C7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2514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把部门、项目和组织的知识体系分别建起来，既能沉淀团队经验，也能控制成员和访问边界。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08378-915C-4D81-89B7-6B8719E0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通过【知识空间】模块实现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D4AA7-2667-4D75-A00C-961BC788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095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6827F-AC9F-4930-B690-CC40C2D7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38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多组织知识体系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EFEE0-1DBB-4AE1-9880-B1053980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1638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按组织、部门、项目建立独立知识体系，支持教学、教研、培训和项目知识空间。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620CE-654E-42D1-98B8-0409FF26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5300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B711D-EE3B-41A8-AB48-0CEFAD77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05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分组织沉淀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5DEE9-2358-4CC2-B420-54330131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2095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F4EC1-BEF1-4DF2-B1E1-F92F5E1F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38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成员与权限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1E97F-1BCB-4151-8D54-7A9D6624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1638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为不同组织设置成员、角色、可见范围和访问权限，保留数据边界。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6620B-9C36-41F3-B728-145DB58D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C7A90-6223-45FD-903D-20211416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05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按权限治理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630A7-EBC3-41F4-A5FB-140D43A5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095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59315-F744-47CF-811E-35877BA7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38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图谱与资料绑定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8132F-E8A9-4F5F-80C2-00E2E1F5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1638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从资料库绑定知识图谱，把资料、知识点和学习/研究路径组织起来。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CDBEA-3B11-4257-B876-6E14604B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95300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0245A-F150-472B-BAF9-BF30A75F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连接知识图谱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2C629-779A-4788-8E7D-8DDB05C6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43600"/>
            <a:ext cx="887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知识空间让资料库中的资产变成有组织、有角色、有权限的知识体系。</a:t>
            </a:r>
          </a:p>
        </p:txBody>
      </p:sp>
    </p:spTree>
    <p:extLst>
      <p:ext uri="{BB962C8B-B14F-4D97-AF65-F5344CB8AC3E}">
        <p14:creationId xmlns:p14="http://schemas.microsoft.com/office/powerpoint/2010/main" val="12062638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43E8D-2018-4A4E-B12E-B12C1D65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能力三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33908-9B92-4A89-86C1-807A9815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 让智能体从回答问题走向完成任务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10898-36FC-4A4D-8F22-A9F15F3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ED2C0-A928-40A3-A192-8A2A2DF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AB1F6-5EFC-45B3-9393-0F6F4713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09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F9233-748B-495C-A29F-20390681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理解目标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73FD4-699F-47F8-BA77-F262D314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多轮澄清需求、对象、约束和成功标准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652A5-EB54-44E9-AEF1-50F909C1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52800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F4A33-1D4C-41E8-A6F5-A53FDE1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1809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B0AC4-DF65-41A5-A8BD-1A5656C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拆解计划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FD3AC-1ACF-4FA8-949D-D4AB4265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生成任务步骤、责任角色和执行顺序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20A8E-2B3E-48E5-BA52-49769DF2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DEB51-C1DF-4583-9B8A-C3F9E85E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19400"/>
            <a:ext cx="1809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ABFEE-91C7-468A-935F-0889841F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调用工具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82D57-99A5-42A2-9B33-3B8BEFBA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检索资料、生成内容、配置空间和创建任务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E70D1-1826-40B1-8D05-EC50F3F1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C8378-8E60-4AF5-B3C4-B4B3EAEB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19400"/>
            <a:ext cx="1809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CC2DC-D3CD-4407-9738-F88178DB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推进协作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9B553-1F3F-4BCF-B4D5-8C6D33D8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提醒、催办、异常识别和人工转交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0E657-BC63-48C5-AA6D-4EB2D0F4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52800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17A9E-05FC-477E-8445-0275F013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1809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53ECB-DAF9-48C5-ACD0-C688343D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汇总沉淀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A64A4-271E-401A-91A5-FEB431E7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385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形成报告、FAQ、案例和下一轮优化建议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C3AA5-D029-4274-907E-C8CFBA08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24450"/>
            <a:ext cx="701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6F7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027612-ADF9-47BD-B003-476C076B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67325"/>
            <a:ext cx="640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人的角色回到目标确认、专业校准、关键判断和风险决策。</a:t>
            </a:r>
          </a:p>
        </p:txBody>
      </p:sp>
    </p:spTree>
    <p:extLst>
      <p:ext uri="{BB962C8B-B14F-4D97-AF65-F5344CB8AC3E}">
        <p14:creationId xmlns:p14="http://schemas.microsoft.com/office/powerpoint/2010/main" val="11085329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A11E27-E610-4D25-B190-58101AF0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Lucky 功能总览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BB2F8-DFA9-45C2-B00F-7FC817E6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 的核心功能覆盖任务执行、智能体建设和能力生态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A6BFF-9AA5-4BD4-A20C-C3AD93D3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办公和编程是两种工作模式，六个入口连接任务、项目、资源和生态。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0C197-BBBD-4A64-BAC0-91F43DCD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2D7F7-CD38-453C-8CD1-A3921F4B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8A4A6-FB1B-420D-AFEF-4E4E712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2724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4F5D3-2DA8-4A59-A51F-5EEF6E44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工作模式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A716D-CDB9-42BA-888E-4E9E0DDA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085FA-5E57-484C-83AA-F8579F7D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办公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CB783-CBED-42FC-88C5-28407CE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面向资料处理、内容生成、任务协同和项目推进。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89C7D-C30C-4246-9FA5-31D84C43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C54BB-F9EB-435F-A9D7-505A382D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编程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E7912-73BA-4B23-B340-B559B05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面向代码生成、脚本调试、技能创建和自动化开发。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5B040-D43D-4905-BFBB-BB5692CF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9E9ED-5DC9-4A6F-8615-1FCA1255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52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新任务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B385F-702A-4CC6-AA53-9F0EC1B9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956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发起目标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BA915-B662-4890-975B-1681647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ED6EC-6B60-4051-8DA2-F423F5BA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自动化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E496C-8FC8-4FCD-9ECD-EA6CEA6B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沉淀流程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A4CE4-6543-4A8E-85B6-7709B5CD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9DE4F-27B3-4877-8F18-0530B823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86CBC-1EAB-4EEA-AA28-27E9232C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D8D8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D8D8"/>
                </a:solidFill>
                <a:latin typeface="PingFang SC"/>
                <a:ea typeface="PingFang SC"/>
                <a:cs typeface="PingFang SC"/>
              </a:rPr>
              <a:t>配置角色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0B764-CE66-46FA-9E0D-70D91E2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433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D2B0D-49AA-4817-B550-3EA7D1C6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14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CEB1C-5A2A-4CA3-8306-317F00B3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576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组织上下文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A7550-001C-443C-AA6E-8AA01796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074F8-CA9F-458D-A3F1-BAF30CA9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资源库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DD0CF-6FCF-4B36-8EB0-C75751AA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576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复用资料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48A407-11D8-43A3-A70D-C2DA08FF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433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41D374-5991-4B9A-A85A-6D548A37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市场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3BF27-F559-4319-B580-549F93FD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576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专家 · 技能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07F3B9-F956-439B-BF57-56E3CE78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76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常用动作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F91358-DBB7-45BD-AB15-33B17F48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387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FDE282-BC7B-4CF2-9F1B-80CCE0C0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53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幻灯片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CD64E3-FC21-47E8-AEB4-81E1C623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387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50497A-13E6-4673-8B78-6DACF17E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深度研究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B5C071-6A2E-482D-AFE8-81CB4C9D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387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0E5199-5307-4346-B67B-CDE5DFFC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数据可视化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085689-DF27-4A06-9250-DAA26334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387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0BBE3D-A77E-40DB-B05F-28BA750A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53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产品原型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02F221-5F12-408C-946D-5CFC6E74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387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9B9465-3EA3-46D3-ADBC-6B44A4B3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53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日常办公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E0C64B-B058-40DA-87CA-B9AFFD07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8387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599019-A260-4E96-BCCC-9DF82FC5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953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图像生成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2A2076-20F5-4BFA-B14B-4CD76F33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15000"/>
            <a:ext cx="746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3C4907-8BBE-44B8-B68B-4782AF86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48350"/>
            <a:ext cx="678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Lucky 的入口不是功能清单，而是组织建设智能体能力的工作台。</a:t>
            </a:r>
          </a:p>
        </p:txBody>
      </p:sp>
    </p:spTree>
    <p:extLst>
      <p:ext uri="{BB962C8B-B14F-4D97-AF65-F5344CB8AC3E}">
        <p14:creationId xmlns:p14="http://schemas.microsoft.com/office/powerpoint/2010/main" val="907003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B389A3-6198-48E0-B76D-518E12E5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任务执行层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CEB0B-1E23-4A87-85FE-56F4C299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 把“提问”升级为任务推进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0C6F2-6B08-4445-8FB3-99CE138F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自然语言入口负责发起目标，自动化和项目能力负责把目标持续推进到结果。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29FAB-3226-425C-B50B-56013797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59A63-73DC-4C6A-A145-D79BEEDD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796BE-BE7F-4D1A-93A4-171D38A4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F8F47-8623-4872-A9C8-0C36A03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新任务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418C4-1DF8-4FB8-8703-664B749E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从自然语言发起目标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3E840-0265-4874-B530-C0981381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连接智能伙伴、项目上下文和云端工具，让用户不用先找菜单。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8D40E-1A39-48FD-B6E0-ED2E5876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F76F2-1A47-4711-BC2A-F8675CB5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624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描述目标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83CBB-38DE-4470-B1C8-467B1C9E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2CB3B-04E6-4C23-AD46-A8B9EA97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选择智能伙伴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0C83C-0F8C-4E82-AD24-8BC11F17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9AAA5-F07C-4814-9336-B7F61647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577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进入项目工作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E2D93-FF7A-467E-BAF9-FC49ADA9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31432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55A36-0B0B-4102-A884-FDF8B9D0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自动化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5E559-C1A3-4D98-A56C-D431BACE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把重复任务沉淀成流程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C3C37-8633-47A0-93A0-68709864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DDDDD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DDDDD"/>
                </a:solidFill>
                <a:latin typeface="PingFang SC"/>
                <a:ea typeface="PingFang SC"/>
                <a:cs typeface="PingFang SC"/>
              </a:rPr>
              <a:t>按时间、状态和负责人触发提醒、资料归档和进度同步。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FF03E-D559-47D1-8B4A-7E64FA5F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339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1BA8D-AD4C-46F5-B941-1A002EFB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624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消息提醒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4B0D4-65CB-41AD-8FA9-E4F8E75D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320ECB-71DC-4067-B079-132FCCDB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012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资料归档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48397-A4DC-4771-9D84-99F0F93E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5E56E1-2CF1-4631-9641-757CAFAD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577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进度同步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73392-B119-475F-A49D-ADD0FB1A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1432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532BA-99A6-4916-91D0-5323E87E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6AB5B-BD5B-49FA-B9EA-801C581E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围绕真实业务组织上下文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0BD59-37BB-4A37-B0D9-C46A1490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集中管理任务、资料、成员、输出和阶段成果，保留复盘依据。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EB92D8-4254-44C0-93FD-DE44B19B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7956A9-884F-46C4-98B1-EB601651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624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培训项目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D8E50-33E7-47F9-BF15-30804B76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0A2ED7-FAB0-488B-ABAC-87F4E826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1012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市场研究项目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351B5B-B5FF-48AF-9563-B705CC10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29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36F473-DC8C-4848-B186-66D20E1C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577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产品原型项目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BDD09A-07EB-4630-95FE-EF0AA587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721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6F7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D12073-4AE8-4711-A740-B31B618D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905500"/>
            <a:ext cx="758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任务执行层让 Lucky 从一次性生成，走向可跟进、可归档、可复盘的业务过程。</a:t>
            </a:r>
          </a:p>
        </p:txBody>
      </p:sp>
    </p:spTree>
    <p:extLst>
      <p:ext uri="{BB962C8B-B14F-4D97-AF65-F5344CB8AC3E}">
        <p14:creationId xmlns:p14="http://schemas.microsoft.com/office/powerpoint/2010/main" val="954782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C12EC-53EE-4231-BB4F-0FE1C844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建设与生态层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4619C-3DD0-4769-A066-E9D202ED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 不只是内置助手，而是可配置、可扩展、可运营的平台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C86CC-1011-4FA4-B186-E6C2D19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智能体、资源库、市场和编程模式共同构成持续扩展的能力生态。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45ABF-ABC3-4CA3-83F5-6D012A1A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EF4B6-B8E9-4EBD-9964-53663155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AEC7E-BD17-424E-A257-581EE86E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3048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A1C0A-C8ED-4BCA-B929-DCCCDCB4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D0041-ABE7-4E13-89E7-36946574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管理可协作的智能伙伴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44C47-5A9A-4993-90DF-CFF81D64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>
                <a:solidFill>
                  <a:srgbClr val="DDDDD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DDDDD"/>
                </a:solidFill>
                <a:latin typeface="PingFang SC"/>
                <a:ea typeface="PingFang SC"/>
                <a:cs typeface="PingFang SC"/>
              </a:rPr>
              <a:t>支持档案、技能、知识、模型、管理等配置，让不同角色进入同一任务体系。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2B71E-9A10-45BF-8144-5A567045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3048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ECF8C-FDD3-4635-82BC-582758F1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资源库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145BF-B521-4734-BCFE-1E65B4F7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沉淀资料和知识上下文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AFC9D-9165-4193-AE0C-0E071A47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766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沉淀资料、产物、模板和任务输出，作为智能体可检索和引用的资料范围。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98050-6412-46D4-8CF8-429AC96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3048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1A747-87C1-4B0E-ADEC-3D8B5CFB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市场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EA5A6-68DF-4F24-BD90-43837D20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分发可复用能力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4C4F6-383F-42AA-93DE-597CBF20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提供专家、技能、最佳实践、企业智能体等能力，让组织按场景招募和复用。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CDE68-BA52-4A49-988E-C6F96207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10172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578B6-740E-4927-8F56-43CBD731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05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编程模式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5DE4D-6033-43AB-9952-2FF08730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244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作为技术任务入口，覆盖代码生成、脚本调试、技能创建和自动化开发辅助。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0B0A7-00F5-434C-88CF-573F0099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62650"/>
            <a:ext cx="891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从内置智能体，到组织自建智能体，再到市场生态，Lucky 的能力可以被持续配置和运营。</a:t>
            </a:r>
          </a:p>
        </p:txBody>
      </p:sp>
    </p:spTree>
    <p:extLst>
      <p:ext uri="{BB962C8B-B14F-4D97-AF65-F5344CB8AC3E}">
        <p14:creationId xmlns:p14="http://schemas.microsoft.com/office/powerpoint/2010/main" val="12360122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296F0-4CE9-4014-9B6E-DFEE266F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组合交付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288B8-C0E8-41FF-9F87-4637A6AD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平台能力可以按客户成熟度组合成多种交付形态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7244B-6CB8-48FA-B81A-650C4269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D7A1E-6B93-44B8-A400-B0D50125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8600D-9E71-44D9-AC43-8FE42226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5717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CAD55-607B-44AE-991B-ADC418F8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32BE6-99F2-4CB7-8C35-CB564C11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独立智能体平台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适合智能助理、账号订阅、模型能力调用等交付。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EA0C3-EA4F-45F0-BB7F-1DE6A133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25717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8A36B-0BC0-4B54-9B03-4D22C389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 + 资料库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96ED4-6155-476D-ABF1-DFE8A8E4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形成私域知识服务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适合知识库问答、智能资料库、机构知识助手。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9D3BC-1BCC-42C7-9903-4ACF331D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5717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11DBC-5987-4AFC-88CF-EE828207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Lucky + 资料库 + 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B90AD-19D9-4F7B-B496-4B3BE5D6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形成 AI 原生业务平台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承载培训、教研、教学和项目协作过程。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F16B8-DAF3-422F-881E-FAD8B8D5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25717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60E73-FACE-4622-B911-FDB372F2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24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再叠加场景模板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5725A-78DB-4E8D-BA6C-816B434C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生成多种垂直方案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面向工作室、工作坊、校本研修、区域教师发展等业务。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4A74F-7962-43B1-AF07-6105424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这些组合都可以支持相应的商业模式交付。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262EF-4B4B-4412-8F7E-ECF73061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96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从工具平台到场景方案，交付深度逐级增加。</a:t>
            </a:r>
          </a:p>
        </p:txBody>
      </p:sp>
    </p:spTree>
    <p:extLst>
      <p:ext uri="{BB962C8B-B14F-4D97-AF65-F5344CB8AC3E}">
        <p14:creationId xmlns:p14="http://schemas.microsoft.com/office/powerpoint/2010/main" val="5849318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8E091-D9FF-4B8B-AE90-AD9EEFF3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运行模式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3A6AD-BF10-4132-9755-71162714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空间支持多种运行模式，支撑不同类型智能体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E8E45-D742-4D4B-BE91-33AC586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客户不必一次性建设全部能力，可以从一个模式切入，再逐步扩展为完整空间。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EC0C1-F61B-4B47-987E-12D7229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ACDAD-FAE8-4E05-BB72-5CE71759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E2643-A2B2-42A7-909C-76FA51F8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266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AF7D6-56F8-4A3C-ADDB-8673C7B8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知识模式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95123-CDC7-4682-B84B-EB2675CC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围绕资料、图谱和学习路径，让用户先看懂、找得到、可追溯。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00869-1D5B-46A4-87A4-06234449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47950"/>
            <a:ext cx="2266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E1B4C-E0AF-438E-A9D1-778D30B5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90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F27B8-AD40-4032-AABC-F69B7DA5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让 Lucky 进入空间，结合角色、资料和任务提供问答、生成、分析。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101C9-C378-4AFA-BF12-290DA0EB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2266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E9578-56C1-49F9-ACB1-C18C683D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90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实训模式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25471-344D-450F-AF32-BA6954C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把学习任务连接到真实工具、实验环境和过程记录。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F3FC1-9DD0-4641-9FEF-CCBA0F94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2266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10826-4893-4F02-9EB3-D273D2A2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90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考核配置模式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3A244-431F-4C39-9F04-DD992AD8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385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按项目规则配置任务、评价、证书和结果沉淀。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5EA99-5A21-48E8-B936-D6AE4290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10200"/>
            <a:ext cx="8420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6F7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D499E-947A-40D1-B5E8-14AECA1A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53075"/>
            <a:ext cx="784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不同模式可以组合成培训、教研、教学、项目交付和组织知识运营方案。</a:t>
            </a:r>
          </a:p>
        </p:txBody>
      </p:sp>
    </p:spTree>
    <p:extLst>
      <p:ext uri="{BB962C8B-B14F-4D97-AF65-F5344CB8AC3E}">
        <p14:creationId xmlns:p14="http://schemas.microsoft.com/office/powerpoint/2010/main" val="8466792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55C2B-141D-4FBC-A519-296FF511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场景模板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9E03B-24D4-4218-A42B-56605C65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智能体建设平台优先承载高频、跨部门、强规则场景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88891-F93A-4050-946E-68E7EB48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56E04-C37C-45E7-8EAB-6D853EC5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67375-A9A1-43A6-B7A0-959D8AF2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96735-363C-4267-94A3-AC387BDD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培训交付智能体群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26353-9556-43CA-8DC5-47739A2B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1466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需求澄清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方案生成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排课与师资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过程服务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EEEE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EEEEE"/>
                </a:solidFill>
                <a:latin typeface="PingFang SC"/>
                <a:ea typeface="PingFang SC"/>
                <a:cs typeface="PingFang SC"/>
              </a:rPr>
              <a:t>评估复盘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088BA-A56E-41CF-BA97-413B7EA4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E0AB6-6363-4957-B0DF-4C20E29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教研工作坊智能体群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F2215-3C9E-40A3-AB2A-8477F639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81400"/>
            <a:ext cx="1466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议题设计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资料共创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研讨纪要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任务跟进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成果沉淀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11ACA-AF6D-4942-8014-D5B6B6C9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D3BC2-3BB3-4EE1-9A11-A83C9B13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资料运营智能体群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A4FEA-58D2-4A87-B635-1DEB28EA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1466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资料解析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FAQ 草稿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标签治理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图谱维护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版本更新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98483-8483-4E06-A050-1AD3E293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20A17-0B97-4466-84D5-8F7F0AB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经营与客户成功智能体群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8ECF8-F808-43E1-85AD-191514D8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81400"/>
            <a:ext cx="1466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客户需求转方案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项目风险预警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续约机会识别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经营问答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B7921-7314-46FF-BBF0-25D9925B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998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判断优先级：越高频、重复、跨部门、强规则、强数据依赖，越适合优先建设智能体。</a:t>
            </a:r>
          </a:p>
        </p:txBody>
      </p:sp>
    </p:spTree>
    <p:extLst>
      <p:ext uri="{BB962C8B-B14F-4D97-AF65-F5344CB8AC3E}">
        <p14:creationId xmlns:p14="http://schemas.microsoft.com/office/powerpoint/2010/main" val="7497607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F335D-A035-4F34-8096-EEDD96E7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商业模式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FB395-8BBD-4AF5-ACC4-95DBF66C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商业化不是卖一个助手，而是交付可运营的智能体资产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2CA40-776A-4824-80B6-E4CADF41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AE072-954C-46E9-ABFD-A9D440CA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4D76B-1D70-4F66-A71D-7CDD80D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85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C5DDA-3759-4D0D-A20E-CAE370D2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85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E1698-B935-4C95-9D38-6B86A739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F7998-7D64-49C2-81E3-CC0D4C21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C60FB-2DFF-4109-91FB-E2A90BE2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19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客户获得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66E83-F299-4087-82CF-E3D88EF9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8F455-D6D3-4189-90E7-60DEAD3E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平台底座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650C4-BFD4-432E-B81F-E6698E18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租户、账号、权限、模型调用、监控和基础运维。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19A51-8BFE-4736-A060-646F71BD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客户获得可长期运营的智能体平台。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7AAAB-8ACC-4F9C-9FDC-4F0B04F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知识资产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540E5-1AE8-4642-B2DF-17193069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资料库、知识图谱、模板库、案例库和规则库。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96D72-8524-48E8-9C4E-7E8552E6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客户获得可持续复用的私域知识。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E918F-EBFE-4604-A007-2568C231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BDC6E-1DC5-49EF-8EC1-94D53FFF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空间模板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A198E-9EC4-410C-87E3-1950FBED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培训、教研、教学、项目和区域运营等场景模板。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1A31E-B415-4494-B998-EFFC36EE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客户获得可复制的业务工作场。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CCE4B-1E1D-43CA-B5F7-546D5B29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智能体与技能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04B2D-DD52-43E5-8B21-07DCA2D4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角色智能体、技能编排、任务模板、人工确认节点。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FEA5F-6545-41F7-A9F0-EF5DD359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客户获得可执行的 AI 业务能力。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AAEBB6-14FE-4286-8F6E-321B7332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37DC3-FBD3-41B9-A8BB-3900E170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运营服务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F725BA-9601-47A8-8FB7-7C398F84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上线辅导、资料治理、效果评估、持续优化和方案复制。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723BAC-A0FE-492C-9C4F-CAA2C569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76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客户获得持续变好的交付结果。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BEB57-1CDA-4CFF-84E9-70B21D4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底层能力可订阅，场景模板可交付，知识与智能体资产可持续运营。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1335111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6A8E1-3D3A-4B55-96E8-25496BDF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落地路线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DABAD-CD69-4FCA-95E4-F3155D25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从一个可闭环场景开始建设平台能力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C6D85-ED53-4706-A4DF-E102FBC9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9D940-9099-4E87-8E58-AD25DC91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B0360-FE1B-4986-8DF8-5A8B2677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2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BE2EA-3CD7-4217-A5BF-315304ED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B27BC-9EA6-4A5F-AE3A-05A5CAEE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场景试点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79394-7E66-4876-8DDF-FCBB2EEA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选择高频业务，明确角色、资料、流程和成功标准。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D4449-D96F-4AF9-B6D4-E4ECEF23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2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6DC66-ECD0-45E1-923D-85647AB1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FD818-E301-48EC-9097-49756182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资料治理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BD131-3846-4290-A081-E153F4E3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整理首批知识资产，建立来源、标签、权限和版本规则。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DB3C0-5F79-4105-94CB-8E2DBB16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2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D424C-4B0F-4557-9830-3E7B46F9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2F124-CD2B-4D6C-9378-CDCCB52B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智能体上线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3EA9A-F419-4DF5-99A0-9A9D2DE1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配置角色智能体、工具调用、人工确认和异常转交。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01065-C6A3-4908-8A2E-6EF4AE04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574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20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062DF-5923-46D4-BDF6-7ED1A783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813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7E505-FFBF-4805-B864-66C8F547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623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模板复制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1AAF4-592B-4C49-8E4B-43613226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95750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沉淀空间模板、任务模板、FAQ 和运营指标，复制到更多场景。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651E4-3DA3-4FC1-83D9-A729B519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81650"/>
            <a:ext cx="906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D52005-8E32-4E79-A4C5-F2192E06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340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先跑通一个闭环，再复制到更多组织、项目和业务线。</a:t>
            </a:r>
          </a:p>
        </p:txBody>
      </p:sp>
    </p:spTree>
    <p:extLst>
      <p:ext uri="{BB962C8B-B14F-4D97-AF65-F5344CB8AC3E}">
        <p14:creationId xmlns:p14="http://schemas.microsoft.com/office/powerpoint/2010/main" val="4433350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315E2-7790-4936-9852-B9B46B0B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FCFC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FCFCF"/>
                </a:solidFill>
                <a:latin typeface="PingFang SC"/>
                <a:ea typeface="PingFang SC"/>
                <a:cs typeface="PingFang SC"/>
              </a:rPr>
              <a:t>智能体建设平台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E0C52-1E9C-47E6-98FB-171DCC9F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8763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让每个组织都能建设自己的智能体体系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0B5AA-D87E-494D-8C4A-68EBDE3D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2667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4D4D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637F5-27E4-45C6-841B-8A9CBD84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知识有底座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B281F-3569-496E-9EE9-76CDC1E7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BDBDB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DBDBD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A7954-8DA1-49FD-9016-1E6066F4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2667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4D4D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36BDC-BCB2-4F00-B013-A8CD3204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672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业务有空间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D7653-1268-4BFE-94E4-58F4810C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BDBDB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DBDBD"/>
                </a:solidFill>
                <a:latin typeface="PingFang SC"/>
                <a:ea typeface="PingFang SC"/>
                <a:cs typeface="PingFang SC"/>
              </a:rPr>
              <a:t>空间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7A997-462B-46B5-BB8B-A84B8EA7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2667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4D4D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AFBC6-D38B-4BBF-B857-B2390FE5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672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智能体可运营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40DBC-AF5D-4F93-8B54-8F3AC1FE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29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BDBDB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DBDBD"/>
                </a:solidFill>
                <a:latin typeface="PingFang SC"/>
                <a:ea typeface="PingFang SC"/>
                <a:cs typeface="PingFang SC"/>
              </a:rPr>
              <a:t>Lucky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C3AE1-20C9-48A9-B3C6-0F9B62A2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下一步：选定试点场景，整理首批资料，配置首批角色智能体。</a:t>
            </a:r>
          </a:p>
        </p:txBody>
      </p:sp>
    </p:spTree>
    <p:extLst>
      <p:ext uri="{BB962C8B-B14F-4D97-AF65-F5344CB8AC3E}">
        <p14:creationId xmlns:p14="http://schemas.microsoft.com/office/powerpoint/2010/main" val="1313788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2026-08-19T08:09:23.4310000Z</dcterms:created>
  <dcterms:modified xsi:type="dcterms:W3CDTF">2026-08-19T08:09:23.4310000Z</dcterms:modified>
</coreProperties>
</file>