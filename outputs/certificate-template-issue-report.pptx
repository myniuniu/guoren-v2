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61b2caf88484b29" /><Relationship Type="http://schemas.openxmlformats.org/officeDocument/2006/relationships/extended-properties" Target="/docProps/app.xml" Id="R7fc01a8ab9334700" /><Relationship Type="http://schemas.openxmlformats.org/officeDocument/2006/relationships/officeDocument" Target="/ppt/presentation.xml" Id="Rfad34754505648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42ebe8fbe74002"/>
  </p:sldMasterIdLst>
  <p:notesMasterIdLst>
    <p:notesMasterId xmlns:r="http://schemas.openxmlformats.org/officeDocument/2006/relationships" r:id="R7815e01a1f854381"/>
  </p:notesMasterIdLst>
  <p:sldIdLst>
    <p:sldId xmlns:r="http://schemas.openxmlformats.org/officeDocument/2006/relationships" id="256" r:id="R574aa50a91d44361"/>
    <p:sldId xmlns:r="http://schemas.openxmlformats.org/officeDocument/2006/relationships" id="257" r:id="R04c836afc4764486"/>
    <p:sldId xmlns:r="http://schemas.openxmlformats.org/officeDocument/2006/relationships" id="258" r:id="R560cd71fe90a46e5"/>
    <p:sldId xmlns:r="http://schemas.openxmlformats.org/officeDocument/2006/relationships" id="259" r:id="Rdc8cb596eaa146c5"/>
    <p:sldId xmlns:r="http://schemas.openxmlformats.org/officeDocument/2006/relationships" id="260" r:id="R851e8dc3a3994545"/>
    <p:sldId xmlns:r="http://schemas.openxmlformats.org/officeDocument/2006/relationships" id="261" r:id="Ra66fc29873b145f2"/>
    <p:sldId xmlns:r="http://schemas.openxmlformats.org/officeDocument/2006/relationships" id="262" r:id="R3165c1d2c5ac4c1a"/>
    <p:sldId xmlns:r="http://schemas.openxmlformats.org/officeDocument/2006/relationships" id="263" r:id="R8a3ae557ae41446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0e0333320744b81" /><Relationship Type="http://schemas.openxmlformats.org/officeDocument/2006/relationships/slideMaster" Target="/ppt/slideMasters/slideMaster1.xml" Id="R8a42ebe8fbe74002" /><Relationship Type="http://schemas.openxmlformats.org/officeDocument/2006/relationships/notesMaster" Target="/ppt/notesMasters/notesMaster1.xml" Id="R7815e01a1f854381" /><Relationship Type="http://schemas.openxmlformats.org/officeDocument/2006/relationships/presProps" Target="/ppt/presProps.xml" Id="R91e5038fd6154df2" /><Relationship Type="http://schemas.openxmlformats.org/officeDocument/2006/relationships/tableStyles" Target="/ppt/tableStyles.xml" Id="R77006385305249e8" /><Relationship Type="http://schemas.openxmlformats.org/officeDocument/2006/relationships/slide" Target="/ppt/slides/slide1.xml" Id="R574aa50a91d44361" /><Relationship Type="http://schemas.openxmlformats.org/officeDocument/2006/relationships/slide" Target="/ppt/slides/slide2.xml" Id="R04c836afc4764486" /><Relationship Type="http://schemas.openxmlformats.org/officeDocument/2006/relationships/slide" Target="/ppt/slides/slide3.xml" Id="R560cd71fe90a46e5" /><Relationship Type="http://schemas.openxmlformats.org/officeDocument/2006/relationships/slide" Target="/ppt/slides/slide4.xml" Id="Rdc8cb596eaa146c5" /><Relationship Type="http://schemas.openxmlformats.org/officeDocument/2006/relationships/slide" Target="/ppt/slides/slide5.xml" Id="R851e8dc3a3994545" /><Relationship Type="http://schemas.openxmlformats.org/officeDocument/2006/relationships/slide" Target="/ppt/slides/slide6.xml" Id="Ra66fc29873b145f2" /><Relationship Type="http://schemas.openxmlformats.org/officeDocument/2006/relationships/slide" Target="/ppt/slides/slide7.xml" Id="R3165c1d2c5ac4c1a" /><Relationship Type="http://schemas.openxmlformats.org/officeDocument/2006/relationships/slide" Target="/ppt/slides/slide8.xml" Id="R8a3ae557ae41446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261ad56abeb499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b43a4289a148fe" /><Relationship Type="http://schemas.openxmlformats.org/officeDocument/2006/relationships/notesMaster" Target="/ppt/notesMasters/notesMaster1.xml" Id="Rc433ca2d2659475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e4311bd13384721" /><Relationship Type="http://schemas.openxmlformats.org/officeDocument/2006/relationships/notesMaster" Target="/ppt/notesMasters/notesMaster1.xml" Id="Rfb566c4b773c4d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3e0574df8ab4825" /><Relationship Type="http://schemas.openxmlformats.org/officeDocument/2006/relationships/notesMaster" Target="/ppt/notesMasters/notesMaster1.xml" Id="Rfb29f5309749491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a6002e89cdc4fff" /><Relationship Type="http://schemas.openxmlformats.org/officeDocument/2006/relationships/notesMaster" Target="/ppt/notesMasters/notesMaster1.xml" Id="R28abb16a6ad448a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88aef30d87648cc" /><Relationship Type="http://schemas.openxmlformats.org/officeDocument/2006/relationships/notesMaster" Target="/ppt/notesMasters/notesMaster1.xml" Id="Racfde8cb00274ee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a17eb21ff904c27" /><Relationship Type="http://schemas.openxmlformats.org/officeDocument/2006/relationships/notesMaster" Target="/ppt/notesMasters/notesMaster1.xml" Id="R72f998bc92974b8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315e99238494f02" /><Relationship Type="http://schemas.openxmlformats.org/officeDocument/2006/relationships/notesMaster" Target="/ppt/notesMasters/notesMaster1.xml" Id="R67eaa0df875b4a5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7fd8635ae8b4eac" /><Relationship Type="http://schemas.openxmlformats.org/officeDocument/2006/relationships/notesMaster" Target="/ppt/notesMasters/notesMaster1.xml" Id="Rf18d33187e1c4c5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76727722a3474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d2c24d3f7494f62" /><Relationship Type="http://schemas.openxmlformats.org/officeDocument/2006/relationships/slideLayout" Target="/ppt/slideLayouts/slideLayout1.xml" Id="R7d33ac31490c4b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d33ac31490c4b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e8efbaa3cf40a1" /><Relationship Type="http://schemas.openxmlformats.org/officeDocument/2006/relationships/image" Target="/ppt/media/image.png" Id="Rdd2bbfb35faa4f74" /><Relationship Type="http://schemas.openxmlformats.org/officeDocument/2006/relationships/notesSlide" Target="/ppt/notesSlides/notesSlide1.xml" Id="R2ae623507b97499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dffeb9f30c4e41" /><Relationship Type="http://schemas.openxmlformats.org/officeDocument/2006/relationships/notesSlide" Target="/ppt/notesSlides/notesSlide2.xml" Id="R2598d38511e345c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0cde00e7424785" /><Relationship Type="http://schemas.openxmlformats.org/officeDocument/2006/relationships/notesSlide" Target="/ppt/notesSlides/notesSlide3.xml" Id="Re6889865b016455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8ee78c1d4c4a82" /><Relationship Type="http://schemas.openxmlformats.org/officeDocument/2006/relationships/image" Target="/ppt/media/image2.png" Id="R290db452a0ac43b2" /><Relationship Type="http://schemas.openxmlformats.org/officeDocument/2006/relationships/notesSlide" Target="/ppt/notesSlides/notesSlide4.xml" Id="R143e24be7b2743f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c2a2b73086421c" /><Relationship Type="http://schemas.openxmlformats.org/officeDocument/2006/relationships/notesSlide" Target="/ppt/notesSlides/notesSlide5.xml" Id="R6a316a31d5c44b6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568966199b451e" /><Relationship Type="http://schemas.openxmlformats.org/officeDocument/2006/relationships/notesSlide" Target="/ppt/notesSlides/notesSlide6.xml" Id="Rc0dd317d27094d4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c5f05fbd264710" /><Relationship Type="http://schemas.openxmlformats.org/officeDocument/2006/relationships/notesSlide" Target="/ppt/notesSlides/notesSlide7.xml" Id="R76727aed877149d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3d75c5c2474fea" /><Relationship Type="http://schemas.openxmlformats.org/officeDocument/2006/relationships/notesSlide" Target="/ppt/notesSlides/notesSlide8.xml" Id="Re33268f9e7c4445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host-app-screenshot-strip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2bbfb35faa4f74"/>
          <a:srcRect xmlns:a="http://schemas.openxmlformats.org/drawingml/2006/main" l="31752" t="0" r="3175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72450" y="0"/>
            <a:ext cx="40195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hape-ac19f40m32">
            <a:extLst xmlns:a="http://schemas.openxmlformats.org/drawingml/2006/main">
              <a:ext uri="{FF2B5EF4-FFF2-40B4-BE49-F238E27FC236}">
                <a16:creationId xmlns:a16="http://schemas.microsoft.com/office/drawing/2014/main" id="{7FC98A91-B454-48CE-A77C-3E5A2091F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172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A98CC9F1-EF16-4812-89E8-14CE1A103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742950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证书模板设计与发放
端到端建设汇报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5D0D8F56-D899-47A4-96DD-9988E1269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81350"/>
            <a:ext cx="65722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t>围绕“模板可配置、数据可替换、服务端可渲染、结果可预览下载”建立一条闭环链路。</a:t>
            </a:r>
          </a:p>
        </p:txBody>
      </p:sp>
      <p:sp>
        <p:nvSpPr>
          <p:cNvPr id="5" name="shape-wf43nnm0q2p">
            <a:extLst xmlns:a="http://schemas.openxmlformats.org/drawingml/2006/main">
              <a:ext uri="{FF2B5EF4-FFF2-40B4-BE49-F238E27FC236}">
                <a16:creationId xmlns:a16="http://schemas.microsoft.com/office/drawing/2014/main" id="{2D6A2068-71D3-4223-9C8A-7A96B38B6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35292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hape-fb9tkabt9o5">
            <a:extLst xmlns:a="http://schemas.openxmlformats.org/drawingml/2006/main">
              <a:ext uri="{FF2B5EF4-FFF2-40B4-BE49-F238E27FC236}">
                <a16:creationId xmlns:a16="http://schemas.microsoft.com/office/drawing/2014/main" id="{253F6EB0-9406-424C-8CCA-8FC5A993B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5292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ver-goal">
            <a:extLst xmlns:a="http://schemas.openxmlformats.org/drawingml/2006/main">
              <a:ext uri="{FF2B5EF4-FFF2-40B4-BE49-F238E27FC236}">
                <a16:creationId xmlns:a16="http://schemas.microsoft.com/office/drawing/2014/main" id="{F80AB193-47A0-4F82-B175-75AB54C2F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819650"/>
            <a:ext cx="3562350" cy="1181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建设目标</a:t>
            </a:r>
          </a:p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新增“证书模板”和“证书发放测试”两个入口</a:t>
            </a:r>
          </a:p>
        </p:txBody>
      </p:sp>
      <p:sp>
        <p:nvSpPr>
          <p:cNvPr id="8" name="cover-method">
            <a:extLst xmlns:a="http://schemas.openxmlformats.org/drawingml/2006/main">
              <a:ext uri="{FF2B5EF4-FFF2-40B4-BE49-F238E27FC236}">
                <a16:creationId xmlns:a16="http://schemas.microsoft.com/office/drawing/2014/main" id="{44661673-2447-4F6E-A36F-BE80D4518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19650"/>
            <a:ext cx="3562350" cy="1181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交付方式</a:t>
            </a:r>
          </a:p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前端 fabric.js 设计器 + 后端 Graphics2D 渲染服务</a:t>
            </a:r>
          </a:p>
        </p:txBody>
      </p:sp>
      <p:sp>
        <p:nvSpPr>
          <p:cNvPr id="9" name="footer-1">
            <a:extLst xmlns:a="http://schemas.openxmlformats.org/drawingml/2006/main">
              <a:ext uri="{FF2B5EF4-FFF2-40B4-BE49-F238E27FC236}">
                <a16:creationId xmlns:a16="http://schemas.microsoft.com/office/drawing/2014/main" id="{FE456CAF-1599-4316-A490-BA594F7B6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1156988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4CFB31C-4B33-4908-89FD-760D764D1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600075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这次建设要解决的是
证书生产链路的断点</a:t>
            </a:r>
          </a:p>
        </p:txBody>
      </p:sp>
      <p:sp>
        <p:nvSpPr>
          <p:cNvPr id="2" name="summary">
            <a:extLst xmlns:a="http://schemas.openxmlformats.org/drawingml/2006/main">
              <a:ext uri="{FF2B5EF4-FFF2-40B4-BE49-F238E27FC236}">
                <a16:creationId xmlns:a16="http://schemas.microsoft.com/office/drawing/2014/main" id="{E1B9EF35-9ED3-44FA-91EF-91D35BE58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0050"/>
            <a:ext cx="49530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t>当前方案不是单独做一个页面，而是把模板设计、字段定义、数据录入、服务端渲染和下载交付串成同一条链路。</a:t>
            </a:r>
          </a:p>
        </p:txBody>
      </p:sp>
      <p:sp>
        <p:nvSpPr>
          <p:cNvPr id="3" name="shape-lqiwnawflm">
            <a:extLst xmlns:a="http://schemas.openxmlformats.org/drawingml/2006/main">
              <a:ext uri="{FF2B5EF4-FFF2-40B4-BE49-F238E27FC236}">
                <a16:creationId xmlns:a16="http://schemas.microsoft.com/office/drawing/2014/main" id="{0F2015F8-01D8-4574-A02E-833242AFB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28825"/>
            <a:ext cx="2581275" cy="2657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at-41">
            <a:extLst xmlns:a="http://schemas.openxmlformats.org/drawingml/2006/main">
              <a:ext uri="{FF2B5EF4-FFF2-40B4-BE49-F238E27FC236}">
                <a16:creationId xmlns:a16="http://schemas.microsoft.com/office/drawing/2014/main" id="{BCE47596-7FA2-4D9A-8AB2-5C9E49259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47900"/>
            <a:ext cx="21336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2 个入口</a:t>
            </a:r>
          </a:p>
        </p:txBody>
      </p:sp>
      <p:sp>
        <p:nvSpPr>
          <p:cNvPr id="5" name="stat-body-41">
            <a:extLst xmlns:a="http://schemas.openxmlformats.org/drawingml/2006/main">
              <a:ext uri="{FF2B5EF4-FFF2-40B4-BE49-F238E27FC236}">
                <a16:creationId xmlns:a16="http://schemas.microsoft.com/office/drawing/2014/main" id="{685445C5-ABA5-4796-9204-A6F04A729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20574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t>证书模板 / 证书发放测试</a:t>
            </a:r>
          </a:p>
        </p:txBody>
      </p:sp>
      <p:sp>
        <p:nvSpPr>
          <p:cNvPr id="6" name="shape-abbgejeonl6">
            <a:extLst xmlns:a="http://schemas.openxmlformats.org/drawingml/2006/main">
              <a:ext uri="{FF2B5EF4-FFF2-40B4-BE49-F238E27FC236}">
                <a16:creationId xmlns:a16="http://schemas.microsoft.com/office/drawing/2014/main" id="{F2101235-82CF-42C6-B16C-03ADA4468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028825"/>
            <a:ext cx="2581275" cy="2657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at-351">
            <a:extLst xmlns:a="http://schemas.openxmlformats.org/drawingml/2006/main">
              <a:ext uri="{FF2B5EF4-FFF2-40B4-BE49-F238E27FC236}">
                <a16:creationId xmlns:a16="http://schemas.microsoft.com/office/drawing/2014/main" id="{C2DDD7F5-B259-45D3-A531-73D9EEA7D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247900"/>
            <a:ext cx="21336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8 个接口</a:t>
            </a:r>
          </a:p>
        </p:txBody>
      </p:sp>
      <p:sp>
        <p:nvSpPr>
          <p:cNvPr id="8" name="stat-body-351">
            <a:extLst xmlns:a="http://schemas.openxmlformats.org/drawingml/2006/main">
              <a:ext uri="{FF2B5EF4-FFF2-40B4-BE49-F238E27FC236}">
                <a16:creationId xmlns:a16="http://schemas.microsoft.com/office/drawing/2014/main" id="{94312FD5-1BAF-4488-8E25-00C985D37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733800"/>
            <a:ext cx="20574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t>上传、模板 CRUD、详情、删除、单张与批量渲染</a:t>
            </a:r>
          </a:p>
        </p:txBody>
      </p:sp>
      <p:sp>
        <p:nvSpPr>
          <p:cNvPr id="9" name="shape-fveqkm9ujjk">
            <a:extLst xmlns:a="http://schemas.openxmlformats.org/drawingml/2006/main">
              <a:ext uri="{FF2B5EF4-FFF2-40B4-BE49-F238E27FC236}">
                <a16:creationId xmlns:a16="http://schemas.microsoft.com/office/drawing/2014/main" id="{036D9E90-2DE9-4FA5-AA13-C0859F9D6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28825"/>
            <a:ext cx="2581275" cy="2657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tat-658">
            <a:extLst xmlns:a="http://schemas.openxmlformats.org/drawingml/2006/main">
              <a:ext uri="{FF2B5EF4-FFF2-40B4-BE49-F238E27FC236}">
                <a16:creationId xmlns:a16="http://schemas.microsoft.com/office/drawing/2014/main" id="{5329FA10-7F32-4EF0-8198-54FB72323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247900"/>
            <a:ext cx="21336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5 个字段</a:t>
            </a:r>
          </a:p>
        </p:txBody>
      </p:sp>
      <p:sp>
        <p:nvSpPr>
          <p:cNvPr id="11" name="stat-body-658">
            <a:extLst xmlns:a="http://schemas.openxmlformats.org/drawingml/2006/main">
              <a:ext uri="{FF2B5EF4-FFF2-40B4-BE49-F238E27FC236}">
                <a16:creationId xmlns:a16="http://schemas.microsoft.com/office/drawing/2014/main" id="{EB7407B1-65C4-4EDD-99EB-0CB20C770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733800"/>
            <a:ext cx="20574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t>姓名、课程、成绩、发证日期、证书编号</a:t>
            </a:r>
          </a:p>
        </p:txBody>
      </p:sp>
      <p:sp>
        <p:nvSpPr>
          <p:cNvPr id="12" name="shape-0kjevcntxw3">
            <a:extLst xmlns:a="http://schemas.openxmlformats.org/drawingml/2006/main">
              <a:ext uri="{FF2B5EF4-FFF2-40B4-BE49-F238E27FC236}">
                <a16:creationId xmlns:a16="http://schemas.microsoft.com/office/drawing/2014/main" id="{774F8A84-869F-4EFC-A149-5324529B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028825"/>
            <a:ext cx="2581275" cy="2657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at-968">
            <a:extLst xmlns:a="http://schemas.openxmlformats.org/drawingml/2006/main">
              <a:ext uri="{FF2B5EF4-FFF2-40B4-BE49-F238E27FC236}">
                <a16:creationId xmlns:a16="http://schemas.microsoft.com/office/drawing/2014/main" id="{09785E15-6746-43F8-9A28-8FE0ECB4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247900"/>
            <a:ext cx="21336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1 张核心表</a:t>
            </a:r>
          </a:p>
        </p:txBody>
      </p:sp>
      <p:sp>
        <p:nvSpPr>
          <p:cNvPr id="14" name="stat-body-968">
            <a:extLst xmlns:a="http://schemas.openxmlformats.org/drawingml/2006/main">
              <a:ext uri="{FF2B5EF4-FFF2-40B4-BE49-F238E27FC236}">
                <a16:creationId xmlns:a16="http://schemas.microsoft.com/office/drawing/2014/main" id="{A7CB8E27-6032-472A-B111-654F2AF50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733800"/>
            <a:ext cx="20574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t>certificate_template 统一承载模板配置</a:t>
            </a:r>
          </a:p>
        </p:txBody>
      </p:sp>
      <p:sp>
        <p:nvSpPr>
          <p:cNvPr id="15" name="shape-zeon5k2k0aj">
            <a:extLst xmlns:a="http://schemas.openxmlformats.org/drawingml/2006/main">
              <a:ext uri="{FF2B5EF4-FFF2-40B4-BE49-F238E27FC236}">
                <a16:creationId xmlns:a16="http://schemas.microsoft.com/office/drawing/2014/main" id="{7497DEFD-9AF7-4818-94E9-D60D7AB2D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81625"/>
            <a:ext cx="121920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ottom-takeaway">
            <a:extLst xmlns:a="http://schemas.openxmlformats.org/drawingml/2006/main">
              <a:ext uri="{FF2B5EF4-FFF2-40B4-BE49-F238E27FC236}">
                <a16:creationId xmlns:a16="http://schemas.microsoft.com/office/drawing/2014/main" id="{2503F692-B77E-4DD0-88E6-27109D260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34050"/>
            <a:ext cx="857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90938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核心判断：首期先交付可运行闭环，后续再叠加 OSS、二维码、批量 ZIP 等增强能力。</a:t>
            </a:r>
          </a:p>
        </p:txBody>
      </p:sp>
      <p:sp>
        <p:nvSpPr>
          <p:cNvPr id="17" name="footer-2">
            <a:extLst xmlns:a="http://schemas.openxmlformats.org/drawingml/2006/main">
              <a:ext uri="{FF2B5EF4-FFF2-40B4-BE49-F238E27FC236}">
                <a16:creationId xmlns:a16="http://schemas.microsoft.com/office/drawing/2014/main" id="{D22C6F1F-C1CB-4B51-A405-C090EE8D9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418041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C61E193-38B3-46CE-A498-8CD10771F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83945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端到端流程把设计、数据和渲染收束到同一闭环</a:t>
            </a:r>
          </a:p>
        </p:txBody>
      </p:sp>
      <p:sp>
        <p:nvSpPr>
          <p:cNvPr id="2" name="process-intro">
            <a:extLst xmlns:a="http://schemas.openxmlformats.org/drawingml/2006/main">
              <a:ext uri="{FF2B5EF4-FFF2-40B4-BE49-F238E27FC236}">
                <a16:creationId xmlns:a16="http://schemas.microsoft.com/office/drawing/2014/main" id="{6B7F2A3D-AECB-4E7E-8DF0-0404D271C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7429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t>流程关键不在于页面数量，而在于同一份模板 JSON 同时服务设计预览与发放渲染。</a:t>
            </a:r>
          </a:p>
        </p:txBody>
      </p:sp>
      <p:sp>
        <p:nvSpPr>
          <p:cNvPr id="3" name="shape-m0ek9vryra">
            <a:extLst xmlns:a="http://schemas.openxmlformats.org/drawingml/2006/main">
              <a:ext uri="{FF2B5EF4-FFF2-40B4-BE49-F238E27FC236}">
                <a16:creationId xmlns:a16="http://schemas.microsoft.com/office/drawing/2014/main" id="{A24F5F93-314F-4277-9466-98320CACC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18669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ep-no-0">
            <a:extLst xmlns:a="http://schemas.openxmlformats.org/drawingml/2006/main">
              <a:ext uri="{FF2B5EF4-FFF2-40B4-BE49-F238E27FC236}">
                <a16:creationId xmlns:a16="http://schemas.microsoft.com/office/drawing/2014/main" id="{4263CA82-8336-48B0-A8E4-8524DBF9D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09850"/>
            <a:ext cx="5143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01</a:t>
            </a:r>
          </a:p>
        </p:txBody>
      </p:sp>
      <p:sp>
        <p:nvSpPr>
          <p:cNvPr id="5" name="step-head-0">
            <a:extLst xmlns:a="http://schemas.openxmlformats.org/drawingml/2006/main">
              <a:ext uri="{FF2B5EF4-FFF2-40B4-BE49-F238E27FC236}">
                <a16:creationId xmlns:a16="http://schemas.microsoft.com/office/drawing/2014/main" id="{997B2411-3012-4537-99A9-67742B8F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81350"/>
            <a:ext cx="14097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上传底图</a:t>
            </a:r>
          </a:p>
        </p:txBody>
      </p:sp>
      <p:sp>
        <p:nvSpPr>
          <p:cNvPr id="6" name="step-body-0">
            <a:extLst xmlns:a="http://schemas.openxmlformats.org/drawingml/2006/main">
              <a:ext uri="{FF2B5EF4-FFF2-40B4-BE49-F238E27FC236}">
                <a16:creationId xmlns:a16="http://schemas.microsoft.com/office/drawing/2014/main" id="{3C4FE8DD-37C9-46B4-981D-D2D6AA677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0"/>
            <a:ext cx="14097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94771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t>保存为 /uploads/certificates/ 相对资源</a:t>
            </a:r>
          </a:p>
        </p:txBody>
      </p:sp>
      <p:sp>
        <p:nvSpPr>
          <p:cNvPr id="7" name="step-arrow-0">
            <a:extLst xmlns:a="http://schemas.openxmlformats.org/drawingml/2006/main">
              <a:ext uri="{FF2B5EF4-FFF2-40B4-BE49-F238E27FC236}">
                <a16:creationId xmlns:a16="http://schemas.microsoft.com/office/drawing/2014/main" id="{1A9391B3-4D38-456B-A995-54FDEBD52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200400"/>
            <a:ext cx="342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B8BCC4"/>
                </a:solidFill>
                <a:latin typeface="PingFang SC"/>
                <a:ea typeface="PingFang SC"/>
                <a:cs typeface="PingFang SC"/>
              </a:defRPr>
            </a:pPr>
            <a:r>
              <a:t>→</a:t>
            </a:r>
          </a:p>
        </p:txBody>
      </p:sp>
      <p:sp>
        <p:nvSpPr>
          <p:cNvPr id="8" name="shape-6tvb19k2hgd">
            <a:extLst xmlns:a="http://schemas.openxmlformats.org/drawingml/2006/main">
              <a:ext uri="{FF2B5EF4-FFF2-40B4-BE49-F238E27FC236}">
                <a16:creationId xmlns:a16="http://schemas.microsoft.com/office/drawing/2014/main" id="{AE76C44F-4F9D-4BCE-A716-ACF00800D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2381250"/>
            <a:ext cx="18669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-no-1">
            <a:extLst xmlns:a="http://schemas.openxmlformats.org/drawingml/2006/main">
              <a:ext uri="{FF2B5EF4-FFF2-40B4-BE49-F238E27FC236}">
                <a16:creationId xmlns:a16="http://schemas.microsoft.com/office/drawing/2014/main" id="{54704AF0-E910-4EF2-995F-176CCD0B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609850"/>
            <a:ext cx="5143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02</a:t>
            </a:r>
          </a:p>
        </p:txBody>
      </p:sp>
      <p:sp>
        <p:nvSpPr>
          <p:cNvPr id="10" name="step-head-1">
            <a:extLst xmlns:a="http://schemas.openxmlformats.org/drawingml/2006/main">
              <a:ext uri="{FF2B5EF4-FFF2-40B4-BE49-F238E27FC236}">
                <a16:creationId xmlns:a16="http://schemas.microsoft.com/office/drawing/2014/main" id="{9D1DF7DD-BF6C-4985-A64C-B1ED24CF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181350"/>
            <a:ext cx="14097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拖拽设计</a:t>
            </a:r>
          </a:p>
        </p:txBody>
      </p:sp>
      <p:sp>
        <p:nvSpPr>
          <p:cNvPr id="11" name="step-body-1">
            <a:extLst xmlns:a="http://schemas.openxmlformats.org/drawingml/2006/main">
              <a:ext uri="{FF2B5EF4-FFF2-40B4-BE49-F238E27FC236}">
                <a16:creationId xmlns:a16="http://schemas.microsoft.com/office/drawing/2014/main" id="{C116073E-7805-4A00-BF77-0B6544D8E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714750"/>
            <a:ext cx="14097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t>文本、图片、动态字段在画布中定位</a:t>
            </a:r>
          </a:p>
        </p:txBody>
      </p:sp>
      <p:sp>
        <p:nvSpPr>
          <p:cNvPr id="12" name="step-arrow-1">
            <a:extLst xmlns:a="http://schemas.openxmlformats.org/drawingml/2006/main">
              <a:ext uri="{FF2B5EF4-FFF2-40B4-BE49-F238E27FC236}">
                <a16:creationId xmlns:a16="http://schemas.microsoft.com/office/drawing/2014/main" id="{432E4738-63DA-483F-8AFC-2121601EB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200400"/>
            <a:ext cx="342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B8BCC4"/>
                </a:solidFill>
                <a:latin typeface="PingFang SC"/>
                <a:ea typeface="PingFang SC"/>
                <a:cs typeface="PingFang SC"/>
              </a:defRPr>
            </a:pPr>
            <a:r>
              <a:t>→</a:t>
            </a:r>
          </a:p>
        </p:txBody>
      </p:sp>
      <p:sp>
        <p:nvSpPr>
          <p:cNvPr id="13" name="shape-wnhfowx2aog">
            <a:extLst xmlns:a="http://schemas.openxmlformats.org/drawingml/2006/main">
              <a:ext uri="{FF2B5EF4-FFF2-40B4-BE49-F238E27FC236}">
                <a16:creationId xmlns:a16="http://schemas.microsoft.com/office/drawing/2014/main" id="{9FD35DA4-DFD5-4529-A60C-A7D3BAAAF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81250"/>
            <a:ext cx="18669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tep-no-2">
            <a:extLst xmlns:a="http://schemas.openxmlformats.org/drawingml/2006/main">
              <a:ext uri="{FF2B5EF4-FFF2-40B4-BE49-F238E27FC236}">
                <a16:creationId xmlns:a16="http://schemas.microsoft.com/office/drawing/2014/main" id="{01CD657C-A0F5-4492-B03E-02AAD222E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609850"/>
            <a:ext cx="5143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03</a:t>
            </a:r>
          </a:p>
        </p:txBody>
      </p:sp>
      <p:sp>
        <p:nvSpPr>
          <p:cNvPr id="15" name="step-head-2">
            <a:extLst xmlns:a="http://schemas.openxmlformats.org/drawingml/2006/main">
              <a:ext uri="{FF2B5EF4-FFF2-40B4-BE49-F238E27FC236}">
                <a16:creationId xmlns:a16="http://schemas.microsoft.com/office/drawing/2014/main" id="{FF5507F0-D221-47BA-9682-A03647042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181350"/>
            <a:ext cx="14097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保存模板</a:t>
            </a:r>
          </a:p>
        </p:txBody>
      </p:sp>
      <p:sp>
        <p:nvSpPr>
          <p:cNvPr id="16" name="step-body-2">
            <a:extLst xmlns:a="http://schemas.openxmlformats.org/drawingml/2006/main">
              <a:ext uri="{FF2B5EF4-FFF2-40B4-BE49-F238E27FC236}">
                <a16:creationId xmlns:a16="http://schemas.microsoft.com/office/drawing/2014/main" id="{024D8A5C-CD90-4468-BD1E-AA11AC3DF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714750"/>
            <a:ext cx="14097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94771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t>fields_json + canvas_json 持久化</a:t>
            </a:r>
          </a:p>
        </p:txBody>
      </p:sp>
      <p:sp>
        <p:nvSpPr>
          <p:cNvPr id="17" name="step-arrow-2">
            <a:extLst xmlns:a="http://schemas.openxmlformats.org/drawingml/2006/main">
              <a:ext uri="{FF2B5EF4-FFF2-40B4-BE49-F238E27FC236}">
                <a16:creationId xmlns:a16="http://schemas.microsoft.com/office/drawing/2014/main" id="{36C7DB6C-3B36-4B03-AC46-3A9CE9B63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200400"/>
            <a:ext cx="342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B8BCC4"/>
                </a:solidFill>
                <a:latin typeface="PingFang SC"/>
                <a:ea typeface="PingFang SC"/>
                <a:cs typeface="PingFang SC"/>
              </a:defRPr>
            </a:pPr>
            <a:r>
              <a:t>→</a:t>
            </a:r>
          </a:p>
        </p:txBody>
      </p:sp>
      <p:sp>
        <p:nvSpPr>
          <p:cNvPr id="18" name="shape-mpvfsx3355f">
            <a:extLst xmlns:a="http://schemas.openxmlformats.org/drawingml/2006/main">
              <a:ext uri="{FF2B5EF4-FFF2-40B4-BE49-F238E27FC236}">
                <a16:creationId xmlns:a16="http://schemas.microsoft.com/office/drawing/2014/main" id="{800BB47E-C2DB-4D27-9F06-C8489D723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381250"/>
            <a:ext cx="18669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tep-no-3">
            <a:extLst xmlns:a="http://schemas.openxmlformats.org/drawingml/2006/main">
              <a:ext uri="{FF2B5EF4-FFF2-40B4-BE49-F238E27FC236}">
                <a16:creationId xmlns:a16="http://schemas.microsoft.com/office/drawing/2014/main" id="{6489CCF5-99F7-4B2A-A5BE-502BBE066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609850"/>
            <a:ext cx="5143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04</a:t>
            </a:r>
          </a:p>
        </p:txBody>
      </p:sp>
      <p:sp>
        <p:nvSpPr>
          <p:cNvPr id="20" name="step-head-3">
            <a:extLst xmlns:a="http://schemas.openxmlformats.org/drawingml/2006/main">
              <a:ext uri="{FF2B5EF4-FFF2-40B4-BE49-F238E27FC236}">
                <a16:creationId xmlns:a16="http://schemas.microsoft.com/office/drawing/2014/main" id="{533D2EFC-511C-43EE-AC6A-6257637A1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181350"/>
            <a:ext cx="14097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录入数据</a:t>
            </a:r>
          </a:p>
        </p:txBody>
      </p:sp>
      <p:sp>
        <p:nvSpPr>
          <p:cNvPr id="21" name="step-body-3">
            <a:extLst xmlns:a="http://schemas.openxmlformats.org/drawingml/2006/main">
              <a:ext uri="{FF2B5EF4-FFF2-40B4-BE49-F238E27FC236}">
                <a16:creationId xmlns:a16="http://schemas.microsoft.com/office/drawing/2014/main" id="{3F8D7B97-04FC-43BD-B9DB-BC099DF2D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714750"/>
            <a:ext cx="14097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t>单条表单或批量 CSV 数据</a:t>
            </a:r>
          </a:p>
        </p:txBody>
      </p:sp>
      <p:sp>
        <p:nvSpPr>
          <p:cNvPr id="22" name="step-arrow-3">
            <a:extLst xmlns:a="http://schemas.openxmlformats.org/drawingml/2006/main">
              <a:ext uri="{FF2B5EF4-FFF2-40B4-BE49-F238E27FC236}">
                <a16:creationId xmlns:a16="http://schemas.microsoft.com/office/drawing/2014/main" id="{3BBBAC5F-6F9C-4D0D-B82F-2358FE5D0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200400"/>
            <a:ext cx="342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B8BCC4"/>
                </a:solidFill>
                <a:latin typeface="PingFang SC"/>
                <a:ea typeface="PingFang SC"/>
                <a:cs typeface="PingFang SC"/>
              </a:defRPr>
            </a:pPr>
            <a:r>
              <a:t>→</a:t>
            </a:r>
          </a:p>
        </p:txBody>
      </p:sp>
      <p:sp>
        <p:nvSpPr>
          <p:cNvPr id="23" name="shape-58wxfdgsvuw">
            <a:extLst xmlns:a="http://schemas.openxmlformats.org/drawingml/2006/main">
              <a:ext uri="{FF2B5EF4-FFF2-40B4-BE49-F238E27FC236}">
                <a16:creationId xmlns:a16="http://schemas.microsoft.com/office/drawing/2014/main" id="{7C2E7369-7F93-485B-A84B-E0A8CA6F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381250"/>
            <a:ext cx="18669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tep-no-4">
            <a:extLst xmlns:a="http://schemas.openxmlformats.org/drawingml/2006/main">
              <a:ext uri="{FF2B5EF4-FFF2-40B4-BE49-F238E27FC236}">
                <a16:creationId xmlns:a16="http://schemas.microsoft.com/office/drawing/2014/main" id="{B41A0337-C8BC-4518-9740-E17D9D27C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609850"/>
            <a:ext cx="5143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05</a:t>
            </a:r>
          </a:p>
        </p:txBody>
      </p:sp>
      <p:sp>
        <p:nvSpPr>
          <p:cNvPr id="25" name="step-head-4">
            <a:extLst xmlns:a="http://schemas.openxmlformats.org/drawingml/2006/main">
              <a:ext uri="{FF2B5EF4-FFF2-40B4-BE49-F238E27FC236}">
                <a16:creationId xmlns:a16="http://schemas.microsoft.com/office/drawing/2014/main" id="{6AD78B66-2856-43A5-B935-6DA27526C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181350"/>
            <a:ext cx="14097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渲染下载</a:t>
            </a:r>
          </a:p>
        </p:txBody>
      </p:sp>
      <p:sp>
        <p:nvSpPr>
          <p:cNvPr id="26" name="step-body-4">
            <a:extLst xmlns:a="http://schemas.openxmlformats.org/drawingml/2006/main">
              <a:ext uri="{FF2B5EF4-FFF2-40B4-BE49-F238E27FC236}">
                <a16:creationId xmlns:a16="http://schemas.microsoft.com/office/drawing/2014/main" id="{252F93E0-EE25-4357-B35D-21AD8A566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714750"/>
            <a:ext cx="14097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t>后端替换字段并输出 PNG</a:t>
            </a:r>
          </a:p>
        </p:txBody>
      </p:sp>
      <p:sp>
        <p:nvSpPr>
          <p:cNvPr id="27" name="process-deliverable">
            <a:extLst xmlns:a="http://schemas.openxmlformats.org/drawingml/2006/main">
              <a:ext uri="{FF2B5EF4-FFF2-40B4-BE49-F238E27FC236}">
                <a16:creationId xmlns:a16="http://schemas.microsoft.com/office/drawing/2014/main" id="{935C8462-7053-4542-9229-FDD08BD2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95900"/>
            <a:ext cx="10572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交付物：模板列表、可视化设计器、发放测试页、上传接口、模板接口、渲染接口和核心数据表。</a:t>
            </a:r>
          </a:p>
        </p:txBody>
      </p:sp>
      <p:sp>
        <p:nvSpPr>
          <p:cNvPr id="28" name="footer-3">
            <a:extLst xmlns:a="http://schemas.openxmlformats.org/drawingml/2006/main">
              <a:ext uri="{FF2B5EF4-FFF2-40B4-BE49-F238E27FC236}">
                <a16:creationId xmlns:a16="http://schemas.microsoft.com/office/drawing/2014/main" id="{CC47AC89-5429-4BE2-9DC5-97CE3002D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743430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6F86421-2EFD-48AE-9293-E67A210C4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83945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前端重点是让非技术人员可视化配置证书模板</a:t>
            </a:r>
          </a:p>
        </p:txBody>
      </p:sp>
      <p:sp>
        <p:nvSpPr>
          <p:cNvPr id="2" name="frontend-intro">
            <a:extLst xmlns:a="http://schemas.openxmlformats.org/drawingml/2006/main">
              <a:ext uri="{FF2B5EF4-FFF2-40B4-BE49-F238E27FC236}">
                <a16:creationId xmlns:a16="http://schemas.microsoft.com/office/drawing/2014/main" id="{29B2F3E7-4523-404E-AACB-36762D33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5334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t>设计器沿用主应用的工作台形态：左侧工具、中间画布、右侧属性面板，减少重新学习成本。</a:t>
            </a:r>
          </a:p>
        </p:txBody>
      </p:sp>
      <p:sp>
        <p:nvSpPr>
          <p:cNvPr id="3" name="frontend-bullets">
            <a:extLst xmlns:a="http://schemas.openxmlformats.org/drawingml/2006/main">
              <a:ext uri="{FF2B5EF4-FFF2-40B4-BE49-F238E27FC236}">
                <a16:creationId xmlns:a16="http://schemas.microsoft.com/office/drawing/2014/main" id="{868B47F1-1087-4F2B-94A2-EF138ED35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47900"/>
            <a:ext cx="5219700" cy="2571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94535"/>
          </a:bodyPr>
          <a:lstStyle xmlns:a="http://schemas.openxmlformats.org/drawingml/2006/main"/>
          <a:p xmlns:a="http://schemas.openxmlformats.org/drawingml/2006/main">
            <a:pPr marL="22" indent="-12" algn="l">
              <a:lnSpc>
                <a:spcPct val="112000"/>
              </a:lnSpc>
              <a:spcAft>
                <a:spcPts val="560"/>
              </a:spcAft>
              <a:buNone/>
              <a:def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fabric.js 画布负责拖拽、缩放、旋转、选中和 Delete 删除。</a:t>
            </a:r>
          </a:p>
          <a:p xmlns:a="http://schemas.openxmlformats.org/drawingml/2006/main">
            <a:pPr marL="22" indent="-12" algn="l">
              <a:lnSpc>
                <a:spcPct val="112000"/>
              </a:lnSpc>
              <a:spcAft>
                <a:spcPts val="560"/>
              </a:spcAft>
              <a:buNone/>
              <a:def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动态字段以 elementType:'field' 和 fieldKey 进入 JSON 序列化。</a:t>
            </a:r>
          </a:p>
          <a:p xmlns:a="http://schemas.openxmlformats.org/drawingml/2006/main">
            <a:pPr marL="22" indent="-12" algn="l">
              <a:lnSpc>
                <a:spcPct val="112000"/>
              </a:lnSpc>
              <a:spcAft>
                <a:spcPts val="560"/>
              </a:spcAft>
              <a:buNone/>
              <a:def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属性面板统一管理字号、颜色、加粗、对齐、字体与图片替换。</a:t>
            </a:r>
          </a:p>
          <a:p xmlns:a="http://schemas.openxmlformats.org/drawingml/2006/main">
            <a:pPr marL="22" indent="-12" algn="l">
              <a:lnSpc>
                <a:spcPct val="112000"/>
              </a:lnSpc>
              <a:spcAft>
                <a:spcPts val="560"/>
              </a:spcAft>
              <a:buNone/>
              <a:def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保存时输出 fields、canvasJson、thumbnail 和 bgUrl，供后端渲染复用。</a:t>
            </a:r>
          </a:p>
        </p:txBody>
      </p:sp>
      <p:sp>
        <p:nvSpPr>
          <p:cNvPr id="4" name="shape-ltzbfth4po8">
            <a:extLst xmlns:a="http://schemas.openxmlformats.org/drawingml/2006/main">
              <a:ext uri="{FF2B5EF4-FFF2-40B4-BE49-F238E27FC236}">
                <a16:creationId xmlns:a16="http://schemas.microsoft.com/office/drawing/2014/main" id="{88958831-7DD6-47DE-9086-9B5F16B15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485900"/>
            <a:ext cx="5534025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main-app-style-evidenc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0db452a0ac43b2"/>
          <a:srcRect xmlns:a="http://schemas.openxmlformats.org/drawingml/2006/main" l="442" t="0" r="4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57925" y="1485900"/>
            <a:ext cx="5534025" cy="3476625"/>
          </a:xfrm>
          <a:prstGeom xmlns:a="http://schemas.openxmlformats.org/drawingml/2006/main" prst="rect">
            <a:avLst/>
          </a:prstGeom>
        </p:spPr>
      </p:pic>
      <p:sp>
        <p:nvSpPr>
          <p:cNvPr id="6" name="image-caption-head">
            <a:extLst xmlns:a="http://schemas.openxmlformats.org/drawingml/2006/main">
              <a:ext uri="{FF2B5EF4-FFF2-40B4-BE49-F238E27FC236}">
                <a16:creationId xmlns:a16="http://schemas.microsoft.com/office/drawing/2014/main" id="{C45F0FD5-CE04-4687-936A-83EE23C03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200650"/>
            <a:ext cx="2476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复用主应用设计语言</a:t>
            </a:r>
          </a:p>
        </p:txBody>
      </p:sp>
      <p:sp>
        <p:nvSpPr>
          <p:cNvPr id="7" name="image-caption-body">
            <a:extLst xmlns:a="http://schemas.openxmlformats.org/drawingml/2006/main">
              <a:ext uri="{FF2B5EF4-FFF2-40B4-BE49-F238E27FC236}">
                <a16:creationId xmlns:a16="http://schemas.microsoft.com/office/drawing/2014/main" id="{1D2807B4-D34B-4A8E-938F-984D1CFC1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486400"/>
            <a:ext cx="5334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3333"/>
                </a:solidFill>
                <a:latin typeface="PingFang SC"/>
                <a:ea typeface="PingFang SC"/>
                <a:cs typeface="PingFang SC"/>
              </a:defRPr>
            </a:pPr>
            <a:r>
              <a:t>截图用于说明布局与交互骨架；证书设计器在此基础上替换为证书画布与字段属性。</a:t>
            </a:r>
          </a:p>
        </p:txBody>
      </p:sp>
      <p:sp>
        <p:nvSpPr>
          <p:cNvPr id="8" name="footer-4">
            <a:extLst xmlns:a="http://schemas.openxmlformats.org/drawingml/2006/main">
              <a:ext uri="{FF2B5EF4-FFF2-40B4-BE49-F238E27FC236}">
                <a16:creationId xmlns:a16="http://schemas.microsoft.com/office/drawing/2014/main" id="{DEA5699B-552E-4B28-956B-0BF0959E1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976912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4821431-17E4-49F0-9A5B-BA7FED628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83945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服务端渲染保证预览与发放结果一致</a:t>
            </a:r>
          </a:p>
        </p:txBody>
      </p:sp>
      <p:sp>
        <p:nvSpPr>
          <p:cNvPr id="2" name="backend-intro">
            <a:extLst xmlns:a="http://schemas.openxmlformats.org/drawingml/2006/main">
              <a:ext uri="{FF2B5EF4-FFF2-40B4-BE49-F238E27FC236}">
                <a16:creationId xmlns:a16="http://schemas.microsoft.com/office/drawing/2014/main" id="{2C546CA8-B957-452B-BBF3-3FC4C108A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0668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t>后端不重新理解页面，而是读取模板持久化结果，按 canvas_json 逐对象绘制，并把字段值替换为发放数据。</a:t>
            </a:r>
          </a:p>
        </p:txBody>
      </p:sp>
      <p:sp>
        <p:nvSpPr>
          <p:cNvPr id="3" name="shape-p5323xw1u8e">
            <a:extLst xmlns:a="http://schemas.openxmlformats.org/drawingml/2006/main">
              <a:ext uri="{FF2B5EF4-FFF2-40B4-BE49-F238E27FC236}">
                <a16:creationId xmlns:a16="http://schemas.microsoft.com/office/drawing/2014/main" id="{08A361DA-700F-40D3-959D-9AA72E1EC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35623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cjcl0qb4f0l">
            <a:extLst xmlns:a="http://schemas.openxmlformats.org/drawingml/2006/main">
              <a:ext uri="{FF2B5EF4-FFF2-40B4-BE49-F238E27FC236}">
                <a16:creationId xmlns:a16="http://schemas.microsoft.com/office/drawing/2014/main" id="{4BC2F04F-5EAD-4406-B4C1-84F91FCBF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ackend-head-0">
            <a:extLst xmlns:a="http://schemas.openxmlformats.org/drawingml/2006/main">
              <a:ext uri="{FF2B5EF4-FFF2-40B4-BE49-F238E27FC236}">
                <a16:creationId xmlns:a16="http://schemas.microsoft.com/office/drawing/2014/main" id="{7C85359B-ED97-49AE-8BBA-1D1253133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29718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模板服务</a:t>
            </a:r>
          </a:p>
        </p:txBody>
      </p:sp>
      <p:sp>
        <p:nvSpPr>
          <p:cNvPr id="6" name="backend-body-0">
            <a:extLst xmlns:a="http://schemas.openxmlformats.org/drawingml/2006/main">
              <a:ext uri="{FF2B5EF4-FFF2-40B4-BE49-F238E27FC236}">
                <a16:creationId xmlns:a16="http://schemas.microsoft.com/office/drawing/2014/main" id="{0499063E-31FE-4898-8352-28E7975E1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33800"/>
            <a:ext cx="29527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t>负责模板 CRUD、字段定义、缩略图和逻辑删除。</a:t>
            </a:r>
          </a:p>
        </p:txBody>
      </p:sp>
      <p:sp>
        <p:nvSpPr>
          <p:cNvPr id="7" name="shape-8xywzy3z2wr">
            <a:extLst xmlns:a="http://schemas.openxmlformats.org/drawingml/2006/main">
              <a:ext uri="{FF2B5EF4-FFF2-40B4-BE49-F238E27FC236}">
                <a16:creationId xmlns:a16="http://schemas.microsoft.com/office/drawing/2014/main" id="{7B46B771-3190-4B1D-8A08-44089D5B0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362200"/>
            <a:ext cx="35623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hape-t6utzylw8yi">
            <a:extLst xmlns:a="http://schemas.openxmlformats.org/drawingml/2006/main">
              <a:ext uri="{FF2B5EF4-FFF2-40B4-BE49-F238E27FC236}">
                <a16:creationId xmlns:a16="http://schemas.microsoft.com/office/drawing/2014/main" id="{904044F0-A906-4822-8C64-D861172C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ackend-head-1">
            <a:extLst xmlns:a="http://schemas.openxmlformats.org/drawingml/2006/main">
              <a:ext uri="{FF2B5EF4-FFF2-40B4-BE49-F238E27FC236}">
                <a16:creationId xmlns:a16="http://schemas.microsoft.com/office/drawing/2014/main" id="{C60ABEEC-B417-4462-9CCB-AB51DB86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162300"/>
            <a:ext cx="29718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上传与静态资源</a:t>
            </a:r>
          </a:p>
        </p:txBody>
      </p:sp>
      <p:sp>
        <p:nvSpPr>
          <p:cNvPr id="10" name="backend-body-1">
            <a:extLst xmlns:a="http://schemas.openxmlformats.org/drawingml/2006/main">
              <a:ext uri="{FF2B5EF4-FFF2-40B4-BE49-F238E27FC236}">
                <a16:creationId xmlns:a16="http://schemas.microsoft.com/office/drawing/2014/main" id="{EB1FCFE3-1B02-4AAC-8808-8EEA4949C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733800"/>
            <a:ext cx="29527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t>底图写入 uploads/certificates，并通过 /uploads/** 映射访问。</a:t>
            </a:r>
          </a:p>
        </p:txBody>
      </p:sp>
      <p:sp>
        <p:nvSpPr>
          <p:cNvPr id="11" name="shape-s81bewc2p4">
            <a:extLst xmlns:a="http://schemas.openxmlformats.org/drawingml/2006/main">
              <a:ext uri="{FF2B5EF4-FFF2-40B4-BE49-F238E27FC236}">
                <a16:creationId xmlns:a16="http://schemas.microsoft.com/office/drawing/2014/main" id="{18783691-A207-4838-98E2-DC9EF3ABC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62200"/>
            <a:ext cx="35623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hape-rurubzyntk8">
            <a:extLst xmlns:a="http://schemas.openxmlformats.org/drawingml/2006/main">
              <a:ext uri="{FF2B5EF4-FFF2-40B4-BE49-F238E27FC236}">
                <a16:creationId xmlns:a16="http://schemas.microsoft.com/office/drawing/2014/main" id="{49B13F07-13DA-4DB1-919A-22C1B18F5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ackend-head-2">
            <a:extLst xmlns:a="http://schemas.openxmlformats.org/drawingml/2006/main">
              <a:ext uri="{FF2B5EF4-FFF2-40B4-BE49-F238E27FC236}">
                <a16:creationId xmlns:a16="http://schemas.microsoft.com/office/drawing/2014/main" id="{055190EF-1FEC-4A6E-B040-2AAF740DB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62300"/>
            <a:ext cx="29718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渲染服务</a:t>
            </a:r>
          </a:p>
        </p:txBody>
      </p:sp>
      <p:sp>
        <p:nvSpPr>
          <p:cNvPr id="14" name="backend-body-2">
            <a:extLst xmlns:a="http://schemas.openxmlformats.org/drawingml/2006/main">
              <a:ext uri="{FF2B5EF4-FFF2-40B4-BE49-F238E27FC236}">
                <a16:creationId xmlns:a16="http://schemas.microsoft.com/office/drawing/2014/main" id="{179D3529-001E-4D80-83B3-1E6208063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733800"/>
            <a:ext cx="29527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t>BufferedImage + Graphics2D 绘制底图、文本、字段和图片，输出 PNG。</a:t>
            </a:r>
          </a:p>
        </p:txBody>
      </p:sp>
      <p:sp>
        <p:nvSpPr>
          <p:cNvPr id="15" name="backend-takeaway">
            <a:extLst xmlns:a="http://schemas.openxmlformats.org/drawingml/2006/main">
              <a:ext uri="{FF2B5EF4-FFF2-40B4-BE49-F238E27FC236}">
                <a16:creationId xmlns:a16="http://schemas.microsoft.com/office/drawing/2014/main" id="{3A560ABB-CE4C-425D-ADAB-D4F3DF38C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53050"/>
            <a:ext cx="10477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字段替换策略：fieldKey 命中发放数据时使用真实值，缺失时回退到 sample，再缺失则置空。</a:t>
            </a:r>
          </a:p>
        </p:txBody>
      </p:sp>
      <p:sp>
        <p:nvSpPr>
          <p:cNvPr id="16" name="footer-5">
            <a:extLst xmlns:a="http://schemas.openxmlformats.org/drawingml/2006/main">
              <a:ext uri="{FF2B5EF4-FFF2-40B4-BE49-F238E27FC236}">
                <a16:creationId xmlns:a16="http://schemas.microsoft.com/office/drawing/2014/main" id="{0BB360C7-3732-4768-8117-E8C9573DC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265651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83AFB54-939E-4868-B938-4C6FC5F58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83945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接口和数据表围绕模板、资源和发放三类能力设计</a:t>
            </a:r>
          </a:p>
        </p:txBody>
      </p:sp>
      <p:sp>
        <p:nvSpPr>
          <p:cNvPr id="2" name="api-intro">
            <a:extLst xmlns:a="http://schemas.openxmlformats.org/drawingml/2006/main">
              <a:ext uri="{FF2B5EF4-FFF2-40B4-BE49-F238E27FC236}">
                <a16:creationId xmlns:a16="http://schemas.microsoft.com/office/drawing/2014/main" id="{41501B8B-9237-488B-8453-1F63C5B7A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9334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t>接口不追求一次性覆盖所有证书业务，而是覆盖首期闭环所需的最小稳定面。</a:t>
            </a:r>
          </a:p>
        </p:txBody>
      </p:sp>
      <p:sp>
        <p:nvSpPr>
          <p:cNvPr id="3" name="label-核心接口分组">
            <a:extLst xmlns:a="http://schemas.openxmlformats.org/drawingml/2006/main">
              <a:ext uri="{FF2B5EF4-FFF2-40B4-BE49-F238E27FC236}">
                <a16:creationId xmlns:a16="http://schemas.microsoft.com/office/drawing/2014/main" id="{61EA6181-36D7-433A-A539-24E3094E5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43100"/>
            <a:ext cx="1714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核心接口分组</a:t>
            </a:r>
          </a:p>
        </p:txBody>
      </p:sp>
      <p:sp>
        <p:nvSpPr>
          <p:cNvPr id="4" name="label-核心数据表">
            <a:extLst xmlns:a="http://schemas.openxmlformats.org/drawingml/2006/main">
              <a:ext uri="{FF2B5EF4-FFF2-40B4-BE49-F238E27FC236}">
                <a16:creationId xmlns:a16="http://schemas.microsoft.com/office/drawing/2014/main" id="{9DA93234-CBF7-4D80-9A34-076B11F9C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943100"/>
            <a:ext cx="1714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核心数据表</a:t>
            </a:r>
          </a:p>
        </p:txBody>
      </p:sp>
      <p:sp>
        <p:nvSpPr>
          <p:cNvPr id="5" name="shape-5bqbhd8dwnb">
            <a:extLst xmlns:a="http://schemas.openxmlformats.org/drawingml/2006/main">
              <a:ext uri="{FF2B5EF4-FFF2-40B4-BE49-F238E27FC236}">
                <a16:creationId xmlns:a16="http://schemas.microsoft.com/office/drawing/2014/main" id="{73B7D906-60C4-4236-8355-6C5DCADB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362200"/>
            <a:ext cx="489585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table-name">
            <a:extLst xmlns:a="http://schemas.openxmlformats.org/drawingml/2006/main">
              <a:ext uri="{FF2B5EF4-FFF2-40B4-BE49-F238E27FC236}">
                <a16:creationId xmlns:a16="http://schemas.microsoft.com/office/drawing/2014/main" id="{568EE30C-5B3B-4D9F-9CEF-3DA7C3224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647950"/>
            <a:ext cx="4095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certificate_template</a:t>
            </a:r>
          </a:p>
        </p:txBody>
      </p:sp>
      <p:sp>
        <p:nvSpPr>
          <p:cNvPr id="7" name="data-fields">
            <a:extLst xmlns:a="http://schemas.openxmlformats.org/drawingml/2006/main">
              <a:ext uri="{FF2B5EF4-FFF2-40B4-BE49-F238E27FC236}">
                <a16:creationId xmlns:a16="http://schemas.microsoft.com/office/drawing/2014/main" id="{2B3A648F-A9C8-49E7-BAB7-CEB17878D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200400"/>
            <a:ext cx="409575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2" algn="l">
              <a:lnSpc>
                <a:spcPct val="112000"/>
              </a:lnSpc>
              <a:spcAft>
                <a:spcPts val="560"/>
              </a:spcAft>
              <a:buNone/>
              <a:def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tpl_key、name：模板标识和名称。</a:t>
            </a:r>
          </a:p>
          <a:p xmlns:a="http://schemas.openxmlformats.org/drawingml/2006/main">
            <a:pPr marL="22" indent="-12" algn="l">
              <a:lnSpc>
                <a:spcPct val="112000"/>
              </a:lnSpc>
              <a:spcAft>
                <a:spcPts val="560"/>
              </a:spcAft>
              <a:buNone/>
              <a:def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bg_url、width、height：底图与画布尺寸。</a:t>
            </a:r>
          </a:p>
          <a:p xmlns:a="http://schemas.openxmlformats.org/drawingml/2006/main">
            <a:pPr marL="22" indent="-12" algn="l">
              <a:lnSpc>
                <a:spcPct val="112000"/>
              </a:lnSpc>
              <a:spcAft>
                <a:spcPts val="560"/>
              </a:spcAft>
              <a:buNone/>
              <a:def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fields_json：动态字段定义。</a:t>
            </a:r>
          </a:p>
          <a:p xmlns:a="http://schemas.openxmlformats.org/drawingml/2006/main">
            <a:pPr marL="22" indent="-12" algn="l">
              <a:lnSpc>
                <a:spcPct val="112000"/>
              </a:lnSpc>
              <a:spcAft>
                <a:spcPts val="560"/>
              </a:spcAft>
              <a:buNone/>
              <a:def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canvas_json：fabric 画布对象序列化结果。</a:t>
            </a:r>
          </a:p>
          <a:p xmlns:a="http://schemas.openxmlformats.org/drawingml/2006/main">
            <a:pPr marL="22" indent="-12" algn="l">
              <a:lnSpc>
                <a:spcPct val="112000"/>
              </a:lnSpc>
              <a:spcAft>
                <a:spcPts val="560"/>
              </a:spcAft>
              <a:buNone/>
              <a:def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thumbnail、deleted：缩略图和软删除。</a:t>
            </a:r>
          </a:p>
        </p:txBody>
      </p:sp>
      <p:sp>
        <p:nvSpPr>
          <p:cNvPr id="8" name="footer-6">
            <a:extLst xmlns:a="http://schemas.openxmlformats.org/drawingml/2006/main">
              <a:ext uri="{FF2B5EF4-FFF2-40B4-BE49-F238E27FC236}">
                <a16:creationId xmlns:a16="http://schemas.microsoft.com/office/drawing/2014/main" id="{D42D49F0-C89F-4E5D-A2A8-475035DB6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06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400050" y="2362200"/>
          <a:ext xmlns:a="http://schemas.openxmlformats.org/drawingml/2006/main" cx="6096000" cy="30289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424299"/>
                <a:gridCol w="1823103"/>
                <a:gridCol w="2848598"/>
              </a:tblGrid>
              <a:tr h="60579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能力</a:t>
                      </a:r>
                    </a:p>
                  </a:txBody>
                  <a:tcPr marL="76200" marR="76200" marT="76200" marB="7620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接口</a:t>
                      </a:r>
                    </a:p>
                  </a:txBody>
                  <a:tcPr marL="76200" marR="76200" marT="76200" marB="7620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用途</a:t>
                      </a:r>
                    </a:p>
                  </a:txBody>
                  <a:tcPr marL="76200" marR="76200" marT="76200" marB="76200">
                    <a:solidFill>
                      <a:srgbClr val="000000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资源上传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POST /upload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上传底图并返回相对 URL</a:t>
                      </a:r>
                    </a:p>
                  </a:txBody>
                  <a:tcPr marL="76200" marR="76200" marT="76200" marB="76200"/>
                </a:tc>
              </a:tr>
              <a:tr h="60579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模板维护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POST/PUT/GET/DELETE /template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新建、更新、查询、删除模板</a:t>
                      </a:r>
                    </a:p>
                  </a:txBody>
                  <a:tcPr marL="76200" marR="76200" marT="76200" marB="76200"/>
                </a:tc>
              </a:tr>
              <a:tr h="60579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单张发放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POST /issue/render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返回 PNG 字节流用于预览和下载</a:t>
                      </a:r>
                    </a:p>
                  </a:txBody>
                  <a:tcPr marL="76200" marR="76200" marT="76200" marB="76200"/>
                </a:tc>
              </a:tr>
              <a:tr h="60579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批量发放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POST /issue/render-batch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返回 base64 列表用于批量预览/下载</a:t>
                      </a:r>
                    </a:p>
                  </a:txBody>
                  <a:tcPr marL="76200" marR="76200" marT="76200" marB="7620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88353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6F06F0E-34D4-476A-BD71-53BA360D4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83945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验证路径以一次完整发放为主，而不是只测页面打开</a:t>
            </a:r>
          </a:p>
        </p:txBody>
      </p:sp>
      <p:sp>
        <p:nvSpPr>
          <p:cNvPr id="2" name="qa-intro">
            <a:extLst xmlns:a="http://schemas.openxmlformats.org/drawingml/2006/main">
              <a:ext uri="{FF2B5EF4-FFF2-40B4-BE49-F238E27FC236}">
                <a16:creationId xmlns:a16="http://schemas.microsoft.com/office/drawing/2014/main" id="{8A4D114D-DCB1-474F-8E6B-C805E282F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0287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t>首期验收应围绕真实闭环：保存后能否落库，渲染后能否替换字段，下载结果能否被业务使用。</a:t>
            </a:r>
          </a:p>
        </p:txBody>
      </p:sp>
      <p:sp>
        <p:nvSpPr>
          <p:cNvPr id="3" name="qa-no-0">
            <a:extLst xmlns:a="http://schemas.openxmlformats.org/drawingml/2006/main">
              <a:ext uri="{FF2B5EF4-FFF2-40B4-BE49-F238E27FC236}">
                <a16:creationId xmlns:a16="http://schemas.microsoft.com/office/drawing/2014/main" id="{514EE632-4E97-4CDB-8FA0-02E1C1B76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33600"/>
            <a:ext cx="5334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1</a:t>
            </a:r>
          </a:p>
        </p:txBody>
      </p:sp>
      <p:sp>
        <p:nvSpPr>
          <p:cNvPr id="4" name="shape-cegycn3e20n">
            <a:extLst xmlns:a="http://schemas.openxmlformats.org/drawingml/2006/main">
              <a:ext uri="{FF2B5EF4-FFF2-40B4-BE49-F238E27FC236}">
                <a16:creationId xmlns:a16="http://schemas.microsoft.com/office/drawing/2014/main" id="{CC22F2CB-6EDF-4632-BE5F-F65583A4F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19325"/>
            <a:ext cx="377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qa-head-0">
            <a:extLst xmlns:a="http://schemas.openxmlformats.org/drawingml/2006/main">
              <a:ext uri="{FF2B5EF4-FFF2-40B4-BE49-F238E27FC236}">
                <a16:creationId xmlns:a16="http://schemas.microsoft.com/office/drawing/2014/main" id="{6756D398-D310-4AC7-803E-B2A5BFE66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095500"/>
            <a:ext cx="2000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启动服务</a:t>
            </a:r>
          </a:p>
        </p:txBody>
      </p:sp>
      <p:sp>
        <p:nvSpPr>
          <p:cNvPr id="6" name="qa-body-0">
            <a:extLst xmlns:a="http://schemas.openxmlformats.org/drawingml/2006/main">
              <a:ext uri="{FF2B5EF4-FFF2-40B4-BE49-F238E27FC236}">
                <a16:creationId xmlns:a16="http://schemas.microsoft.com/office/drawing/2014/main" id="{07E430E3-BCAB-47CC-B381-75223E79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24075"/>
            <a:ext cx="4000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t>后端 Spring Boot 与前端 Vite 代理联通</a:t>
            </a:r>
          </a:p>
        </p:txBody>
      </p:sp>
      <p:sp>
        <p:nvSpPr>
          <p:cNvPr id="7" name="qa-no-1">
            <a:extLst xmlns:a="http://schemas.openxmlformats.org/drawingml/2006/main">
              <a:ext uri="{FF2B5EF4-FFF2-40B4-BE49-F238E27FC236}">
                <a16:creationId xmlns:a16="http://schemas.microsoft.com/office/drawing/2014/main" id="{47791F9F-93BE-401B-AA5E-9CFE3C2C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76550"/>
            <a:ext cx="5334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2</a:t>
            </a:r>
          </a:p>
        </p:txBody>
      </p:sp>
      <p:sp>
        <p:nvSpPr>
          <p:cNvPr id="8" name="shape-se8laenb4w">
            <a:extLst xmlns:a="http://schemas.openxmlformats.org/drawingml/2006/main">
              <a:ext uri="{FF2B5EF4-FFF2-40B4-BE49-F238E27FC236}">
                <a16:creationId xmlns:a16="http://schemas.microsoft.com/office/drawing/2014/main" id="{3CDB3E21-30AF-4474-ABEA-4D3373A5B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62275"/>
            <a:ext cx="377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qa-head-1">
            <a:extLst xmlns:a="http://schemas.openxmlformats.org/drawingml/2006/main">
              <a:ext uri="{FF2B5EF4-FFF2-40B4-BE49-F238E27FC236}">
                <a16:creationId xmlns:a16="http://schemas.microsoft.com/office/drawing/2014/main" id="{C2344873-66D6-4A9E-BCCE-28335A9F9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838450"/>
            <a:ext cx="2000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新建模板</a:t>
            </a:r>
          </a:p>
        </p:txBody>
      </p:sp>
      <p:sp>
        <p:nvSpPr>
          <p:cNvPr id="10" name="qa-body-1">
            <a:extLst xmlns:a="http://schemas.openxmlformats.org/drawingml/2006/main">
              <a:ext uri="{FF2B5EF4-FFF2-40B4-BE49-F238E27FC236}">
                <a16:creationId xmlns:a16="http://schemas.microsoft.com/office/drawing/2014/main" id="{B9114EF9-DF05-4A23-B26C-5B5A678D0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867025"/>
            <a:ext cx="4000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t>上传底图，配置画布尺寸与字段</a:t>
            </a:r>
          </a:p>
        </p:txBody>
      </p:sp>
      <p:sp>
        <p:nvSpPr>
          <p:cNvPr id="11" name="qa-no-2">
            <a:extLst xmlns:a="http://schemas.openxmlformats.org/drawingml/2006/main">
              <a:ext uri="{FF2B5EF4-FFF2-40B4-BE49-F238E27FC236}">
                <a16:creationId xmlns:a16="http://schemas.microsoft.com/office/drawing/2014/main" id="{E330352A-6297-435A-B38F-C8081E917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19500"/>
            <a:ext cx="5334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3</a:t>
            </a:r>
          </a:p>
        </p:txBody>
      </p:sp>
      <p:sp>
        <p:nvSpPr>
          <p:cNvPr id="12" name="shape-up0wwm95ak">
            <a:extLst xmlns:a="http://schemas.openxmlformats.org/drawingml/2006/main">
              <a:ext uri="{FF2B5EF4-FFF2-40B4-BE49-F238E27FC236}">
                <a16:creationId xmlns:a16="http://schemas.microsoft.com/office/drawing/2014/main" id="{A0E82871-7124-4982-9787-90732DC2D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05225"/>
            <a:ext cx="377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qa-head-2">
            <a:extLst xmlns:a="http://schemas.openxmlformats.org/drawingml/2006/main">
              <a:ext uri="{FF2B5EF4-FFF2-40B4-BE49-F238E27FC236}">
                <a16:creationId xmlns:a16="http://schemas.microsoft.com/office/drawing/2014/main" id="{3F464E15-C447-42E1-B861-0D253A4B9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581400"/>
            <a:ext cx="2000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保存配置</a:t>
            </a:r>
          </a:p>
        </p:txBody>
      </p:sp>
      <p:sp>
        <p:nvSpPr>
          <p:cNvPr id="14" name="qa-body-2">
            <a:extLst xmlns:a="http://schemas.openxmlformats.org/drawingml/2006/main">
              <a:ext uri="{FF2B5EF4-FFF2-40B4-BE49-F238E27FC236}">
                <a16:creationId xmlns:a16="http://schemas.microsoft.com/office/drawing/2014/main" id="{EB7FB394-1875-403D-B08E-D60BAC52F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609975"/>
            <a:ext cx="4000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94445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t>确认 bgUrl、fields、canvasJson、thumbnail 落库</a:t>
            </a:r>
          </a:p>
        </p:txBody>
      </p:sp>
      <p:sp>
        <p:nvSpPr>
          <p:cNvPr id="15" name="qa-no-3">
            <a:extLst xmlns:a="http://schemas.openxmlformats.org/drawingml/2006/main">
              <a:ext uri="{FF2B5EF4-FFF2-40B4-BE49-F238E27FC236}">
                <a16:creationId xmlns:a16="http://schemas.microsoft.com/office/drawing/2014/main" id="{0594EB65-2062-4B38-8679-7BC132802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62450"/>
            <a:ext cx="5334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4</a:t>
            </a:r>
          </a:p>
        </p:txBody>
      </p:sp>
      <p:sp>
        <p:nvSpPr>
          <p:cNvPr id="16" name="shape-4wljrzvj4s">
            <a:extLst xmlns:a="http://schemas.openxmlformats.org/drawingml/2006/main">
              <a:ext uri="{FF2B5EF4-FFF2-40B4-BE49-F238E27FC236}">
                <a16:creationId xmlns:a16="http://schemas.microsoft.com/office/drawing/2014/main" id="{92B1E8B5-4F54-43D7-990E-3BFFC2DB1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48175"/>
            <a:ext cx="377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qa-head-3">
            <a:extLst xmlns:a="http://schemas.openxmlformats.org/drawingml/2006/main">
              <a:ext uri="{FF2B5EF4-FFF2-40B4-BE49-F238E27FC236}">
                <a16:creationId xmlns:a16="http://schemas.microsoft.com/office/drawing/2014/main" id="{23241A9D-A3F6-4BE9-8151-8F4CBF0A7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324350"/>
            <a:ext cx="2000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单张渲染</a:t>
            </a:r>
          </a:p>
        </p:txBody>
      </p:sp>
      <p:sp>
        <p:nvSpPr>
          <p:cNvPr id="18" name="qa-body-3">
            <a:extLst xmlns:a="http://schemas.openxmlformats.org/drawingml/2006/main">
              <a:ext uri="{FF2B5EF4-FFF2-40B4-BE49-F238E27FC236}">
                <a16:creationId xmlns:a16="http://schemas.microsoft.com/office/drawing/2014/main" id="{F6359A50-3717-4AE6-886A-230671EDE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352925"/>
            <a:ext cx="4000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t>输入字段数据，预览并下载 PNG</a:t>
            </a:r>
          </a:p>
        </p:txBody>
      </p:sp>
      <p:sp>
        <p:nvSpPr>
          <p:cNvPr id="19" name="qa-no-4">
            <a:extLst xmlns:a="http://schemas.openxmlformats.org/drawingml/2006/main">
              <a:ext uri="{FF2B5EF4-FFF2-40B4-BE49-F238E27FC236}">
                <a16:creationId xmlns:a16="http://schemas.microsoft.com/office/drawing/2014/main" id="{CBDDE584-DF5D-4032-90E4-8B20C2277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05400"/>
            <a:ext cx="5334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5</a:t>
            </a:r>
          </a:p>
        </p:txBody>
      </p:sp>
      <p:sp>
        <p:nvSpPr>
          <p:cNvPr id="20" name="shape-rspet30tems">
            <a:extLst xmlns:a="http://schemas.openxmlformats.org/drawingml/2006/main">
              <a:ext uri="{FF2B5EF4-FFF2-40B4-BE49-F238E27FC236}">
                <a16:creationId xmlns:a16="http://schemas.microsoft.com/office/drawing/2014/main" id="{D9CA41B8-1255-46B4-A729-B184B44A3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91125"/>
            <a:ext cx="377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qa-head-4">
            <a:extLst xmlns:a="http://schemas.openxmlformats.org/drawingml/2006/main">
              <a:ext uri="{FF2B5EF4-FFF2-40B4-BE49-F238E27FC236}">
                <a16:creationId xmlns:a16="http://schemas.microsoft.com/office/drawing/2014/main" id="{1789ED72-C190-4864-B043-492CAE7A4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067300"/>
            <a:ext cx="2000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批量验证</a:t>
            </a:r>
          </a:p>
        </p:txBody>
      </p:sp>
      <p:sp>
        <p:nvSpPr>
          <p:cNvPr id="22" name="qa-body-4">
            <a:extLst xmlns:a="http://schemas.openxmlformats.org/drawingml/2006/main">
              <a:ext uri="{FF2B5EF4-FFF2-40B4-BE49-F238E27FC236}">
                <a16:creationId xmlns:a16="http://schemas.microsoft.com/office/drawing/2014/main" id="{5DC5FBC4-109C-4C5D-96F2-5A782B9A4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095875"/>
            <a:ext cx="4000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t>CSV 2-3 行进入批量渲染结果列表</a:t>
            </a:r>
          </a:p>
        </p:txBody>
      </p:sp>
      <p:sp>
        <p:nvSpPr>
          <p:cNvPr id="23" name="shape-mv6dps2xxd">
            <a:extLst xmlns:a="http://schemas.openxmlformats.org/drawingml/2006/main">
              <a:ext uri="{FF2B5EF4-FFF2-40B4-BE49-F238E27FC236}">
                <a16:creationId xmlns:a16="http://schemas.microsoft.com/office/drawing/2014/main" id="{64C5D4AB-2C28-4923-8D39-8DF0ACDC1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8343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qa-standard">
            <a:extLst xmlns:a="http://schemas.openxmlformats.org/drawingml/2006/main">
              <a:ext uri="{FF2B5EF4-FFF2-40B4-BE49-F238E27FC236}">
                <a16:creationId xmlns:a16="http://schemas.microsoft.com/office/drawing/2014/main" id="{D24E307F-2E91-4EC4-BA80-274BD17E2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76950"/>
            <a:ext cx="10287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通过标准：字段替换正确、图片不失真、批量结果完整、设计预览与服务端输出口径一致。</a:t>
            </a:r>
          </a:p>
        </p:txBody>
      </p:sp>
      <p:sp>
        <p:nvSpPr>
          <p:cNvPr id="25" name="footer-7">
            <a:extLst xmlns:a="http://schemas.openxmlformats.org/drawingml/2006/main">
              <a:ext uri="{FF2B5EF4-FFF2-40B4-BE49-F238E27FC236}">
                <a16:creationId xmlns:a16="http://schemas.microsoft.com/office/drawing/2014/main" id="{0A7E9EE3-7BD1-4FD0-9ECC-6D2EF1320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944404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429C740-680F-4F87-8F82-D61BEA70F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83945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首期边界清晰，后续扩展保留接口位置</a:t>
            </a:r>
          </a:p>
        </p:txBody>
      </p:sp>
      <p:sp>
        <p:nvSpPr>
          <p:cNvPr id="2" name="next-intro">
            <a:extLst xmlns:a="http://schemas.openxmlformats.org/drawingml/2006/main">
              <a:ext uri="{FF2B5EF4-FFF2-40B4-BE49-F238E27FC236}">
                <a16:creationId xmlns:a16="http://schemas.microsoft.com/office/drawing/2014/main" id="{B51DE52D-3A5E-420E-A59C-E286012D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8572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2222"/>
                </a:solidFill>
                <a:latin typeface="PingFang SC"/>
                <a:ea typeface="PingFang SC"/>
                <a:cs typeface="PingFang SC"/>
              </a:defRPr>
            </a:pPr>
            <a:r>
              <a:t>这版汇报的落点是“先跑通闭环”，不是把所有证书治理能力一次性做完。</a:t>
            </a:r>
          </a:p>
        </p:txBody>
      </p:sp>
      <p:sp>
        <p:nvSpPr>
          <p:cNvPr id="3" name="shape-5p3utngrcji">
            <a:extLst xmlns:a="http://schemas.openxmlformats.org/drawingml/2006/main">
              <a:ext uri="{FF2B5EF4-FFF2-40B4-BE49-F238E27FC236}">
                <a16:creationId xmlns:a16="http://schemas.microsoft.com/office/drawing/2014/main" id="{70E98F28-4FAD-4044-90A5-B01E661D1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4953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m1iuyao72pc">
            <a:extLst xmlns:a="http://schemas.openxmlformats.org/drawingml/2006/main">
              <a:ext uri="{FF2B5EF4-FFF2-40B4-BE49-F238E27FC236}">
                <a16:creationId xmlns:a16="http://schemas.microsoft.com/office/drawing/2014/main" id="{B8EDC377-AE25-494C-9391-3AE08404F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71700"/>
            <a:ext cx="4953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cope-title">
            <a:extLst xmlns:a="http://schemas.openxmlformats.org/drawingml/2006/main">
              <a:ext uri="{FF2B5EF4-FFF2-40B4-BE49-F238E27FC236}">
                <a16:creationId xmlns:a16="http://schemas.microsoft.com/office/drawing/2014/main" id="{2891A2A4-0FD5-4808-81F9-8EB6B5B59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76500"/>
            <a:ext cx="4191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首期明确不做</a:t>
            </a:r>
          </a:p>
        </p:txBody>
      </p:sp>
      <p:sp>
        <p:nvSpPr>
          <p:cNvPr id="6" name="scope-list">
            <a:extLst xmlns:a="http://schemas.openxmlformats.org/drawingml/2006/main">
              <a:ext uri="{FF2B5EF4-FFF2-40B4-BE49-F238E27FC236}">
                <a16:creationId xmlns:a16="http://schemas.microsoft.com/office/drawing/2014/main" id="{E1169CA7-7C2E-4A73-9BE1-55BE75BC4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05150"/>
            <a:ext cx="4095750" cy="1466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2" algn="l">
              <a:lnSpc>
                <a:spcPct val="112000"/>
              </a:lnSpc>
              <a:spcAft>
                <a:spcPts val="560"/>
              </a:spcAft>
              <a:buNone/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不接入 OSS，演示阶段使用本地 uploads。</a:t>
            </a:r>
          </a:p>
          <a:p xmlns:a="http://schemas.openxmlformats.org/drawingml/2006/main">
            <a:pPr marL="22" indent="-12" algn="l">
              <a:lnSpc>
                <a:spcPct val="112000"/>
              </a:lnSpc>
              <a:spcAft>
                <a:spcPts val="560"/>
              </a:spcAft>
              <a:buNone/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不做批量 ZIP 下载，先保留批量接口扩展位。</a:t>
            </a:r>
          </a:p>
          <a:p xmlns:a="http://schemas.openxmlformats.org/drawingml/2006/main">
            <a:pPr marL="22" indent="-12" algn="l">
              <a:lnSpc>
                <a:spcPct val="112000"/>
              </a:lnSpc>
              <a:spcAft>
                <a:spcPts val="560"/>
              </a:spcAft>
              <a:buNone/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不做二维码生成，后续可通过 zxing 叠加。</a:t>
            </a:r>
          </a:p>
          <a:p xmlns:a="http://schemas.openxmlformats.org/drawingml/2006/main">
            <a:pPr marL="22" indent="-12" algn="l">
              <a:lnSpc>
                <a:spcPct val="112000"/>
              </a:lnSpc>
              <a:spcAft>
                <a:spcPts val="560"/>
              </a:spcAft>
              <a:buNone/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不改 workflow-designer Vue 工程。</a:t>
            </a:r>
          </a:p>
        </p:txBody>
      </p:sp>
      <p:sp>
        <p:nvSpPr>
          <p:cNvPr id="7" name="next-title">
            <a:extLst xmlns:a="http://schemas.openxmlformats.org/drawingml/2006/main">
              <a:ext uri="{FF2B5EF4-FFF2-40B4-BE49-F238E27FC236}">
                <a16:creationId xmlns:a16="http://schemas.microsoft.com/office/drawing/2014/main" id="{EA9D852F-2490-4185-8ABE-CED98E689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4191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下一步建议</a:t>
            </a:r>
          </a:p>
        </p:txBody>
      </p:sp>
      <p:sp>
        <p:nvSpPr>
          <p:cNvPr id="8" name="next-list">
            <a:extLst xmlns:a="http://schemas.openxmlformats.org/drawingml/2006/main">
              <a:ext uri="{FF2B5EF4-FFF2-40B4-BE49-F238E27FC236}">
                <a16:creationId xmlns:a16="http://schemas.microsoft.com/office/drawing/2014/main" id="{5C19F5B5-676D-46CA-A3F2-831E28B0F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05150"/>
            <a:ext cx="4095750" cy="1352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2" algn="l">
              <a:lnSpc>
                <a:spcPct val="112000"/>
              </a:lnSpc>
              <a:spcAft>
                <a:spcPts val="560"/>
              </a:spcAft>
              <a:buNone/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先完成模板 CRUD、设计器保存和单张渲染。</a:t>
            </a:r>
          </a:p>
          <a:p xmlns:a="http://schemas.openxmlformats.org/drawingml/2006/main">
            <a:pPr marL="22" indent="-12" algn="l">
              <a:lnSpc>
                <a:spcPct val="112000"/>
              </a:lnSpc>
              <a:spcAft>
                <a:spcPts val="560"/>
              </a:spcAft>
              <a:buNone/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再补齐批量导入、批量预览和下载体验。</a:t>
            </a:r>
          </a:p>
          <a:p xmlns:a="http://schemas.openxmlformats.org/drawingml/2006/main">
            <a:pPr marL="22" indent="-12" algn="l">
              <a:lnSpc>
                <a:spcPct val="112000"/>
              </a:lnSpc>
              <a:spcAft>
                <a:spcPts val="560"/>
              </a:spcAft>
              <a:buNone/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最后扩展 OSS、二维码、编号规则和发放审计。</a:t>
            </a:r>
          </a:p>
        </p:txBody>
      </p:sp>
      <p:sp>
        <p:nvSpPr>
          <p:cNvPr id="9" name="closing">
            <a:extLst xmlns:a="http://schemas.openxmlformats.org/drawingml/2006/main">
              <a:ext uri="{FF2B5EF4-FFF2-40B4-BE49-F238E27FC236}">
                <a16:creationId xmlns:a16="http://schemas.microsoft.com/office/drawing/2014/main" id="{F255E32A-0023-4254-B805-7BD8A84FB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04775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99076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结论：以“可配置、可保存、可渲染、可下载”为第一交付口径，后续再扩展可信发放能力。</a:t>
            </a:r>
          </a:p>
        </p:txBody>
      </p:sp>
      <p:sp>
        <p:nvSpPr>
          <p:cNvPr id="10" name="footer-8">
            <a:extLst xmlns:a="http://schemas.openxmlformats.org/drawingml/2006/main">
              <a:ext uri="{FF2B5EF4-FFF2-40B4-BE49-F238E27FC236}">
                <a16:creationId xmlns:a16="http://schemas.microsoft.com/office/drawing/2014/main" id="{880B6E28-9E88-44F5-B2D2-A236FCDF3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930444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2026-07-15T09:01:06.9110000Z</dcterms:created>
  <dcterms:modified xsi:type="dcterms:W3CDTF">2026-07-15T09:01:06.9110000Z</dcterms:modified>
</coreProperties>
</file>