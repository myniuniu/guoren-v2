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afa004ce1141de" /><Relationship Type="http://schemas.openxmlformats.org/officeDocument/2006/relationships/extended-properties" Target="/docProps/app.xml" Id="R79ca8a13ef694e0a" /><Relationship Type="http://schemas.openxmlformats.org/officeDocument/2006/relationships/officeDocument" Target="/ppt/presentation.xml" Id="R55cb744e813c41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347aa4a9e84009"/>
  </p:sldMasterIdLst>
  <p:notesMasterIdLst>
    <p:notesMasterId xmlns:r="http://schemas.openxmlformats.org/officeDocument/2006/relationships" r:id="R62ad5a287376457c"/>
  </p:notesMasterIdLst>
  <p:sldIdLst>
    <p:sldId xmlns:r="http://schemas.openxmlformats.org/officeDocument/2006/relationships" id="256" r:id="Rb5e7275bf4964a9e"/>
    <p:sldId xmlns:r="http://schemas.openxmlformats.org/officeDocument/2006/relationships" id="257" r:id="R3a8f193bd7044fdb"/>
    <p:sldId xmlns:r="http://schemas.openxmlformats.org/officeDocument/2006/relationships" id="258" r:id="Rfae9037c3bf04aa8"/>
    <p:sldId xmlns:r="http://schemas.openxmlformats.org/officeDocument/2006/relationships" id="259" r:id="R665b3975e4d5494e"/>
    <p:sldId xmlns:r="http://schemas.openxmlformats.org/officeDocument/2006/relationships" id="260" r:id="Rd17e8350b2bb4fca"/>
    <p:sldId xmlns:r="http://schemas.openxmlformats.org/officeDocument/2006/relationships" id="261" r:id="R33a280a086de4a5a"/>
    <p:sldId xmlns:r="http://schemas.openxmlformats.org/officeDocument/2006/relationships" id="262" r:id="R6e9624bba496497f"/>
    <p:sldId xmlns:r="http://schemas.openxmlformats.org/officeDocument/2006/relationships" id="263" r:id="Ra15b0b3b359844bf"/>
    <p:sldId xmlns:r="http://schemas.openxmlformats.org/officeDocument/2006/relationships" id="264" r:id="R01bc60595e1f451d"/>
    <p:sldId xmlns:r="http://schemas.openxmlformats.org/officeDocument/2006/relationships" id="265" r:id="R08992f10c20a4dc5"/>
    <p:sldId xmlns:r="http://schemas.openxmlformats.org/officeDocument/2006/relationships" id="266" r:id="R44edd284afcd434d"/>
    <p:sldId xmlns:r="http://schemas.openxmlformats.org/officeDocument/2006/relationships" id="267" r:id="R93e379108f6f4899"/>
    <p:sldId xmlns:r="http://schemas.openxmlformats.org/officeDocument/2006/relationships" id="268" r:id="R185d31b78d1344ad"/>
    <p:sldId xmlns:r="http://schemas.openxmlformats.org/officeDocument/2006/relationships" id="269" r:id="Rc72165adeff8430f"/>
    <p:sldId xmlns:r="http://schemas.openxmlformats.org/officeDocument/2006/relationships" id="270" r:id="Rc524425668fc49f6"/>
    <p:sldId xmlns:r="http://schemas.openxmlformats.org/officeDocument/2006/relationships" id="271" r:id="Rb3cccde6f4a24e5e"/>
    <p:sldId xmlns:r="http://schemas.openxmlformats.org/officeDocument/2006/relationships" id="272" r:id="Ra5d588b0d8c34c98"/>
    <p:sldId xmlns:r="http://schemas.openxmlformats.org/officeDocument/2006/relationships" id="273" r:id="R6ae2a9bbc4284599"/>
    <p:sldId xmlns:r="http://schemas.openxmlformats.org/officeDocument/2006/relationships" id="274" r:id="R33929706b4f74c0d"/>
    <p:sldId xmlns:r="http://schemas.openxmlformats.org/officeDocument/2006/relationships" id="275" r:id="R0043009bd76c4079"/>
    <p:sldId xmlns:r="http://schemas.openxmlformats.org/officeDocument/2006/relationships" id="276" r:id="R7901c255016c465a"/>
    <p:sldId xmlns:r="http://schemas.openxmlformats.org/officeDocument/2006/relationships" id="277" r:id="R1e20d6df7b1143f8"/>
    <p:sldId xmlns:r="http://schemas.openxmlformats.org/officeDocument/2006/relationships" id="278" r:id="R728df25c39434251"/>
    <p:sldId xmlns:r="http://schemas.openxmlformats.org/officeDocument/2006/relationships" id="279" r:id="R350415a883be4625"/>
    <p:sldId xmlns:r="http://schemas.openxmlformats.org/officeDocument/2006/relationships" id="280" r:id="R7c0b28fa4bd240d7"/>
    <p:sldId xmlns:r="http://schemas.openxmlformats.org/officeDocument/2006/relationships" id="281" r:id="R53c5b196eed246b9"/>
    <p:sldId xmlns:r="http://schemas.openxmlformats.org/officeDocument/2006/relationships" id="282" r:id="R48f3453d3299429c"/>
    <p:sldId xmlns:r="http://schemas.openxmlformats.org/officeDocument/2006/relationships" id="283" r:id="R92d318c8b1f049fd"/>
    <p:sldId xmlns:r="http://schemas.openxmlformats.org/officeDocument/2006/relationships" id="284" r:id="R3bf40781bf034e60"/>
    <p:sldId xmlns:r="http://schemas.openxmlformats.org/officeDocument/2006/relationships" id="285" r:id="Raae0f112d7a84103"/>
    <p:sldId xmlns:r="http://schemas.openxmlformats.org/officeDocument/2006/relationships" id="286" r:id="Rbde97a09cef5499f"/>
    <p:sldId xmlns:r="http://schemas.openxmlformats.org/officeDocument/2006/relationships" id="287" r:id="Ra5b0112267684d52"/>
    <p:sldId xmlns:r="http://schemas.openxmlformats.org/officeDocument/2006/relationships" id="288" r:id="R12b1ae8204324280"/>
    <p:sldId xmlns:r="http://schemas.openxmlformats.org/officeDocument/2006/relationships" id="289" r:id="Rf921b540edca48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3235639d144c85" /><Relationship Type="http://schemas.openxmlformats.org/officeDocument/2006/relationships/slideMaster" Target="/ppt/slideMasters/slideMaster1.xml" Id="R45347aa4a9e84009" /><Relationship Type="http://schemas.openxmlformats.org/officeDocument/2006/relationships/notesMaster" Target="/ppt/notesMasters/notesMaster1.xml" Id="R62ad5a287376457c" /><Relationship Type="http://schemas.openxmlformats.org/officeDocument/2006/relationships/presProps" Target="/ppt/presProps.xml" Id="R94031a7f48284a7a" /><Relationship Type="http://schemas.openxmlformats.org/officeDocument/2006/relationships/viewProps" Target="/ppt/viewProps.xml" Id="Rf19fec54b43b4b33" /><Relationship Type="http://schemas.openxmlformats.org/officeDocument/2006/relationships/tableStyles" Target="/ppt/tableStyles.xml" Id="Rc94d3f5f72e84ae1" /><Relationship Type="http://schemas.openxmlformats.org/officeDocument/2006/relationships/slide" Target="/ppt/slides/slide1.xml" Id="Rb5e7275bf4964a9e" /><Relationship Type="http://schemas.openxmlformats.org/officeDocument/2006/relationships/slide" Target="/ppt/slides/slide2.xml" Id="R3a8f193bd7044fdb" /><Relationship Type="http://schemas.openxmlformats.org/officeDocument/2006/relationships/slide" Target="/ppt/slides/slide3.xml" Id="Rfae9037c3bf04aa8" /><Relationship Type="http://schemas.openxmlformats.org/officeDocument/2006/relationships/slide" Target="/ppt/slides/slide4.xml" Id="R665b3975e4d5494e" /><Relationship Type="http://schemas.openxmlformats.org/officeDocument/2006/relationships/slide" Target="/ppt/slides/slide5.xml" Id="Rd17e8350b2bb4fca" /><Relationship Type="http://schemas.openxmlformats.org/officeDocument/2006/relationships/slide" Target="/ppt/slides/slide6.xml" Id="R33a280a086de4a5a" /><Relationship Type="http://schemas.openxmlformats.org/officeDocument/2006/relationships/slide" Target="/ppt/slides/slide7.xml" Id="R6e9624bba496497f" /><Relationship Type="http://schemas.openxmlformats.org/officeDocument/2006/relationships/slide" Target="/ppt/slides/slide8.xml" Id="Ra15b0b3b359844bf" /><Relationship Type="http://schemas.openxmlformats.org/officeDocument/2006/relationships/slide" Target="/ppt/slides/slide9.xml" Id="R01bc60595e1f451d" /><Relationship Type="http://schemas.openxmlformats.org/officeDocument/2006/relationships/slide" Target="/ppt/slides/slide10.xml" Id="R08992f10c20a4dc5" /><Relationship Type="http://schemas.openxmlformats.org/officeDocument/2006/relationships/slide" Target="/ppt/slides/slide11.xml" Id="R44edd284afcd434d" /><Relationship Type="http://schemas.openxmlformats.org/officeDocument/2006/relationships/slide" Target="/ppt/slides/slide12.xml" Id="R93e379108f6f4899" /><Relationship Type="http://schemas.openxmlformats.org/officeDocument/2006/relationships/slide" Target="/ppt/slides/slide13.xml" Id="R185d31b78d1344ad" /><Relationship Type="http://schemas.openxmlformats.org/officeDocument/2006/relationships/slide" Target="/ppt/slides/slide14.xml" Id="Rc72165adeff8430f" /><Relationship Type="http://schemas.openxmlformats.org/officeDocument/2006/relationships/slide" Target="/ppt/slides/slide15.xml" Id="Rc524425668fc49f6" /><Relationship Type="http://schemas.openxmlformats.org/officeDocument/2006/relationships/slide" Target="/ppt/slides/slide16.xml" Id="Rb3cccde6f4a24e5e" /><Relationship Type="http://schemas.openxmlformats.org/officeDocument/2006/relationships/slide" Target="/ppt/slides/slide17.xml" Id="Ra5d588b0d8c34c98" /><Relationship Type="http://schemas.openxmlformats.org/officeDocument/2006/relationships/slide" Target="/ppt/slides/slide18.xml" Id="R6ae2a9bbc4284599" /><Relationship Type="http://schemas.openxmlformats.org/officeDocument/2006/relationships/slide" Target="/ppt/slides/slide19.xml" Id="R33929706b4f74c0d" /><Relationship Type="http://schemas.openxmlformats.org/officeDocument/2006/relationships/slide" Target="/ppt/slides/slide20.xml" Id="R0043009bd76c4079" /><Relationship Type="http://schemas.openxmlformats.org/officeDocument/2006/relationships/slide" Target="/ppt/slides/slide21.xml" Id="R7901c255016c465a" /><Relationship Type="http://schemas.openxmlformats.org/officeDocument/2006/relationships/slide" Target="/ppt/slides/slide22.xml" Id="R1e20d6df7b1143f8" /><Relationship Type="http://schemas.openxmlformats.org/officeDocument/2006/relationships/slide" Target="/ppt/slides/slide23.xml" Id="R728df25c39434251" /><Relationship Type="http://schemas.openxmlformats.org/officeDocument/2006/relationships/slide" Target="/ppt/slides/slide24.xml" Id="R350415a883be4625" /><Relationship Type="http://schemas.openxmlformats.org/officeDocument/2006/relationships/slide" Target="/ppt/slides/slide25.xml" Id="R7c0b28fa4bd240d7" /><Relationship Type="http://schemas.openxmlformats.org/officeDocument/2006/relationships/slide" Target="/ppt/slides/slide26.xml" Id="R53c5b196eed246b9" /><Relationship Type="http://schemas.openxmlformats.org/officeDocument/2006/relationships/slide" Target="/ppt/slides/slide27.xml" Id="R48f3453d3299429c" /><Relationship Type="http://schemas.openxmlformats.org/officeDocument/2006/relationships/slide" Target="/ppt/slides/slide28.xml" Id="R92d318c8b1f049fd" /><Relationship Type="http://schemas.openxmlformats.org/officeDocument/2006/relationships/slide" Target="/ppt/slides/slide29.xml" Id="R3bf40781bf034e60" /><Relationship Type="http://schemas.openxmlformats.org/officeDocument/2006/relationships/slide" Target="/ppt/slides/slide30.xml" Id="Raae0f112d7a84103" /><Relationship Type="http://schemas.openxmlformats.org/officeDocument/2006/relationships/slide" Target="/ppt/slides/slide31.xml" Id="Rbde97a09cef5499f" /><Relationship Type="http://schemas.openxmlformats.org/officeDocument/2006/relationships/slide" Target="/ppt/slides/slide32.xml" Id="Ra5b0112267684d52" /><Relationship Type="http://schemas.openxmlformats.org/officeDocument/2006/relationships/slide" Target="/ppt/slides/slide33.xml" Id="R12b1ae8204324280" /><Relationship Type="http://schemas.openxmlformats.org/officeDocument/2006/relationships/slide" Target="/ppt/slides/slide34.xml" Id="Rf921b540edca48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ee847e4b044b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d517488be14841" /><Relationship Type="http://schemas.openxmlformats.org/officeDocument/2006/relationships/notesMaster" Target="/ppt/notesMasters/notesMaster1.xml" Id="Rbfbe8f1ba55b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38ab7665fb4ca7" /><Relationship Type="http://schemas.openxmlformats.org/officeDocument/2006/relationships/notesMaster" Target="/ppt/notesMasters/notesMaster1.xml" Id="R7e7ab435979e4d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eb475eae834c4c" /><Relationship Type="http://schemas.openxmlformats.org/officeDocument/2006/relationships/notesMaster" Target="/ppt/notesMasters/notesMaster1.xml" Id="R6c0e6a18c11245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cf8a0783d24761" /><Relationship Type="http://schemas.openxmlformats.org/officeDocument/2006/relationships/notesMaster" Target="/ppt/notesMasters/notesMaster1.xml" Id="R4620da3b3e7a41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f38d9079344461" /><Relationship Type="http://schemas.openxmlformats.org/officeDocument/2006/relationships/notesMaster" Target="/ppt/notesMasters/notesMaster1.xml" Id="Rcf91c3ebed6e42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5669da862d4c1d" /><Relationship Type="http://schemas.openxmlformats.org/officeDocument/2006/relationships/notesMaster" Target="/ppt/notesMasters/notesMaster1.xml" Id="R34f3c16ed084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259b1be17e44fc" /><Relationship Type="http://schemas.openxmlformats.org/officeDocument/2006/relationships/notesMaster" Target="/ppt/notesMasters/notesMaster1.xml" Id="Rf5853c60520b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238d79891d49cc" /><Relationship Type="http://schemas.openxmlformats.org/officeDocument/2006/relationships/notesMaster" Target="/ppt/notesMasters/notesMaster1.xml" Id="R9e77154dd8f44a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d820f9f44746ea" /><Relationship Type="http://schemas.openxmlformats.org/officeDocument/2006/relationships/notesMaster" Target="/ppt/notesMasters/notesMaster1.xml" Id="Rbd8e2295df114c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ff168222994213" /><Relationship Type="http://schemas.openxmlformats.org/officeDocument/2006/relationships/notesMaster" Target="/ppt/notesMasters/notesMaster1.xml" Id="R2c710855785546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74f9f0b79d4b37" /><Relationship Type="http://schemas.openxmlformats.org/officeDocument/2006/relationships/notesMaster" Target="/ppt/notesMasters/notesMaster1.xml" Id="Rd4e343e3c9cd43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9527444bfd4cb8" /><Relationship Type="http://schemas.openxmlformats.org/officeDocument/2006/relationships/notesMaster" Target="/ppt/notesMasters/notesMaster1.xml" Id="R670d0b85cbbb4c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489e4839724222" /><Relationship Type="http://schemas.openxmlformats.org/officeDocument/2006/relationships/notesMaster" Target="/ppt/notesMasters/notesMaster1.xml" Id="Rb0536cd38fdc40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07bb82b6e945e3" /><Relationship Type="http://schemas.openxmlformats.org/officeDocument/2006/relationships/notesMaster" Target="/ppt/notesMasters/notesMaster1.xml" Id="R006fdd4c4ed741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3c671b253747ae" /><Relationship Type="http://schemas.openxmlformats.org/officeDocument/2006/relationships/notesMaster" Target="/ppt/notesMasters/notesMaster1.xml" Id="R4528267de11d4b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0a0194b4a64456" /><Relationship Type="http://schemas.openxmlformats.org/officeDocument/2006/relationships/notesMaster" Target="/ppt/notesMasters/notesMaster1.xml" Id="R51eb71b3f6604a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83bef6d4064baa" /><Relationship Type="http://schemas.openxmlformats.org/officeDocument/2006/relationships/notesMaster" Target="/ppt/notesMasters/notesMaster1.xml" Id="Rc53be4cc5ed44a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b2478cdaea472b" /><Relationship Type="http://schemas.openxmlformats.org/officeDocument/2006/relationships/notesMaster" Target="/ppt/notesMasters/notesMaster1.xml" Id="Ra4e2eb563f614a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cbec9110a74d19" /><Relationship Type="http://schemas.openxmlformats.org/officeDocument/2006/relationships/notesMaster" Target="/ppt/notesMasters/notesMaster1.xml" Id="Re910b61db43e48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dd25dbc85114f9e" /><Relationship Type="http://schemas.openxmlformats.org/officeDocument/2006/relationships/notesMaster" Target="/ppt/notesMasters/notesMaster1.xml" Id="R1c977619533245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e7e3281f4e4be0" /><Relationship Type="http://schemas.openxmlformats.org/officeDocument/2006/relationships/notesMaster" Target="/ppt/notesMasters/notesMaster1.xml" Id="R974ccd3a4c4f44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424254b38274efd" /><Relationship Type="http://schemas.openxmlformats.org/officeDocument/2006/relationships/notesMaster" Target="/ppt/notesMasters/notesMaster1.xml" Id="R62edbfbdceba44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ab1511ae6b4315" /><Relationship Type="http://schemas.openxmlformats.org/officeDocument/2006/relationships/notesMaster" Target="/ppt/notesMasters/notesMaster1.xml" Id="R8f7efca6eeec467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213895a12d4bef" /><Relationship Type="http://schemas.openxmlformats.org/officeDocument/2006/relationships/notesMaster" Target="/ppt/notesMasters/notesMaster1.xml" Id="R9f70f02de9ee46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30c77bcc8547bb" /><Relationship Type="http://schemas.openxmlformats.org/officeDocument/2006/relationships/notesMaster" Target="/ppt/notesMasters/notesMaster1.xml" Id="R60ed74e9c9a144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4677c070704ca2" /><Relationship Type="http://schemas.openxmlformats.org/officeDocument/2006/relationships/notesMaster" Target="/ppt/notesMasters/notesMaster1.xml" Id="Rfc61f8bff55347b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86a61444b7479b" /><Relationship Type="http://schemas.openxmlformats.org/officeDocument/2006/relationships/notesMaster" Target="/ppt/notesMasters/notesMaster1.xml" Id="R8ec95218082649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576e1706d514377" /><Relationship Type="http://schemas.openxmlformats.org/officeDocument/2006/relationships/notesMaster" Target="/ppt/notesMasters/notesMaster1.xml" Id="Rab0d940b4e6d4a2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82f3ee28d874e13" /><Relationship Type="http://schemas.openxmlformats.org/officeDocument/2006/relationships/notesMaster" Target="/ppt/notesMasters/notesMaster1.xml" Id="Rc490bb492e7840c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cf28d500074581" /><Relationship Type="http://schemas.openxmlformats.org/officeDocument/2006/relationships/notesMaster" Target="/ppt/notesMasters/notesMaster1.xml" Id="Rcbdc6b70156c486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12cc213e124885" /><Relationship Type="http://schemas.openxmlformats.org/officeDocument/2006/relationships/notesMaster" Target="/ppt/notesMasters/notesMaster1.xml" Id="R307e0b73a382431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4ca7bfc5874567" /><Relationship Type="http://schemas.openxmlformats.org/officeDocument/2006/relationships/notesMaster" Target="/ppt/notesMasters/notesMaster1.xml" Id="Rabdad76ed81d40b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8c35e1d500a4df2" /><Relationship Type="http://schemas.openxmlformats.org/officeDocument/2006/relationships/notesMaster" Target="/ppt/notesMasters/notesMaster1.xml" Id="R370ceaf227474b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fa611bae1c44b8b" /><Relationship Type="http://schemas.openxmlformats.org/officeDocument/2006/relationships/notesMaster" Target="/ppt/notesMasters/notesMaster1.xml" Id="R302218d5f6bd48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9d878eada4d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f6ace688dc49f4" /><Relationship Type="http://schemas.openxmlformats.org/officeDocument/2006/relationships/slideLayout" Target="/ppt/slideLayouts/slideLayout1.xml" Id="R1a178880e0dd4fe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178880e0dd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a1be3d37a4d8b" /><Relationship Type="http://schemas.openxmlformats.org/officeDocument/2006/relationships/notesSlide" Target="/ppt/notesSlides/notesSlide1.xml" Id="Rfb88f904861a49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8ad143faf41d8" /><Relationship Type="http://schemas.openxmlformats.org/officeDocument/2006/relationships/notesSlide" Target="/ppt/notesSlides/notesSlide2.xml" Id="R98cc106d1910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595632af6477f" /><Relationship Type="http://schemas.openxmlformats.org/officeDocument/2006/relationships/notesSlide" Target="/ppt/notesSlides/notesSlide3.xml" Id="R44052e367d8b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06d85f2564edb" /><Relationship Type="http://schemas.openxmlformats.org/officeDocument/2006/relationships/notesSlide" Target="/ppt/notesSlides/notesSlide4.xml" Id="Rec21a08d90994e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e4e6cbd334a7d" /><Relationship Type="http://schemas.openxmlformats.org/officeDocument/2006/relationships/notesSlide" Target="/ppt/notesSlides/notesSlide5.xml" Id="R77e9daf3fdb34e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bfa296bd54bfa" /><Relationship Type="http://schemas.openxmlformats.org/officeDocument/2006/relationships/notesSlide" Target="/ppt/notesSlides/notesSlide6.xml" Id="Rbe2e9a921cf747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b42c53d9a4f46" /><Relationship Type="http://schemas.openxmlformats.org/officeDocument/2006/relationships/notesSlide" Target="/ppt/notesSlides/notesSlide7.xml" Id="R7fe25672eccf47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e737b7edb4aae" /><Relationship Type="http://schemas.openxmlformats.org/officeDocument/2006/relationships/notesSlide" Target="/ppt/notesSlides/notesSlide8.xml" Id="Rbfe2268d061e4e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cdfe0c2a44c30" /><Relationship Type="http://schemas.openxmlformats.org/officeDocument/2006/relationships/notesSlide" Target="/ppt/notesSlides/notesSlide9.xml" Id="Rbd503977acf843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febc76aaa436f" /><Relationship Type="http://schemas.openxmlformats.org/officeDocument/2006/relationships/notesSlide" Target="/ppt/notesSlides/notesSlide10.xml" Id="R0c36cb23789a47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9d4ac4f144bfa" /><Relationship Type="http://schemas.openxmlformats.org/officeDocument/2006/relationships/notesSlide" Target="/ppt/notesSlides/notesSlide11.xml" Id="R84d09d61c64543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d8d1c85aa4fb6" /><Relationship Type="http://schemas.openxmlformats.org/officeDocument/2006/relationships/notesSlide" Target="/ppt/notesSlides/notesSlide12.xml" Id="R094c63eec88b4c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7bd9d90a41fe" /><Relationship Type="http://schemas.openxmlformats.org/officeDocument/2006/relationships/notesSlide" Target="/ppt/notesSlides/notesSlide13.xml" Id="R69d71b146f1843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5bf2d11f24d64" /><Relationship Type="http://schemas.openxmlformats.org/officeDocument/2006/relationships/notesSlide" Target="/ppt/notesSlides/notesSlide14.xml" Id="R897c5de5a2654a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462f0c2b74bcf" /><Relationship Type="http://schemas.openxmlformats.org/officeDocument/2006/relationships/notesSlide" Target="/ppt/notesSlides/notesSlide15.xml" Id="R54e0dfd7824147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0c43cec564f8e" /><Relationship Type="http://schemas.openxmlformats.org/officeDocument/2006/relationships/notesSlide" Target="/ppt/notesSlides/notesSlide16.xml" Id="R520678ef5fd741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9e7eb90b94097" /><Relationship Type="http://schemas.openxmlformats.org/officeDocument/2006/relationships/notesSlide" Target="/ppt/notesSlides/notesSlide17.xml" Id="Read25891cd7248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a15ae0b8145d2" /><Relationship Type="http://schemas.openxmlformats.org/officeDocument/2006/relationships/notesSlide" Target="/ppt/notesSlides/notesSlide18.xml" Id="Raea6fc3a1c584c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14890a8bb4455" /><Relationship Type="http://schemas.openxmlformats.org/officeDocument/2006/relationships/notesSlide" Target="/ppt/notesSlides/notesSlide19.xml" Id="R1f7e5fdeda2a44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411189ad447ae" /><Relationship Type="http://schemas.openxmlformats.org/officeDocument/2006/relationships/notesSlide" Target="/ppt/notesSlides/notesSlide20.xml" Id="R77e7d88df0234b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867d1bc6447dc" /><Relationship Type="http://schemas.openxmlformats.org/officeDocument/2006/relationships/notesSlide" Target="/ppt/notesSlides/notesSlide21.xml" Id="Red1542880db74f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af6e56fcc4671" /><Relationship Type="http://schemas.openxmlformats.org/officeDocument/2006/relationships/notesSlide" Target="/ppt/notesSlides/notesSlide22.xml" Id="R9f614d66ac10435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601e18d4a46e5" /><Relationship Type="http://schemas.openxmlformats.org/officeDocument/2006/relationships/notesSlide" Target="/ppt/notesSlides/notesSlide23.xml" Id="R1cf97501656247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aee660861445a" /><Relationship Type="http://schemas.openxmlformats.org/officeDocument/2006/relationships/notesSlide" Target="/ppt/notesSlides/notesSlide24.xml" Id="Rff98527540f34ce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25111c43a465f" /><Relationship Type="http://schemas.openxmlformats.org/officeDocument/2006/relationships/notesSlide" Target="/ppt/notesSlides/notesSlide25.xml" Id="R54806ee849ef4b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2e8d303194141" /><Relationship Type="http://schemas.openxmlformats.org/officeDocument/2006/relationships/notesSlide" Target="/ppt/notesSlides/notesSlide26.xml" Id="R93c6481820134ab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bdc222226457f" /><Relationship Type="http://schemas.openxmlformats.org/officeDocument/2006/relationships/image" Target="/ppt/media/image.png" Id="R73dfd9c270b54467" /><Relationship Type="http://schemas.openxmlformats.org/officeDocument/2006/relationships/image" Target="/ppt/media/image2.png" Id="R464a8818349a4d61" /><Relationship Type="http://schemas.openxmlformats.org/officeDocument/2006/relationships/notesSlide" Target="/ppt/notesSlides/notesSlide27.xml" Id="R2a47564efb6d415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eddc8cc444902" /><Relationship Type="http://schemas.openxmlformats.org/officeDocument/2006/relationships/notesSlide" Target="/ppt/notesSlides/notesSlide28.xml" Id="R68fa2276c5ae40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9866576744d32" /><Relationship Type="http://schemas.openxmlformats.org/officeDocument/2006/relationships/notesSlide" Target="/ppt/notesSlides/notesSlide29.xml" Id="Rad81d81a2c264b3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e3ca5be9d467a" /><Relationship Type="http://schemas.openxmlformats.org/officeDocument/2006/relationships/notesSlide" Target="/ppt/notesSlides/notesSlide30.xml" Id="R613bff1faf1c406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4bcfd214447ec" /><Relationship Type="http://schemas.openxmlformats.org/officeDocument/2006/relationships/notesSlide" Target="/ppt/notesSlides/notesSlide31.xml" Id="R6dfd93d37bfe48f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fc11c06a64924" /><Relationship Type="http://schemas.openxmlformats.org/officeDocument/2006/relationships/notesSlide" Target="/ppt/notesSlides/notesSlide32.xml" Id="R0e3fa87cb91b46d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ce927bd55435c" /><Relationship Type="http://schemas.openxmlformats.org/officeDocument/2006/relationships/notesSlide" Target="/ppt/notesSlides/notesSlide33.xml" Id="Rb70080229b4a4fc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24b6693f94f4f" /><Relationship Type="http://schemas.openxmlformats.org/officeDocument/2006/relationships/notesSlide" Target="/ppt/notesSlides/notesSlide34.xml" Id="R33a91ebbef74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29C6AF2-CE2B-494E-AAEC-95136AB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培训平台建设方案</a:t>
            </a:r>
          </a:p>
        </p:txBody>
      </p:sp>
      <p:sp>
        <p:nvSpPr>
          <p:cNvPr id="3" name="cover-body">
            <a:extLst xmlns:a="http://schemas.openxmlformats.org/drawingml/2006/main">
              <a:ext uri="{FF2B5EF4-FFF2-40B4-BE49-F238E27FC236}">
                <a16:creationId xmlns:a16="http://schemas.microsoft.com/office/drawing/2014/main" id="{23055AC7-A6BB-4777-A37D-E374DC8A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第一部分讲培训平台如何组织培训、评估、档案和推荐；第二部分讲果仁 AI 原生底座如何通过 Lucky</a:t>
            </a: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智能体</a:t>
            </a: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、资料库、空间、场景模板和模型统计为系统赋能。</a:t>
            </a:r>
          </a:p>
        </p:txBody>
      </p:sp>
      <p:sp>
        <p:nvSpPr>
          <p:cNvPr id="4" name="right-panel">
            <a:extLst xmlns:a="http://schemas.openxmlformats.org/drawingml/2006/main">
              <a:ext uri="{FF2B5EF4-FFF2-40B4-BE49-F238E27FC236}">
                <a16:creationId xmlns:a16="http://schemas.microsoft.com/office/drawing/2014/main" id="{AAAFB181-536F-43B7-8E72-990F858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1050"/>
            <a:ext cx="3562350" cy="477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rt1">
            <a:extLst xmlns:a="http://schemas.openxmlformats.org/drawingml/2006/main">
              <a:ext uri="{FF2B5EF4-FFF2-40B4-BE49-F238E27FC236}">
                <a16:creationId xmlns:a16="http://schemas.microsoft.com/office/drawing/2014/main" id="{A16E47B0-F4B5-4E75-8191-A41FC3EE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14450"/>
            <a:ext cx="2800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01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培训平台本体</a:t>
            </a:r>
          </a:p>
        </p:txBody>
      </p:sp>
      <p:sp>
        <p:nvSpPr>
          <p:cNvPr id="6" name="rail-line">
            <a:extLst xmlns:a="http://schemas.openxmlformats.org/drawingml/2006/main">
              <a:ext uri="{FF2B5EF4-FFF2-40B4-BE49-F238E27FC236}">
                <a16:creationId xmlns:a16="http://schemas.microsoft.com/office/drawing/2014/main" id="{68647282-AB82-4D14-8340-1A8FBFB6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051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rt2">
            <a:extLst xmlns:a="http://schemas.openxmlformats.org/drawingml/2006/main">
              <a:ext uri="{FF2B5EF4-FFF2-40B4-BE49-F238E27FC236}">
                <a16:creationId xmlns:a16="http://schemas.microsoft.com/office/drawing/2014/main" id="{F111EAF9-DF2A-46B6-9378-A2BCFAEF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9087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02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原生底座赋能</a:t>
            </a:r>
          </a:p>
        </p:txBody>
      </p:sp>
      <p:sp>
        <p:nvSpPr>
          <p:cNvPr id="8" name="tag">
            <a:extLst xmlns:a="http://schemas.openxmlformats.org/drawingml/2006/main">
              <a:ext uri="{FF2B5EF4-FFF2-40B4-BE49-F238E27FC236}">
                <a16:creationId xmlns:a16="http://schemas.microsoft.com/office/drawing/2014/main" id="{0804468E-6C9C-4D91-B34A-E1AA735C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从业务闭环到智能底座</a:t>
            </a:r>
          </a:p>
        </p:txBody>
      </p:sp>
      <p:sp>
        <p:nvSpPr>
          <p:cNvPr id="9" name="global-page">
            <a:extLst xmlns:a="http://schemas.openxmlformats.org/drawingml/2006/main">
              <a:ext uri="{FF2B5EF4-FFF2-40B4-BE49-F238E27FC236}">
                <a16:creationId xmlns:a16="http://schemas.microsoft.com/office/drawing/2014/main" id="{F682FEF6-3BF3-42F5-8599-D5993ED6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9937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B8C66E-693E-4A73-BCB0-EC774073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培训平台整体建设方案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4A366A5-E788-4342-A436-02295EF9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6545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1458FD7C-0BCC-42D0-9014-0C2D13BD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7625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5" name="label1">
            <a:extLst xmlns:a="http://schemas.openxmlformats.org/drawingml/2006/main">
              <a:ext uri="{FF2B5EF4-FFF2-40B4-BE49-F238E27FC236}">
                <a16:creationId xmlns:a16="http://schemas.microsoft.com/office/drawing/2014/main" id="{E7E300F2-0705-49DF-88E3-7D26445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6" name="head1">
            <a:extLst xmlns:a="http://schemas.openxmlformats.org/drawingml/2006/main">
              <a:ext uri="{FF2B5EF4-FFF2-40B4-BE49-F238E27FC236}">
                <a16:creationId xmlns:a16="http://schemas.microsoft.com/office/drawing/2014/main" id="{5F316932-EBAF-4B8D-B73F-FAAEDEFA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培训平台建设方案</a:t>
            </a:r>
          </a:p>
        </p:txBody>
      </p:sp>
      <p:sp>
        <p:nvSpPr>
          <p:cNvPr id="7" name="body1">
            <a:extLst xmlns:a="http://schemas.openxmlformats.org/drawingml/2006/main">
              <a:ext uri="{FF2B5EF4-FFF2-40B4-BE49-F238E27FC236}">
                <a16:creationId xmlns:a16="http://schemas.microsoft.com/office/drawing/2014/main" id="{A0110151-9C22-4D91-B7E5-8B90FDBC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说明平台的业务闭环、子系统职责、核心模块、数据流转、建设阶段和预期成效。</a:t>
            </a:r>
          </a:p>
        </p:txBody>
      </p:sp>
      <p:sp>
        <p:nvSpPr>
          <p:cNvPr id="8" name="right">
            <a:extLst xmlns:a="http://schemas.openxmlformats.org/drawingml/2006/main">
              <a:ext uri="{FF2B5EF4-FFF2-40B4-BE49-F238E27FC236}">
                <a16:creationId xmlns:a16="http://schemas.microsoft.com/office/drawing/2014/main" id="{65F27309-D2EE-4CD2-BD0E-34E0493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71700"/>
            <a:ext cx="47625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9" name="label2">
            <a:extLst xmlns:a="http://schemas.openxmlformats.org/drawingml/2006/main">
              <a:ext uri="{FF2B5EF4-FFF2-40B4-BE49-F238E27FC236}">
                <a16:creationId xmlns:a16="http://schemas.microsoft.com/office/drawing/2014/main" id="{98FD95BE-786A-45DE-A635-706C22E4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38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10" name="head2">
            <a:extLst xmlns:a="http://schemas.openxmlformats.org/drawingml/2006/main">
              <a:ext uri="{FF2B5EF4-FFF2-40B4-BE49-F238E27FC236}">
                <a16:creationId xmlns:a16="http://schemas.microsoft.com/office/drawing/2014/main" id="{B7064313-50C8-45A7-ACB0-ECF9AC46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原生底座赋能方案</a:t>
            </a:r>
          </a:p>
        </p:txBody>
      </p:sp>
      <p:sp>
        <p:nvSpPr>
          <p:cNvPr id="11" name="body2">
            <a:extLst xmlns:a="http://schemas.openxmlformats.org/drawingml/2006/main">
              <a:ext uri="{FF2B5EF4-FFF2-40B4-BE49-F238E27FC236}">
                <a16:creationId xmlns:a16="http://schemas.microsoft.com/office/drawing/2014/main" id="{CD08552F-7837-402F-9F20-5800E8F0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9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 AI 原生底座如何横向赋能培训信息、研修活动、培训评估、教师档案和用户推荐。</a:t>
            </a:r>
          </a:p>
        </p:txBody>
      </p:sp>
      <p:sp>
        <p:nvSpPr>
          <p:cNvPr id="13" name="global-page">
            <a:extLst xmlns:a="http://schemas.openxmlformats.org/drawingml/2006/main">
              <a:ext uri="{FF2B5EF4-FFF2-40B4-BE49-F238E27FC236}">
                <a16:creationId xmlns:a16="http://schemas.microsoft.com/office/drawing/2014/main" id="{D03203A4-9D57-4FF4-A0C9-83C5117F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agenda-card-3">
            <a:extLst xmlns:a="http://schemas.openxmlformats.org/drawingml/2006/main">
              <a:ext uri="{FF2B5EF4-FFF2-40B4-BE49-F238E27FC236}">
                <a16:creationId xmlns:a16="http://schemas.microsoft.com/office/drawing/2014/main" id="{8ADEE001-711C-42DF-8D43-9E337BD3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7625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5" name="agenda-label-3">
            <a:extLst xmlns:a="http://schemas.openxmlformats.org/drawingml/2006/main">
              <a:ext uri="{FF2B5EF4-FFF2-40B4-BE49-F238E27FC236}">
                <a16:creationId xmlns:a16="http://schemas.microsoft.com/office/drawing/2014/main" id="{87AD2A42-A5AD-485D-81BD-A514909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第三部分</a:t>
            </a:r>
          </a:p>
        </p:txBody>
      </p:sp>
      <p:sp>
        <p:nvSpPr>
          <p:cNvPr id="16" name="agenda-head-3">
            <a:extLst xmlns:a="http://schemas.openxmlformats.org/drawingml/2006/main">
              <a:ext uri="{FF2B5EF4-FFF2-40B4-BE49-F238E27FC236}">
                <a16:creationId xmlns:a16="http://schemas.microsoft.com/office/drawing/2014/main" id="{0D98AFFB-2EB0-442E-9724-FEA26195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基于 AI 原生底座开发模式的特点</a:t>
            </a:r>
          </a:p>
        </p:txBody>
      </p:sp>
      <p:sp>
        <p:nvSpPr>
          <p:cNvPr id="17" name="agenda-body-3">
            <a:extLst xmlns:a="http://schemas.openxmlformats.org/drawingml/2006/main">
              <a:ext uri="{FF2B5EF4-FFF2-40B4-BE49-F238E27FC236}">
                <a16:creationId xmlns:a16="http://schemas.microsoft.com/office/drawing/2014/main" id="{767452E8-A9F6-4F5F-802B-6254E7F6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说明快速迭代、三层协同和实践验证，呈现 AI 原生开发模式的交付优势。</a:t>
            </a:r>
          </a:p>
        </p:txBody>
      </p:sp>
      <p:sp>
        <p:nvSpPr>
          <p:cNvPr id="18" name="agenda-card-4">
            <a:extLst xmlns:a="http://schemas.openxmlformats.org/drawingml/2006/main">
              <a:ext uri="{FF2B5EF4-FFF2-40B4-BE49-F238E27FC236}">
                <a16:creationId xmlns:a16="http://schemas.microsoft.com/office/drawing/2014/main" id="{D5742E3E-854F-49FB-BA41-113144A5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47625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9" name="agenda-label-4">
            <a:extLst xmlns:a="http://schemas.openxmlformats.org/drawingml/2006/main">
              <a:ext uri="{FF2B5EF4-FFF2-40B4-BE49-F238E27FC236}">
                <a16:creationId xmlns:a16="http://schemas.microsoft.com/office/drawing/2014/main" id="{D7BCCEDE-F6E1-46D5-9A7C-740EE69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第四部分</a:t>
            </a:r>
          </a:p>
        </p:txBody>
      </p:sp>
      <p:sp>
        <p:nvSpPr>
          <p:cNvPr id="20" name="agenda-head-4">
            <a:extLst xmlns:a="http://schemas.openxmlformats.org/drawingml/2006/main">
              <a:ext uri="{FF2B5EF4-FFF2-40B4-BE49-F238E27FC236}">
                <a16:creationId xmlns:a16="http://schemas.microsoft.com/office/drawing/2014/main" id="{10083F00-A639-4D2A-A38E-52CFC319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86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平台关系与产品化判断</a:t>
            </a:r>
          </a:p>
        </p:txBody>
      </p:sp>
      <p:sp>
        <p:nvSpPr>
          <p:cNvPr id="21" name="agenda-body-4">
            <a:extLst xmlns:a="http://schemas.openxmlformats.org/drawingml/2006/main">
              <a:ext uri="{FF2B5EF4-FFF2-40B4-BE49-F238E27FC236}">
                <a16:creationId xmlns:a16="http://schemas.microsoft.com/office/drawing/2014/main" id="{5FEA2862-D6CF-4DC6-BA67-0CF55553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说明三个平台关系、底座构建逻辑，以及 AI 时代产品矩阵快速迭代的核心判断。</a:t>
            </a:r>
          </a:p>
        </p:txBody>
      </p:sp>
      <p:sp>
        <p:nvSpPr>
          <p:cNvPr id="22" name="agenda-page-pill-1">
            <a:extLst xmlns:a="http://schemas.openxmlformats.org/drawingml/2006/main">
              <a:ext uri="{FF2B5EF4-FFF2-40B4-BE49-F238E27FC236}">
                <a16:creationId xmlns:a16="http://schemas.microsoft.com/office/drawing/2014/main" id="{AEFB9CDC-F73C-48C1-85AE-4696A11C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7239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23" name="agenda-page-text-1">
            <a:extLst xmlns:a="http://schemas.openxmlformats.org/drawingml/2006/main">
              <a:ext uri="{FF2B5EF4-FFF2-40B4-BE49-F238E27FC236}">
                <a16:creationId xmlns:a16="http://schemas.microsoft.com/office/drawing/2014/main" id="{1D92CC4E-A3F3-4D4D-BC14-B95E4AE9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669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P03-P15</a:t>
            </a:r>
          </a:p>
        </p:txBody>
      </p:sp>
      <p:sp>
        <p:nvSpPr>
          <p:cNvPr id="24" name="agenda-page-pill-2">
            <a:extLst xmlns:a="http://schemas.openxmlformats.org/drawingml/2006/main">
              <a:ext uri="{FF2B5EF4-FFF2-40B4-BE49-F238E27FC236}">
                <a16:creationId xmlns:a16="http://schemas.microsoft.com/office/drawing/2014/main" id="{B4FD4ABE-9FDF-47CB-8693-163C1DF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19350"/>
            <a:ext cx="7239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25" name="agenda-page-text-2">
            <a:extLst xmlns:a="http://schemas.openxmlformats.org/drawingml/2006/main">
              <a:ext uri="{FF2B5EF4-FFF2-40B4-BE49-F238E27FC236}">
                <a16:creationId xmlns:a16="http://schemas.microsoft.com/office/drawing/2014/main" id="{F72EF38B-B02F-40E9-9E2C-43867FA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669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P16-P27</a:t>
            </a:r>
          </a:p>
        </p:txBody>
      </p:sp>
      <p:sp>
        <p:nvSpPr>
          <p:cNvPr id="26" name="agenda-page-pill-3">
            <a:extLst xmlns:a="http://schemas.openxmlformats.org/drawingml/2006/main">
              <a:ext uri="{FF2B5EF4-FFF2-40B4-BE49-F238E27FC236}">
                <a16:creationId xmlns:a16="http://schemas.microsoft.com/office/drawing/2014/main" id="{2019C701-CB22-4CFA-920D-1C4DE4D0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7239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27" name="agenda-page-text-3">
            <a:extLst xmlns:a="http://schemas.openxmlformats.org/drawingml/2006/main">
              <a:ext uri="{FF2B5EF4-FFF2-40B4-BE49-F238E27FC236}">
                <a16:creationId xmlns:a16="http://schemas.microsoft.com/office/drawing/2014/main" id="{5DC69799-2B3B-4AD0-8190-86B51B10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P28-P31</a:t>
            </a:r>
          </a:p>
        </p:txBody>
      </p:sp>
      <p:sp>
        <p:nvSpPr>
          <p:cNvPr id="28" name="agenda-page-pill-4">
            <a:extLst xmlns:a="http://schemas.openxmlformats.org/drawingml/2006/main">
              <a:ext uri="{FF2B5EF4-FFF2-40B4-BE49-F238E27FC236}">
                <a16:creationId xmlns:a16="http://schemas.microsoft.com/office/drawing/2014/main" id="{7B4B3354-145B-49BD-854D-947708C8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343400"/>
            <a:ext cx="7239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29" name="agenda-page-text-4">
            <a:extLst xmlns:a="http://schemas.openxmlformats.org/drawingml/2006/main">
              <a:ext uri="{FF2B5EF4-FFF2-40B4-BE49-F238E27FC236}">
                <a16:creationId xmlns:a16="http://schemas.microsoft.com/office/drawing/2014/main" id="{47FAC0B7-A000-4929-B10B-B4E88ACC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3910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P32-P34</a:t>
            </a:r>
          </a:p>
        </p:txBody>
      </p:sp>
    </p:spTree>
    <p:extLst>
      <p:ext uri="{BB962C8B-B14F-4D97-AF65-F5344CB8AC3E}">
        <p14:creationId xmlns:p14="http://schemas.microsoft.com/office/powerpoint/2010/main" val="1973056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rt">
            <a:extLst xmlns:a="http://schemas.openxmlformats.org/drawingml/2006/main">
              <a:ext uri="{FF2B5EF4-FFF2-40B4-BE49-F238E27FC236}">
                <a16:creationId xmlns:a16="http://schemas.microsoft.com/office/drawing/2014/main" id="{0D78A5A7-3480-4D0E-8EFA-483CD2B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Part 01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466A5D1-9B31-4703-BAC5-3E3DB140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培训平台建设方案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526EE455-8942-4D51-BEE9-6C272AB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898969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围绕培训组织、研修活动、培训评估、教师档案和用户推荐，形成一体化业务闭环。</a:t>
            </a:r>
          </a:p>
        </p:txBody>
      </p:sp>
      <p:sp>
        <p:nvSpPr>
          <p:cNvPr id="4" name="section-line">
            <a:extLst xmlns:a="http://schemas.openxmlformats.org/drawingml/2006/main">
              <a:ext uri="{FF2B5EF4-FFF2-40B4-BE49-F238E27FC236}">
                <a16:creationId xmlns:a16="http://schemas.microsoft.com/office/drawing/2014/main" id="{2DF19B1D-19A4-462C-AD89-5B97F460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eywords">
            <a:extLst xmlns:a="http://schemas.openxmlformats.org/drawingml/2006/main">
              <a:ext uri="{FF2B5EF4-FFF2-40B4-BE49-F238E27FC236}">
                <a16:creationId xmlns:a16="http://schemas.microsoft.com/office/drawing/2014/main" id="{16BCC360-32DA-4CD0-A26C-2B91224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 / 研修活动 / 培训评估 / 教师档案 / 用户推荐</a:t>
            </a:r>
          </a:p>
        </p:txBody>
      </p:sp>
      <p:sp>
        <p:nvSpPr>
          <p:cNvPr id="6" name="global-page">
            <a:extLst xmlns:a="http://schemas.openxmlformats.org/drawingml/2006/main">
              <a:ext uri="{FF2B5EF4-FFF2-40B4-BE49-F238E27FC236}">
                <a16:creationId xmlns:a16="http://schemas.microsoft.com/office/drawing/2014/main" id="{94922141-5F65-437E-8777-7DE86103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7300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31D4CB-41E8-4597-BA65-D56ABB1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培训业务需要从活动组织升级为持续发展服务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2FBB77-55B7-4F7E-A05F-E0E2C9C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66B51410-0D64-4538-A6A2-1A16346D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传统培训管理以报名、签到、学习统计为主，难以完整呈现教师的参与表现、成果质量和后续发展需求。培训平台要把一次性活动转化为可追踪、可评价、可沉淀、可推荐的业务闭环。</a:t>
            </a:r>
          </a:p>
        </p:txBody>
      </p:sp>
      <p:sp>
        <p:nvSpPr>
          <p:cNvPr id="5" name="card-过程难追踪">
            <a:extLst xmlns:a="http://schemas.openxmlformats.org/drawingml/2006/main">
              <a:ext uri="{FF2B5EF4-FFF2-40B4-BE49-F238E27FC236}">
                <a16:creationId xmlns:a16="http://schemas.microsoft.com/office/drawing/2014/main" id="{131CFF66-1D0E-4B8C-BA75-EA079487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4290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num-01">
            <a:extLst xmlns:a="http://schemas.openxmlformats.org/drawingml/2006/main">
              <a:ext uri="{FF2B5EF4-FFF2-40B4-BE49-F238E27FC236}">
                <a16:creationId xmlns:a16="http://schemas.microsoft.com/office/drawing/2014/main" id="{006E394A-A3FF-42C7-9E1D-611EBE55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um-text-01">
            <a:extLst xmlns:a="http://schemas.openxmlformats.org/drawingml/2006/main">
              <a:ext uri="{FF2B5EF4-FFF2-40B4-BE49-F238E27FC236}">
                <a16:creationId xmlns:a16="http://schemas.microsoft.com/office/drawing/2014/main" id="{589E6FBC-F190-4061-97FD-83B16FEF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ard-title-过程难追踪">
            <a:extLst xmlns:a="http://schemas.openxmlformats.org/drawingml/2006/main">
              <a:ext uri="{FF2B5EF4-FFF2-40B4-BE49-F238E27FC236}">
                <a16:creationId xmlns:a16="http://schemas.microsoft.com/office/drawing/2014/main" id="{742E4304-DD28-4726-BD3F-29C66E19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过程难追踪</a:t>
            </a:r>
          </a:p>
        </p:txBody>
      </p:sp>
      <p:sp>
        <p:nvSpPr>
          <p:cNvPr id="9" name="card-body-过程难追踪">
            <a:extLst xmlns:a="http://schemas.openxmlformats.org/drawingml/2006/main">
              <a:ext uri="{FF2B5EF4-FFF2-40B4-BE49-F238E27FC236}">
                <a16:creationId xmlns:a16="http://schemas.microsoft.com/office/drawing/2014/main" id="{22F331F9-A7D6-46D1-84A5-01150690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255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线上线下活动分散，学习、互动、任务和成果数据缺少统一归集。</a:t>
            </a:r>
          </a:p>
        </p:txBody>
      </p:sp>
      <p:sp>
        <p:nvSpPr>
          <p:cNvPr id="10" name="card-评价难统一">
            <a:extLst xmlns:a="http://schemas.openxmlformats.org/drawingml/2006/main">
              <a:ext uri="{FF2B5EF4-FFF2-40B4-BE49-F238E27FC236}">
                <a16:creationId xmlns:a16="http://schemas.microsoft.com/office/drawing/2014/main" id="{ECAFE887-99F4-495B-A3F2-4D632DFD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4290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num-02">
            <a:extLst xmlns:a="http://schemas.openxmlformats.org/drawingml/2006/main">
              <a:ext uri="{FF2B5EF4-FFF2-40B4-BE49-F238E27FC236}">
                <a16:creationId xmlns:a16="http://schemas.microsoft.com/office/drawing/2014/main" id="{E0DE35A2-BBFE-436D-BB6C-1779A70D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text-02">
            <a:extLst xmlns:a="http://schemas.openxmlformats.org/drawingml/2006/main">
              <a:ext uri="{FF2B5EF4-FFF2-40B4-BE49-F238E27FC236}">
                <a16:creationId xmlns:a16="http://schemas.microsoft.com/office/drawing/2014/main" id="{F0A56990-9F46-4F2E-B9BA-95E5CD78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95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card-title-评价难统一">
            <a:extLst xmlns:a="http://schemas.openxmlformats.org/drawingml/2006/main">
              <a:ext uri="{FF2B5EF4-FFF2-40B4-BE49-F238E27FC236}">
                <a16:creationId xmlns:a16="http://schemas.microsoft.com/office/drawing/2014/main" id="{959BD5C4-2EFC-49A7-AAEB-288ACA32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75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评价难统一</a:t>
            </a:r>
          </a:p>
        </p:txBody>
      </p:sp>
      <p:sp>
        <p:nvSpPr>
          <p:cNvPr id="14" name="card-body-评价难统一">
            <a:extLst xmlns:a="http://schemas.openxmlformats.org/drawingml/2006/main">
              <a:ext uri="{FF2B5EF4-FFF2-40B4-BE49-F238E27FC236}">
                <a16:creationId xmlns:a16="http://schemas.microsoft.com/office/drawing/2014/main" id="{1A292331-C17D-4199-8228-5B19362A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76650"/>
            <a:ext cx="255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不同项目评价口径不一致，过程表现和成果质量难以综合呈现。</a:t>
            </a:r>
          </a:p>
        </p:txBody>
      </p:sp>
      <p:sp>
        <p:nvSpPr>
          <p:cNvPr id="15" name="card-发展难延续">
            <a:extLst xmlns:a="http://schemas.openxmlformats.org/drawingml/2006/main">
              <a:ext uri="{FF2B5EF4-FFF2-40B4-BE49-F238E27FC236}">
                <a16:creationId xmlns:a16="http://schemas.microsoft.com/office/drawing/2014/main" id="{C641B5F9-A7FA-4BAF-8AA7-E80CE36E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4290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num-03">
            <a:extLst xmlns:a="http://schemas.openxmlformats.org/drawingml/2006/main">
              <a:ext uri="{FF2B5EF4-FFF2-40B4-BE49-F238E27FC236}">
                <a16:creationId xmlns:a16="http://schemas.microsoft.com/office/drawing/2014/main" id="{E3F47025-5B7D-4046-91E5-F0F42CCB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-text-03">
            <a:extLst xmlns:a="http://schemas.openxmlformats.org/drawingml/2006/main">
              <a:ext uri="{FF2B5EF4-FFF2-40B4-BE49-F238E27FC236}">
                <a16:creationId xmlns:a16="http://schemas.microsoft.com/office/drawing/2014/main" id="{2078ABBB-1EC5-4521-8B75-ABB8E3E2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card-title-发展难延续">
            <a:extLst xmlns:a="http://schemas.openxmlformats.org/drawingml/2006/main">
              <a:ext uri="{FF2B5EF4-FFF2-40B4-BE49-F238E27FC236}">
                <a16:creationId xmlns:a16="http://schemas.microsoft.com/office/drawing/2014/main" id="{1373146F-A7D7-4807-A9BA-D13AD8E1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发展难延续</a:t>
            </a:r>
          </a:p>
        </p:txBody>
      </p:sp>
      <p:sp>
        <p:nvSpPr>
          <p:cNvPr id="19" name="card-body-发展难延续">
            <a:extLst xmlns:a="http://schemas.openxmlformats.org/drawingml/2006/main">
              <a:ext uri="{FF2B5EF4-FFF2-40B4-BE49-F238E27FC236}">
                <a16:creationId xmlns:a16="http://schemas.microsoft.com/office/drawing/2014/main" id="{E6CB0E30-5183-43FC-B246-85CA6837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255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培训结束后缺少档案沉淀和个性化推荐，后续改进路径不清晰。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87DF2EBB-0176-4D70-9976-BC02E137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建设方向：统一平台入口 + 全过程数据 + 评价模型 + 教师档案 + 精准推荐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A5ACA93C-B8C0-4D25-A6FF-21C54C8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3022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787F78-2BE9-49D6-8F57-49D5889F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六个目标共同支撑培训平台的一体化能力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B964EC-B5B9-485A-948B-AB233A1A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统一培训入口">
            <a:extLst xmlns:a="http://schemas.openxmlformats.org/drawingml/2006/main">
              <a:ext uri="{FF2B5EF4-FFF2-40B4-BE49-F238E27FC236}">
                <a16:creationId xmlns:a16="http://schemas.microsoft.com/office/drawing/2014/main" id="{B214F4F3-303A-4BC3-9CC8-241C7BE8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1">
            <a:extLst xmlns:a="http://schemas.openxmlformats.org/drawingml/2006/main">
              <a:ext uri="{FF2B5EF4-FFF2-40B4-BE49-F238E27FC236}">
                <a16:creationId xmlns:a16="http://schemas.microsoft.com/office/drawing/2014/main" id="{09748BC8-50FD-4B98-8AEC-87B860E6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-text-01">
            <a:extLst xmlns:a="http://schemas.openxmlformats.org/drawingml/2006/main">
              <a:ext uri="{FF2B5EF4-FFF2-40B4-BE49-F238E27FC236}">
                <a16:creationId xmlns:a16="http://schemas.microsoft.com/office/drawing/2014/main" id="{956BAF2D-2AC5-44E0-8930-2AA9B228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card-title-统一培训入口">
            <a:extLst xmlns:a="http://schemas.openxmlformats.org/drawingml/2006/main">
              <a:ext uri="{FF2B5EF4-FFF2-40B4-BE49-F238E27FC236}">
                <a16:creationId xmlns:a16="http://schemas.microsoft.com/office/drawing/2014/main" id="{5A258286-25A8-4919-8E60-E87B99F0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统一培训入口</a:t>
            </a:r>
          </a:p>
        </p:txBody>
      </p:sp>
      <p:sp>
        <p:nvSpPr>
          <p:cNvPr id="8" name="card-body-统一培训入口">
            <a:extLst xmlns:a="http://schemas.openxmlformats.org/drawingml/2006/main">
              <a:ext uri="{FF2B5EF4-FFF2-40B4-BE49-F238E27FC236}">
                <a16:creationId xmlns:a16="http://schemas.microsoft.com/office/drawing/2014/main" id="{91C599AE-6DA7-4C0F-961F-5E8F2C7E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项目、课程、报名、审核、计划和人员组织集中管理。</a:t>
            </a:r>
          </a:p>
        </p:txBody>
      </p:sp>
      <p:sp>
        <p:nvSpPr>
          <p:cNvPr id="9" name="card-贯通研修场景">
            <a:extLst xmlns:a="http://schemas.openxmlformats.org/drawingml/2006/main">
              <a:ext uri="{FF2B5EF4-FFF2-40B4-BE49-F238E27FC236}">
                <a16:creationId xmlns:a16="http://schemas.microsoft.com/office/drawing/2014/main" id="{63F07A1A-73A5-45E1-8868-2C0965AC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num-02">
            <a:extLst xmlns:a="http://schemas.openxmlformats.org/drawingml/2006/main">
              <a:ext uri="{FF2B5EF4-FFF2-40B4-BE49-F238E27FC236}">
                <a16:creationId xmlns:a16="http://schemas.microsoft.com/office/drawing/2014/main" id="{B0E3AA52-9E59-4087-A454-EDC6F45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-text-02">
            <a:extLst xmlns:a="http://schemas.openxmlformats.org/drawingml/2006/main">
              <a:ext uri="{FF2B5EF4-FFF2-40B4-BE49-F238E27FC236}">
                <a16:creationId xmlns:a16="http://schemas.microsoft.com/office/drawing/2014/main" id="{38F7DDE6-359C-4125-ACA9-12C49B19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card-title-贯通研修场景">
            <a:extLst xmlns:a="http://schemas.openxmlformats.org/drawingml/2006/main">
              <a:ext uri="{FF2B5EF4-FFF2-40B4-BE49-F238E27FC236}">
                <a16:creationId xmlns:a16="http://schemas.microsoft.com/office/drawing/2014/main" id="{1E6081FF-8DC2-4575-BF88-E34DE4C1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145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贯通研训场景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（研训一体化）</a:t>
            </a:r>
          </a:p>
        </p:txBody>
      </p:sp>
      <p:sp>
        <p:nvSpPr>
          <p:cNvPr id="13" name="card-body-贯通研修场景">
            <a:extLst xmlns:a="http://schemas.openxmlformats.org/drawingml/2006/main">
              <a:ext uri="{FF2B5EF4-FFF2-40B4-BE49-F238E27FC236}">
                <a16:creationId xmlns:a16="http://schemas.microsoft.com/office/drawing/2014/main" id="{49EE405D-0677-43C8-8159-EB7CC38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278066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覆盖线上学习、线下工作坊、任务活动、课题研究和成果共创。</a:t>
            </a:r>
          </a:p>
        </p:txBody>
      </p:sp>
      <p:sp>
        <p:nvSpPr>
          <p:cNvPr id="14" name="card-建立评价模型">
            <a:extLst xmlns:a="http://schemas.openxmlformats.org/drawingml/2006/main">
              <a:ext uri="{FF2B5EF4-FFF2-40B4-BE49-F238E27FC236}">
                <a16:creationId xmlns:a16="http://schemas.microsoft.com/office/drawing/2014/main" id="{E22A27FA-85C9-4097-89DD-20CE97B1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5" name="num-03">
            <a:extLst xmlns:a="http://schemas.openxmlformats.org/drawingml/2006/main">
              <a:ext uri="{FF2B5EF4-FFF2-40B4-BE49-F238E27FC236}">
                <a16:creationId xmlns:a16="http://schemas.microsoft.com/office/drawing/2014/main" id="{94C82CE1-5452-461A-8EB6-1B8E4EE7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num-text-03">
            <a:extLst xmlns:a="http://schemas.openxmlformats.org/drawingml/2006/main">
              <a:ext uri="{FF2B5EF4-FFF2-40B4-BE49-F238E27FC236}">
                <a16:creationId xmlns:a16="http://schemas.microsoft.com/office/drawing/2014/main" id="{43D4706C-B6C0-4DC3-A72D-091F204F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card-title-建立评价模型">
            <a:extLst xmlns:a="http://schemas.openxmlformats.org/drawingml/2006/main">
              <a:ext uri="{FF2B5EF4-FFF2-40B4-BE49-F238E27FC236}">
                <a16:creationId xmlns:a16="http://schemas.microsoft.com/office/drawing/2014/main" id="{9369F38F-B09A-481B-943E-36F048D7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建立评价模型</a:t>
            </a:r>
          </a:p>
        </p:txBody>
      </p:sp>
      <p:sp>
        <p:nvSpPr>
          <p:cNvPr id="18" name="card-body-建立评价模型">
            <a:extLst xmlns:a="http://schemas.openxmlformats.org/drawingml/2006/main">
              <a:ext uri="{FF2B5EF4-FFF2-40B4-BE49-F238E27FC236}">
                <a16:creationId xmlns:a16="http://schemas.microsoft.com/office/drawing/2014/main" id="{BA595368-4F8D-4C80-AAC8-4E0781C6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围绕参与度、完成度、学习表现、成果质量和专家评价形成综合评价。</a:t>
            </a:r>
          </a:p>
        </p:txBody>
      </p:sp>
      <p:sp>
        <p:nvSpPr>
          <p:cNvPr id="19" name="card-沉淀教师档案">
            <a:extLst xmlns:a="http://schemas.openxmlformats.org/drawingml/2006/main">
              <a:ext uri="{FF2B5EF4-FFF2-40B4-BE49-F238E27FC236}">
                <a16:creationId xmlns:a16="http://schemas.microsoft.com/office/drawing/2014/main" id="{AE567C6E-B3E4-4E06-84C9-326D2636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num-04">
            <a:extLst xmlns:a="http://schemas.openxmlformats.org/drawingml/2006/main">
              <a:ext uri="{FF2B5EF4-FFF2-40B4-BE49-F238E27FC236}">
                <a16:creationId xmlns:a16="http://schemas.microsoft.com/office/drawing/2014/main" id="{7A503E4A-6BAE-4618-9152-93FA0924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um-text-04">
            <a:extLst xmlns:a="http://schemas.openxmlformats.org/drawingml/2006/main">
              <a:ext uri="{FF2B5EF4-FFF2-40B4-BE49-F238E27FC236}">
                <a16:creationId xmlns:a16="http://schemas.microsoft.com/office/drawing/2014/main" id="{E6BD9B43-7C16-4298-A3F7-FF73C03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card-title-沉淀教师档案">
            <a:extLst xmlns:a="http://schemas.openxmlformats.org/drawingml/2006/main">
              <a:ext uri="{FF2B5EF4-FFF2-40B4-BE49-F238E27FC236}">
                <a16:creationId xmlns:a16="http://schemas.microsoft.com/office/drawing/2014/main" id="{EC345A57-8589-4500-BDE2-B3B3AB08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沉淀教师档案</a:t>
            </a:r>
          </a:p>
        </p:txBody>
      </p:sp>
      <p:sp>
        <p:nvSpPr>
          <p:cNvPr id="23" name="card-body-沉淀教师档案">
            <a:extLst xmlns:a="http://schemas.openxmlformats.org/drawingml/2006/main">
              <a:ext uri="{FF2B5EF4-FFF2-40B4-BE49-F238E27FC236}">
                <a16:creationId xmlns:a16="http://schemas.microsoft.com/office/drawing/2014/main" id="{37E0CA03-0D42-49C7-8C2B-FF5EBBC7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自动归集与手动上传培训记录、学习过程、成果材料、评价结果和成长轨迹。</a:t>
            </a:r>
          </a:p>
        </p:txBody>
      </p:sp>
      <p:sp>
        <p:nvSpPr>
          <p:cNvPr id="24" name="card-支持个性推荐">
            <a:extLst xmlns:a="http://schemas.openxmlformats.org/drawingml/2006/main">
              <a:ext uri="{FF2B5EF4-FFF2-40B4-BE49-F238E27FC236}">
                <a16:creationId xmlns:a16="http://schemas.microsoft.com/office/drawing/2014/main" id="{DCFCF83E-E3FA-4B04-9837-8A059D0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528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5" name="num-05">
            <a:extLst xmlns:a="http://schemas.openxmlformats.org/drawingml/2006/main">
              <a:ext uri="{FF2B5EF4-FFF2-40B4-BE49-F238E27FC236}">
                <a16:creationId xmlns:a16="http://schemas.microsoft.com/office/drawing/2014/main" id="{365A87D9-1068-467A-83BC-77CCA655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num-text-05">
            <a:extLst xmlns:a="http://schemas.openxmlformats.org/drawingml/2006/main">
              <a:ext uri="{FF2B5EF4-FFF2-40B4-BE49-F238E27FC236}">
                <a16:creationId xmlns:a16="http://schemas.microsoft.com/office/drawing/2014/main" id="{E0DDB903-7E14-498D-A554-22447471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card-title-支持个性推荐">
            <a:extLst xmlns:a="http://schemas.openxmlformats.org/drawingml/2006/main">
              <a:ext uri="{FF2B5EF4-FFF2-40B4-BE49-F238E27FC236}">
                <a16:creationId xmlns:a16="http://schemas.microsoft.com/office/drawing/2014/main" id="{364DCB70-0087-4D60-8562-E80602C9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624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支持个性推荐</a:t>
            </a:r>
          </a:p>
        </p:txBody>
      </p:sp>
      <p:sp>
        <p:nvSpPr>
          <p:cNvPr id="28" name="card-body-支持个性推荐">
            <a:extLst xmlns:a="http://schemas.openxmlformats.org/drawingml/2006/main">
              <a:ext uri="{FF2B5EF4-FFF2-40B4-BE49-F238E27FC236}">
                <a16:creationId xmlns:a16="http://schemas.microsoft.com/office/drawing/2014/main" id="{610F62E4-15C5-4954-A7D3-212FCD51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815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基于教师画像和评价结果推荐课程、活动、资源和发展路径。</a:t>
            </a:r>
          </a:p>
        </p:txBody>
      </p:sp>
      <p:sp>
        <p:nvSpPr>
          <p:cNvPr id="29" name="card-服务管理决策">
            <a:extLst xmlns:a="http://schemas.openxmlformats.org/drawingml/2006/main">
              <a:ext uri="{FF2B5EF4-FFF2-40B4-BE49-F238E27FC236}">
                <a16:creationId xmlns:a16="http://schemas.microsoft.com/office/drawing/2014/main" id="{8E97AF5C-8A2A-4CA9-8EAA-34845892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num-06">
            <a:extLst xmlns:a="http://schemas.openxmlformats.org/drawingml/2006/main">
              <a:ext uri="{FF2B5EF4-FFF2-40B4-BE49-F238E27FC236}">
                <a16:creationId xmlns:a16="http://schemas.microsoft.com/office/drawing/2014/main" id="{BB5D214A-FAA2-4ACF-AE45-E7A099DA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62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num-text-06">
            <a:extLst xmlns:a="http://schemas.openxmlformats.org/drawingml/2006/main">
              <a:ext uri="{FF2B5EF4-FFF2-40B4-BE49-F238E27FC236}">
                <a16:creationId xmlns:a16="http://schemas.microsoft.com/office/drawing/2014/main" id="{9923DF6D-987C-4DFD-80DE-E4FA657A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2" name="card-title-服务管理决策">
            <a:extLst xmlns:a="http://schemas.openxmlformats.org/drawingml/2006/main">
              <a:ext uri="{FF2B5EF4-FFF2-40B4-BE49-F238E27FC236}">
                <a16:creationId xmlns:a16="http://schemas.microsoft.com/office/drawing/2014/main" id="{2B1C0F12-DE17-4885-8BEB-26A3FF9E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624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服务管理决策</a:t>
            </a:r>
          </a:p>
        </p:txBody>
      </p:sp>
      <p:sp>
        <p:nvSpPr>
          <p:cNvPr id="33" name="card-body-服务管理决策">
            <a:extLst xmlns:a="http://schemas.openxmlformats.org/drawingml/2006/main">
              <a:ext uri="{FF2B5EF4-FFF2-40B4-BE49-F238E27FC236}">
                <a16:creationId xmlns:a16="http://schemas.microsoft.com/office/drawing/2014/main" id="{5472B6D9-D5EF-4173-9320-08CB1E9F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815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为管理部门、学校、培训机构和教师个人提供数据支撑。</a:t>
            </a:r>
          </a:p>
        </p:txBody>
      </p:sp>
      <p:sp>
        <p:nvSpPr>
          <p:cNvPr id="34" name="page">
            <a:extLst xmlns:a="http://schemas.openxmlformats.org/drawingml/2006/main">
              <a:ext uri="{FF2B5EF4-FFF2-40B4-BE49-F238E27FC236}">
                <a16:creationId xmlns:a16="http://schemas.microsoft.com/office/drawing/2014/main" id="{C95DD53F-0892-4E70-95AC-7D23A246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6774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EB3316-ADB4-43B4-AE77-9A49F470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总体架构以子系统承载业务，以核心模块提供平台能力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BC8856E-3464-44B8-BD6A-10FA3A4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ys-label">
            <a:extLst xmlns:a="http://schemas.openxmlformats.org/drawingml/2006/main">
              <a:ext uri="{FF2B5EF4-FFF2-40B4-BE49-F238E27FC236}">
                <a16:creationId xmlns:a16="http://schemas.microsoft.com/office/drawing/2014/main" id="{8FCF8F43-F508-4EEA-9A1B-25ED35B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" y="206121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子系统层</a:t>
            </a:r>
          </a:p>
        </p:txBody>
      </p:sp>
      <p:sp>
        <p:nvSpPr>
          <p:cNvPr id="5" name="mod-label">
            <a:extLst xmlns:a="http://schemas.openxmlformats.org/drawingml/2006/main">
              <a:ext uri="{FF2B5EF4-FFF2-40B4-BE49-F238E27FC236}">
                <a16:creationId xmlns:a16="http://schemas.microsoft.com/office/drawing/2014/main" id="{2672BE87-861F-4F3B-94AF-1EE7B963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4196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核心模块层</a:t>
            </a:r>
          </a:p>
        </p:txBody>
      </p:sp>
      <p:sp>
        <p:nvSpPr>
          <p:cNvPr id="6" name="box-培训信息管理">
            <a:extLst xmlns:a="http://schemas.openxmlformats.org/drawingml/2006/main">
              <a:ext uri="{FF2B5EF4-FFF2-40B4-BE49-F238E27FC236}">
                <a16:creationId xmlns:a16="http://schemas.microsoft.com/office/drawing/2014/main" id="{5877DC4D-5C20-4ACA-AE87-AC790160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ox-title-培训信息管理">
            <a:extLst xmlns:a="http://schemas.openxmlformats.org/drawingml/2006/main">
              <a:ext uri="{FF2B5EF4-FFF2-40B4-BE49-F238E27FC236}">
                <a16:creationId xmlns:a16="http://schemas.microsoft.com/office/drawing/2014/main" id="{1327406E-38E8-4197-B74A-15E3BD88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605" y="1917065"/>
            <a:ext cx="13785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培训信息管理</a:t>
            </a:r>
          </a:p>
        </p:txBody>
      </p:sp>
      <p:sp>
        <p:nvSpPr>
          <p:cNvPr id="8" name="box-body-培训信息管理">
            <a:extLst xmlns:a="http://schemas.openxmlformats.org/drawingml/2006/main">
              <a:ext uri="{FF2B5EF4-FFF2-40B4-BE49-F238E27FC236}">
                <a16:creationId xmlns:a16="http://schemas.microsoft.com/office/drawing/2014/main" id="{5E07D18D-138C-4A07-AB0E-351806D9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00935"/>
            <a:ext cx="12192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项目/课程/报名/计划</a:t>
            </a:r>
          </a:p>
        </p:txBody>
      </p:sp>
      <p:sp>
        <p:nvSpPr>
          <p:cNvPr id="11" name="box-研修活动">
            <a:extLst xmlns:a="http://schemas.openxmlformats.org/drawingml/2006/main">
              <a:ext uri="{FF2B5EF4-FFF2-40B4-BE49-F238E27FC236}">
                <a16:creationId xmlns:a16="http://schemas.microsoft.com/office/drawing/2014/main" id="{4AC62E1A-6393-447C-948A-3266056C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box-title-研修活动">
            <a:extLst xmlns:a="http://schemas.openxmlformats.org/drawingml/2006/main">
              <a:ext uri="{FF2B5EF4-FFF2-40B4-BE49-F238E27FC236}">
                <a16:creationId xmlns:a16="http://schemas.microsoft.com/office/drawing/2014/main" id="{E8AF4FD9-976D-4F19-B95A-0CD475AE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760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</a:t>
            </a:r>
          </a:p>
        </p:txBody>
      </p:sp>
      <p:sp>
        <p:nvSpPr>
          <p:cNvPr id="13" name="box-body-研修活动">
            <a:extLst xmlns:a="http://schemas.openxmlformats.org/drawingml/2006/main">
              <a:ext uri="{FF2B5EF4-FFF2-40B4-BE49-F238E27FC236}">
                <a16:creationId xmlns:a16="http://schemas.microsoft.com/office/drawing/2014/main" id="{12EB335A-5319-4182-9E62-395B4A5B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50" y="2286000"/>
            <a:ext cx="137858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线上/线下/任务/成果</a:t>
            </a:r>
          </a:p>
        </p:txBody>
      </p:sp>
      <p:sp>
        <p:nvSpPr>
          <p:cNvPr id="16" name="box-培训评估">
            <a:extLst xmlns:a="http://schemas.openxmlformats.org/drawingml/2006/main">
              <a:ext uri="{FF2B5EF4-FFF2-40B4-BE49-F238E27FC236}">
                <a16:creationId xmlns:a16="http://schemas.microsoft.com/office/drawing/2014/main" id="{E2AC9E85-8253-4923-BC8A-F1798577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7" name="box-title-培训评估">
            <a:extLst xmlns:a="http://schemas.openxmlformats.org/drawingml/2006/main">
              <a:ext uri="{FF2B5EF4-FFF2-40B4-BE49-F238E27FC236}">
                <a16:creationId xmlns:a16="http://schemas.microsoft.com/office/drawing/2014/main" id="{3372FDBB-995E-4FEC-9F7B-C9772145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855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培训评估</a:t>
            </a:r>
          </a:p>
        </p:txBody>
      </p:sp>
      <p:sp>
        <p:nvSpPr>
          <p:cNvPr id="18" name="box-body-培训评估">
            <a:extLst xmlns:a="http://schemas.openxmlformats.org/drawingml/2006/main">
              <a:ext uri="{FF2B5EF4-FFF2-40B4-BE49-F238E27FC236}">
                <a16:creationId xmlns:a16="http://schemas.microsoft.com/office/drawing/2014/main" id="{420A6063-DA67-48A0-928F-BECCA9D6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340" y="2286000"/>
            <a:ext cx="137858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模型/数据/分析/报告</a:t>
            </a:r>
          </a:p>
        </p:txBody>
      </p:sp>
      <p:sp>
        <p:nvSpPr>
          <p:cNvPr id="21" name="box-教师档案">
            <a:extLst xmlns:a="http://schemas.openxmlformats.org/drawingml/2006/main">
              <a:ext uri="{FF2B5EF4-FFF2-40B4-BE49-F238E27FC236}">
                <a16:creationId xmlns:a16="http://schemas.microsoft.com/office/drawing/2014/main" id="{7DA4F9E9-3581-4056-80A8-D00DBB99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box-title-教师档案">
            <a:extLst xmlns:a="http://schemas.openxmlformats.org/drawingml/2006/main">
              <a:ext uri="{FF2B5EF4-FFF2-40B4-BE49-F238E27FC236}">
                <a16:creationId xmlns:a16="http://schemas.microsoft.com/office/drawing/2014/main" id="{D4C654A0-FF68-4334-82AD-1B36F1AD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</a:t>
            </a:r>
          </a:p>
        </p:txBody>
      </p:sp>
      <p:sp>
        <p:nvSpPr>
          <p:cNvPr id="23" name="box-body-教师档案">
            <a:extLst xmlns:a="http://schemas.openxmlformats.org/drawingml/2006/main">
              <a:ext uri="{FF2B5EF4-FFF2-40B4-BE49-F238E27FC236}">
                <a16:creationId xmlns:a16="http://schemas.microsoft.com/office/drawing/2014/main" id="{895444BD-2075-4364-BEAE-1F355A54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记录/结果/成果/轨迹</a:t>
            </a:r>
          </a:p>
        </p:txBody>
      </p:sp>
      <p:sp>
        <p:nvSpPr>
          <p:cNvPr id="26" name="box-用户推荐">
            <a:extLst xmlns:a="http://schemas.openxmlformats.org/drawingml/2006/main">
              <a:ext uri="{FF2B5EF4-FFF2-40B4-BE49-F238E27FC236}">
                <a16:creationId xmlns:a16="http://schemas.microsoft.com/office/drawing/2014/main" id="{E679DCBD-82F6-4B72-AACF-D5D73348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box-title-用户推荐">
            <a:extLst xmlns:a="http://schemas.openxmlformats.org/drawingml/2006/main">
              <a:ext uri="{FF2B5EF4-FFF2-40B4-BE49-F238E27FC236}">
                <a16:creationId xmlns:a16="http://schemas.microsoft.com/office/drawing/2014/main" id="{233903FA-BEAE-4CAF-9EF9-5DAB0FE0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用户推荐</a:t>
            </a:r>
          </a:p>
        </p:txBody>
      </p:sp>
      <p:sp>
        <p:nvSpPr>
          <p:cNvPr id="28" name="box-body-用户推荐">
            <a:extLst xmlns:a="http://schemas.openxmlformats.org/drawingml/2006/main">
              <a:ext uri="{FF2B5EF4-FFF2-40B4-BE49-F238E27FC236}">
                <a16:creationId xmlns:a16="http://schemas.microsoft.com/office/drawing/2014/main" id="{C53C2683-26B9-4E14-B9AB-C9F7F84A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86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画像/课程/活动/路径</a:t>
            </a:r>
          </a:p>
        </p:txBody>
      </p:sp>
      <p:sp>
        <p:nvSpPr>
          <p:cNvPr id="29" name="box-网络研修">
            <a:extLst xmlns:a="http://schemas.openxmlformats.org/drawingml/2006/main">
              <a:ext uri="{FF2B5EF4-FFF2-40B4-BE49-F238E27FC236}">
                <a16:creationId xmlns:a16="http://schemas.microsoft.com/office/drawing/2014/main" id="{76F24011-E1BD-4255-9FB9-C680564F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box-title-网络研修">
            <a:extLst xmlns:a="http://schemas.openxmlformats.org/drawingml/2006/main">
              <a:ext uri="{FF2B5EF4-FFF2-40B4-BE49-F238E27FC236}">
                <a16:creationId xmlns:a16="http://schemas.microsoft.com/office/drawing/2014/main" id="{C9407EE7-106D-4ACF-8EE2-24FB400C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网络研修</a:t>
            </a:r>
          </a:p>
        </p:txBody>
      </p:sp>
      <p:sp>
        <p:nvSpPr>
          <p:cNvPr id="31" name="box-body-网络研修">
            <a:extLst xmlns:a="http://schemas.openxmlformats.org/drawingml/2006/main">
              <a:ext uri="{FF2B5EF4-FFF2-40B4-BE49-F238E27FC236}">
                <a16:creationId xmlns:a16="http://schemas.microsoft.com/office/drawing/2014/main" id="{4686AAC3-46B2-417F-974A-9066E44B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训研一体</a:t>
            </a:r>
          </a:p>
        </p:txBody>
      </p:sp>
      <p:sp>
        <p:nvSpPr>
          <p:cNvPr id="32" name="box-评价模型">
            <a:extLst xmlns:a="http://schemas.openxmlformats.org/drawingml/2006/main">
              <a:ext uri="{FF2B5EF4-FFF2-40B4-BE49-F238E27FC236}">
                <a16:creationId xmlns:a16="http://schemas.microsoft.com/office/drawing/2014/main" id="{9077C8D3-BBFB-41F2-A3D9-5DEEA511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box-title-评价模型">
            <a:extLst xmlns:a="http://schemas.openxmlformats.org/drawingml/2006/main">
              <a:ext uri="{FF2B5EF4-FFF2-40B4-BE49-F238E27FC236}">
                <a16:creationId xmlns:a16="http://schemas.microsoft.com/office/drawing/2014/main" id="{894502BC-69DD-4270-92D9-4EE4B07F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评价模型</a:t>
            </a:r>
          </a:p>
        </p:txBody>
      </p:sp>
      <p:sp>
        <p:nvSpPr>
          <p:cNvPr id="34" name="box-body-评价模型">
            <a:extLst xmlns:a="http://schemas.openxmlformats.org/drawingml/2006/main">
              <a:ext uri="{FF2B5EF4-FFF2-40B4-BE49-F238E27FC236}">
                <a16:creationId xmlns:a16="http://schemas.microsoft.com/office/drawing/2014/main" id="{D8B703F6-500E-42B4-803F-EA45D08B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指标规则</a:t>
            </a:r>
          </a:p>
        </p:txBody>
      </p:sp>
      <p:sp>
        <p:nvSpPr>
          <p:cNvPr id="35" name="box-数据归集">
            <a:extLst xmlns:a="http://schemas.openxmlformats.org/drawingml/2006/main">
              <a:ext uri="{FF2B5EF4-FFF2-40B4-BE49-F238E27FC236}">
                <a16:creationId xmlns:a16="http://schemas.microsoft.com/office/drawing/2014/main" id="{78C27375-30EE-4DC2-9770-0A043192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36" name="box-title-数据归集">
            <a:extLst xmlns:a="http://schemas.openxmlformats.org/drawingml/2006/main">
              <a:ext uri="{FF2B5EF4-FFF2-40B4-BE49-F238E27FC236}">
                <a16:creationId xmlns:a16="http://schemas.microsoft.com/office/drawing/2014/main" id="{FABFF814-859E-44EA-8DC0-CFD240BF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</a:t>
            </a:r>
          </a:p>
        </p:txBody>
      </p:sp>
      <p:sp>
        <p:nvSpPr>
          <p:cNvPr id="37" name="box-body-数据归集">
            <a:extLst xmlns:a="http://schemas.openxmlformats.org/drawingml/2006/main">
              <a:ext uri="{FF2B5EF4-FFF2-40B4-BE49-F238E27FC236}">
                <a16:creationId xmlns:a16="http://schemas.microsoft.com/office/drawing/2014/main" id="{753FB174-5AA7-4CFC-B109-29A44590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时间窗口</a:t>
            </a:r>
          </a:p>
        </p:txBody>
      </p:sp>
      <p:sp>
        <p:nvSpPr>
          <p:cNvPr id="38" name="box-评估分析">
            <a:extLst xmlns:a="http://schemas.openxmlformats.org/drawingml/2006/main">
              <a:ext uri="{FF2B5EF4-FFF2-40B4-BE49-F238E27FC236}">
                <a16:creationId xmlns:a16="http://schemas.microsoft.com/office/drawing/2014/main" id="{366D8DBA-69E4-4580-B98B-06AD63C8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39" name="box-title-评估分析">
            <a:extLst xmlns:a="http://schemas.openxmlformats.org/drawingml/2006/main">
              <a:ext uri="{FF2B5EF4-FFF2-40B4-BE49-F238E27FC236}">
                <a16:creationId xmlns:a16="http://schemas.microsoft.com/office/drawing/2014/main" id="{9839DB8A-E487-4862-B041-4A6E20B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评估分析</a:t>
            </a:r>
          </a:p>
        </p:txBody>
      </p:sp>
      <p:sp>
        <p:nvSpPr>
          <p:cNvPr id="40" name="box-body-评估分析">
            <a:extLst xmlns:a="http://schemas.openxmlformats.org/drawingml/2006/main">
              <a:ext uri="{FF2B5EF4-FFF2-40B4-BE49-F238E27FC236}">
                <a16:creationId xmlns:a16="http://schemas.microsoft.com/office/drawing/2014/main" id="{845550EF-ECE2-4454-8941-F6EA05A5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综合评价</a:t>
            </a:r>
          </a:p>
        </p:txBody>
      </p:sp>
      <p:sp>
        <p:nvSpPr>
          <p:cNvPr id="41" name="box-档案沉淀">
            <a:extLst xmlns:a="http://schemas.openxmlformats.org/drawingml/2006/main">
              <a:ext uri="{FF2B5EF4-FFF2-40B4-BE49-F238E27FC236}">
                <a16:creationId xmlns:a16="http://schemas.microsoft.com/office/drawing/2014/main" id="{45F34A69-3997-4821-A084-5CDDECF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box-title-档案沉淀">
            <a:extLst xmlns:a="http://schemas.openxmlformats.org/drawingml/2006/main">
              <a:ext uri="{FF2B5EF4-FFF2-40B4-BE49-F238E27FC236}">
                <a16:creationId xmlns:a16="http://schemas.microsoft.com/office/drawing/2014/main" id="{B6D437CA-F100-4AD6-A371-DE735629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档案沉淀</a:t>
            </a:r>
          </a:p>
        </p:txBody>
      </p:sp>
      <p:sp>
        <p:nvSpPr>
          <p:cNvPr id="43" name="box-body-档案沉淀">
            <a:extLst xmlns:a="http://schemas.openxmlformats.org/drawingml/2006/main">
              <a:ext uri="{FF2B5EF4-FFF2-40B4-BE49-F238E27FC236}">
                <a16:creationId xmlns:a16="http://schemas.microsoft.com/office/drawing/2014/main" id="{2EF39137-01BB-4C6B-94FC-EAED39B5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画像更新</a:t>
            </a:r>
          </a:p>
        </p:txBody>
      </p:sp>
      <p:sp>
        <p:nvSpPr>
          <p:cNvPr id="44" name="box-推荐服务">
            <a:extLst xmlns:a="http://schemas.openxmlformats.org/drawingml/2006/main">
              <a:ext uri="{FF2B5EF4-FFF2-40B4-BE49-F238E27FC236}">
                <a16:creationId xmlns:a16="http://schemas.microsoft.com/office/drawing/2014/main" id="{600654A8-7CED-41C6-833B-2ADBDDC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box-title-推荐服务">
            <a:extLst xmlns:a="http://schemas.openxmlformats.org/drawingml/2006/main">
              <a:ext uri="{FF2B5EF4-FFF2-40B4-BE49-F238E27FC236}">
                <a16:creationId xmlns:a16="http://schemas.microsoft.com/office/drawing/2014/main" id="{448E58D9-97D3-41B6-B97E-7E14CF1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推荐服务</a:t>
            </a:r>
          </a:p>
        </p:txBody>
      </p:sp>
      <p:sp>
        <p:nvSpPr>
          <p:cNvPr id="46" name="box-body-推荐服务">
            <a:extLst xmlns:a="http://schemas.openxmlformats.org/drawingml/2006/main">
              <a:ext uri="{FF2B5EF4-FFF2-40B4-BE49-F238E27FC236}">
                <a16:creationId xmlns:a16="http://schemas.microsoft.com/office/drawing/2014/main" id="{8647F001-F394-4315-80F9-A4BBA6A1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精准推送</a:t>
            </a:r>
          </a:p>
        </p:txBody>
      </p:sp>
      <p:sp>
        <p:nvSpPr>
          <p:cNvPr id="47" name="flow">
            <a:extLst xmlns:a="http://schemas.openxmlformats.org/drawingml/2006/main">
              <a:ext uri="{FF2B5EF4-FFF2-40B4-BE49-F238E27FC236}">
                <a16:creationId xmlns:a16="http://schemas.microsoft.com/office/drawing/2014/main" id="{2B09551B-71DD-4243-91CA-106E26EF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业务流：培训信息管理 → 研修活动组织 → 数据归集 → 培训评估 → 档案沉淀 → 用户推荐</a:t>
            </a:r>
          </a:p>
        </p:txBody>
      </p:sp>
      <p:sp>
        <p:nvSpPr>
          <p:cNvPr id="48" name="page">
            <a:extLst xmlns:a="http://schemas.openxmlformats.org/drawingml/2006/main">
              <a:ext uri="{FF2B5EF4-FFF2-40B4-BE49-F238E27FC236}">
                <a16:creationId xmlns:a16="http://schemas.microsoft.com/office/drawing/2014/main" id="{2CD4D996-57EB-476C-AB3A-15483C34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6B68D296-689D-4CFA-865C-248AEA02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540" y="2185035"/>
            <a:ext cx="276225" cy="2159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右箭头 49">
            <a:extLst xmlns:a="http://schemas.openxmlformats.org/drawingml/2006/main">
              <a:ext uri="{FF2B5EF4-FFF2-40B4-BE49-F238E27FC236}">
                <a16:creationId xmlns:a16="http://schemas.microsoft.com/office/drawing/2014/main" id="{01DEEB4D-D9CA-4F6B-836E-5F7C0470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275" y="2202815"/>
            <a:ext cx="276225" cy="2159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右箭头 50">
            <a:extLst xmlns:a="http://schemas.openxmlformats.org/drawingml/2006/main">
              <a:ext uri="{FF2B5EF4-FFF2-40B4-BE49-F238E27FC236}">
                <a16:creationId xmlns:a16="http://schemas.microsoft.com/office/drawing/2014/main" id="{FE86036E-9300-4FF0-847F-4A59550F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890" y="2209800"/>
            <a:ext cx="276225" cy="2159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右箭头 51">
            <a:extLst xmlns:a="http://schemas.openxmlformats.org/drawingml/2006/main">
              <a:ext uri="{FF2B5EF4-FFF2-40B4-BE49-F238E27FC236}">
                <a16:creationId xmlns:a16="http://schemas.microsoft.com/office/drawing/2014/main" id="{D130FD33-62A8-485D-9586-EBD1FC4D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2815"/>
            <a:ext cx="276225" cy="2159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subsystem-composition-note">
            <a:extLst xmlns:a="http://schemas.openxmlformats.org/drawingml/2006/main">
              <a:ext uri="{FF2B5EF4-FFF2-40B4-BE49-F238E27FC236}">
                <a16:creationId xmlns:a16="http://schemas.microsoft.com/office/drawing/2014/main" id="{FC7866AB-8B50-415C-B97F-3DF7C275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组合原则：各子系统可独立成体系，也可按业务链条可插拔、可组装、可配置为解决方案。</a:t>
            </a:r>
          </a:p>
        </p:txBody>
      </p:sp>
    </p:spTree>
    <p:extLst>
      <p:ext uri="{BB962C8B-B14F-4D97-AF65-F5344CB8AC3E}">
        <p14:creationId xmlns:p14="http://schemas.microsoft.com/office/powerpoint/2010/main" val="243094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E7B0EB-9EB3-423F-95F8-021D1B20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平台闭环让培训结果回到下一轮精准供给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587FC1E-FA5D-469A-BE13-1E835B14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" y="132969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oop-0">
            <a:extLst xmlns:a="http://schemas.openxmlformats.org/drawingml/2006/main">
              <a:ext uri="{FF2B5EF4-FFF2-40B4-BE49-F238E27FC236}">
                <a16:creationId xmlns:a16="http://schemas.microsoft.com/office/drawing/2014/main" id="{062CECA6-F0A4-4474-9DB7-7518ADEC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14475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9E81A992-956E-4230-AAB6-258DE360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6687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培训信息管理</a:t>
            </a:r>
          </a:p>
        </p:txBody>
      </p:sp>
      <p:sp>
        <p:nvSpPr>
          <p:cNvPr id="6" name="loop-body-0">
            <a:extLst xmlns:a="http://schemas.openxmlformats.org/drawingml/2006/main">
              <a:ext uri="{FF2B5EF4-FFF2-40B4-BE49-F238E27FC236}">
                <a16:creationId xmlns:a16="http://schemas.microsoft.com/office/drawing/2014/main" id="{FF5D043C-6E99-430A-B3FB-7673618E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907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项目、课程、对象、周期</a:t>
            </a:r>
          </a:p>
        </p:txBody>
      </p:sp>
      <p:sp>
        <p:nvSpPr>
          <p:cNvPr id="7" name="loop-1">
            <a:extLst xmlns:a="http://schemas.openxmlformats.org/drawingml/2006/main">
              <a:ext uri="{FF2B5EF4-FFF2-40B4-BE49-F238E27FC236}">
                <a16:creationId xmlns:a16="http://schemas.microsoft.com/office/drawing/2014/main" id="{23369CA1-56E2-4084-986C-B11B498A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01" y="2347913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E755833C-C4D7-49A5-85C4-15FEFC9A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51" y="2500313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研修活动组织</a:t>
            </a:r>
          </a:p>
        </p:txBody>
      </p:sp>
      <p:sp>
        <p:nvSpPr>
          <p:cNvPr id="9" name="loop-body-1">
            <a:extLst xmlns:a="http://schemas.openxmlformats.org/drawingml/2006/main">
              <a:ext uri="{FF2B5EF4-FFF2-40B4-BE49-F238E27FC236}">
                <a16:creationId xmlns:a16="http://schemas.microsoft.com/office/drawing/2014/main" id="{1AFDD17E-7FB2-4988-8512-F308797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51" y="2824163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学习、任务、协作、成果</a:t>
            </a:r>
          </a:p>
        </p:txBody>
      </p:sp>
      <p:sp>
        <p:nvSpPr>
          <p:cNvPr id="10" name="loop-2">
            <a:extLst xmlns:a="http://schemas.openxmlformats.org/drawingml/2006/main">
              <a:ext uri="{FF2B5EF4-FFF2-40B4-BE49-F238E27FC236}">
                <a16:creationId xmlns:a16="http://schemas.microsoft.com/office/drawing/2014/main" id="{8D911EC6-E14F-446B-9EEE-B2259D06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01" y="4014788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C8E28BF6-DEBF-4FB0-A6D0-AC2EB39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51" y="4167188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</a:t>
            </a:r>
          </a:p>
        </p:txBody>
      </p:sp>
      <p:sp>
        <p:nvSpPr>
          <p:cNvPr id="12" name="loop-body-2">
            <a:extLst xmlns:a="http://schemas.openxmlformats.org/drawingml/2006/main">
              <a:ext uri="{FF2B5EF4-FFF2-40B4-BE49-F238E27FC236}">
                <a16:creationId xmlns:a16="http://schemas.microsoft.com/office/drawing/2014/main" id="{7CBB45AD-C1B6-48D8-8ED9-70770D8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51" y="4491038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过程数据、成果数据、评价数据</a:t>
            </a:r>
          </a:p>
        </p:txBody>
      </p:sp>
      <p:sp>
        <p:nvSpPr>
          <p:cNvPr id="13" name="loop-3">
            <a:extLst xmlns:a="http://schemas.openxmlformats.org/drawingml/2006/main">
              <a:ext uri="{FF2B5EF4-FFF2-40B4-BE49-F238E27FC236}">
                <a16:creationId xmlns:a16="http://schemas.microsoft.com/office/drawing/2014/main" id="{E726116B-9E2C-4A27-8F8F-77AEA0A6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48225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4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EC4B6F7-000E-44D2-B1B6-0DFF846B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006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培训评估</a:t>
            </a:r>
          </a:p>
        </p:txBody>
      </p:sp>
      <p:sp>
        <p:nvSpPr>
          <p:cNvPr id="15" name="loop-body-3">
            <a:extLst xmlns:a="http://schemas.openxmlformats.org/drawingml/2006/main">
              <a:ext uri="{FF2B5EF4-FFF2-40B4-BE49-F238E27FC236}">
                <a16:creationId xmlns:a16="http://schemas.microsoft.com/office/drawing/2014/main" id="{AA8B5C48-CF18-4010-8E78-A272794A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244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系统初评、专家复核、报告输出</a:t>
            </a:r>
          </a:p>
        </p:txBody>
      </p:sp>
      <p:sp>
        <p:nvSpPr>
          <p:cNvPr id="16" name="loop-4">
            <a:extLst xmlns:a="http://schemas.openxmlformats.org/drawingml/2006/main">
              <a:ext uri="{FF2B5EF4-FFF2-40B4-BE49-F238E27FC236}">
                <a16:creationId xmlns:a16="http://schemas.microsoft.com/office/drawing/2014/main" id="{9C1BA883-C36C-4E8D-977F-902E2E2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899" y="4014788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A8E3064A-DB23-480A-82AE-CEDE331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49" y="4167188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档案沉淀</a:t>
            </a:r>
          </a:p>
        </p:txBody>
      </p:sp>
      <p:sp>
        <p:nvSpPr>
          <p:cNvPr id="18" name="loop-body-4">
            <a:extLst xmlns:a="http://schemas.openxmlformats.org/drawingml/2006/main">
              <a:ext uri="{FF2B5EF4-FFF2-40B4-BE49-F238E27FC236}">
                <a16:creationId xmlns:a16="http://schemas.microsoft.com/office/drawing/2014/main" id="{E3E42D39-DE6E-497C-97C7-0DE3221E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49" y="4491038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记录、结果、成果、轨迹</a:t>
            </a:r>
          </a:p>
        </p:txBody>
      </p:sp>
      <p:sp>
        <p:nvSpPr>
          <p:cNvPr id="19" name="loop-5">
            <a:extLst xmlns:a="http://schemas.openxmlformats.org/drawingml/2006/main">
              <a:ext uri="{FF2B5EF4-FFF2-40B4-BE49-F238E27FC236}">
                <a16:creationId xmlns:a16="http://schemas.microsoft.com/office/drawing/2014/main" id="{B62F2C6B-7E6B-4716-8C06-CB1E51EA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899" y="2347913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loop-title-5">
            <a:extLst xmlns:a="http://schemas.openxmlformats.org/drawingml/2006/main">
              <a:ext uri="{FF2B5EF4-FFF2-40B4-BE49-F238E27FC236}">
                <a16:creationId xmlns:a16="http://schemas.microsoft.com/office/drawing/2014/main" id="{7012FCD6-763D-4754-93A9-C0E9E7C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49" y="2500313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用户推荐</a:t>
            </a:r>
          </a:p>
        </p:txBody>
      </p:sp>
      <p:sp>
        <p:nvSpPr>
          <p:cNvPr id="21" name="loop-body-5">
            <a:extLst xmlns:a="http://schemas.openxmlformats.org/drawingml/2006/main">
              <a:ext uri="{FF2B5EF4-FFF2-40B4-BE49-F238E27FC236}">
                <a16:creationId xmlns:a16="http://schemas.microsoft.com/office/drawing/2014/main" id="{8EF2AE7A-9157-4578-8C8A-C7AD7119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49" y="2824163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课程、活动、资源、路径</a:t>
            </a:r>
          </a:p>
        </p:txBody>
      </p:sp>
      <p:sp>
        <p:nvSpPr>
          <p:cNvPr id="22" name="center">
            <a:extLst xmlns:a="http://schemas.openxmlformats.org/drawingml/2006/main">
              <a:ext uri="{FF2B5EF4-FFF2-40B4-BE49-F238E27FC236}">
                <a16:creationId xmlns:a16="http://schemas.microsoft.com/office/drawing/2014/main" id="{46AC54F2-FCBC-492B-8DCF-659EE34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05125"/>
            <a:ext cx="19050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center-text">
            <a:extLst xmlns:a="http://schemas.openxmlformats.org/drawingml/2006/main">
              <a:ext uri="{FF2B5EF4-FFF2-40B4-BE49-F238E27FC236}">
                <a16:creationId xmlns:a16="http://schemas.microsoft.com/office/drawing/2014/main" id="{10760974-F842-4DE6-9C7E-FCE10E88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575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持续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发展服务</a:t>
            </a:r>
          </a:p>
        </p:txBody>
      </p:sp>
      <p:sp>
        <p:nvSpPr>
          <p:cNvPr id="24" name="bottom">
            <a:extLst xmlns:a="http://schemas.openxmlformats.org/drawingml/2006/main">
              <a:ext uri="{FF2B5EF4-FFF2-40B4-BE49-F238E27FC236}">
                <a16:creationId xmlns:a16="http://schemas.microsoft.com/office/drawing/2014/main" id="{88169F62-07BE-4F30-91F5-5355D4FD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9346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关键价值：评价发现问题，推荐推动改进，培训继续提升。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DCBE4EDE-742E-49FA-B73C-2EEAE28A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7" name="下箭头 26">
            <a:extLst xmlns:a="http://schemas.openxmlformats.org/drawingml/2006/main">
              <a:ext uri="{FF2B5EF4-FFF2-40B4-BE49-F238E27FC236}">
                <a16:creationId xmlns:a16="http://schemas.microsoft.com/office/drawing/2014/main" id="{EF561594-3367-4649-B402-61FA687F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970" y="3429000"/>
            <a:ext cx="432435" cy="504190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圆角右箭头 32">
            <a:extLst xmlns:a="http://schemas.openxmlformats.org/drawingml/2006/main">
              <a:ext uri="{FF2B5EF4-FFF2-40B4-BE49-F238E27FC236}">
                <a16:creationId xmlns:a16="http://schemas.microsoft.com/office/drawing/2014/main" id="{5DC4FC39-8269-431C-834D-EC762A74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221855" y="4979035"/>
            <a:ext cx="1978025" cy="627380"/>
          </a:xfrm>
          <a:prstGeom xmlns:a="http://schemas.openxmlformats.org/drawingml/2006/main" prst="bentArrow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圆角右箭头 36">
            <a:extLst xmlns:a="http://schemas.openxmlformats.org/drawingml/2006/main">
              <a:ext uri="{FF2B5EF4-FFF2-40B4-BE49-F238E27FC236}">
                <a16:creationId xmlns:a16="http://schemas.microsoft.com/office/drawing/2014/main" id="{0258C16F-ED95-4334-B19B-79ABB21D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701415" y="4239895"/>
            <a:ext cx="575310" cy="1978660"/>
          </a:xfrm>
          <a:prstGeom xmlns:a="http://schemas.openxmlformats.org/drawingml/2006/main" prst="bentArrow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下箭头 38">
            <a:extLst xmlns:a="http://schemas.openxmlformats.org/drawingml/2006/main">
              <a:ext uri="{FF2B5EF4-FFF2-40B4-BE49-F238E27FC236}">
                <a16:creationId xmlns:a16="http://schemas.microsoft.com/office/drawing/2014/main" id="{9C716B4C-3694-471D-B018-6570AA0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87980" y="3326130"/>
            <a:ext cx="432435" cy="625475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圆角右箭头 39">
            <a:extLst xmlns:a="http://schemas.openxmlformats.org/drawingml/2006/main">
              <a:ext uri="{FF2B5EF4-FFF2-40B4-BE49-F238E27FC236}">
                <a16:creationId xmlns:a16="http://schemas.microsoft.com/office/drawing/2014/main" id="{6932FB1C-3CFF-439D-A661-ADF734EA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1717040"/>
            <a:ext cx="2030730" cy="627380"/>
          </a:xfrm>
          <a:prstGeom xmlns:a="http://schemas.openxmlformats.org/drawingml/2006/main" prst="bentArrow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圆角右箭头 40">
            <a:extLst xmlns:a="http://schemas.openxmlformats.org/drawingml/2006/main">
              <a:ext uri="{FF2B5EF4-FFF2-40B4-BE49-F238E27FC236}">
                <a16:creationId xmlns:a16="http://schemas.microsoft.com/office/drawing/2014/main" id="{E07DDC30-3A1D-4074-858B-D00346A7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97190" y="1009650"/>
            <a:ext cx="606425" cy="2030730"/>
          </a:xfrm>
          <a:prstGeom xmlns:a="http://schemas.openxmlformats.org/drawingml/2006/main" prst="bentArrow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300665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D5BEA-7D3A-44BD-A877-6925DA20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子系统既可自成体系，也可组装为生态价值链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6BF150E-D8CB-4AA7-A8AB-82292D0D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01">
            <a:extLst xmlns:a="http://schemas.openxmlformats.org/drawingml/2006/main">
              <a:ext uri="{FF2B5EF4-FFF2-40B4-BE49-F238E27FC236}">
                <a16:creationId xmlns:a16="http://schemas.microsoft.com/office/drawing/2014/main" id="{24EBB68E-6079-4F43-8005-EFC923B2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ep-label-01">
            <a:extLst xmlns:a="http://schemas.openxmlformats.org/drawingml/2006/main">
              <a:ext uri="{FF2B5EF4-FFF2-40B4-BE49-F238E27FC236}">
                <a16:creationId xmlns:a16="http://schemas.microsoft.com/office/drawing/2014/main" id="{E44FF6A6-759E-408C-B016-1F35A192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5D361F32-9525-4023-B19F-9412355F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09850"/>
            <a:ext cx="172275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培训信息管理子系统</a:t>
            </a:r>
          </a:p>
        </p:txBody>
      </p:sp>
      <p:sp>
        <p:nvSpPr>
          <p:cNvPr id="7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F8CC2AFB-2F4B-4025-90AF-20DBFEB6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统一项目、课程、报名、审核、人员和培训计划，提供平台基础业务入口。</a:t>
            </a:r>
          </a:p>
        </p:txBody>
      </p:sp>
      <p:sp>
        <p:nvSpPr>
          <p:cNvPr id="8" name="step-02">
            <a:extLst xmlns:a="http://schemas.openxmlformats.org/drawingml/2006/main">
              <a:ext uri="{FF2B5EF4-FFF2-40B4-BE49-F238E27FC236}">
                <a16:creationId xmlns:a16="http://schemas.microsoft.com/office/drawing/2014/main" id="{DD298E78-6428-45AC-84F9-C88B8B3B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ep-label-02">
            <a:extLst xmlns:a="http://schemas.openxmlformats.org/drawingml/2006/main">
              <a:ext uri="{FF2B5EF4-FFF2-40B4-BE49-F238E27FC236}">
                <a16:creationId xmlns:a16="http://schemas.microsoft.com/office/drawing/2014/main" id="{4E6C5489-1284-4EF2-8137-35841CCE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FCF8F4F1-D65C-4FD0-99BF-68BC8986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研修活动子系统</a:t>
            </a:r>
          </a:p>
        </p:txBody>
      </p:sp>
      <p:sp>
        <p:nvSpPr>
          <p:cNvPr id="11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90E23CCC-0FEF-4411-A90E-687F4650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承载线上、线下和混合式培训活动，记录学习、互动、任务和成果过程。</a:t>
            </a:r>
          </a:p>
        </p:txBody>
      </p:sp>
      <p:sp>
        <p:nvSpPr>
          <p:cNvPr id="12" name="step-03">
            <a:extLst xmlns:a="http://schemas.openxmlformats.org/drawingml/2006/main">
              <a:ext uri="{FF2B5EF4-FFF2-40B4-BE49-F238E27FC236}">
                <a16:creationId xmlns:a16="http://schemas.microsoft.com/office/drawing/2014/main" id="{02FB8A9B-27EA-4CB5-B318-A071084A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3" name="step-label-03">
            <a:extLst xmlns:a="http://schemas.openxmlformats.org/drawingml/2006/main">
              <a:ext uri="{FF2B5EF4-FFF2-40B4-BE49-F238E27FC236}">
                <a16:creationId xmlns:a16="http://schemas.microsoft.com/office/drawing/2014/main" id="{882B81FD-D5D8-4CC5-86CD-17D4D3D2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953CB331-82F1-4557-9F92-6E760744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培训评估子系统</a:t>
            </a:r>
          </a:p>
        </p:txBody>
      </p:sp>
      <p:sp>
        <p:nvSpPr>
          <p:cNvPr id="15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E4600A75-EC1D-45BB-A10F-C6C5D948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基于评价模型和过程数据，形成个人、班级、项目和区域层面的评价结果。</a:t>
            </a:r>
          </a:p>
        </p:txBody>
      </p:sp>
      <p:sp>
        <p:nvSpPr>
          <p:cNvPr id="16" name="step-04">
            <a:extLst xmlns:a="http://schemas.openxmlformats.org/drawingml/2006/main">
              <a:ext uri="{FF2B5EF4-FFF2-40B4-BE49-F238E27FC236}">
                <a16:creationId xmlns:a16="http://schemas.microsoft.com/office/drawing/2014/main" id="{3F443E12-80DD-40D8-B5A3-E14B32B5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label-04">
            <a:extLst xmlns:a="http://schemas.openxmlformats.org/drawingml/2006/main">
              <a:ext uri="{FF2B5EF4-FFF2-40B4-BE49-F238E27FC236}">
                <a16:creationId xmlns:a16="http://schemas.microsoft.com/office/drawing/2014/main" id="{02AE58BF-B62C-4A8B-B839-6944CF2E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step-title-04">
            <a:extLst xmlns:a="http://schemas.openxmlformats.org/drawingml/2006/main">
              <a:ext uri="{FF2B5EF4-FFF2-40B4-BE49-F238E27FC236}">
                <a16:creationId xmlns:a16="http://schemas.microsoft.com/office/drawing/2014/main" id="{D0870EAD-0AB1-449E-B588-7AFE138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教师档案子系统</a:t>
            </a:r>
          </a:p>
        </p:txBody>
      </p:sp>
      <p:sp>
        <p:nvSpPr>
          <p:cNvPr id="19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986B4E77-93E5-48FD-9123-5AB91437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沉淀培训记录、评价结果、成果材料、学时证书和成长轨迹。</a:t>
            </a:r>
          </a:p>
        </p:txBody>
      </p:sp>
      <p:sp>
        <p:nvSpPr>
          <p:cNvPr id="20" name="step-05">
            <a:extLst xmlns:a="http://schemas.openxmlformats.org/drawingml/2006/main">
              <a:ext uri="{FF2B5EF4-FFF2-40B4-BE49-F238E27FC236}">
                <a16:creationId xmlns:a16="http://schemas.microsoft.com/office/drawing/2014/main" id="{358C2D18-EFCB-498E-87B6-9C5BC0C9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tep-label-05">
            <a:extLst xmlns:a="http://schemas.openxmlformats.org/drawingml/2006/main">
              <a:ext uri="{FF2B5EF4-FFF2-40B4-BE49-F238E27FC236}">
                <a16:creationId xmlns:a16="http://schemas.microsoft.com/office/drawing/2014/main" id="{0A775EEA-8D44-4D36-918C-EBD23641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step-title-05">
            <a:extLst xmlns:a="http://schemas.openxmlformats.org/drawingml/2006/main">
              <a:ext uri="{FF2B5EF4-FFF2-40B4-BE49-F238E27FC236}">
                <a16:creationId xmlns:a16="http://schemas.microsoft.com/office/drawing/2014/main" id="{7CCBF0C7-FE55-406B-8381-E43D3F9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用户推荐子系统</a:t>
            </a:r>
          </a:p>
        </p:txBody>
      </p:sp>
      <p:sp>
        <p:nvSpPr>
          <p:cNvPr id="23" name="step-body-05">
            <a:extLst xmlns:a="http://schemas.openxmlformats.org/drawingml/2006/main">
              <a:ext uri="{FF2B5EF4-FFF2-40B4-BE49-F238E27FC236}">
                <a16:creationId xmlns:a16="http://schemas.microsoft.com/office/drawing/2014/main" id="{07C33ED7-5655-4E8E-8E0C-AC98F445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基于教师画像和评估结果，推荐课程、活动、资源和发展路径。</a:t>
            </a:r>
          </a:p>
        </p:txBody>
      </p:sp>
      <p:sp>
        <p:nvSpPr>
          <p:cNvPr id="24" name="note">
            <a:extLst xmlns:a="http://schemas.openxmlformats.org/drawingml/2006/main">
              <a:ext uri="{FF2B5EF4-FFF2-40B4-BE49-F238E27FC236}">
                <a16:creationId xmlns:a16="http://schemas.microsoft.com/office/drawing/2014/main" id="{A3CE385C-4A81-4A41-84EB-0344B58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按场景选择子系统和模块，可插拔、可组装、可配置为教师发展、AI 教学、智能体等解决方案。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266880E3-1853-438F-940C-2539B3C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7374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3B04A1-2E6A-47A8-8D19-E2B28B6A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培训信息管理系统 -- 统一沉淀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组织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培训基础数据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E66CD-A0AA-4410-A7DC-8F6F8CD6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4" name="training-info-system">
            <a:extLst xmlns:a="http://schemas.openxmlformats.org/drawingml/2006/main">
              <a:ext uri="{FF2B5EF4-FFF2-40B4-BE49-F238E27FC236}">
                <a16:creationId xmlns:a16="http://schemas.microsoft.com/office/drawing/2014/main" id="{72F3E567-46CE-47CB-960F-627EAC91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19300"/>
            <a:ext cx="6858000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A7D4FF"/>
            </a:solidFill>
            <a:prstDash val="solid"/>
          </a:ln>
        </p:spPr>
      </p:sp>
      <p:sp>
        <p:nvSpPr>
          <p:cNvPr id="5" name="system-badge">
            <a:extLst xmlns:a="http://schemas.openxmlformats.org/drawingml/2006/main">
              <a:ext uri="{FF2B5EF4-FFF2-40B4-BE49-F238E27FC236}">
                <a16:creationId xmlns:a16="http://schemas.microsoft.com/office/drawing/2014/main" id="{D30994CA-34FF-4CA4-B406-9610917F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6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6" name="system-badge-text">
            <a:extLst xmlns:a="http://schemas.openxmlformats.org/drawingml/2006/main">
              <a:ext uri="{FF2B5EF4-FFF2-40B4-BE49-F238E27FC236}">
                <a16:creationId xmlns:a16="http://schemas.microsoft.com/office/drawing/2014/main" id="{5602A996-E2D1-4329-89A7-E1EFF9B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24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7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0E159AD2-CA73-4078-8041-04A16C5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培训信息管理系统</a:t>
            </a:r>
          </a:p>
        </p:txBody>
      </p:sp>
      <p:sp>
        <p:nvSpPr>
          <p:cNvPr id="8" name="module-enroll">
            <a:extLst xmlns:a="http://schemas.openxmlformats.org/drawingml/2006/main">
              <a:ext uri="{FF2B5EF4-FFF2-40B4-BE49-F238E27FC236}">
                <a16:creationId xmlns:a16="http://schemas.microsoft.com/office/drawing/2014/main" id="{D08B3E8C-C3B3-4586-B130-1B596CEC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35275"/>
            <a:ext cx="22669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9" name="module-enroll-title">
            <a:extLst xmlns:a="http://schemas.openxmlformats.org/drawingml/2006/main">
              <a:ext uri="{FF2B5EF4-FFF2-40B4-BE49-F238E27FC236}">
                <a16:creationId xmlns:a16="http://schemas.microsoft.com/office/drawing/2014/main" id="{E2E48B11-411F-4A19-BA7D-75CFF2B5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003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招生</a:t>
            </a:r>
          </a:p>
        </p:txBody>
      </p:sp>
      <p:sp>
        <p:nvSpPr>
          <p:cNvPr id="10" name="module-enroll-body">
            <a:extLst xmlns:a="http://schemas.openxmlformats.org/drawingml/2006/main">
              <a:ext uri="{FF2B5EF4-FFF2-40B4-BE49-F238E27FC236}">
                <a16:creationId xmlns:a16="http://schemas.microsoft.com/office/drawing/2014/main" id="{4EC9E66F-63E7-4CDD-AE30-91F7AF81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9598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报名、审核、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对象组织</a:t>
            </a:r>
          </a:p>
        </p:txBody>
      </p:sp>
      <p:sp>
        <p:nvSpPr>
          <p:cNvPr id="11" name="module-fee">
            <a:extLst xmlns:a="http://schemas.openxmlformats.org/drawingml/2006/main">
              <a:ext uri="{FF2B5EF4-FFF2-40B4-BE49-F238E27FC236}">
                <a16:creationId xmlns:a16="http://schemas.microsoft.com/office/drawing/2014/main" id="{341BD02D-8CB0-4F20-B095-5F402CF0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2669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2" name="module-fee-title">
            <a:extLst xmlns:a="http://schemas.openxmlformats.org/drawingml/2006/main">
              <a:ext uri="{FF2B5EF4-FFF2-40B4-BE49-F238E27FC236}">
                <a16:creationId xmlns:a16="http://schemas.microsoft.com/office/drawing/2014/main" id="{6C90849D-A3EF-4968-BED5-A580509A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费用管理</a:t>
            </a:r>
          </a:p>
        </p:txBody>
      </p:sp>
      <p:sp>
        <p:nvSpPr>
          <p:cNvPr id="13" name="module-fee-body">
            <a:extLst xmlns:a="http://schemas.openxmlformats.org/drawingml/2006/main">
              <a:ext uri="{FF2B5EF4-FFF2-40B4-BE49-F238E27FC236}">
                <a16:creationId xmlns:a16="http://schemas.microsoft.com/office/drawing/2014/main" id="{05CD8CC2-F05E-45FD-81FD-A4E8013A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620" y="339534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收费、结算、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费用台账</a:t>
            </a:r>
          </a:p>
        </p:txBody>
      </p:sp>
      <p:sp>
        <p:nvSpPr>
          <p:cNvPr id="14" name="module-project">
            <a:extLst xmlns:a="http://schemas.openxmlformats.org/drawingml/2006/main">
              <a:ext uri="{FF2B5EF4-FFF2-40B4-BE49-F238E27FC236}">
                <a16:creationId xmlns:a16="http://schemas.microsoft.com/office/drawing/2014/main" id="{00BB238E-4EFA-4B22-ABD9-D5133582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943350"/>
            <a:ext cx="2334895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5" name="module-project-title">
            <a:extLst xmlns:a="http://schemas.openxmlformats.org/drawingml/2006/main">
              <a:ext uri="{FF2B5EF4-FFF2-40B4-BE49-F238E27FC236}">
                <a16:creationId xmlns:a16="http://schemas.microsoft.com/office/drawing/2014/main" id="{A7EEA64A-F5A5-400A-8B23-06EBC45F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9321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项目管理</a:t>
            </a:r>
          </a:p>
        </p:txBody>
      </p:sp>
      <p:sp>
        <p:nvSpPr>
          <p:cNvPr id="16" name="module-project-body">
            <a:extLst xmlns:a="http://schemas.openxmlformats.org/drawingml/2006/main">
              <a:ext uri="{FF2B5EF4-FFF2-40B4-BE49-F238E27FC236}">
                <a16:creationId xmlns:a16="http://schemas.microsoft.com/office/drawing/2014/main" id="{3FC2B99A-4E6A-47F5-BE21-A0D91BA2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260" y="450913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项目、课程、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计划周期</a:t>
            </a:r>
          </a:p>
        </p:txBody>
      </p:sp>
      <p:sp>
        <p:nvSpPr>
          <p:cNvPr id="17" name="module-more">
            <a:extLst xmlns:a="http://schemas.openxmlformats.org/drawingml/2006/main">
              <a:ext uri="{FF2B5EF4-FFF2-40B4-BE49-F238E27FC236}">
                <a16:creationId xmlns:a16="http://schemas.microsoft.com/office/drawing/2014/main" id="{D9216B6B-1968-4BBE-B4C3-68C689F5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33190"/>
            <a:ext cx="22669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8" name="module-more-title">
            <a:extLst xmlns:a="http://schemas.openxmlformats.org/drawingml/2006/main">
              <a:ext uri="{FF2B5EF4-FFF2-40B4-BE49-F238E27FC236}">
                <a16:creationId xmlns:a16="http://schemas.microsoft.com/office/drawing/2014/main" id="{5C69450F-A7FB-4CE7-BC77-0D49F5AF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464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…</a:t>
            </a:r>
          </a:p>
        </p:txBody>
      </p:sp>
      <p:sp>
        <p:nvSpPr>
          <p:cNvPr id="19" name="module-more-body">
            <a:extLst xmlns:a="http://schemas.openxmlformats.org/drawingml/2006/main">
              <a:ext uri="{FF2B5EF4-FFF2-40B4-BE49-F238E27FC236}">
                <a16:creationId xmlns:a16="http://schemas.microsoft.com/office/drawing/2014/main" id="{5FC7E3EE-4F54-4F6F-B7FB-1CC646D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43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</a:p>
        </p:txBody>
      </p:sp>
      <p:sp>
        <p:nvSpPr>
          <p:cNvPr id="20" name="data-output-arrow">
            <a:extLst xmlns:a="http://schemas.openxmlformats.org/drawingml/2006/main">
              <a:ext uri="{FF2B5EF4-FFF2-40B4-BE49-F238E27FC236}">
                <a16:creationId xmlns:a16="http://schemas.microsoft.com/office/drawing/2014/main" id="{42F2B0EC-CD04-47BD-BB03-6F591CEB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21" name="data-output-label">
            <a:extLst xmlns:a="http://schemas.openxmlformats.org/drawingml/2006/main">
              <a:ext uri="{FF2B5EF4-FFF2-40B4-BE49-F238E27FC236}">
                <a16:creationId xmlns:a16="http://schemas.microsoft.com/office/drawing/2014/main" id="{A2018884-3753-47D5-9B54-7C66B81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基础数据输出</a:t>
            </a:r>
          </a:p>
        </p:txBody>
      </p:sp>
      <p:sp>
        <p:nvSpPr>
          <p:cNvPr id="22" name="downstream-panel">
            <a:extLst xmlns:a="http://schemas.openxmlformats.org/drawingml/2006/main">
              <a:ext uri="{FF2B5EF4-FFF2-40B4-BE49-F238E27FC236}">
                <a16:creationId xmlns:a16="http://schemas.microsoft.com/office/drawing/2014/main" id="{780BCE04-7AFA-489E-B983-38257CC9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885950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3" name="downstream-title">
            <a:extLst xmlns:a="http://schemas.openxmlformats.org/drawingml/2006/main">
              <a:ext uri="{FF2B5EF4-FFF2-40B4-BE49-F238E27FC236}">
                <a16:creationId xmlns:a16="http://schemas.microsoft.com/office/drawing/2014/main" id="{295496A6-68DF-4BD6-8E7E-5619471B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480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进入研修活动</a:t>
            </a:r>
          </a:p>
        </p:txBody>
      </p:sp>
      <p:sp>
        <p:nvSpPr>
          <p:cNvPr id="24" name="downstream-body">
            <a:extLst xmlns:a="http://schemas.openxmlformats.org/drawingml/2006/main">
              <a:ext uri="{FF2B5EF4-FFF2-40B4-BE49-F238E27FC236}">
                <a16:creationId xmlns:a16="http://schemas.microsoft.com/office/drawing/2014/main" id="{69864B27-6B27-4EDF-B7AD-5AF2B434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项目、课程、对象、周期</a:t>
            </a:r>
          </a:p>
          <a:p xmlns:a="http://schemas.openxmlformats.org/drawingml/2006/main">
            <a:pPr algn="ctr">
              <a:buNone/>
              <a:defRPr sz="10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成为活动组织和过程归集的统一口径</a:t>
            </a:r>
          </a:p>
        </p:txBody>
      </p:sp>
      <p:sp>
        <p:nvSpPr>
          <p:cNvPr id="25" name="bottom-note-band">
            <a:extLst xmlns:a="http://schemas.openxmlformats.org/drawingml/2006/main">
              <a:ext uri="{FF2B5EF4-FFF2-40B4-BE49-F238E27FC236}">
                <a16:creationId xmlns:a16="http://schemas.microsoft.com/office/drawing/2014/main" id="{B20AEFAA-9916-40DA-B9E3-9DF56DD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100584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0478">
            <a:solidFill>
              <a:srgbClr val="D8ECFF"/>
            </a:solidFill>
            <a:prstDash val="solid"/>
          </a:ln>
        </p:spPr>
      </p:sp>
      <p:sp>
        <p:nvSpPr>
          <p:cNvPr id="26" name="bottom-note">
            <a:extLst xmlns:a="http://schemas.openxmlformats.org/drawingml/2006/main">
              <a:ext uri="{FF2B5EF4-FFF2-40B4-BE49-F238E27FC236}">
                <a16:creationId xmlns:a16="http://schemas.microsoft.com/office/drawing/2014/main" id="{7F86527A-7DE2-4C1A-9AA1-9BB29DF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57850"/>
            <a:ext cx="960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关键价值：先把招生、费用、项目和权限等基础信息标准化，再支撑后续研修活动组织、数据归集和培训评估。</a:t>
            </a:r>
          </a:p>
        </p:txBody>
      </p:sp>
      <p:sp>
        <p:nvSpPr>
          <p:cNvPr id="27" name="page">
            <a:extLst xmlns:a="http://schemas.openxmlformats.org/drawingml/2006/main">
              <a:ext uri="{FF2B5EF4-FFF2-40B4-BE49-F238E27FC236}">
                <a16:creationId xmlns:a16="http://schemas.microsoft.com/office/drawing/2014/main" id="{5C8AC717-664B-4607-868E-C82B33CE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995691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FE6256-D6D9-4395-9895-6D99297E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研修活动系统 -- 支撑线下实训与网络研修一体化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9631077-5239-4E3E-9BE6-F739063C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4" name="online-research-panel">
            <a:extLst xmlns:a="http://schemas.openxmlformats.org/drawingml/2006/main">
              <a:ext uri="{FF2B5EF4-FFF2-40B4-BE49-F238E27FC236}">
                <a16:creationId xmlns:a16="http://schemas.microsoft.com/office/drawing/2014/main" id="{8F82D7E0-815F-4265-8138-5C859E46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38350"/>
            <a:ext cx="8191500" cy="3600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5" name="online-research-title">
            <a:extLst xmlns:a="http://schemas.openxmlformats.org/drawingml/2006/main">
              <a:ext uri="{FF2B5EF4-FFF2-40B4-BE49-F238E27FC236}">
                <a16:creationId xmlns:a16="http://schemas.microsoft.com/office/drawing/2014/main" id="{376314A1-5227-4227-9052-907D4801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812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网络研修【研训一体化】</a:t>
            </a:r>
          </a:p>
        </p:txBody>
      </p:sp>
      <p:sp>
        <p:nvSpPr>
          <p:cNvPr id="6" name="train-column">
            <a:extLst xmlns:a="http://schemas.openxmlformats.org/drawingml/2006/main">
              <a:ext uri="{FF2B5EF4-FFF2-40B4-BE49-F238E27FC236}">
                <a16:creationId xmlns:a16="http://schemas.microsoft.com/office/drawing/2014/main" id="{84C8F630-4A2C-4F0A-A537-6EC08A7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1333500" cy="17526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7" name="train-title">
            <a:extLst xmlns:a="http://schemas.openxmlformats.org/drawingml/2006/main">
              <a:ext uri="{FF2B5EF4-FFF2-40B4-BE49-F238E27FC236}">
                <a16:creationId xmlns:a16="http://schemas.microsoft.com/office/drawing/2014/main" id="{097B04D3-0A61-4F07-9E4E-538FD462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385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训</a:t>
            </a:r>
          </a:p>
        </p:txBody>
      </p:sp>
      <p:sp>
        <p:nvSpPr>
          <p:cNvPr id="8" name="train-rule">
            <a:extLst xmlns:a="http://schemas.openxmlformats.org/drawingml/2006/main">
              <a:ext uri="{FF2B5EF4-FFF2-40B4-BE49-F238E27FC236}">
                <a16:creationId xmlns:a16="http://schemas.microsoft.com/office/drawing/2014/main" id="{42B7E1EF-A0CE-4E29-AFBB-D1F14901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9" name="train-pill-1">
            <a:extLst xmlns:a="http://schemas.openxmlformats.org/drawingml/2006/main">
              <a:ext uri="{FF2B5EF4-FFF2-40B4-BE49-F238E27FC236}">
                <a16:creationId xmlns:a16="http://schemas.microsoft.com/office/drawing/2014/main" id="{D2C0C47C-19E9-4A5F-A23A-B144361A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05250"/>
            <a:ext cx="876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10" name="train-pill-1-text">
            <a:extLst xmlns:a="http://schemas.openxmlformats.org/drawingml/2006/main">
              <a:ext uri="{FF2B5EF4-FFF2-40B4-BE49-F238E27FC236}">
                <a16:creationId xmlns:a16="http://schemas.microsoft.com/office/drawing/2014/main" id="{8B3F578B-A2F7-477F-87BF-207FCA2C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9433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组织培训</a:t>
            </a:r>
          </a:p>
        </p:txBody>
      </p:sp>
      <p:sp>
        <p:nvSpPr>
          <p:cNvPr id="11" name="train-pill-2">
            <a:extLst xmlns:a="http://schemas.openxmlformats.org/drawingml/2006/main">
              <a:ext uri="{FF2B5EF4-FFF2-40B4-BE49-F238E27FC236}">
                <a16:creationId xmlns:a16="http://schemas.microsoft.com/office/drawing/2014/main" id="{86E22DC2-C26F-48F2-8668-5464813B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24350"/>
            <a:ext cx="876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12" name="train-pill-2-text">
            <a:extLst xmlns:a="http://schemas.openxmlformats.org/drawingml/2006/main">
              <a:ext uri="{FF2B5EF4-FFF2-40B4-BE49-F238E27FC236}">
                <a16:creationId xmlns:a16="http://schemas.microsoft.com/office/drawing/2014/main" id="{40DBFB5F-9C2C-42D9-A8FE-33D7CC71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3624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实训</a:t>
            </a:r>
          </a:p>
        </p:txBody>
      </p:sp>
      <p:sp>
        <p:nvSpPr>
          <p:cNvPr id="13" name="research-column">
            <a:extLst xmlns:a="http://schemas.openxmlformats.org/drawingml/2006/main">
              <a:ext uri="{FF2B5EF4-FFF2-40B4-BE49-F238E27FC236}">
                <a16:creationId xmlns:a16="http://schemas.microsoft.com/office/drawing/2014/main" id="{ADA26972-873F-4366-B3D4-B445536D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67050"/>
            <a:ext cx="3051810" cy="17526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0478">
            <a:solidFill>
              <a:srgbClr val="A7D4FF"/>
            </a:solidFill>
            <a:prstDash val="solid"/>
          </a:ln>
        </p:spPr>
      </p:sp>
      <p:sp>
        <p:nvSpPr>
          <p:cNvPr id="14" name="research-title">
            <a:extLst xmlns:a="http://schemas.openxmlformats.org/drawingml/2006/main">
              <a:ext uri="{FF2B5EF4-FFF2-40B4-BE49-F238E27FC236}">
                <a16:creationId xmlns:a16="http://schemas.microsoft.com/office/drawing/2014/main" id="{3707A4BD-4395-4ED3-BD5A-586FA434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38500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</a:t>
            </a:r>
          </a:p>
        </p:txBody>
      </p:sp>
      <p:sp>
        <p:nvSpPr>
          <p:cNvPr id="15" name="research-rule">
            <a:extLst xmlns:a="http://schemas.openxmlformats.org/drawingml/2006/main">
              <a:ext uri="{FF2B5EF4-FFF2-40B4-BE49-F238E27FC236}">
                <a16:creationId xmlns:a16="http://schemas.microsoft.com/office/drawing/2014/main" id="{3D5DCD95-9A9F-4EA8-87C6-E41B78D9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95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7D4FF"/>
            </a:solidFill>
            <a:prstDash val="solid"/>
          </a:ln>
        </p:spPr>
      </p:sp>
      <p:sp>
        <p:nvSpPr>
          <p:cNvPr id="16" name="research-pill-集体备课">
            <a:extLst xmlns:a="http://schemas.openxmlformats.org/drawingml/2006/main">
              <a:ext uri="{FF2B5EF4-FFF2-40B4-BE49-F238E27FC236}">
                <a16:creationId xmlns:a16="http://schemas.microsoft.com/office/drawing/2014/main" id="{04FE00C8-EE56-4F64-AAF6-5554C24F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05250"/>
            <a:ext cx="857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17" name="research-pill-集体备课-text">
            <a:extLst xmlns:a="http://schemas.openxmlformats.org/drawingml/2006/main">
              <a:ext uri="{FF2B5EF4-FFF2-40B4-BE49-F238E27FC236}">
                <a16:creationId xmlns:a16="http://schemas.microsoft.com/office/drawing/2014/main" id="{FE0B7F6C-3DFF-4894-8E7F-366A3BF8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433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集体备课</a:t>
            </a:r>
          </a:p>
        </p:txBody>
      </p:sp>
      <p:sp>
        <p:nvSpPr>
          <p:cNvPr id="18" name="research-pill-课例研讨">
            <a:extLst xmlns:a="http://schemas.openxmlformats.org/drawingml/2006/main">
              <a:ext uri="{FF2B5EF4-FFF2-40B4-BE49-F238E27FC236}">
                <a16:creationId xmlns:a16="http://schemas.microsoft.com/office/drawing/2014/main" id="{6C263BB6-DFD1-4DB1-8657-29DA00BB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857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19" name="research-pill-课例研讨-text">
            <a:extLst xmlns:a="http://schemas.openxmlformats.org/drawingml/2006/main">
              <a:ext uri="{FF2B5EF4-FFF2-40B4-BE49-F238E27FC236}">
                <a16:creationId xmlns:a16="http://schemas.microsoft.com/office/drawing/2014/main" id="{5C417A36-7630-4EBF-81C2-F95857A3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433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课例研讨</a:t>
            </a:r>
          </a:p>
        </p:txBody>
      </p:sp>
      <p:sp>
        <p:nvSpPr>
          <p:cNvPr id="20" name="research-pill-课题研究">
            <a:extLst xmlns:a="http://schemas.openxmlformats.org/drawingml/2006/main">
              <a:ext uri="{FF2B5EF4-FFF2-40B4-BE49-F238E27FC236}">
                <a16:creationId xmlns:a16="http://schemas.microsoft.com/office/drawing/2014/main" id="{074564AE-DFA1-4CBF-AD1C-B104B532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05250"/>
            <a:ext cx="857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21" name="research-pill-课题研究-text">
            <a:extLst xmlns:a="http://schemas.openxmlformats.org/drawingml/2006/main">
              <a:ext uri="{FF2B5EF4-FFF2-40B4-BE49-F238E27FC236}">
                <a16:creationId xmlns:a16="http://schemas.microsoft.com/office/drawing/2014/main" id="{06798D95-E95E-4195-8576-C418911A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433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课题研究</a:t>
            </a:r>
          </a:p>
        </p:txBody>
      </p:sp>
      <p:sp>
        <p:nvSpPr>
          <p:cNvPr id="22" name="research-pill-课堂反思">
            <a:extLst xmlns:a="http://schemas.openxmlformats.org/drawingml/2006/main">
              <a:ext uri="{FF2B5EF4-FFF2-40B4-BE49-F238E27FC236}">
                <a16:creationId xmlns:a16="http://schemas.microsoft.com/office/drawing/2014/main" id="{42294835-8486-43F8-A942-6C3A648C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24350"/>
            <a:ext cx="857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23" name="research-pill-课堂反思-text">
            <a:extLst xmlns:a="http://schemas.openxmlformats.org/drawingml/2006/main">
              <a:ext uri="{FF2B5EF4-FFF2-40B4-BE49-F238E27FC236}">
                <a16:creationId xmlns:a16="http://schemas.microsoft.com/office/drawing/2014/main" id="{023CDB16-7F9F-432C-A3FF-65610E2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624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课堂反思</a:t>
            </a:r>
          </a:p>
        </p:txBody>
      </p:sp>
      <p:sp>
        <p:nvSpPr>
          <p:cNvPr id="24" name="research-pill-教学问题攻关">
            <a:extLst xmlns:a="http://schemas.openxmlformats.org/drawingml/2006/main">
              <a:ext uri="{FF2B5EF4-FFF2-40B4-BE49-F238E27FC236}">
                <a16:creationId xmlns:a16="http://schemas.microsoft.com/office/drawing/2014/main" id="{472E8EA1-D69B-4C7B-AB9D-5AD8B007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857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25" name="research-pill-教学问题攻关-text">
            <a:extLst xmlns:a="http://schemas.openxmlformats.org/drawingml/2006/main">
              <a:ext uri="{FF2B5EF4-FFF2-40B4-BE49-F238E27FC236}">
                <a16:creationId xmlns:a16="http://schemas.microsoft.com/office/drawing/2014/main" id="{6F2DE5C3-D986-4D7B-9120-B7C4D818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624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教学问题攻关</a:t>
            </a:r>
          </a:p>
        </p:txBody>
      </p:sp>
      <p:sp>
        <p:nvSpPr>
          <p:cNvPr id="26" name="research-pill-...">
            <a:extLst xmlns:a="http://schemas.openxmlformats.org/drawingml/2006/main">
              <a:ext uri="{FF2B5EF4-FFF2-40B4-BE49-F238E27FC236}">
                <a16:creationId xmlns:a16="http://schemas.microsoft.com/office/drawing/2014/main" id="{B9889456-C717-42FA-909E-D096739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24350"/>
            <a:ext cx="857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27" name="research-pill-...-text">
            <a:extLst xmlns:a="http://schemas.openxmlformats.org/drawingml/2006/main">
              <a:ext uri="{FF2B5EF4-FFF2-40B4-BE49-F238E27FC236}">
                <a16:creationId xmlns:a16="http://schemas.microsoft.com/office/drawing/2014/main" id="{649D72EE-D4A2-43F8-83D2-5C4C48B9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624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...</a:t>
            </a:r>
          </a:p>
        </p:txBody>
      </p:sp>
      <p:sp>
        <p:nvSpPr>
          <p:cNvPr id="28" name="bottom-note-band">
            <a:extLst xmlns:a="http://schemas.openxmlformats.org/drawingml/2006/main">
              <a:ext uri="{FF2B5EF4-FFF2-40B4-BE49-F238E27FC236}">
                <a16:creationId xmlns:a16="http://schemas.microsoft.com/office/drawing/2014/main" id="{6DB032BF-0023-4CA2-A2F0-3F008089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100584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0478">
            <a:solidFill>
              <a:srgbClr val="D8ECFF"/>
            </a:solidFill>
            <a:prstDash val="solid"/>
          </a:ln>
        </p:spPr>
      </p:sp>
      <p:sp>
        <p:nvSpPr>
          <p:cNvPr id="29" name="bottom-note">
            <a:extLst xmlns:a="http://schemas.openxmlformats.org/drawingml/2006/main">
              <a:ext uri="{FF2B5EF4-FFF2-40B4-BE49-F238E27FC236}">
                <a16:creationId xmlns:a16="http://schemas.microsoft.com/office/drawing/2014/main" id="{FBEC5863-241A-49A3-95E4-21D4CB62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960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关键价值：研修活动从活动承载走向训研一体化，把学习、任务、协同、研究和成果沉淀到统一过程。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87C0268F-A079-4C4D-80D8-6EE97052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80160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054E5D-12EA-4B97-996A-316651BF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培训评估系统</a:t>
            </a: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-- </a:t>
            </a: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把过程数据转化为可解释结果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6AB08E-95C2-463F-8676-E82C3D9B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评价模型">
            <a:extLst xmlns:a="http://schemas.openxmlformats.org/drawingml/2006/main">
              <a:ext uri="{FF2B5EF4-FFF2-40B4-BE49-F238E27FC236}">
                <a16:creationId xmlns:a16="http://schemas.microsoft.com/office/drawing/2014/main" id="{77BF3ADB-0112-4DEB-BD55-73802E25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1">
            <a:extLst xmlns:a="http://schemas.openxmlformats.org/drawingml/2006/main">
              <a:ext uri="{FF2B5EF4-FFF2-40B4-BE49-F238E27FC236}">
                <a16:creationId xmlns:a16="http://schemas.microsoft.com/office/drawing/2014/main" id="{B0A2E257-25BB-443A-B4AC-418FDEF8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-text-01">
            <a:extLst xmlns:a="http://schemas.openxmlformats.org/drawingml/2006/main">
              <a:ext uri="{FF2B5EF4-FFF2-40B4-BE49-F238E27FC236}">
                <a16:creationId xmlns:a16="http://schemas.microsoft.com/office/drawing/2014/main" id="{9A0E366B-50D8-410B-8300-A9D17E56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card-title-评价模型">
            <a:extLst xmlns:a="http://schemas.openxmlformats.org/drawingml/2006/main">
              <a:ext uri="{FF2B5EF4-FFF2-40B4-BE49-F238E27FC236}">
                <a16:creationId xmlns:a16="http://schemas.microsoft.com/office/drawing/2014/main" id="{701E9AA0-5ABB-4678-8DAB-D9F70C74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评价模型</a:t>
            </a:r>
          </a:p>
        </p:txBody>
      </p:sp>
      <p:sp>
        <p:nvSpPr>
          <p:cNvPr id="8" name="card-body-评价模型">
            <a:extLst xmlns:a="http://schemas.openxmlformats.org/drawingml/2006/main">
              <a:ext uri="{FF2B5EF4-FFF2-40B4-BE49-F238E27FC236}">
                <a16:creationId xmlns:a16="http://schemas.microsoft.com/office/drawing/2014/main" id="{AFE724F4-DDD3-4FE7-84B0-2E08461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2266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维度、指标、权重、等级标准、评价主体和模型版本。</a:t>
            </a:r>
          </a:p>
        </p:txBody>
      </p:sp>
      <p:sp>
        <p:nvSpPr>
          <p:cNvPr id="9" name="card-数据归集">
            <a:extLst xmlns:a="http://schemas.openxmlformats.org/drawingml/2006/main">
              <a:ext uri="{FF2B5EF4-FFF2-40B4-BE49-F238E27FC236}">
                <a16:creationId xmlns:a16="http://schemas.microsoft.com/office/drawing/2014/main" id="{EEA1599D-E181-4A8D-8CF3-569D77D7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0" name="num-02">
            <a:extLst xmlns:a="http://schemas.openxmlformats.org/drawingml/2006/main">
              <a:ext uri="{FF2B5EF4-FFF2-40B4-BE49-F238E27FC236}">
                <a16:creationId xmlns:a16="http://schemas.microsoft.com/office/drawing/2014/main" id="{A2AE778E-BE93-4888-A5E0-F84114F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num-text-02">
            <a:extLst xmlns:a="http://schemas.openxmlformats.org/drawingml/2006/main">
              <a:ext uri="{FF2B5EF4-FFF2-40B4-BE49-F238E27FC236}">
                <a16:creationId xmlns:a16="http://schemas.microsoft.com/office/drawing/2014/main" id="{C39046FC-85DF-4DFE-A321-1BCF391E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0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card-title-数据归集">
            <a:extLst xmlns:a="http://schemas.openxmlformats.org/drawingml/2006/main">
              <a:ext uri="{FF2B5EF4-FFF2-40B4-BE49-F238E27FC236}">
                <a16:creationId xmlns:a16="http://schemas.microsoft.com/office/drawing/2014/main" id="{72A6ED37-8254-4BCE-9515-07611316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</a:t>
            </a:r>
          </a:p>
        </p:txBody>
      </p:sp>
      <p:sp>
        <p:nvSpPr>
          <p:cNvPr id="13" name="card-body-数据归集">
            <a:extLst xmlns:a="http://schemas.openxmlformats.org/drawingml/2006/main">
              <a:ext uri="{FF2B5EF4-FFF2-40B4-BE49-F238E27FC236}">
                <a16:creationId xmlns:a16="http://schemas.microsoft.com/office/drawing/2014/main" id="{5A05C229-D3A9-4554-99AF-ACB1D2F1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2266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基础数据、过程数据、成果数据、评价数据和时间窗口。</a:t>
            </a:r>
          </a:p>
        </p:txBody>
      </p:sp>
      <p:sp>
        <p:nvSpPr>
          <p:cNvPr id="14" name="card-评估分析">
            <a:extLst xmlns:a="http://schemas.openxmlformats.org/drawingml/2006/main">
              <a:ext uri="{FF2B5EF4-FFF2-40B4-BE49-F238E27FC236}">
                <a16:creationId xmlns:a16="http://schemas.microsoft.com/office/drawing/2014/main" id="{FFF0B23C-A7B2-4708-B4DC-8E505FA9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num-03">
            <a:extLst xmlns:a="http://schemas.openxmlformats.org/drawingml/2006/main">
              <a:ext uri="{FF2B5EF4-FFF2-40B4-BE49-F238E27FC236}">
                <a16:creationId xmlns:a16="http://schemas.microsoft.com/office/drawing/2014/main" id="{E6040D67-E552-4B2C-91AD-5F8579B9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text-03">
            <a:extLst xmlns:a="http://schemas.openxmlformats.org/drawingml/2006/main">
              <a:ext uri="{FF2B5EF4-FFF2-40B4-BE49-F238E27FC236}">
                <a16:creationId xmlns:a16="http://schemas.microsoft.com/office/drawing/2014/main" id="{B15A281F-191A-484A-888F-1B29D92C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card-title-评估分析">
            <a:extLst xmlns:a="http://schemas.openxmlformats.org/drawingml/2006/main">
              <a:ext uri="{FF2B5EF4-FFF2-40B4-BE49-F238E27FC236}">
                <a16:creationId xmlns:a16="http://schemas.microsoft.com/office/drawing/2014/main" id="{F29B202B-FDE0-4D41-9C9A-8C4F9703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评估分析</a:t>
            </a:r>
          </a:p>
        </p:txBody>
      </p:sp>
      <p:sp>
        <p:nvSpPr>
          <p:cNvPr id="18" name="card-body-评估分析">
            <a:extLst xmlns:a="http://schemas.openxmlformats.org/drawingml/2006/main">
              <a:ext uri="{FF2B5EF4-FFF2-40B4-BE49-F238E27FC236}">
                <a16:creationId xmlns:a16="http://schemas.microsoft.com/office/drawing/2014/main" id="{A7816C02-1C10-41BA-85AC-F37D897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2266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个人评估、班级评估、项目评估、趋势分析和报告输出。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08F2BB59-7021-4CB8-AC61-B6464C50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2" name="eval-desc-panel">
            <a:extLst xmlns:a="http://schemas.openxmlformats.org/drawingml/2006/main">
              <a:ext uri="{FF2B5EF4-FFF2-40B4-BE49-F238E27FC236}">
                <a16:creationId xmlns:a16="http://schemas.microsoft.com/office/drawing/2014/main" id="{E7D6E4FF-6CD9-4FE1-A1BE-2B832BE8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96202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4D9E2"/>
            </a:solidFill>
            <a:prstDash val="solid"/>
          </a:ln>
        </p:spPr>
      </p:sp>
      <p:sp>
        <p:nvSpPr>
          <p:cNvPr id="23" name="eval-desc-badge">
            <a:extLst xmlns:a="http://schemas.openxmlformats.org/drawingml/2006/main">
              <a:ext uri="{FF2B5EF4-FFF2-40B4-BE49-F238E27FC236}">
                <a16:creationId xmlns:a16="http://schemas.microsoft.com/office/drawing/2014/main" id="{755A3C10-D11B-4FAD-8602-454FB58A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12001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557BCB"/>
          </a:solidFill>
          <a:ln xmlns:a="http://schemas.openxmlformats.org/drawingml/2006/main" w="9525">
            <a:solidFill>
              <a:srgbClr val="557BCB"/>
            </a:solidFill>
            <a:prstDash val="solid"/>
          </a:ln>
        </p:spPr>
      </p:sp>
      <p:sp>
        <p:nvSpPr>
          <p:cNvPr id="24" name="eval-desc-badge-text">
            <a:extLst xmlns:a="http://schemas.openxmlformats.org/drawingml/2006/main">
              <a:ext uri="{FF2B5EF4-FFF2-40B4-BE49-F238E27FC236}">
                <a16:creationId xmlns:a16="http://schemas.microsoft.com/office/drawing/2014/main" id="{8F15D1AF-BFFA-44D8-A1BE-C8AD0BE4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625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评估</a:t>
            </a:r>
          </a:p>
        </p:txBody>
      </p:sp>
      <p:sp>
        <p:nvSpPr>
          <p:cNvPr id="25" name="eval-desc-join">
            <a:extLst xmlns:a="http://schemas.openxmlformats.org/drawingml/2006/main">
              <a:ext uri="{FF2B5EF4-FFF2-40B4-BE49-F238E27FC236}">
                <a16:creationId xmlns:a16="http://schemas.microsoft.com/office/drawing/2014/main" id="{221370BD-1656-4144-B26A-3D96222F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val-desc-bracket">
            <a:extLst xmlns:a="http://schemas.openxmlformats.org/drawingml/2006/main">
              <a:ext uri="{FF2B5EF4-FFF2-40B4-BE49-F238E27FC236}">
                <a16:creationId xmlns:a16="http://schemas.microsoft.com/office/drawing/2014/main" id="{440BA7F3-3C35-45F4-B33E-4AE4F946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10150"/>
            <a:ext cx="323850" cy="647700"/>
          </a:xfrm>
          <a:prstGeom xmlns:a="http://schemas.openxmlformats.org/drawingml/2006/main" prst="leftBrac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57BCB"/>
            </a:solidFill>
            <a:prstDash val="solid"/>
          </a:ln>
        </p:spPr>
      </p:sp>
      <p:sp>
        <p:nvSpPr>
          <p:cNvPr id="27" name="eval-desc-row-process">
            <a:extLst xmlns:a="http://schemas.openxmlformats.org/drawingml/2006/main">
              <a:ext uri="{FF2B5EF4-FFF2-40B4-BE49-F238E27FC236}">
                <a16:creationId xmlns:a16="http://schemas.microsoft.com/office/drawing/2014/main" id="{01722D3E-B0F2-4114-9101-03F0F7B9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01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E3440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2E3440"/>
                </a:solidFill>
                <a:latin typeface="PingFang SC"/>
                <a:ea typeface="PingFang SC"/>
                <a:cs typeface="PingFang SC"/>
              </a:rPr>
              <a:t>过程评估：签到、互动、任务、问卷、课堂行为/研讨行为分析</a:t>
            </a:r>
          </a:p>
        </p:txBody>
      </p:sp>
      <p:sp>
        <p:nvSpPr>
          <p:cNvPr id="28" name="eval-desc-row-result">
            <a:extLst xmlns:a="http://schemas.openxmlformats.org/drawingml/2006/main">
              <a:ext uri="{FF2B5EF4-FFF2-40B4-BE49-F238E27FC236}">
                <a16:creationId xmlns:a16="http://schemas.microsoft.com/office/drawing/2014/main" id="{47F64C40-DE3D-4A76-9FA3-36E44C10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292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E3440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2E3440"/>
                </a:solidFill>
                <a:latin typeface="PingFang SC"/>
                <a:ea typeface="PingFang SC"/>
                <a:cs typeface="PingFang SC"/>
              </a:rPr>
              <a:t>结果评估：成果质量、专家评审、满意度、能力达成、学时学分/证书。</a:t>
            </a:r>
          </a:p>
        </p:txBody>
      </p:sp>
    </p:spTree>
    <p:extLst>
      <p:ext uri="{BB962C8B-B14F-4D97-AF65-F5344CB8AC3E}">
        <p14:creationId xmlns:p14="http://schemas.microsoft.com/office/powerpoint/2010/main" val="1351731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758481-C489-41F2-B3A0-6D5A901B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教师档案与岗位序列能力发展挂钩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C572B74-5561-4F80-840F-CC41C7FD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623CCD7C-7E96-4A5D-8F52-C295DDC3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2" name="jobseq-arrow-archive-to-model">
            <a:extLst xmlns:a="http://schemas.openxmlformats.org/drawingml/2006/main">
              <a:ext uri="{FF2B5EF4-FFF2-40B4-BE49-F238E27FC236}">
                <a16:creationId xmlns:a16="http://schemas.microsoft.com/office/drawing/2014/main" id="{FCE988BE-64B2-43B1-A816-5D442B2E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33" name="jobseq-arrow-model-to-path">
            <a:extLst xmlns:a="http://schemas.openxmlformats.org/drawingml/2006/main">
              <a:ext uri="{FF2B5EF4-FFF2-40B4-BE49-F238E27FC236}">
                <a16:creationId xmlns:a16="http://schemas.microsoft.com/office/drawing/2014/main" id="{58326B27-8AAA-47AC-927A-84439183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34" name="jobseq-archive-panel">
            <a:extLst xmlns:a="http://schemas.openxmlformats.org/drawingml/2006/main">
              <a:ext uri="{FF2B5EF4-FFF2-40B4-BE49-F238E27FC236}">
                <a16:creationId xmlns:a16="http://schemas.microsoft.com/office/drawing/2014/main" id="{AA806728-A9D7-4EE5-A3D8-2C7BC65D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476500" cy="27813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35" name="jobseq-archive-title">
            <a:extLst xmlns:a="http://schemas.openxmlformats.org/drawingml/2006/main">
              <a:ext uri="{FF2B5EF4-FFF2-40B4-BE49-F238E27FC236}">
                <a16:creationId xmlns:a16="http://schemas.microsoft.com/office/drawing/2014/main" id="{9B7CB940-EBEE-49CC-AEF1-1D63356B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5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证据池</a:t>
            </a:r>
          </a:p>
        </p:txBody>
      </p:sp>
      <p:sp>
        <p:nvSpPr>
          <p:cNvPr id="36" name="jobseq-archive-pill-1">
            <a:extLst xmlns:a="http://schemas.openxmlformats.org/drawingml/2006/main">
              <a:ext uri="{FF2B5EF4-FFF2-40B4-BE49-F238E27FC236}">
                <a16:creationId xmlns:a16="http://schemas.microsoft.com/office/drawing/2014/main" id="{234A7D6A-DE52-4711-8A96-354DE33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37" name="jobseq-archive-pill-1-text">
            <a:extLst xmlns:a="http://schemas.openxmlformats.org/drawingml/2006/main">
              <a:ext uri="{FF2B5EF4-FFF2-40B4-BE49-F238E27FC236}">
                <a16:creationId xmlns:a16="http://schemas.microsoft.com/office/drawing/2014/main" id="{5FA19041-4868-43A3-BDD5-7650C9FB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培训记录</a:t>
            </a:r>
          </a:p>
        </p:txBody>
      </p:sp>
      <p:sp>
        <p:nvSpPr>
          <p:cNvPr id="38" name="jobseq-archive-pill-2">
            <a:extLst xmlns:a="http://schemas.openxmlformats.org/drawingml/2006/main">
              <a:ext uri="{FF2B5EF4-FFF2-40B4-BE49-F238E27FC236}">
                <a16:creationId xmlns:a16="http://schemas.microsoft.com/office/drawing/2014/main" id="{46ECEF20-6CF3-488B-9981-58B062D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39" name="jobseq-archive-pill-2-text">
            <a:extLst xmlns:a="http://schemas.openxmlformats.org/drawingml/2006/main">
              <a:ext uri="{FF2B5EF4-FFF2-40B4-BE49-F238E27FC236}">
                <a16:creationId xmlns:a16="http://schemas.microsoft.com/office/drawing/2014/main" id="{B611B417-61AF-44E7-BDA7-7909D5DA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评价结果</a:t>
            </a:r>
          </a:p>
        </p:txBody>
      </p:sp>
      <p:sp>
        <p:nvSpPr>
          <p:cNvPr id="40" name="jobseq-archive-pill-3">
            <a:extLst xmlns:a="http://schemas.openxmlformats.org/drawingml/2006/main">
              <a:ext uri="{FF2B5EF4-FFF2-40B4-BE49-F238E27FC236}">
                <a16:creationId xmlns:a16="http://schemas.microsoft.com/office/drawing/2014/main" id="{6D0F02CD-43D6-4F0D-B586-8DEC2FF8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41" name="jobseq-archive-pill-3-text">
            <a:extLst xmlns:a="http://schemas.openxmlformats.org/drawingml/2006/main">
              <a:ext uri="{FF2B5EF4-FFF2-40B4-BE49-F238E27FC236}">
                <a16:creationId xmlns:a16="http://schemas.microsoft.com/office/drawing/2014/main" id="{995C60CF-4239-468F-8005-9C365E50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成果材料</a:t>
            </a:r>
          </a:p>
        </p:txBody>
      </p:sp>
      <p:sp>
        <p:nvSpPr>
          <p:cNvPr id="42" name="jobseq-archive-pill-4">
            <a:extLst xmlns:a="http://schemas.openxmlformats.org/drawingml/2006/main">
              <a:ext uri="{FF2B5EF4-FFF2-40B4-BE49-F238E27FC236}">
                <a16:creationId xmlns:a16="http://schemas.microsoft.com/office/drawing/2014/main" id="{CD2629D5-9AA3-422A-AA05-2FCA789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7145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43" name="jobseq-archive-pill-4-text">
            <a:extLst xmlns:a="http://schemas.openxmlformats.org/drawingml/2006/main">
              <a:ext uri="{FF2B5EF4-FFF2-40B4-BE49-F238E27FC236}">
                <a16:creationId xmlns:a16="http://schemas.microsoft.com/office/drawing/2014/main" id="{8623B1A7-93F5-4EF5-91CA-81D32E07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成长轨迹</a:t>
            </a:r>
          </a:p>
        </p:txBody>
      </p:sp>
      <p:sp>
        <p:nvSpPr>
          <p:cNvPr id="44" name="jobseq-model-panel">
            <a:extLst xmlns:a="http://schemas.openxmlformats.org/drawingml/2006/main">
              <a:ext uri="{FF2B5EF4-FFF2-40B4-BE49-F238E27FC236}">
                <a16:creationId xmlns:a16="http://schemas.microsoft.com/office/drawing/2014/main" id="{2C738E03-F9BD-4F96-A3A5-0FF98758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38350"/>
            <a:ext cx="4762500" cy="30861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78B0FF"/>
            </a:solidFill>
            <a:prstDash val="solid"/>
          </a:ln>
        </p:spPr>
      </p:sp>
      <p:sp>
        <p:nvSpPr>
          <p:cNvPr id="45" name="jobseq-model-title">
            <a:extLst xmlns:a="http://schemas.openxmlformats.org/drawingml/2006/main">
              <a:ext uri="{FF2B5EF4-FFF2-40B4-BE49-F238E27FC236}">
                <a16:creationId xmlns:a16="http://schemas.microsoft.com/office/drawing/2014/main" id="{4E91FB83-108E-4509-BEF7-E772743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岗位序列能力模型</a:t>
            </a:r>
          </a:p>
        </p:txBody>
      </p:sp>
      <p:sp>
        <p:nvSpPr>
          <p:cNvPr id="46" name="jobseq-model-subtitle">
            <a:extLst xmlns:a="http://schemas.openxmlformats.org/drawingml/2006/main">
              <a:ext uri="{FF2B5EF4-FFF2-40B4-BE49-F238E27FC236}">
                <a16:creationId xmlns:a16="http://schemas.microsoft.com/office/drawing/2014/main" id="{0ED12A30-A867-428F-BDE8-66CEA511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按不同发展阶段配置能力指标与达成标准</a:t>
            </a:r>
          </a:p>
        </p:txBody>
      </p:sp>
      <p:sp>
        <p:nvSpPr>
          <p:cNvPr id="47" name="jobseq-stage-1">
            <a:extLst xmlns:a="http://schemas.openxmlformats.org/drawingml/2006/main">
              <a:ext uri="{FF2B5EF4-FFF2-40B4-BE49-F238E27FC236}">
                <a16:creationId xmlns:a16="http://schemas.microsoft.com/office/drawing/2014/main" id="{8C2BFEF5-C1A4-4D1A-8C17-56724EB9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7429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48" name="jobseq-stage-1-text">
            <a:extLst xmlns:a="http://schemas.openxmlformats.org/drawingml/2006/main">
              <a:ext uri="{FF2B5EF4-FFF2-40B4-BE49-F238E27FC236}">
                <a16:creationId xmlns:a16="http://schemas.microsoft.com/office/drawing/2014/main" id="{6F428D32-A778-4DF0-B7E6-6193F6F7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初任</a:t>
            </a:r>
          </a:p>
        </p:txBody>
      </p:sp>
      <p:sp>
        <p:nvSpPr>
          <p:cNvPr id="49" name="jobseq-stage-2">
            <a:extLst xmlns:a="http://schemas.openxmlformats.org/drawingml/2006/main">
              <a:ext uri="{FF2B5EF4-FFF2-40B4-BE49-F238E27FC236}">
                <a16:creationId xmlns:a16="http://schemas.microsoft.com/office/drawing/2014/main" id="{0EECBB25-3FD1-4732-925F-31DB1A38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7429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50" name="jobseq-stage-2-text">
            <a:extLst xmlns:a="http://schemas.openxmlformats.org/drawingml/2006/main">
              <a:ext uri="{FF2B5EF4-FFF2-40B4-BE49-F238E27FC236}">
                <a16:creationId xmlns:a16="http://schemas.microsoft.com/office/drawing/2014/main" id="{EC06AB64-D2D5-4188-8CBC-5CBE055B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胜任</a:t>
            </a:r>
          </a:p>
        </p:txBody>
      </p:sp>
      <p:sp>
        <p:nvSpPr>
          <p:cNvPr id="51" name="jobseq-stage-3">
            <a:extLst xmlns:a="http://schemas.openxmlformats.org/drawingml/2006/main">
              <a:ext uri="{FF2B5EF4-FFF2-40B4-BE49-F238E27FC236}">
                <a16:creationId xmlns:a16="http://schemas.microsoft.com/office/drawing/2014/main" id="{5533B9B6-7678-48F8-B002-9609CF1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7429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52" name="jobseq-stage-3-text">
            <a:extLst xmlns:a="http://schemas.openxmlformats.org/drawingml/2006/main">
              <a:ext uri="{FF2B5EF4-FFF2-40B4-BE49-F238E27FC236}">
                <a16:creationId xmlns:a16="http://schemas.microsoft.com/office/drawing/2014/main" id="{86E9C1C2-C516-4C2A-889F-DC9C2B2B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670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骨干</a:t>
            </a:r>
          </a:p>
        </p:txBody>
      </p:sp>
      <p:sp>
        <p:nvSpPr>
          <p:cNvPr id="53" name="jobseq-stage-4">
            <a:extLst xmlns:a="http://schemas.openxmlformats.org/drawingml/2006/main">
              <a:ext uri="{FF2B5EF4-FFF2-40B4-BE49-F238E27FC236}">
                <a16:creationId xmlns:a16="http://schemas.microsoft.com/office/drawing/2014/main" id="{E68A95E0-323B-42EB-9D91-434CA1D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00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54" name="jobseq-stage-4-text">
            <a:extLst xmlns:a="http://schemas.openxmlformats.org/drawingml/2006/main">
              <a:ext uri="{FF2B5EF4-FFF2-40B4-BE49-F238E27FC236}">
                <a16:creationId xmlns:a16="http://schemas.microsoft.com/office/drawing/2014/main" id="{B26F37C3-E2DE-43B6-9F0F-D51DD4A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带头</a:t>
            </a:r>
          </a:p>
        </p:txBody>
      </p:sp>
      <p:sp>
        <p:nvSpPr>
          <p:cNvPr id="55" name="jobseq-stage-5">
            <a:extLst xmlns:a="http://schemas.openxmlformats.org/drawingml/2006/main">
              <a:ext uri="{FF2B5EF4-FFF2-40B4-BE49-F238E27FC236}">
                <a16:creationId xmlns:a16="http://schemas.microsoft.com/office/drawing/2014/main" id="{9BD6EE4E-B4D9-45FB-A065-5B45D290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305" y="3028950"/>
            <a:ext cx="7429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56" name="jobseq-stage-5-text">
            <a:extLst xmlns:a="http://schemas.openxmlformats.org/drawingml/2006/main">
              <a:ext uri="{FF2B5EF4-FFF2-40B4-BE49-F238E27FC236}">
                <a16:creationId xmlns:a16="http://schemas.microsoft.com/office/drawing/2014/main" id="{40AD6A61-E154-41D1-A1C5-97BD8517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</a:t>
            </a:r>
          </a:p>
        </p:txBody>
      </p:sp>
      <p:sp>
        <p:nvSpPr>
          <p:cNvPr id="57" name="jobseq-model-arrow-hint">
            <a:extLst xmlns:a="http://schemas.openxmlformats.org/drawingml/2006/main">
              <a:ext uri="{FF2B5EF4-FFF2-40B4-BE49-F238E27FC236}">
                <a16:creationId xmlns:a16="http://schemas.microsoft.com/office/drawing/2014/main" id="{77803BCD-547B-4128-8F2B-5D61881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766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岗位序列进阶</a:t>
            </a:r>
          </a:p>
        </p:txBody>
      </p:sp>
      <p:sp>
        <p:nvSpPr>
          <p:cNvPr id="58" name="jobseq-model-progress-line">
            <a:extLst xmlns:a="http://schemas.openxmlformats.org/drawingml/2006/main">
              <a:ext uri="{FF2B5EF4-FFF2-40B4-BE49-F238E27FC236}">
                <a16:creationId xmlns:a16="http://schemas.microsoft.com/office/drawing/2014/main" id="{4457E5C6-2761-4C3E-B09B-2139F4DA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354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jobseq-model-progress-head">
            <a:extLst xmlns:a="http://schemas.openxmlformats.org/drawingml/2006/main">
              <a:ext uri="{FF2B5EF4-FFF2-40B4-BE49-F238E27FC236}">
                <a16:creationId xmlns:a16="http://schemas.microsoft.com/office/drawing/2014/main" id="{937351B8-0C3F-4458-9DAC-84B47FD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62900" y="35242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60" name="jobseq-diagnosis-box">
            <a:extLst xmlns:a="http://schemas.openxmlformats.org/drawingml/2006/main">
              <a:ext uri="{FF2B5EF4-FFF2-40B4-BE49-F238E27FC236}">
                <a16:creationId xmlns:a16="http://schemas.microsoft.com/office/drawing/2014/main" id="{7EEEC86C-FA5F-432B-9EAB-CDA6970F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7338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61" name="jobseq-diagnosis-title">
            <a:extLst xmlns:a="http://schemas.openxmlformats.org/drawingml/2006/main">
              <a:ext uri="{FF2B5EF4-FFF2-40B4-BE49-F238E27FC236}">
                <a16:creationId xmlns:a16="http://schemas.microsoft.com/office/drawing/2014/main" id="{5004FE2D-853B-476B-969C-8E5B12F1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能力诊断与差距识别</a:t>
            </a:r>
          </a:p>
        </p:txBody>
      </p:sp>
      <p:sp>
        <p:nvSpPr>
          <p:cNvPr id="62" name="jobseq-diagnosis-body">
            <a:extLst xmlns:a="http://schemas.openxmlformats.org/drawingml/2006/main">
              <a:ext uri="{FF2B5EF4-FFF2-40B4-BE49-F238E27FC236}">
                <a16:creationId xmlns:a16="http://schemas.microsoft.com/office/drawing/2014/main" id="{447CB018-62A4-4A63-BB4B-87567293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达成度 / 优势项 / 待提升项 / 当前岗位阶段</a:t>
            </a:r>
          </a:p>
        </p:txBody>
      </p:sp>
      <p:sp>
        <p:nvSpPr>
          <p:cNvPr id="63" name="jobseq-path-panel">
            <a:extLst xmlns:a="http://schemas.openxmlformats.org/drawingml/2006/main">
              <a:ext uri="{FF2B5EF4-FFF2-40B4-BE49-F238E27FC236}">
                <a16:creationId xmlns:a16="http://schemas.microsoft.com/office/drawing/2014/main" id="{8055390C-20AC-469F-9D24-989768AF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400300" cy="27813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64" name="jobseq-path-title">
            <a:extLst xmlns:a="http://schemas.openxmlformats.org/drawingml/2006/main">
              <a:ext uri="{FF2B5EF4-FFF2-40B4-BE49-F238E27FC236}">
                <a16:creationId xmlns:a16="http://schemas.microsoft.com/office/drawing/2014/main" id="{A516E9B2-A2D3-4096-8E09-AD7F83F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5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发展路径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与供给</a:t>
            </a:r>
          </a:p>
        </p:txBody>
      </p:sp>
      <p:sp>
        <p:nvSpPr>
          <p:cNvPr id="65" name="jobseq-path-pill-1">
            <a:extLst xmlns:a="http://schemas.openxmlformats.org/drawingml/2006/main">
              <a:ext uri="{FF2B5EF4-FFF2-40B4-BE49-F238E27FC236}">
                <a16:creationId xmlns:a16="http://schemas.microsoft.com/office/drawing/2014/main" id="{52BF10A9-2A1C-4191-8BCC-E33177C8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43250"/>
            <a:ext cx="1676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66" name="jobseq-path-pill-1-text">
            <a:extLst xmlns:a="http://schemas.openxmlformats.org/drawingml/2006/main">
              <a:ext uri="{FF2B5EF4-FFF2-40B4-BE49-F238E27FC236}">
                <a16:creationId xmlns:a16="http://schemas.microsoft.com/office/drawing/2014/main" id="{86378D49-A049-43EC-B66D-CA42C03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课程研修</a:t>
            </a:r>
          </a:p>
        </p:txBody>
      </p:sp>
      <p:sp>
        <p:nvSpPr>
          <p:cNvPr id="67" name="jobseq-path-pill-2">
            <a:extLst xmlns:a="http://schemas.openxmlformats.org/drawingml/2006/main">
              <a:ext uri="{FF2B5EF4-FFF2-40B4-BE49-F238E27FC236}">
                <a16:creationId xmlns:a16="http://schemas.microsoft.com/office/drawing/2014/main" id="{E4737E1D-ABE3-44C9-A63E-C6FC3C26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1676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68" name="jobseq-path-pill-2-text">
            <a:extLst xmlns:a="http://schemas.openxmlformats.org/drawingml/2006/main">
              <a:ext uri="{FF2B5EF4-FFF2-40B4-BE49-F238E27FC236}">
                <a16:creationId xmlns:a16="http://schemas.microsoft.com/office/drawing/2014/main" id="{97A06635-0D5D-4157-8C57-92D3DA03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岗位任务</a:t>
            </a:r>
          </a:p>
        </p:txBody>
      </p:sp>
      <p:sp>
        <p:nvSpPr>
          <p:cNvPr id="69" name="jobseq-path-pill-3">
            <a:extLst xmlns:a="http://schemas.openxmlformats.org/drawingml/2006/main">
              <a:ext uri="{FF2B5EF4-FFF2-40B4-BE49-F238E27FC236}">
                <a16:creationId xmlns:a16="http://schemas.microsoft.com/office/drawing/2014/main" id="{A4887430-4471-44FF-B925-67876B3B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81450"/>
            <a:ext cx="1676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70" name="jobseq-path-pill-3-text">
            <a:extLst xmlns:a="http://schemas.openxmlformats.org/drawingml/2006/main">
              <a:ext uri="{FF2B5EF4-FFF2-40B4-BE49-F238E27FC236}">
                <a16:creationId xmlns:a16="http://schemas.microsoft.com/office/drawing/2014/main" id="{28EA379C-2325-42B5-9F41-E6798B24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195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教研实践</a:t>
            </a:r>
          </a:p>
        </p:txBody>
      </p:sp>
      <p:sp>
        <p:nvSpPr>
          <p:cNvPr id="71" name="jobseq-path-pill-4">
            <a:extLst xmlns:a="http://schemas.openxmlformats.org/drawingml/2006/main">
              <a:ext uri="{FF2B5EF4-FFF2-40B4-BE49-F238E27FC236}">
                <a16:creationId xmlns:a16="http://schemas.microsoft.com/office/drawing/2014/main" id="{3DAFC1F5-A4DA-4CD7-8CBD-217848C1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00550"/>
            <a:ext cx="1676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72" name="jobseq-path-pill-4-text">
            <a:extLst xmlns:a="http://schemas.openxmlformats.org/drawingml/2006/main">
              <a:ext uri="{FF2B5EF4-FFF2-40B4-BE49-F238E27FC236}">
                <a16:creationId xmlns:a16="http://schemas.microsoft.com/office/drawing/2014/main" id="{9F3654F5-E57C-483E-92EC-554B4408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38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成果认证</a:t>
            </a:r>
          </a:p>
        </p:txBody>
      </p:sp>
      <p:sp>
        <p:nvSpPr>
          <p:cNvPr id="73" name="jobseq-feedback-panel">
            <a:extLst xmlns:a="http://schemas.openxmlformats.org/drawingml/2006/main">
              <a:ext uri="{FF2B5EF4-FFF2-40B4-BE49-F238E27FC236}">
                <a16:creationId xmlns:a16="http://schemas.microsoft.com/office/drawing/2014/main" id="{FEF69E14-9869-4E4A-9C04-C2CEBD7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9334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6DAE2"/>
            </a:solidFill>
            <a:prstDash val="solid"/>
          </a:ln>
        </p:spPr>
      </p:sp>
      <p:sp>
        <p:nvSpPr>
          <p:cNvPr id="74" name="jobseq-feedback-text">
            <a:extLst xmlns:a="http://schemas.openxmlformats.org/drawingml/2006/main">
              <a:ext uri="{FF2B5EF4-FFF2-40B4-BE49-F238E27FC236}">
                <a16:creationId xmlns:a16="http://schemas.microsoft.com/office/drawing/2014/main" id="{90A19442-DED3-4272-B7C8-885450F8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67350"/>
            <a:ext cx="824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结果回写档案，更新能力等级与岗位阶段；下一轮培训按岗位序列精准供给。</a:t>
            </a:r>
          </a:p>
        </p:txBody>
      </p:sp>
      <p:sp>
        <p:nvSpPr>
          <p:cNvPr id="75" name="jobseq-feedback-left-arrow">
            <a:extLst xmlns:a="http://schemas.openxmlformats.org/drawingml/2006/main">
              <a:ext uri="{FF2B5EF4-FFF2-40B4-BE49-F238E27FC236}">
                <a16:creationId xmlns:a16="http://schemas.microsoft.com/office/drawing/2014/main" id="{172FC691-19AB-4F08-AA02-46821B24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05450"/>
            <a:ext cx="43815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21509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FE5B28-6D0B-49F4-B248-FE0ECD5C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六个核心模块提供可复用的平台能力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8FC758-3ADC-43BC-B264-0515F5A9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-网络研修模块">
            <a:extLst xmlns:a="http://schemas.openxmlformats.org/drawingml/2006/main">
              <a:ext uri="{FF2B5EF4-FFF2-40B4-BE49-F238E27FC236}">
                <a16:creationId xmlns:a16="http://schemas.microsoft.com/office/drawing/2014/main" id="{72B608C3-0876-4C97-892F-9910BA4C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box-title-网络研修模块">
            <a:extLst xmlns:a="http://schemas.openxmlformats.org/drawingml/2006/main">
              <a:ext uri="{FF2B5EF4-FFF2-40B4-BE49-F238E27FC236}">
                <a16:creationId xmlns:a16="http://schemas.microsoft.com/office/drawing/2014/main" id="{A554E3AB-BC3E-40A3-AEB0-25A0314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网络研修模块</a:t>
            </a:r>
          </a:p>
        </p:txBody>
      </p:sp>
      <p:sp>
        <p:nvSpPr>
          <p:cNvPr id="6" name="box-body-网络研修模块">
            <a:extLst xmlns:a="http://schemas.openxmlformats.org/drawingml/2006/main">
              <a:ext uri="{FF2B5EF4-FFF2-40B4-BE49-F238E27FC236}">
                <a16:creationId xmlns:a16="http://schemas.microsoft.com/office/drawing/2014/main" id="{02944059-BCEF-45B6-903E-517F0348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训研一体化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在线学习、任务实践、协同研究、成果共创</a:t>
            </a:r>
          </a:p>
        </p:txBody>
      </p:sp>
      <p:sp>
        <p:nvSpPr>
          <p:cNvPr id="7" name="box-评价模型模块">
            <a:extLst xmlns:a="http://schemas.openxmlformats.org/drawingml/2006/main">
              <a:ext uri="{FF2B5EF4-FFF2-40B4-BE49-F238E27FC236}">
                <a16:creationId xmlns:a16="http://schemas.microsoft.com/office/drawing/2014/main" id="{ADEA7DAE-389C-4FC8-B3BB-4843AF4A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box-title-评价模型模块">
            <a:extLst xmlns:a="http://schemas.openxmlformats.org/drawingml/2006/main">
              <a:ext uri="{FF2B5EF4-FFF2-40B4-BE49-F238E27FC236}">
                <a16:creationId xmlns:a16="http://schemas.microsoft.com/office/drawing/2014/main" id="{E4F26B45-FB3E-4209-AE84-5C147192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评价模型模块</a:t>
            </a:r>
          </a:p>
        </p:txBody>
      </p:sp>
      <p:sp>
        <p:nvSpPr>
          <p:cNvPr id="9" name="box-body-评价模型模块">
            <a:extLst xmlns:a="http://schemas.openxmlformats.org/drawingml/2006/main">
              <a:ext uri="{FF2B5EF4-FFF2-40B4-BE49-F238E27FC236}">
                <a16:creationId xmlns:a16="http://schemas.microsoft.com/office/drawing/2014/main" id="{D51A57BB-9A54-4D68-B0E0-6131E702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统一评价标准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评价维度、指标体系、权重规则、等级标准</a:t>
            </a:r>
          </a:p>
        </p:txBody>
      </p:sp>
      <p:sp>
        <p:nvSpPr>
          <p:cNvPr id="10" name="box-数据归集模块">
            <a:extLst xmlns:a="http://schemas.openxmlformats.org/drawingml/2006/main">
              <a:ext uri="{FF2B5EF4-FFF2-40B4-BE49-F238E27FC236}">
                <a16:creationId xmlns:a16="http://schemas.microsoft.com/office/drawing/2014/main" id="{A146B4B3-BB70-46EE-8AA4-6EF4BE2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1" name="box-title-数据归集模块">
            <a:extLst xmlns:a="http://schemas.openxmlformats.org/drawingml/2006/main">
              <a:ext uri="{FF2B5EF4-FFF2-40B4-BE49-F238E27FC236}">
                <a16:creationId xmlns:a16="http://schemas.microsoft.com/office/drawing/2014/main" id="{FBAF6CC4-0DAF-4D79-86E7-BE4CC18D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数据归集模块</a:t>
            </a:r>
          </a:p>
        </p:txBody>
      </p:sp>
      <p:sp>
        <p:nvSpPr>
          <p:cNvPr id="12" name="box-body-数据归集模块">
            <a:extLst xmlns:a="http://schemas.openxmlformats.org/drawingml/2006/main">
              <a:ext uri="{FF2B5EF4-FFF2-40B4-BE49-F238E27FC236}">
                <a16:creationId xmlns:a16="http://schemas.microsoft.com/office/drawing/2014/main" id="{E6E853D4-AE18-4A36-A8F6-E504BEC7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全过程留痕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时间窗口、过程数据、成果数据、评价数据</a:t>
            </a:r>
          </a:p>
        </p:txBody>
      </p:sp>
      <p:sp>
        <p:nvSpPr>
          <p:cNvPr id="13" name="box-评估分析模块">
            <a:extLst xmlns:a="http://schemas.openxmlformats.org/drawingml/2006/main">
              <a:ext uri="{FF2B5EF4-FFF2-40B4-BE49-F238E27FC236}">
                <a16:creationId xmlns:a16="http://schemas.microsoft.com/office/drawing/2014/main" id="{6209931D-132A-428A-8D59-74995906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4" name="box-title-评估分析模块">
            <a:extLst xmlns:a="http://schemas.openxmlformats.org/drawingml/2006/main">
              <a:ext uri="{FF2B5EF4-FFF2-40B4-BE49-F238E27FC236}">
                <a16:creationId xmlns:a16="http://schemas.microsoft.com/office/drawing/2014/main" id="{93F88EE7-805C-434A-BE1E-7DAADFD3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评估分析模块</a:t>
            </a:r>
          </a:p>
        </p:txBody>
      </p:sp>
      <p:sp>
        <p:nvSpPr>
          <p:cNvPr id="15" name="box-body-评估分析模块">
            <a:extLst xmlns:a="http://schemas.openxmlformats.org/drawingml/2006/main">
              <a:ext uri="{FF2B5EF4-FFF2-40B4-BE49-F238E27FC236}">
                <a16:creationId xmlns:a16="http://schemas.microsoft.com/office/drawing/2014/main" id="{A4E51D7D-DA66-46D3-9670-51870D0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质量分析输出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综合评价、趋势分析、报表统计、结果反馈</a:t>
            </a:r>
          </a:p>
        </p:txBody>
      </p:sp>
      <p:sp>
        <p:nvSpPr>
          <p:cNvPr id="16" name="box-档案沉淀模块">
            <a:extLst xmlns:a="http://schemas.openxmlformats.org/drawingml/2006/main">
              <a:ext uri="{FF2B5EF4-FFF2-40B4-BE49-F238E27FC236}">
                <a16:creationId xmlns:a16="http://schemas.microsoft.com/office/drawing/2014/main" id="{E4C7972F-67F9-496B-B6DF-3A8A7E82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box-title-档案沉淀模块">
            <a:extLst xmlns:a="http://schemas.openxmlformats.org/drawingml/2006/main">
              <a:ext uri="{FF2B5EF4-FFF2-40B4-BE49-F238E27FC236}">
                <a16:creationId xmlns:a16="http://schemas.microsoft.com/office/drawing/2014/main" id="{5C230970-5466-41CE-8DFB-D2FB5EB1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档案沉淀模块</a:t>
            </a:r>
          </a:p>
        </p:txBody>
      </p:sp>
      <p:sp>
        <p:nvSpPr>
          <p:cNvPr id="18" name="box-body-档案沉淀模块">
            <a:extLst xmlns:a="http://schemas.openxmlformats.org/drawingml/2006/main">
              <a:ext uri="{FF2B5EF4-FFF2-40B4-BE49-F238E27FC236}">
                <a16:creationId xmlns:a16="http://schemas.microsoft.com/office/drawing/2014/main" id="{44C6C3E3-0408-405A-BE02-1B0BD62A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成长资产沉淀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记录归档、证据归集、成果沉淀、画像更新</a:t>
            </a:r>
          </a:p>
        </p:txBody>
      </p:sp>
      <p:sp>
        <p:nvSpPr>
          <p:cNvPr id="19" name="box-推荐服务模块">
            <a:extLst xmlns:a="http://schemas.openxmlformats.org/drawingml/2006/main">
              <a:ext uri="{FF2B5EF4-FFF2-40B4-BE49-F238E27FC236}">
                <a16:creationId xmlns:a16="http://schemas.microsoft.com/office/drawing/2014/main" id="{F0F0267B-FF60-4B75-87F4-9AC1CB00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box-title-推荐服务模块">
            <a:extLst xmlns:a="http://schemas.openxmlformats.org/drawingml/2006/main">
              <a:ext uri="{FF2B5EF4-FFF2-40B4-BE49-F238E27FC236}">
                <a16:creationId xmlns:a16="http://schemas.microsoft.com/office/drawing/2014/main" id="{461CFF9C-4FE9-48D2-B32C-E75DDAEF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24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推荐服务模块</a:t>
            </a:r>
          </a:p>
        </p:txBody>
      </p:sp>
      <p:sp>
        <p:nvSpPr>
          <p:cNvPr id="21" name="box-body-推荐服务模块">
            <a:extLst xmlns:a="http://schemas.openxmlformats.org/drawingml/2006/main">
              <a:ext uri="{FF2B5EF4-FFF2-40B4-BE49-F238E27FC236}">
                <a16:creationId xmlns:a16="http://schemas.microsoft.com/office/drawing/2014/main" id="{2BA0A2E9-ABE7-4181-B7CC-1F0559E1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精准发展服务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能力诊断、内容推荐、路径推荐、精准推送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382BF88B-9E50-4E6B-83E6-DDEE8108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75581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DFB85C-4421-40E2-8519-10ECFFA0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数据流转贯穿项目创建到推荐服务的完整链路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D6727EB-000B-4B50-84FE-DF914951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in-a">
            <a:extLst xmlns:a="http://schemas.openxmlformats.org/drawingml/2006/main">
              <a:ext uri="{FF2B5EF4-FFF2-40B4-BE49-F238E27FC236}">
                <a16:creationId xmlns:a16="http://schemas.microsoft.com/office/drawing/2014/main" id="{285BF695-AF50-4A5A-BC78-5FCF9F6A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业务实施链路</a:t>
            </a:r>
          </a:p>
        </p:txBody>
      </p:sp>
      <p:sp>
        <p:nvSpPr>
          <p:cNvPr id="5" name="chain-b">
            <a:extLst xmlns:a="http://schemas.openxmlformats.org/drawingml/2006/main">
              <a:ext uri="{FF2B5EF4-FFF2-40B4-BE49-F238E27FC236}">
                <a16:creationId xmlns:a16="http://schemas.microsoft.com/office/drawing/2014/main" id="{5B6BF7DD-60B5-439D-83F7-44313FEC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评价沉淀链路</a:t>
            </a:r>
          </a:p>
        </p:txBody>
      </p:sp>
      <p:sp>
        <p:nvSpPr>
          <p:cNvPr id="6" name="data-top-0">
            <a:extLst xmlns:a="http://schemas.openxmlformats.org/drawingml/2006/main">
              <a:ext uri="{FF2B5EF4-FFF2-40B4-BE49-F238E27FC236}">
                <a16:creationId xmlns:a16="http://schemas.microsoft.com/office/drawing/2014/main" id="{68AF8415-2ABE-43B1-A626-B1B979E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data-top-num-0">
            <a:extLst xmlns:a="http://schemas.openxmlformats.org/drawingml/2006/main">
              <a:ext uri="{FF2B5EF4-FFF2-40B4-BE49-F238E27FC236}">
                <a16:creationId xmlns:a16="http://schemas.microsoft.com/office/drawing/2014/main" id="{37FB422D-F714-44C9-BCF8-9CD3DAFB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ata-top-title-0">
            <a:extLst xmlns:a="http://schemas.openxmlformats.org/drawingml/2006/main">
              <a:ext uri="{FF2B5EF4-FFF2-40B4-BE49-F238E27FC236}">
                <a16:creationId xmlns:a16="http://schemas.microsoft.com/office/drawing/2014/main" id="{35563C2E-FE89-4E1B-B920-9C756B9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项目创建</a:t>
            </a:r>
          </a:p>
        </p:txBody>
      </p:sp>
      <p:cxnSp>
        <p:nvCxnSpPr>
          <p:cNvPr id="3186" name="connector-line"/>
          <p:cNvCxnSpPr/>
          <p:nvPr/>
        </p:nvCxnSpPr>
        <p:spPr>
          <a:xfrm xmlns:a="http://schemas.openxmlformats.org/drawingml/2006/main">
            <a:off x="2381250" y="28194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data-top-1">
            <a:extLst xmlns:a="http://schemas.openxmlformats.org/drawingml/2006/main">
              <a:ext uri="{FF2B5EF4-FFF2-40B4-BE49-F238E27FC236}">
                <a16:creationId xmlns:a16="http://schemas.microsoft.com/office/drawing/2014/main" id="{2C27FFA0-BECA-4B6C-A675-63FBA81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data-top-num-1">
            <a:extLst xmlns:a="http://schemas.openxmlformats.org/drawingml/2006/main">
              <a:ext uri="{FF2B5EF4-FFF2-40B4-BE49-F238E27FC236}">
                <a16:creationId xmlns:a16="http://schemas.microsoft.com/office/drawing/2014/main" id="{814CE59E-F736-43EC-BD58-0602EAB8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data-top-title-1">
            <a:extLst xmlns:a="http://schemas.openxmlformats.org/drawingml/2006/main">
              <a:ext uri="{FF2B5EF4-FFF2-40B4-BE49-F238E27FC236}">
                <a16:creationId xmlns:a16="http://schemas.microsoft.com/office/drawing/2014/main" id="{38C8EAB4-E6B5-47E2-8D76-F660E364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报名审核</a:t>
            </a:r>
          </a:p>
        </p:txBody>
      </p:sp>
      <p:cxnSp>
        <p:nvCxnSpPr>
          <p:cNvPr id="3190" name="connector-line"/>
          <p:cNvCxnSpPr/>
          <p:nvPr/>
        </p:nvCxnSpPr>
        <p:spPr>
          <a:xfrm xmlns:a="http://schemas.openxmlformats.org/drawingml/2006/main">
            <a:off x="4648200" y="28194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6" name="data-top-2">
            <a:extLst xmlns:a="http://schemas.openxmlformats.org/drawingml/2006/main">
              <a:ext uri="{FF2B5EF4-FFF2-40B4-BE49-F238E27FC236}">
                <a16:creationId xmlns:a16="http://schemas.microsoft.com/office/drawing/2014/main" id="{D8CDDF09-8650-4FDA-88B2-C9A9F3B1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data-top-num-2">
            <a:extLst xmlns:a="http://schemas.openxmlformats.org/drawingml/2006/main">
              <a:ext uri="{FF2B5EF4-FFF2-40B4-BE49-F238E27FC236}">
                <a16:creationId xmlns:a16="http://schemas.microsoft.com/office/drawing/2014/main" id="{AE50CA92-6E56-43CE-A581-7EA15BD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data-top-title-2">
            <a:extLst xmlns:a="http://schemas.openxmlformats.org/drawingml/2006/main">
              <a:ext uri="{FF2B5EF4-FFF2-40B4-BE49-F238E27FC236}">
                <a16:creationId xmlns:a16="http://schemas.microsoft.com/office/drawing/2014/main" id="{0857D8C9-CE4E-4438-B382-E38E4E02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研修实施</a:t>
            </a:r>
          </a:p>
        </p:txBody>
      </p:sp>
      <p:cxnSp>
        <p:nvCxnSpPr>
          <p:cNvPr id="3194" name="connector-line"/>
          <p:cNvCxnSpPr/>
          <p:nvPr/>
        </p:nvCxnSpPr>
        <p:spPr>
          <a:xfrm xmlns:a="http://schemas.openxmlformats.org/drawingml/2006/main">
            <a:off x="6915150" y="28194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1" name="data-top-3">
            <a:extLst xmlns:a="http://schemas.openxmlformats.org/drawingml/2006/main">
              <a:ext uri="{FF2B5EF4-FFF2-40B4-BE49-F238E27FC236}">
                <a16:creationId xmlns:a16="http://schemas.microsoft.com/office/drawing/2014/main" id="{4EECC6B9-1221-438E-8307-D26FC042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data-top-num-3">
            <a:extLst xmlns:a="http://schemas.openxmlformats.org/drawingml/2006/main">
              <a:ext uri="{FF2B5EF4-FFF2-40B4-BE49-F238E27FC236}">
                <a16:creationId xmlns:a16="http://schemas.microsoft.com/office/drawing/2014/main" id="{3E61672D-6893-483C-AD7D-9C61AFC0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data-top-title-3">
            <a:extLst xmlns:a="http://schemas.openxmlformats.org/drawingml/2006/main">
              <a:ext uri="{FF2B5EF4-FFF2-40B4-BE49-F238E27FC236}">
                <a16:creationId xmlns:a16="http://schemas.microsoft.com/office/drawing/2014/main" id="{956254A0-5511-4BE7-9657-0AAE91F2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过程采集</a:t>
            </a:r>
          </a:p>
        </p:txBody>
      </p:sp>
      <p:cxnSp>
        <p:nvCxnSpPr>
          <p:cNvPr id="3198" name="connector-line"/>
          <p:cNvCxnSpPr/>
          <p:nvPr/>
        </p:nvCxnSpPr>
        <p:spPr>
          <a:xfrm xmlns:a="http://schemas.openxmlformats.org/drawingml/2006/main">
            <a:off x="9182100" y="28194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6" name="data-top-4">
            <a:extLst xmlns:a="http://schemas.openxmlformats.org/drawingml/2006/main">
              <a:ext uri="{FF2B5EF4-FFF2-40B4-BE49-F238E27FC236}">
                <a16:creationId xmlns:a16="http://schemas.microsoft.com/office/drawing/2014/main" id="{5C0EB124-8C57-41DC-A659-F834C201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data-top-num-4">
            <a:extLst xmlns:a="http://schemas.openxmlformats.org/drawingml/2006/main">
              <a:ext uri="{FF2B5EF4-FFF2-40B4-BE49-F238E27FC236}">
                <a16:creationId xmlns:a16="http://schemas.microsoft.com/office/drawing/2014/main" id="{BB92F7AD-D6D8-42E1-9BCE-27E358C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data-top-title-4">
            <a:extLst xmlns:a="http://schemas.openxmlformats.org/drawingml/2006/main">
              <a:ext uri="{FF2B5EF4-FFF2-40B4-BE49-F238E27FC236}">
                <a16:creationId xmlns:a16="http://schemas.microsoft.com/office/drawing/2014/main" id="{B1EE875F-9399-41EA-B01D-B2D7ADEA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成果归集</a:t>
            </a:r>
          </a:p>
        </p:txBody>
      </p:sp>
      <p:cxnSp>
        <p:nvCxnSpPr>
          <p:cNvPr id="3202" name="connector-line"/>
          <p:cNvCxnSpPr/>
          <p:nvPr/>
        </p:nvCxnSpPr>
        <p:spPr>
          <a:xfrm xmlns:a="http://schemas.openxmlformats.org/drawingml/2006/main">
            <a:off x="6096000" y="344360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30" name="arrow-head">
            <a:extLst xmlns:a="http://schemas.openxmlformats.org/drawingml/2006/main">
              <a:ext uri="{FF2B5EF4-FFF2-40B4-BE49-F238E27FC236}">
                <a16:creationId xmlns:a16="http://schemas.microsoft.com/office/drawing/2014/main" id="{D2FF7235-A9C7-4898-8866-0EA120A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981700" y="3767455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handoff">
            <a:extLst xmlns:a="http://schemas.openxmlformats.org/drawingml/2006/main">
              <a:ext uri="{FF2B5EF4-FFF2-40B4-BE49-F238E27FC236}">
                <a16:creationId xmlns:a16="http://schemas.microsoft.com/office/drawing/2014/main" id="{3D136EA2-BADF-474C-8FBF-F023CE8A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710" y="357314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进入评价链路</a:t>
            </a:r>
          </a:p>
        </p:txBody>
      </p:sp>
      <p:sp>
        <p:nvSpPr>
          <p:cNvPr id="32" name="data-bottom-0">
            <a:extLst xmlns:a="http://schemas.openxmlformats.org/drawingml/2006/main">
              <a:ext uri="{FF2B5EF4-FFF2-40B4-BE49-F238E27FC236}">
                <a16:creationId xmlns:a16="http://schemas.microsoft.com/office/drawing/2014/main" id="{73968E26-04F4-4B5F-9807-75DA625F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data-bottom-num-0">
            <a:extLst xmlns:a="http://schemas.openxmlformats.org/drawingml/2006/main">
              <a:ext uri="{FF2B5EF4-FFF2-40B4-BE49-F238E27FC236}">
                <a16:creationId xmlns:a16="http://schemas.microsoft.com/office/drawing/2014/main" id="{A6D09A1B-B019-46EB-B1C2-CA08E105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4" name="data-bottom-title-0">
            <a:extLst xmlns:a="http://schemas.openxmlformats.org/drawingml/2006/main">
              <a:ext uri="{FF2B5EF4-FFF2-40B4-BE49-F238E27FC236}">
                <a16:creationId xmlns:a16="http://schemas.microsoft.com/office/drawing/2014/main" id="{3ECD4C61-AEA2-4E14-9B2B-8B353EF3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系统初评</a:t>
            </a:r>
          </a:p>
        </p:txBody>
      </p:sp>
      <p:cxnSp>
        <p:nvCxnSpPr>
          <p:cNvPr id="3208" name="connector-line"/>
          <p:cNvCxnSpPr/>
          <p:nvPr/>
        </p:nvCxnSpPr>
        <p:spPr>
          <a:xfrm xmlns:a="http://schemas.openxmlformats.org/drawingml/2006/main">
            <a:off x="238125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7" name="data-bottom-1">
            <a:extLst xmlns:a="http://schemas.openxmlformats.org/drawingml/2006/main">
              <a:ext uri="{FF2B5EF4-FFF2-40B4-BE49-F238E27FC236}">
                <a16:creationId xmlns:a16="http://schemas.microsoft.com/office/drawing/2014/main" id="{AFB51D20-0B1D-405F-AF62-3F14EB56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data-bottom-num-1">
            <a:extLst xmlns:a="http://schemas.openxmlformats.org/drawingml/2006/main">
              <a:ext uri="{FF2B5EF4-FFF2-40B4-BE49-F238E27FC236}">
                <a16:creationId xmlns:a16="http://schemas.microsoft.com/office/drawing/2014/main" id="{B06824D7-D572-4FB9-8C0E-B5653DE4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9" name="data-bottom-title-1">
            <a:extLst xmlns:a="http://schemas.openxmlformats.org/drawingml/2006/main">
              <a:ext uri="{FF2B5EF4-FFF2-40B4-BE49-F238E27FC236}">
                <a16:creationId xmlns:a16="http://schemas.microsoft.com/office/drawing/2014/main" id="{C9607A6F-1503-4871-ABB7-68D6DE2B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863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专家复核</a:t>
            </a:r>
          </a:p>
        </p:txBody>
      </p:sp>
      <p:cxnSp>
        <p:nvCxnSpPr>
          <p:cNvPr id="3212" name="connector-line"/>
          <p:cNvCxnSpPr/>
          <p:nvPr/>
        </p:nvCxnSpPr>
        <p:spPr>
          <a:xfrm xmlns:a="http://schemas.openxmlformats.org/drawingml/2006/main">
            <a:off x="464820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2" name="data-bottom-2">
            <a:extLst xmlns:a="http://schemas.openxmlformats.org/drawingml/2006/main">
              <a:ext uri="{FF2B5EF4-FFF2-40B4-BE49-F238E27FC236}">
                <a16:creationId xmlns:a16="http://schemas.microsoft.com/office/drawing/2014/main" id="{1AACD545-4361-41CF-97A1-BE37D3E6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3" name="data-bottom-num-2">
            <a:extLst xmlns:a="http://schemas.openxmlformats.org/drawingml/2006/main">
              <a:ext uri="{FF2B5EF4-FFF2-40B4-BE49-F238E27FC236}">
                <a16:creationId xmlns:a16="http://schemas.microsoft.com/office/drawing/2014/main" id="{1EC6B4A7-9A4D-49D2-BFE0-91481EA1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4" name="data-bottom-title-2">
            <a:extLst xmlns:a="http://schemas.openxmlformats.org/drawingml/2006/main">
              <a:ext uri="{FF2B5EF4-FFF2-40B4-BE49-F238E27FC236}">
                <a16:creationId xmlns:a16="http://schemas.microsoft.com/office/drawing/2014/main" id="{939A6B82-02B3-440F-865F-B502FD76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43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综合分析</a:t>
            </a:r>
          </a:p>
        </p:txBody>
      </p:sp>
      <p:cxnSp>
        <p:nvCxnSpPr>
          <p:cNvPr id="3216" name="connector-line"/>
          <p:cNvCxnSpPr/>
          <p:nvPr/>
        </p:nvCxnSpPr>
        <p:spPr>
          <a:xfrm xmlns:a="http://schemas.openxmlformats.org/drawingml/2006/main">
            <a:off x="691515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7" name="data-bottom-3">
            <a:extLst xmlns:a="http://schemas.openxmlformats.org/drawingml/2006/main">
              <a:ext uri="{FF2B5EF4-FFF2-40B4-BE49-F238E27FC236}">
                <a16:creationId xmlns:a16="http://schemas.microsoft.com/office/drawing/2014/main" id="{B064A2A9-0011-4918-9123-9C870C6E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8" name="data-bottom-num-3">
            <a:extLst xmlns:a="http://schemas.openxmlformats.org/drawingml/2006/main">
              <a:ext uri="{FF2B5EF4-FFF2-40B4-BE49-F238E27FC236}">
                <a16:creationId xmlns:a16="http://schemas.microsoft.com/office/drawing/2014/main" id="{6D1275BD-8512-45D4-9992-6851CE88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9" name="data-bottom-title-3">
            <a:extLst xmlns:a="http://schemas.openxmlformats.org/drawingml/2006/main">
              <a:ext uri="{FF2B5EF4-FFF2-40B4-BE49-F238E27FC236}">
                <a16:creationId xmlns:a16="http://schemas.microsoft.com/office/drawing/2014/main" id="{56488FBE-B1F2-46D6-A559-3714D16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档案沉淀</a:t>
            </a:r>
          </a:p>
        </p:txBody>
      </p:sp>
      <p:cxnSp>
        <p:nvCxnSpPr>
          <p:cNvPr id="3220" name="connector-line"/>
          <p:cNvCxnSpPr/>
          <p:nvPr/>
        </p:nvCxnSpPr>
        <p:spPr>
          <a:xfrm xmlns:a="http://schemas.openxmlformats.org/drawingml/2006/main">
            <a:off x="918210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2" name="data-bottom-4">
            <a:extLst xmlns:a="http://schemas.openxmlformats.org/drawingml/2006/main">
              <a:ext uri="{FF2B5EF4-FFF2-40B4-BE49-F238E27FC236}">
                <a16:creationId xmlns:a16="http://schemas.microsoft.com/office/drawing/2014/main" id="{9C5CEEB1-9A49-48B5-B35B-6233688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3" name="data-bottom-num-4">
            <a:extLst xmlns:a="http://schemas.openxmlformats.org/drawingml/2006/main">
              <a:ext uri="{FF2B5EF4-FFF2-40B4-BE49-F238E27FC236}">
                <a16:creationId xmlns:a16="http://schemas.microsoft.com/office/drawing/2014/main" id="{EE29B6E2-1D74-44F9-9122-F7CC90E9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" name="data-bottom-title-4">
            <a:extLst xmlns:a="http://schemas.openxmlformats.org/drawingml/2006/main">
              <a:ext uri="{FF2B5EF4-FFF2-40B4-BE49-F238E27FC236}">
                <a16:creationId xmlns:a16="http://schemas.microsoft.com/office/drawing/2014/main" id="{533F8C8B-12B9-4D5B-AEF4-A6545D8A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43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画像推荐</a:t>
            </a:r>
          </a:p>
        </p:txBody>
      </p:sp>
      <p:sp>
        <p:nvSpPr>
          <p:cNvPr id="55" name="note">
            <a:extLst xmlns:a="http://schemas.openxmlformats.org/drawingml/2006/main">
              <a:ext uri="{FF2B5EF4-FFF2-40B4-BE49-F238E27FC236}">
                <a16:creationId xmlns:a16="http://schemas.microsoft.com/office/drawing/2014/main" id="{B83CFF66-C249-462B-A7D8-F9BE26CB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重点：系统先按模型生成初评，专家基于证据复核确认，再进入综合分析和档案沉淀，保证评价可追溯。</a:t>
            </a:r>
          </a:p>
        </p:txBody>
      </p:sp>
      <p:sp>
        <p:nvSpPr>
          <p:cNvPr id="56" name="page">
            <a:extLst xmlns:a="http://schemas.openxmlformats.org/drawingml/2006/main">
              <a:ext uri="{FF2B5EF4-FFF2-40B4-BE49-F238E27FC236}">
                <a16:creationId xmlns:a16="http://schemas.microsoft.com/office/drawing/2014/main" id="{DFEBC985-DC02-4BF3-955B-4510037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19" name="arrow">
            <a:extLst xmlns:a="http://schemas.openxmlformats.org/drawingml/2006/main">
              <a:ext uri="{FF2B5EF4-FFF2-40B4-BE49-F238E27FC236}">
                <a16:creationId xmlns:a16="http://schemas.microsoft.com/office/drawing/2014/main" id="{F774222D-7916-49FF-9681-0442F6AF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15895" y="270700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22EE788E-02F8-490E-ADCF-301E950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82845" y="270700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69DEC042-2552-4E0C-87B8-E7109CBE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49795" y="270700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arrow">
            <a:extLst xmlns:a="http://schemas.openxmlformats.org/drawingml/2006/main">
              <a:ext uri="{FF2B5EF4-FFF2-40B4-BE49-F238E27FC236}">
                <a16:creationId xmlns:a16="http://schemas.microsoft.com/office/drawing/2014/main" id="{3D692D41-65E4-4EF6-8F84-AF79382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54210" y="270700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arrow">
            <a:extLst xmlns:a="http://schemas.openxmlformats.org/drawingml/2006/main">
              <a:ext uri="{FF2B5EF4-FFF2-40B4-BE49-F238E27FC236}">
                <a16:creationId xmlns:a16="http://schemas.microsoft.com/office/drawing/2014/main" id="{FBC36891-6543-4686-B297-BB9E450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15895" y="465137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arrow">
            <a:extLst xmlns:a="http://schemas.openxmlformats.org/drawingml/2006/main">
              <a:ext uri="{FF2B5EF4-FFF2-40B4-BE49-F238E27FC236}">
                <a16:creationId xmlns:a16="http://schemas.microsoft.com/office/drawing/2014/main" id="{3CE3A329-E2F5-4B00-89C5-368A00BF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7770" y="465137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arrow">
            <a:extLst xmlns:a="http://schemas.openxmlformats.org/drawingml/2006/main">
              <a:ext uri="{FF2B5EF4-FFF2-40B4-BE49-F238E27FC236}">
                <a16:creationId xmlns:a16="http://schemas.microsoft.com/office/drawing/2014/main" id="{C75CEDDB-04D9-4814-A5B4-8FA84800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49795" y="465137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arrow">
            <a:extLst xmlns:a="http://schemas.openxmlformats.org/drawingml/2006/main">
              <a:ext uri="{FF2B5EF4-FFF2-40B4-BE49-F238E27FC236}">
                <a16:creationId xmlns:a16="http://schemas.microsoft.com/office/drawing/2014/main" id="{38F4D60B-EC61-403F-992D-6DECE741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6745" y="465137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24" name="data-bottom-desc-0">
            <a:extLst xmlns:a="http://schemas.openxmlformats.org/drawingml/2006/main">
              <a:ext uri="{FF2B5EF4-FFF2-40B4-BE49-F238E27FC236}">
                <a16:creationId xmlns:a16="http://schemas.microsoft.com/office/drawing/2014/main" id="{73B64DCB-5835-4622-83F4-9BFC0DDF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按指标自动生成初评</a:t>
            </a:r>
          </a:p>
        </p:txBody>
      </p:sp>
      <p:sp>
        <p:nvSpPr>
          <p:cNvPr id="2025" name="data-bottom-desc-1">
            <a:extLst xmlns:a="http://schemas.openxmlformats.org/drawingml/2006/main">
              <a:ext uri="{FF2B5EF4-FFF2-40B4-BE49-F238E27FC236}">
                <a16:creationId xmlns:a16="http://schemas.microsoft.com/office/drawing/2014/main" id="{E229C093-00B6-48DD-8C55-BD1D42D7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530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基于证据复核确认</a:t>
            </a:r>
          </a:p>
        </p:txBody>
      </p:sp>
    </p:spTree>
    <p:extLst>
      <p:ext uri="{BB962C8B-B14F-4D97-AF65-F5344CB8AC3E}">
        <p14:creationId xmlns:p14="http://schemas.microsoft.com/office/powerpoint/2010/main" val="1941951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CD20AC-56BF-4917-B805-AAD1D6B7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分阶段建设，先形成业务闭环，再持续优化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6B0455-895B-4C6C-BF0A-659A2677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48" name="connector-line"/>
          <p:cNvCxnSpPr/>
          <p:nvPr/>
        </p:nvCxnSpPr>
        <p:spPr>
          <a:xfrm xmlns:a="http://schemas.openxmlformats.org/drawingml/2006/main">
            <a:off x="6667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phase-dot-0">
            <a:extLst xmlns:a="http://schemas.openxmlformats.org/drawingml/2006/main">
              <a:ext uri="{FF2B5EF4-FFF2-40B4-BE49-F238E27FC236}">
                <a16:creationId xmlns:a16="http://schemas.microsoft.com/office/drawing/2014/main" id="{12A833E0-BDD5-4B0F-9460-2E5FB03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84D8ADFE-AC2A-4758-B3C0-3A0653BC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第一阶段</a:t>
            </a:r>
          </a:p>
        </p:txBody>
      </p:sp>
      <p:sp>
        <p:nvSpPr>
          <p:cNvPr id="7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7EEEC49E-271E-4A74-B8EE-7BEED724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基础平台与培训管理</a:t>
            </a:r>
          </a:p>
        </p:txBody>
      </p:sp>
      <p:cxnSp>
        <p:nvCxnSpPr>
          <p:cNvPr id="1352" name="connector-line"/>
          <p:cNvCxnSpPr/>
          <p:nvPr/>
        </p:nvCxnSpPr>
        <p:spPr>
          <a:xfrm xmlns:a="http://schemas.openxmlformats.org/drawingml/2006/main">
            <a:off x="28765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863DF6EB-B758-4722-A119-0B9E6585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第二阶段</a:t>
            </a:r>
          </a:p>
        </p:txBody>
      </p:sp>
      <p:sp>
        <p:nvSpPr>
          <p:cNvPr id="11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A998A8B3-AFA8-4C18-BDC3-BE0E741F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研修活动与网络研修</a:t>
            </a:r>
          </a:p>
        </p:txBody>
      </p:sp>
      <p:cxnSp>
        <p:nvCxnSpPr>
          <p:cNvPr id="1355" name="connector-line"/>
          <p:cNvCxnSpPr/>
          <p:nvPr/>
        </p:nvCxnSpPr>
        <p:spPr>
          <a:xfrm xmlns:a="http://schemas.openxmlformats.org/drawingml/2006/main">
            <a:off x="50863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3" name="phase-dot-2">
            <a:extLst xmlns:a="http://schemas.openxmlformats.org/drawingml/2006/main">
              <a:ext uri="{FF2B5EF4-FFF2-40B4-BE49-F238E27FC236}">
                <a16:creationId xmlns:a16="http://schemas.microsoft.com/office/drawing/2014/main" id="{EA141B23-2181-4F29-A0F0-3083CFC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8071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8AFDD4D3-0A11-40D8-B7EB-F7628DAD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第三阶段</a:t>
            </a:r>
          </a:p>
        </p:txBody>
      </p:sp>
      <p:sp>
        <p:nvSpPr>
          <p:cNvPr id="15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3AB58D6F-A2FE-43F4-9969-98E06774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数据归集与培训评估</a:t>
            </a:r>
          </a:p>
        </p:txBody>
      </p:sp>
      <p:cxnSp>
        <p:nvCxnSpPr>
          <p:cNvPr id="1359" name="connector-line"/>
          <p:cNvCxnSpPr/>
          <p:nvPr/>
        </p:nvCxnSpPr>
        <p:spPr>
          <a:xfrm xmlns:a="http://schemas.openxmlformats.org/drawingml/2006/main">
            <a:off x="72961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phase-dot-3">
            <a:extLst xmlns:a="http://schemas.openxmlformats.org/drawingml/2006/main">
              <a:ext uri="{FF2B5EF4-FFF2-40B4-BE49-F238E27FC236}">
                <a16:creationId xmlns:a16="http://schemas.microsoft.com/office/drawing/2014/main" id="{FCF94C93-225E-4071-96E2-58D8BA09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C860AB22-FFE8-4A59-A8D0-8AFB6AB2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第四阶段</a:t>
            </a:r>
          </a:p>
        </p:txBody>
      </p:sp>
      <p:sp>
        <p:nvSpPr>
          <p:cNvPr id="19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13D78952-3A5E-47F3-8E80-18990F9E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教师档案与推荐服务</a:t>
            </a:r>
          </a:p>
        </p:txBody>
      </p:sp>
      <p:cxnSp>
        <p:nvCxnSpPr>
          <p:cNvPr id="1363" name="connector-line"/>
          <p:cNvCxnSpPr/>
          <p:nvPr/>
        </p:nvCxnSpPr>
        <p:spPr>
          <a:xfrm xmlns:a="http://schemas.openxmlformats.org/drawingml/2006/main">
            <a:off x="95059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1" name="phase-dot-4">
            <a:extLst xmlns:a="http://schemas.openxmlformats.org/drawingml/2006/main">
              <a:ext uri="{FF2B5EF4-FFF2-40B4-BE49-F238E27FC236}">
                <a16:creationId xmlns:a16="http://schemas.microsoft.com/office/drawing/2014/main" id="{32225AD1-5A45-4CF2-89FD-72715240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ase-label-4">
            <a:extLst xmlns:a="http://schemas.openxmlformats.org/drawingml/2006/main">
              <a:ext uri="{FF2B5EF4-FFF2-40B4-BE49-F238E27FC236}">
                <a16:creationId xmlns:a16="http://schemas.microsoft.com/office/drawing/2014/main" id="{1580C473-58FD-4514-9524-9575604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第五阶段</a:t>
            </a:r>
          </a:p>
        </p:txBody>
      </p:sp>
      <p:sp>
        <p:nvSpPr>
          <p:cNvPr id="23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F4270FDC-4D48-4834-9406-2B885E83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试点运行与持续优化</a:t>
            </a:r>
          </a:p>
        </p:txBody>
      </p:sp>
      <p:sp>
        <p:nvSpPr>
          <p:cNvPr id="24" name="outcomes">
            <a:extLst xmlns:a="http://schemas.openxmlformats.org/drawingml/2006/main">
              <a:ext uri="{FF2B5EF4-FFF2-40B4-BE49-F238E27FC236}">
                <a16:creationId xmlns:a16="http://schemas.microsoft.com/office/drawing/2014/main" id="{E946912A-1B7C-4F3E-AED2-48C28697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0477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outcomes-text">
            <a:extLst xmlns:a="http://schemas.openxmlformats.org/drawingml/2006/main">
              <a:ext uri="{FF2B5EF4-FFF2-40B4-BE49-F238E27FC236}">
                <a16:creationId xmlns:a16="http://schemas.microsoft.com/office/drawing/2014/main" id="{B32EA035-6F8F-43B3-8663-88C6422C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86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预期成效：培训管理统一、过程透明、评价科学、档案完整、推荐精准、决策有据。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9CB56A46-DC1D-495B-ACCE-D2FE65C4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phase-dot-2">
            <a:extLst xmlns:a="http://schemas.openxmlformats.org/drawingml/2006/main">
              <a:ext uri="{FF2B5EF4-FFF2-40B4-BE49-F238E27FC236}">
                <a16:creationId xmlns:a16="http://schemas.microsoft.com/office/drawing/2014/main" id="{A589D904-3948-4943-9FBA-D7D0BF2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640" y="318516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78304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rt">
            <a:extLst xmlns:a="http://schemas.openxmlformats.org/drawingml/2006/main">
              <a:ext uri="{FF2B5EF4-FFF2-40B4-BE49-F238E27FC236}">
                <a16:creationId xmlns:a16="http://schemas.microsoft.com/office/drawing/2014/main" id="{DBD6C5D5-83C0-42F3-B08B-96ABCCB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Part 02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C037E65-535E-4690-B1E5-BFC36D8E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原生底座赋能方案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242E1DD1-EF7A-4769-8BED-DCE9A7C2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以AI 原生底座为横向能力层，让培训平台天然具备智能体、知识资产、空间协同和算力运营能力。</a:t>
            </a:r>
          </a:p>
        </p:txBody>
      </p:sp>
      <p:sp>
        <p:nvSpPr>
          <p:cNvPr id="4" name="section-line">
            <a:extLst xmlns:a="http://schemas.openxmlformats.org/drawingml/2006/main">
              <a:ext uri="{FF2B5EF4-FFF2-40B4-BE49-F238E27FC236}">
                <a16:creationId xmlns:a16="http://schemas.microsoft.com/office/drawing/2014/main" id="{0D0DDF2A-0F47-4E03-917F-30B5D1C5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eywords">
            <a:extLst xmlns:a="http://schemas.openxmlformats.org/drawingml/2006/main">
              <a:ext uri="{FF2B5EF4-FFF2-40B4-BE49-F238E27FC236}">
                <a16:creationId xmlns:a16="http://schemas.microsoft.com/office/drawing/2014/main" id="{F2C89EC6-5DA3-4431-82A7-646A94EC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Lucky / 资料库 / 空间 / 场景模板 / 模型统计</a:t>
            </a:r>
          </a:p>
        </p:txBody>
      </p:sp>
      <p:sp>
        <p:nvSpPr>
          <p:cNvPr id="6" name="global-page">
            <a:extLst xmlns:a="http://schemas.openxmlformats.org/drawingml/2006/main">
              <a:ext uri="{FF2B5EF4-FFF2-40B4-BE49-F238E27FC236}">
                <a16:creationId xmlns:a16="http://schemas.microsoft.com/office/drawing/2014/main" id="{CE6FBC96-2717-477A-8523-46C33B91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515239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3A67C9-F5DE-41E4-ABA1-9031B40C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原生底座让业务模块天然具备智能能力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C56AD39-615B-4B38-84C9-3FF612E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4" name="judgement-band">
            <a:extLst xmlns:a="http://schemas.openxmlformats.org/drawingml/2006/main">
              <a:ext uri="{FF2B5EF4-FFF2-40B4-BE49-F238E27FC236}">
                <a16:creationId xmlns:a16="http://schemas.microsoft.com/office/drawing/2014/main" id="{14BDBDC1-2C26-4043-BB4E-6516AFEB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7061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A7D4FF"/>
            </a:solidFill>
            <a:prstDash val="solid"/>
          </a:ln>
        </p:spPr>
      </p:sp>
      <p:sp>
        <p:nvSpPr>
          <p:cNvPr id="5" name="judgement-label">
            <a:extLst xmlns:a="http://schemas.openxmlformats.org/drawingml/2006/main">
              <a:ext uri="{FF2B5EF4-FFF2-40B4-BE49-F238E27FC236}">
                <a16:creationId xmlns:a16="http://schemas.microsoft.com/office/drawing/2014/main" id="{8F0611FE-A7A1-45D6-9CA8-C82CCC27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5C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5CC7"/>
                </a:solidFill>
                <a:latin typeface="PingFang SC"/>
                <a:ea typeface="PingFang SC"/>
                <a:cs typeface="PingFang SC"/>
              </a:rPr>
              <a:t>核心判断</a:t>
            </a:r>
          </a:p>
        </p:txBody>
      </p:sp>
      <p:sp>
        <p:nvSpPr>
          <p:cNvPr id="6" name="judgement-text">
            <a:extLst xmlns:a="http://schemas.openxmlformats.org/drawingml/2006/main">
              <a:ext uri="{FF2B5EF4-FFF2-40B4-BE49-F238E27FC236}">
                <a16:creationId xmlns:a16="http://schemas.microsoft.com/office/drawing/2014/main" id="{03C5BC00-C240-4820-92F0-2AD35685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培训平台不是传统系统加 AI，而是让 AI 作为资料沉淀、空间协同、角色赋能、流程推进、内容生成、评价分析和推荐服务的默认能力。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D4896ACD-F5FE-4139-B165-8EB8AED9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105" y="32194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5349EE9-5C52-4820-A2AC-F647CC5F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130" y="321310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10CC854-DA20-43AC-AC70-94803978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9160" y="321310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10" name="flow-business">
            <a:extLst xmlns:a="http://schemas.openxmlformats.org/drawingml/2006/main">
              <a:ext uri="{FF2B5EF4-FFF2-40B4-BE49-F238E27FC236}">
                <a16:creationId xmlns:a16="http://schemas.microsoft.com/office/drawing/2014/main" id="{E92B2B9F-B09C-47AB-A9A2-4265CBC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190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11" name="flow-business-text">
            <a:extLst xmlns:a="http://schemas.openxmlformats.org/drawingml/2006/main">
              <a:ext uri="{FF2B5EF4-FFF2-40B4-BE49-F238E27FC236}">
                <a16:creationId xmlns:a16="http://schemas.microsoft.com/office/drawing/2014/main" id="{599B8D76-432A-4C19-B009-DFD62E85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业务模块</a:t>
            </a:r>
          </a:p>
        </p:txBody>
      </p:sp>
      <p:sp>
        <p:nvSpPr>
          <p:cNvPr id="12" name="flow-ai">
            <a:extLst xmlns:a="http://schemas.openxmlformats.org/drawingml/2006/main">
              <a:ext uri="{FF2B5EF4-FFF2-40B4-BE49-F238E27FC236}">
                <a16:creationId xmlns:a16="http://schemas.microsoft.com/office/drawing/2014/main" id="{A1A160BD-BE0F-4934-A03F-F25FE09D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28950"/>
            <a:ext cx="2190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A7D4FF"/>
            </a:solidFill>
            <a:prstDash val="solid"/>
          </a:ln>
        </p:spPr>
      </p:sp>
      <p:sp>
        <p:nvSpPr>
          <p:cNvPr id="13" name="flow-ai-text">
            <a:extLst xmlns:a="http://schemas.openxmlformats.org/drawingml/2006/main">
              <a:ext uri="{FF2B5EF4-FFF2-40B4-BE49-F238E27FC236}">
                <a16:creationId xmlns:a16="http://schemas.microsoft.com/office/drawing/2014/main" id="{DE66170A-6F20-45DF-915D-9AECBD94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051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能力</a:t>
            </a:r>
          </a:p>
        </p:txBody>
      </p:sp>
      <p:sp>
        <p:nvSpPr>
          <p:cNvPr id="14" name="flow-agent-exp">
            <a:extLst xmlns:a="http://schemas.openxmlformats.org/drawingml/2006/main">
              <a:ext uri="{FF2B5EF4-FFF2-40B4-BE49-F238E27FC236}">
                <a16:creationId xmlns:a16="http://schemas.microsoft.com/office/drawing/2014/main" id="{95D7F5FC-4EC7-4BE8-A22D-9CA4E4F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190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15" name="flow-agent-exp-text">
            <a:extLst xmlns:a="http://schemas.openxmlformats.org/drawingml/2006/main">
              <a:ext uri="{FF2B5EF4-FFF2-40B4-BE49-F238E27FC236}">
                <a16:creationId xmlns:a16="http://schemas.microsoft.com/office/drawing/2014/main" id="{64150B61-CD76-418A-BC8A-8B2D2C2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智能体 + 体验</a:t>
            </a:r>
          </a:p>
        </p:txBody>
      </p:sp>
      <p:sp>
        <p:nvSpPr>
          <p:cNvPr id="16" name="flow-landing">
            <a:extLst xmlns:a="http://schemas.openxmlformats.org/drawingml/2006/main">
              <a:ext uri="{FF2B5EF4-FFF2-40B4-BE49-F238E27FC236}">
                <a16:creationId xmlns:a16="http://schemas.microsoft.com/office/drawing/2014/main" id="{49BFD234-EBD9-4FC1-8E51-6F74E45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28950"/>
            <a:ext cx="2190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F83FF"/>
          </a:solidFill>
          <a:ln xmlns:a="http://schemas.openxmlformats.org/drawingml/2006/main" w="11430">
            <a:solidFill>
              <a:srgbClr val="2F83FF"/>
            </a:solidFill>
            <a:prstDash val="solid"/>
          </a:ln>
        </p:spPr>
      </p:sp>
      <p:sp>
        <p:nvSpPr>
          <p:cNvPr id="17" name="flow-landing-text">
            <a:extLst xmlns:a="http://schemas.openxmlformats.org/drawingml/2006/main">
              <a:ext uri="{FF2B5EF4-FFF2-40B4-BE49-F238E27FC236}">
                <a16:creationId xmlns:a16="http://schemas.microsoft.com/office/drawing/2014/main" id="{97510FC9-8D89-47AE-A0E8-9F25079E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051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业务场景落地</a:t>
            </a:r>
          </a:p>
        </p:txBody>
      </p:sp>
      <p:sp>
        <p:nvSpPr>
          <p:cNvPr id="18" name="card-knowledge">
            <a:extLst xmlns:a="http://schemas.openxmlformats.org/drawingml/2006/main">
              <a:ext uri="{FF2B5EF4-FFF2-40B4-BE49-F238E27FC236}">
                <a16:creationId xmlns:a16="http://schemas.microsoft.com/office/drawing/2014/main" id="{9F1FAF67-175B-4482-BF39-12D3A35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9" name="card-knowledge-badge">
            <a:extLst xmlns:a="http://schemas.openxmlformats.org/drawingml/2006/main">
              <a:ext uri="{FF2B5EF4-FFF2-40B4-BE49-F238E27FC236}">
                <a16:creationId xmlns:a16="http://schemas.microsoft.com/office/drawing/2014/main" id="{FA503B0D-4D19-40E2-9935-178187FC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0" name="card-knowledge-badge-text">
            <a:extLst xmlns:a="http://schemas.openxmlformats.org/drawingml/2006/main">
              <a:ext uri="{FF2B5EF4-FFF2-40B4-BE49-F238E27FC236}">
                <a16:creationId xmlns:a16="http://schemas.microsoft.com/office/drawing/2014/main" id="{F9EBC0B8-B24F-4B57-B554-820EA472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1" name="card-knowledge-title">
            <a:extLst xmlns:a="http://schemas.openxmlformats.org/drawingml/2006/main">
              <a:ext uri="{FF2B5EF4-FFF2-40B4-BE49-F238E27FC236}">
                <a16:creationId xmlns:a16="http://schemas.microsoft.com/office/drawing/2014/main" id="{2547DD66-0DC0-45AB-8457-25B39A00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22" name="card-knowledge-body">
            <a:extLst xmlns:a="http://schemas.openxmlformats.org/drawingml/2006/main">
              <a:ext uri="{FF2B5EF4-FFF2-40B4-BE49-F238E27FC236}">
                <a16:creationId xmlns:a16="http://schemas.microsoft.com/office/drawing/2014/main" id="{F9F1CD27-383A-45E3-8E7E-ED8FB709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业务资料沉淀为知识资产，支撑搜索、问答、生成和应用。</a:t>
            </a:r>
          </a:p>
        </p:txBody>
      </p:sp>
      <p:sp>
        <p:nvSpPr>
          <p:cNvPr id="23" name="card-space">
            <a:extLst xmlns:a="http://schemas.openxmlformats.org/drawingml/2006/main">
              <a:ext uri="{FF2B5EF4-FFF2-40B4-BE49-F238E27FC236}">
                <a16:creationId xmlns:a16="http://schemas.microsoft.com/office/drawing/2014/main" id="{968F99AE-A5B1-4098-9DCA-AF095561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4" name="card-space-badge">
            <a:extLst xmlns:a="http://schemas.openxmlformats.org/drawingml/2006/main">
              <a:ext uri="{FF2B5EF4-FFF2-40B4-BE49-F238E27FC236}">
                <a16:creationId xmlns:a16="http://schemas.microsoft.com/office/drawing/2014/main" id="{8A0AE4AE-4BB8-4D23-A195-A01FE955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card-space-badge-text">
            <a:extLst xmlns:a="http://schemas.openxmlformats.org/drawingml/2006/main">
              <a:ext uri="{FF2B5EF4-FFF2-40B4-BE49-F238E27FC236}">
                <a16:creationId xmlns:a16="http://schemas.microsoft.com/office/drawing/2014/main" id="{2750E4C0-C706-4C7E-A1FD-DEADFAF9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6" name="card-space-title">
            <a:extLst xmlns:a="http://schemas.openxmlformats.org/drawingml/2006/main">
              <a:ext uri="{FF2B5EF4-FFF2-40B4-BE49-F238E27FC236}">
                <a16:creationId xmlns:a16="http://schemas.microsoft.com/office/drawing/2014/main" id="{673920F3-20A5-4A8D-99F9-ED0745BA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</a:t>
            </a:r>
          </a:p>
        </p:txBody>
      </p:sp>
      <p:sp>
        <p:nvSpPr>
          <p:cNvPr id="27" name="card-space-body">
            <a:extLst xmlns:a="http://schemas.openxmlformats.org/drawingml/2006/main">
              <a:ext uri="{FF2B5EF4-FFF2-40B4-BE49-F238E27FC236}">
                <a16:creationId xmlns:a16="http://schemas.microsoft.com/office/drawing/2014/main" id="{61B4FE67-637B-4769-A6FD-49B9C843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57750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业务过程进入空间，承载成员、任务、流程、协同和成果。</a:t>
            </a:r>
          </a:p>
        </p:txBody>
      </p:sp>
      <p:sp>
        <p:nvSpPr>
          <p:cNvPr id="28" name="card-agent">
            <a:extLst xmlns:a="http://schemas.openxmlformats.org/drawingml/2006/main">
              <a:ext uri="{FF2B5EF4-FFF2-40B4-BE49-F238E27FC236}">
                <a16:creationId xmlns:a16="http://schemas.microsoft.com/office/drawing/2014/main" id="{214D8888-AE4E-40DF-AB57-68127E71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0478">
            <a:solidFill>
              <a:srgbClr val="A7D4FF"/>
            </a:solidFill>
            <a:prstDash val="solid"/>
          </a:ln>
        </p:spPr>
      </p:sp>
      <p:sp>
        <p:nvSpPr>
          <p:cNvPr id="29" name="card-agent-badge">
            <a:extLst xmlns:a="http://schemas.openxmlformats.org/drawingml/2006/main">
              <a:ext uri="{FF2B5EF4-FFF2-40B4-BE49-F238E27FC236}">
                <a16:creationId xmlns:a16="http://schemas.microsoft.com/office/drawing/2014/main" id="{5597DBAA-BCD4-4FCD-A1A8-55EB9D2A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30" name="card-agent-badge-text">
            <a:extLst xmlns:a="http://schemas.openxmlformats.org/drawingml/2006/main">
              <a:ext uri="{FF2B5EF4-FFF2-40B4-BE49-F238E27FC236}">
                <a16:creationId xmlns:a16="http://schemas.microsoft.com/office/drawing/2014/main" id="{EFBCC255-885F-4F5F-8C07-5E553C4E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card-agent-title">
            <a:extLst xmlns:a="http://schemas.openxmlformats.org/drawingml/2006/main">
              <a:ext uri="{FF2B5EF4-FFF2-40B4-BE49-F238E27FC236}">
                <a16:creationId xmlns:a16="http://schemas.microsoft.com/office/drawing/2014/main" id="{3F71FF99-4688-4A6D-B210-40151B7D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32" name="card-agent-body">
            <a:extLst xmlns:a="http://schemas.openxmlformats.org/drawingml/2006/main">
              <a:ext uri="{FF2B5EF4-FFF2-40B4-BE49-F238E27FC236}">
                <a16:creationId xmlns:a16="http://schemas.microsoft.com/office/drawing/2014/main" id="{449F36B6-A803-46D2-89FA-750AB7C0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不同角色获得智能体助手，辅助沟通、决策、分析和业务推进。</a:t>
            </a:r>
          </a:p>
        </p:txBody>
      </p:sp>
      <p:sp>
        <p:nvSpPr>
          <p:cNvPr id="33" name="bottom-note-band">
            <a:extLst xmlns:a="http://schemas.openxmlformats.org/drawingml/2006/main">
              <a:ext uri="{FF2B5EF4-FFF2-40B4-BE49-F238E27FC236}">
                <a16:creationId xmlns:a16="http://schemas.microsoft.com/office/drawing/2014/main" id="{1DAFF52F-DD79-43CC-8432-5F7A15BE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86450"/>
            <a:ext cx="9715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1430">
            <a:solidFill>
              <a:srgbClr val="D8ECFF"/>
            </a:solidFill>
            <a:prstDash val="solid"/>
          </a:ln>
        </p:spPr>
      </p:sp>
      <p:sp>
        <p:nvSpPr>
          <p:cNvPr id="3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90AB054F-4E49-43A3-BD78-F35F277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扩展新业务时，直接复用「资料库 + 空间 + 智能体」的平台底座，减少重复建设。</a:t>
            </a:r>
          </a:p>
        </p:txBody>
      </p:sp>
      <p:sp>
        <p:nvSpPr>
          <p:cNvPr id="35" name="page">
            <a:extLst xmlns:a="http://schemas.openxmlformats.org/drawingml/2006/main">
              <a:ext uri="{FF2B5EF4-FFF2-40B4-BE49-F238E27FC236}">
                <a16:creationId xmlns:a16="http://schemas.microsoft.com/office/drawing/2014/main" id="{7D46E93F-E8CA-4590-AB1E-30222972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569746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FA9D24-2F50-4E71-A145-5F191B84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原生底座由六类平台能力组成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5F8652C-19B1-4A9A-ACA0-6B9E99DB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Lucky 智能体">
            <a:extLst xmlns:a="http://schemas.openxmlformats.org/drawingml/2006/main">
              <a:ext uri="{FF2B5EF4-FFF2-40B4-BE49-F238E27FC236}">
                <a16:creationId xmlns:a16="http://schemas.microsoft.com/office/drawing/2014/main" id="{A600B4B2-7725-47D9-BEE4-D43EEE0B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5" name="badge-01">
            <a:extLst xmlns:a="http://schemas.openxmlformats.org/drawingml/2006/main">
              <a:ext uri="{FF2B5EF4-FFF2-40B4-BE49-F238E27FC236}">
                <a16:creationId xmlns:a16="http://schemas.microsoft.com/office/drawing/2014/main" id="{EEED5D13-5D65-4D40-BDCC-76E08717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badge-text-01">
            <a:extLst xmlns:a="http://schemas.openxmlformats.org/drawingml/2006/main">
              <a:ext uri="{FF2B5EF4-FFF2-40B4-BE49-F238E27FC236}">
                <a16:creationId xmlns:a16="http://schemas.microsoft.com/office/drawing/2014/main" id="{2D3EB86F-FE84-443C-8FB5-55CCA92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ard-head-Lucky 智能体">
            <a:extLst xmlns:a="http://schemas.openxmlformats.org/drawingml/2006/main">
              <a:ext uri="{FF2B5EF4-FFF2-40B4-BE49-F238E27FC236}">
                <a16:creationId xmlns:a16="http://schemas.microsoft.com/office/drawing/2014/main" id="{AD5FCF09-3E21-44F3-B63B-9813AF4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Lucky 智能体</a:t>
            </a:r>
          </a:p>
        </p:txBody>
      </p:sp>
      <p:sp>
        <p:nvSpPr>
          <p:cNvPr id="8" name="card-body-Lucky 智能体">
            <a:extLst xmlns:a="http://schemas.openxmlformats.org/drawingml/2006/main">
              <a:ext uri="{FF2B5EF4-FFF2-40B4-BE49-F238E27FC236}">
                <a16:creationId xmlns:a16="http://schemas.microsoft.com/office/drawing/2014/main" id="{31A0F8FE-1A4E-4556-BBDC-A73168F2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面向不同角色提供问答、生成、分析、任务辅助和流程推进能力。</a:t>
            </a:r>
          </a:p>
        </p:txBody>
      </p:sp>
      <p:sp>
        <p:nvSpPr>
          <p:cNvPr id="9" name="card-资料库">
            <a:extLst xmlns:a="http://schemas.openxmlformats.org/drawingml/2006/main">
              <a:ext uri="{FF2B5EF4-FFF2-40B4-BE49-F238E27FC236}">
                <a16:creationId xmlns:a16="http://schemas.microsoft.com/office/drawing/2014/main" id="{E8C8E284-A273-41D3-8A19-B290AEF3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383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adge-02">
            <a:extLst xmlns:a="http://schemas.openxmlformats.org/drawingml/2006/main">
              <a:ext uri="{FF2B5EF4-FFF2-40B4-BE49-F238E27FC236}">
                <a16:creationId xmlns:a16="http://schemas.microsoft.com/office/drawing/2014/main" id="{3137DDF4-D0F8-434C-B64C-BDD65321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dge-text-02">
            <a:extLst xmlns:a="http://schemas.openxmlformats.org/drawingml/2006/main">
              <a:ext uri="{FF2B5EF4-FFF2-40B4-BE49-F238E27FC236}">
                <a16:creationId xmlns:a16="http://schemas.microsoft.com/office/drawing/2014/main" id="{374CF76B-9CA1-413C-971A-6F5F84E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76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card-head-资料库">
            <a:extLst xmlns:a="http://schemas.openxmlformats.org/drawingml/2006/main">
              <a:ext uri="{FF2B5EF4-FFF2-40B4-BE49-F238E27FC236}">
                <a16:creationId xmlns:a16="http://schemas.microsoft.com/office/drawing/2014/main" id="{4E4308DD-E72C-409F-B98E-D5DAFB2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479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13" name="card-body-资料库">
            <a:extLst xmlns:a="http://schemas.openxmlformats.org/drawingml/2006/main">
              <a:ext uri="{FF2B5EF4-FFF2-40B4-BE49-F238E27FC236}">
                <a16:creationId xmlns:a16="http://schemas.microsoft.com/office/drawing/2014/main" id="{926F9FA6-1EF5-48D6-9844-380B4F7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670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沉淀课程、案例、制度、成果、评价材料，形成可检索、可问答、可生成的知识资产。</a:t>
            </a:r>
          </a:p>
        </p:txBody>
      </p:sp>
      <p:sp>
        <p:nvSpPr>
          <p:cNvPr id="14" name="card-空间">
            <a:extLst xmlns:a="http://schemas.openxmlformats.org/drawingml/2006/main">
              <a:ext uri="{FF2B5EF4-FFF2-40B4-BE49-F238E27FC236}">
                <a16:creationId xmlns:a16="http://schemas.microsoft.com/office/drawing/2014/main" id="{E4B8966E-2C1A-4936-A03E-4100F076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5" name="badge-03">
            <a:extLst xmlns:a="http://schemas.openxmlformats.org/drawingml/2006/main">
              <a:ext uri="{FF2B5EF4-FFF2-40B4-BE49-F238E27FC236}">
                <a16:creationId xmlns:a16="http://schemas.microsoft.com/office/drawing/2014/main" id="{26346693-6A8C-4CC0-BCF5-17FFFB2C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badge-text-03">
            <a:extLst xmlns:a="http://schemas.openxmlformats.org/drawingml/2006/main">
              <a:ext uri="{FF2B5EF4-FFF2-40B4-BE49-F238E27FC236}">
                <a16:creationId xmlns:a16="http://schemas.microsoft.com/office/drawing/2014/main" id="{E69E4AAF-B06B-4F7D-B229-60DDB63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76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card-head-空间">
            <a:extLst xmlns:a="http://schemas.openxmlformats.org/drawingml/2006/main">
              <a:ext uri="{FF2B5EF4-FFF2-40B4-BE49-F238E27FC236}">
                <a16:creationId xmlns:a16="http://schemas.microsoft.com/office/drawing/2014/main" id="{A77AEB66-C6A4-4A86-86BE-B1F9114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</a:t>
            </a:r>
          </a:p>
        </p:txBody>
      </p:sp>
      <p:sp>
        <p:nvSpPr>
          <p:cNvPr id="18" name="card-body-空间">
            <a:extLst xmlns:a="http://schemas.openxmlformats.org/drawingml/2006/main">
              <a:ext uri="{FF2B5EF4-FFF2-40B4-BE49-F238E27FC236}">
                <a16:creationId xmlns:a16="http://schemas.microsoft.com/office/drawing/2014/main" id="{34A4B7F3-0995-4F43-A9CC-070494D2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承载成员、权限、任务、流程、协同、工具和成果，是培训业务过程的统一载体。</a:t>
            </a:r>
          </a:p>
        </p:txBody>
      </p:sp>
      <p:sp>
        <p:nvSpPr>
          <p:cNvPr id="19" name="card-场景模板">
            <a:extLst xmlns:a="http://schemas.openxmlformats.org/drawingml/2006/main">
              <a:ext uri="{FF2B5EF4-FFF2-40B4-BE49-F238E27FC236}">
                <a16:creationId xmlns:a16="http://schemas.microsoft.com/office/drawing/2014/main" id="{460C0B4C-9655-4748-8D4F-DE5D2C29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0" name="badge-04">
            <a:extLst xmlns:a="http://schemas.openxmlformats.org/drawingml/2006/main">
              <a:ext uri="{FF2B5EF4-FFF2-40B4-BE49-F238E27FC236}">
                <a16:creationId xmlns:a16="http://schemas.microsoft.com/office/drawing/2014/main" id="{22240224-91A0-4E4D-B704-71E8120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badge-text-04">
            <a:extLst xmlns:a="http://schemas.openxmlformats.org/drawingml/2006/main">
              <a:ext uri="{FF2B5EF4-FFF2-40B4-BE49-F238E27FC236}">
                <a16:creationId xmlns:a16="http://schemas.microsoft.com/office/drawing/2014/main" id="{4C238780-483A-47CC-8143-5FFAFFE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card-head-场景模板">
            <a:extLst xmlns:a="http://schemas.openxmlformats.org/drawingml/2006/main">
              <a:ext uri="{FF2B5EF4-FFF2-40B4-BE49-F238E27FC236}">
                <a16:creationId xmlns:a16="http://schemas.microsoft.com/office/drawing/2014/main" id="{5CE5CBB3-2CBC-4010-9D7F-CDF67560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场景模板</a:t>
            </a:r>
          </a:p>
        </p:txBody>
      </p:sp>
      <p:sp>
        <p:nvSpPr>
          <p:cNvPr id="23" name="card-body-场景模板">
            <a:extLst xmlns:a="http://schemas.openxmlformats.org/drawingml/2006/main">
              <a:ext uri="{FF2B5EF4-FFF2-40B4-BE49-F238E27FC236}">
                <a16:creationId xmlns:a16="http://schemas.microsoft.com/office/drawing/2014/main" id="{7384BC41-0013-4B48-88A1-37ACFDF2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把培训项目、工作坊、校本研修、AI 通识教学等场景预配置为可复制空间。</a:t>
            </a:r>
          </a:p>
        </p:txBody>
      </p:sp>
      <p:sp>
        <p:nvSpPr>
          <p:cNvPr id="24" name="card-模型与 Token 统计">
            <a:extLst xmlns:a="http://schemas.openxmlformats.org/drawingml/2006/main">
              <a:ext uri="{FF2B5EF4-FFF2-40B4-BE49-F238E27FC236}">
                <a16:creationId xmlns:a16="http://schemas.microsoft.com/office/drawing/2014/main" id="{6A065C6A-08DB-4B4F-B722-886C6562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290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badge-05">
            <a:extLst xmlns:a="http://schemas.openxmlformats.org/drawingml/2006/main">
              <a:ext uri="{FF2B5EF4-FFF2-40B4-BE49-F238E27FC236}">
                <a16:creationId xmlns:a16="http://schemas.microsoft.com/office/drawing/2014/main" id="{3F936FD6-F296-4C24-96BB-2EEAFD38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dge-text-05">
            <a:extLst xmlns:a="http://schemas.openxmlformats.org/drawingml/2006/main">
              <a:ext uri="{FF2B5EF4-FFF2-40B4-BE49-F238E27FC236}">
                <a16:creationId xmlns:a16="http://schemas.microsoft.com/office/drawing/2014/main" id="{F8C1BCB2-8BD3-4189-84F9-1F48AC39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67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card-head-模型与 Token 统计">
            <a:extLst xmlns:a="http://schemas.openxmlformats.org/drawingml/2006/main">
              <a:ext uri="{FF2B5EF4-FFF2-40B4-BE49-F238E27FC236}">
                <a16:creationId xmlns:a16="http://schemas.microsoft.com/office/drawing/2014/main" id="{34B75FA4-409E-4CBB-BDE9-A851A420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386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模型与 Token 统计</a:t>
            </a:r>
          </a:p>
        </p:txBody>
      </p:sp>
      <p:sp>
        <p:nvSpPr>
          <p:cNvPr id="28" name="card-body-模型与 Token 统计">
            <a:extLst xmlns:a="http://schemas.openxmlformats.org/drawingml/2006/main">
              <a:ext uri="{FF2B5EF4-FFF2-40B4-BE49-F238E27FC236}">
                <a16:creationId xmlns:a16="http://schemas.microsoft.com/office/drawing/2014/main" id="{C0491970-F69B-4DE1-910E-B5C2080D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4577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计量 AI 调用、Token 消耗和业务归属，支撑成本核算、用量预警和套餐设计。</a:t>
            </a:r>
          </a:p>
        </p:txBody>
      </p:sp>
      <p:sp>
        <p:nvSpPr>
          <p:cNvPr id="29" name="card-租户与套餐">
            <a:extLst xmlns:a="http://schemas.openxmlformats.org/drawingml/2006/main">
              <a:ext uri="{FF2B5EF4-FFF2-40B4-BE49-F238E27FC236}">
                <a16:creationId xmlns:a16="http://schemas.microsoft.com/office/drawing/2014/main" id="{AF83DE26-C37B-4A67-90E4-A7BCE882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badge-06">
            <a:extLst xmlns:a="http://schemas.openxmlformats.org/drawingml/2006/main">
              <a:ext uri="{FF2B5EF4-FFF2-40B4-BE49-F238E27FC236}">
                <a16:creationId xmlns:a16="http://schemas.microsoft.com/office/drawing/2014/main" id="{B3B3403B-F340-45ED-885B-B759CC4E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dge-text-06">
            <a:extLst xmlns:a="http://schemas.openxmlformats.org/drawingml/2006/main">
              <a:ext uri="{FF2B5EF4-FFF2-40B4-BE49-F238E27FC236}">
                <a16:creationId xmlns:a16="http://schemas.microsoft.com/office/drawing/2014/main" id="{C36F2D73-D414-4FBE-8BB6-034CD6B1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2" name="card-head-租户与套餐">
            <a:extLst xmlns:a="http://schemas.openxmlformats.org/drawingml/2006/main">
              <a:ext uri="{FF2B5EF4-FFF2-40B4-BE49-F238E27FC236}">
                <a16:creationId xmlns:a16="http://schemas.microsoft.com/office/drawing/2014/main" id="{416DB511-623D-4A64-86E7-CFCCE12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租户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套餐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、解决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方案</a:t>
            </a:r>
          </a:p>
        </p:txBody>
      </p:sp>
      <p:sp>
        <p:nvSpPr>
          <p:cNvPr id="33" name="card-body-租户与套餐">
            <a:extLst xmlns:a="http://schemas.openxmlformats.org/drawingml/2006/main">
              <a:ext uri="{FF2B5EF4-FFF2-40B4-BE49-F238E27FC236}">
                <a16:creationId xmlns:a16="http://schemas.microsoft.com/office/drawing/2014/main" id="{DB7EFF18-0F22-4D9F-9B76-2A1F2FFC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支持教育局、学校、培训机构独立运营，按方案、资源、服务和算力组合交付。</a:t>
            </a:r>
          </a:p>
        </p:txBody>
      </p:sp>
      <p:sp>
        <p:nvSpPr>
          <p:cNvPr id="34" name="page">
            <a:extLst xmlns:a="http://schemas.openxmlformats.org/drawingml/2006/main">
              <a:ext uri="{FF2B5EF4-FFF2-40B4-BE49-F238E27FC236}">
                <a16:creationId xmlns:a16="http://schemas.microsoft.com/office/drawing/2014/main" id="{4B0E7744-6699-43BA-BD14-D9685556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729961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E8B6D5-9527-43C7-A486-FD4C98A0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总体架构：AI 原生底座横向赋能全部培训子系统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914E2C4-6E7F-46B7-8E31-7FD3CF1E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b-0">
            <a:extLst xmlns:a="http://schemas.openxmlformats.org/drawingml/2006/main">
              <a:ext uri="{FF2B5EF4-FFF2-40B4-BE49-F238E27FC236}">
                <a16:creationId xmlns:a16="http://schemas.microsoft.com/office/drawing/2014/main" id="{78000AE2-499F-430A-97DE-74A19285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ub-text-0">
            <a:extLst xmlns:a="http://schemas.openxmlformats.org/drawingml/2006/main">
              <a:ext uri="{FF2B5EF4-FFF2-40B4-BE49-F238E27FC236}">
                <a16:creationId xmlns:a16="http://schemas.microsoft.com/office/drawing/2014/main" id="{19EC2BA6-1FE2-41B7-875A-588E9329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培训信息管理</a:t>
            </a:r>
          </a:p>
        </p:txBody>
      </p:sp>
      <p:sp>
        <p:nvSpPr>
          <p:cNvPr id="6" name="sub-1">
            <a:extLst xmlns:a="http://schemas.openxmlformats.org/drawingml/2006/main">
              <a:ext uri="{FF2B5EF4-FFF2-40B4-BE49-F238E27FC236}">
                <a16:creationId xmlns:a16="http://schemas.microsoft.com/office/drawing/2014/main" id="{003C05B9-472D-4DC6-8557-DA247A34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ub-text-1">
            <a:extLst xmlns:a="http://schemas.openxmlformats.org/drawingml/2006/main">
              <a:ext uri="{FF2B5EF4-FFF2-40B4-BE49-F238E27FC236}">
                <a16:creationId xmlns:a16="http://schemas.microsoft.com/office/drawing/2014/main" id="{87F3187D-0252-4406-94F6-F5B6F62D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研修活动</a:t>
            </a:r>
          </a:p>
        </p:txBody>
      </p:sp>
      <p:sp>
        <p:nvSpPr>
          <p:cNvPr id="8" name="sub-2">
            <a:extLst xmlns:a="http://schemas.openxmlformats.org/drawingml/2006/main">
              <a:ext uri="{FF2B5EF4-FFF2-40B4-BE49-F238E27FC236}">
                <a16:creationId xmlns:a16="http://schemas.microsoft.com/office/drawing/2014/main" id="{83E89C10-03D1-45C5-B441-4EDA6FFB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9" name="sub-text-2">
            <a:extLst xmlns:a="http://schemas.openxmlformats.org/drawingml/2006/main">
              <a:ext uri="{FF2B5EF4-FFF2-40B4-BE49-F238E27FC236}">
                <a16:creationId xmlns:a16="http://schemas.microsoft.com/office/drawing/2014/main" id="{49465428-967A-4AEB-A5FA-BF004ABC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培训评估</a:t>
            </a:r>
          </a:p>
        </p:txBody>
      </p:sp>
      <p:sp>
        <p:nvSpPr>
          <p:cNvPr id="10" name="sub-3">
            <a:extLst xmlns:a="http://schemas.openxmlformats.org/drawingml/2006/main">
              <a:ext uri="{FF2B5EF4-FFF2-40B4-BE49-F238E27FC236}">
                <a16:creationId xmlns:a16="http://schemas.microsoft.com/office/drawing/2014/main" id="{EA736078-A66D-4A6A-B3A1-41F316C0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ub-text-3">
            <a:extLst xmlns:a="http://schemas.openxmlformats.org/drawingml/2006/main">
              <a:ext uri="{FF2B5EF4-FFF2-40B4-BE49-F238E27FC236}">
                <a16:creationId xmlns:a16="http://schemas.microsoft.com/office/drawing/2014/main" id="{75E2FE99-3B0B-407F-906D-A2DED03F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</a:p>
        </p:txBody>
      </p:sp>
      <p:sp>
        <p:nvSpPr>
          <p:cNvPr id="12" name="sub-4">
            <a:extLst xmlns:a="http://schemas.openxmlformats.org/drawingml/2006/main">
              <a:ext uri="{FF2B5EF4-FFF2-40B4-BE49-F238E27FC236}">
                <a16:creationId xmlns:a16="http://schemas.microsoft.com/office/drawing/2014/main" id="{55DB6ECB-636D-4984-AC6F-7508E16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ub-text-4">
            <a:extLst xmlns:a="http://schemas.openxmlformats.org/drawingml/2006/main">
              <a:ext uri="{FF2B5EF4-FFF2-40B4-BE49-F238E27FC236}">
                <a16:creationId xmlns:a16="http://schemas.microsoft.com/office/drawing/2014/main" id="{B1BDD071-9C3D-4911-826B-6BB45315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用户推荐</a:t>
            </a:r>
          </a:p>
        </p:txBody>
      </p:sp>
      <p:sp>
        <p:nvSpPr>
          <p:cNvPr id="14" name="ai-base">
            <a:extLst xmlns:a="http://schemas.openxmlformats.org/drawingml/2006/main">
              <a:ext uri="{FF2B5EF4-FFF2-40B4-BE49-F238E27FC236}">
                <a16:creationId xmlns:a16="http://schemas.microsoft.com/office/drawing/2014/main" id="{A70C228B-20EB-41AF-9798-C45012A0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572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base-title">
            <a:extLst xmlns:a="http://schemas.openxmlformats.org/drawingml/2006/main">
              <a:ext uri="{FF2B5EF4-FFF2-40B4-BE49-F238E27FC236}">
                <a16:creationId xmlns:a16="http://schemas.microsoft.com/office/drawing/2014/main" id="{920DE733-DA4F-420E-B85C-3F95405B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AI 原生底座</a:t>
            </a:r>
          </a:p>
        </p:txBody>
      </p:sp>
      <p:sp>
        <p:nvSpPr>
          <p:cNvPr id="16" name="pill-Lucky 智能体">
            <a:extLst xmlns:a="http://schemas.openxmlformats.org/drawingml/2006/main">
              <a:ext uri="{FF2B5EF4-FFF2-40B4-BE49-F238E27FC236}">
                <a16:creationId xmlns:a16="http://schemas.microsoft.com/office/drawing/2014/main" id="{74442892-A7A0-474E-B0B2-0AB3CDC3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ill-text-Lucky 智能体">
            <a:extLst xmlns:a="http://schemas.openxmlformats.org/drawingml/2006/main">
              <a:ext uri="{FF2B5EF4-FFF2-40B4-BE49-F238E27FC236}">
                <a16:creationId xmlns:a16="http://schemas.microsoft.com/office/drawing/2014/main" id="{03C68E32-026C-45A6-B250-3D2A2682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3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Lucky 智能体</a:t>
            </a:r>
          </a:p>
        </p:txBody>
      </p:sp>
      <p:sp>
        <p:nvSpPr>
          <p:cNvPr id="18" name="pill-资料库">
            <a:extLst xmlns:a="http://schemas.openxmlformats.org/drawingml/2006/main">
              <a:ext uri="{FF2B5EF4-FFF2-40B4-BE49-F238E27FC236}">
                <a16:creationId xmlns:a16="http://schemas.microsoft.com/office/drawing/2014/main" id="{2C6CA06D-6167-4258-9886-97A5C8EA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ll-text-资料库">
            <a:extLst xmlns:a="http://schemas.openxmlformats.org/drawingml/2006/main">
              <a:ext uri="{FF2B5EF4-FFF2-40B4-BE49-F238E27FC236}">
                <a16:creationId xmlns:a16="http://schemas.microsoft.com/office/drawing/2014/main" id="{957D44CD-3AAA-4E9A-B8DF-548B640F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20" name="pill-空间">
            <a:extLst xmlns:a="http://schemas.openxmlformats.org/drawingml/2006/main">
              <a:ext uri="{FF2B5EF4-FFF2-40B4-BE49-F238E27FC236}">
                <a16:creationId xmlns:a16="http://schemas.microsoft.com/office/drawing/2014/main" id="{FF9A029A-6CDC-459C-B91C-B415F958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ll-text-空间">
            <a:extLst xmlns:a="http://schemas.openxmlformats.org/drawingml/2006/main">
              <a:ext uri="{FF2B5EF4-FFF2-40B4-BE49-F238E27FC236}">
                <a16:creationId xmlns:a16="http://schemas.microsoft.com/office/drawing/2014/main" id="{C796BD7B-B022-4E2C-A7B6-5E9B7CFC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</a:t>
            </a:r>
          </a:p>
        </p:txBody>
      </p:sp>
      <p:sp>
        <p:nvSpPr>
          <p:cNvPr id="22" name="pill-场景模板">
            <a:extLst xmlns:a="http://schemas.openxmlformats.org/drawingml/2006/main">
              <a:ext uri="{FF2B5EF4-FFF2-40B4-BE49-F238E27FC236}">
                <a16:creationId xmlns:a16="http://schemas.microsoft.com/office/drawing/2014/main" id="{25EF2DAE-BA28-4E23-AD70-1057D7FF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ll-text-场景模板">
            <a:extLst xmlns:a="http://schemas.openxmlformats.org/drawingml/2006/main">
              <a:ext uri="{FF2B5EF4-FFF2-40B4-BE49-F238E27FC236}">
                <a16:creationId xmlns:a16="http://schemas.microsoft.com/office/drawing/2014/main" id="{D3E8BEFD-C97A-4492-9FEE-1842C9F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场景模板</a:t>
            </a:r>
          </a:p>
        </p:txBody>
      </p:sp>
      <p:sp>
        <p:nvSpPr>
          <p:cNvPr id="24" name="pill-模型统计">
            <a:extLst xmlns:a="http://schemas.openxmlformats.org/drawingml/2006/main">
              <a:ext uri="{FF2B5EF4-FFF2-40B4-BE49-F238E27FC236}">
                <a16:creationId xmlns:a16="http://schemas.microsoft.com/office/drawing/2014/main" id="{165A422E-03AF-4B88-9070-DE8F8C6B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l-text-模型统计">
            <a:extLst xmlns:a="http://schemas.openxmlformats.org/drawingml/2006/main">
              <a:ext uri="{FF2B5EF4-FFF2-40B4-BE49-F238E27FC236}">
                <a16:creationId xmlns:a16="http://schemas.microsoft.com/office/drawing/2014/main" id="{876F9ABE-90C5-4A4A-BDD2-B5BDDD5C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大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</a:t>
            </a:r>
          </a:p>
        </p:txBody>
      </p:sp>
      <p:sp>
        <p:nvSpPr>
          <p:cNvPr id="26" name="pill-租户/套餐">
            <a:extLst xmlns:a="http://schemas.openxmlformats.org/drawingml/2006/main">
              <a:ext uri="{FF2B5EF4-FFF2-40B4-BE49-F238E27FC236}">
                <a16:creationId xmlns:a16="http://schemas.microsoft.com/office/drawing/2014/main" id="{7F0D9361-2981-4223-8106-22BEC6B3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57675"/>
            <a:ext cx="1376045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ll-text-租户/套餐">
            <a:extLst xmlns:a="http://schemas.openxmlformats.org/drawingml/2006/main">
              <a:ext uri="{FF2B5EF4-FFF2-40B4-BE49-F238E27FC236}">
                <a16:creationId xmlns:a16="http://schemas.microsoft.com/office/drawing/2014/main" id="{EAC3D85B-86DB-435F-8767-7F1F877D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14825"/>
            <a:ext cx="124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租户/套餐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解决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方案</a:t>
            </a:r>
          </a:p>
        </p:txBody>
      </p:sp>
      <p:sp>
        <p:nvSpPr>
          <p:cNvPr id="28" name="base-note">
            <a:extLst xmlns:a="http://schemas.openxmlformats.org/drawingml/2006/main">
              <a:ext uri="{FF2B5EF4-FFF2-40B4-BE49-F238E27FC236}">
                <a16:creationId xmlns:a16="http://schemas.microsoft.com/office/drawing/2014/main" id="{08306311-FE16-42D7-ACD0-59FD188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底座能力不是单点功能，而是为每个培训业务模块提供默认智能能力、知识资产能力和数据运营能力。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503D1AF-2C46-4CED-B333-3ABF25FC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row">
            <a:extLst xmlns:a="http://schemas.openxmlformats.org/drawingml/2006/main">
              <a:ext uri="{FF2B5EF4-FFF2-40B4-BE49-F238E27FC236}">
                <a16:creationId xmlns:a16="http://schemas.microsoft.com/office/drawing/2014/main" id="{51E5CF54-7AEB-4600-83CC-5186FF18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53C9819B-3C05-4843-A495-0F2A218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rrow">
            <a:extLst xmlns:a="http://schemas.openxmlformats.org/drawingml/2006/main">
              <a:ext uri="{FF2B5EF4-FFF2-40B4-BE49-F238E27FC236}">
                <a16:creationId xmlns:a16="http://schemas.microsoft.com/office/drawing/2014/main" id="{7ED87EFD-BB54-4950-91ED-68BE8457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3" name="line">
            <a:extLst xmlns:a="http://schemas.openxmlformats.org/drawingml/2006/main">
              <a:ext uri="{FF2B5EF4-FFF2-40B4-BE49-F238E27FC236}">
                <a16:creationId xmlns:a16="http://schemas.microsoft.com/office/drawing/2014/main" id="{039D7F82-B7D1-43F2-AAB4-368EC2B3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rrow">
            <a:extLst xmlns:a="http://schemas.openxmlformats.org/drawingml/2006/main">
              <a:ext uri="{FF2B5EF4-FFF2-40B4-BE49-F238E27FC236}">
                <a16:creationId xmlns:a16="http://schemas.microsoft.com/office/drawing/2014/main" id="{06BA84DD-3F60-4C02-9C2F-8FCC8A52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5" name="line">
            <a:extLst xmlns:a="http://schemas.openxmlformats.org/drawingml/2006/main">
              <a:ext uri="{FF2B5EF4-FFF2-40B4-BE49-F238E27FC236}">
                <a16:creationId xmlns:a16="http://schemas.microsoft.com/office/drawing/2014/main" id="{1B80D013-446B-4E2D-8427-07453E4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rrow">
            <a:extLst xmlns:a="http://schemas.openxmlformats.org/drawingml/2006/main">
              <a:ext uri="{FF2B5EF4-FFF2-40B4-BE49-F238E27FC236}">
                <a16:creationId xmlns:a16="http://schemas.microsoft.com/office/drawing/2014/main" id="{EC00DE20-4965-45D2-A416-A0D0CF80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7" name="line">
            <a:extLst xmlns:a="http://schemas.openxmlformats.org/drawingml/2006/main">
              <a:ext uri="{FF2B5EF4-FFF2-40B4-BE49-F238E27FC236}">
                <a16:creationId xmlns:a16="http://schemas.microsoft.com/office/drawing/2014/main" id="{27509FF1-90C1-4967-B941-7D913571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row">
            <a:extLst xmlns:a="http://schemas.openxmlformats.org/drawingml/2006/main">
              <a:ext uri="{FF2B5EF4-FFF2-40B4-BE49-F238E27FC236}">
                <a16:creationId xmlns:a16="http://schemas.microsoft.com/office/drawing/2014/main" id="{3AF2A786-266F-4EE8-AFBE-F2F740B9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9" name="page">
            <a:extLst xmlns:a="http://schemas.openxmlformats.org/drawingml/2006/main">
              <a:ext uri="{FF2B5EF4-FFF2-40B4-BE49-F238E27FC236}">
                <a16:creationId xmlns:a16="http://schemas.microsoft.com/office/drawing/2014/main" id="{24F28DBE-FB17-494F-B86B-7FC82D6C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48030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88A25A-D647-457D-A0B7-6EC6DDC7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赋能“培训信息管理”：AI 辅助项目、报名、审核和费用治理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EA652EE-BBBD-422D-8ABA-9E48D929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项目方案生成">
            <a:extLst xmlns:a="http://schemas.openxmlformats.org/drawingml/2006/main">
              <a:ext uri="{FF2B5EF4-FFF2-40B4-BE49-F238E27FC236}">
                <a16:creationId xmlns:a16="http://schemas.microsoft.com/office/drawing/2014/main" id="{0C0AB5E7-250C-495D-A5DD-EE748C3E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5" name="badge-01">
            <a:extLst xmlns:a="http://schemas.openxmlformats.org/drawingml/2006/main">
              <a:ext uri="{FF2B5EF4-FFF2-40B4-BE49-F238E27FC236}">
                <a16:creationId xmlns:a16="http://schemas.microsoft.com/office/drawing/2014/main" id="{398F6693-FF3B-4CCE-9062-B09F6164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badge-text-01">
            <a:extLst xmlns:a="http://schemas.openxmlformats.org/drawingml/2006/main">
              <a:ext uri="{FF2B5EF4-FFF2-40B4-BE49-F238E27FC236}">
                <a16:creationId xmlns:a16="http://schemas.microsoft.com/office/drawing/2014/main" id="{3F2758FF-7972-46C8-8598-9697316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ard-head-项目方案生成">
            <a:extLst xmlns:a="http://schemas.openxmlformats.org/drawingml/2006/main">
              <a:ext uri="{FF2B5EF4-FFF2-40B4-BE49-F238E27FC236}">
                <a16:creationId xmlns:a16="http://schemas.microsoft.com/office/drawing/2014/main" id="{5F975A0A-2B94-4308-A4E5-839171CB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241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项目与课程计划</a:t>
            </a:r>
          </a:p>
        </p:txBody>
      </p:sp>
      <p:sp>
        <p:nvSpPr>
          <p:cNvPr id="8" name="card-body-项目方案生成">
            <a:extLst xmlns:a="http://schemas.openxmlformats.org/drawingml/2006/main">
              <a:ext uri="{FF2B5EF4-FFF2-40B4-BE49-F238E27FC236}">
                <a16:creationId xmlns:a16="http://schemas.microsoft.com/office/drawing/2014/main" id="{DB86DA8C-E60A-43EF-86E7-E541A088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基于培训目标、对象、周期和课程资源，辅助生成项目方案、课程计划、日程安排和班级设置。</a:t>
            </a:r>
          </a:p>
        </p:txBody>
      </p:sp>
      <p:sp>
        <p:nvSpPr>
          <p:cNvPr id="9" name="card-资源自动编目">
            <a:extLst xmlns:a="http://schemas.openxmlformats.org/drawingml/2006/main">
              <a:ext uri="{FF2B5EF4-FFF2-40B4-BE49-F238E27FC236}">
                <a16:creationId xmlns:a16="http://schemas.microsoft.com/office/drawing/2014/main" id="{C3EE3F29-9F8D-4BEA-A47A-C47515A2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1455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adge-02">
            <a:extLst xmlns:a="http://schemas.openxmlformats.org/drawingml/2006/main">
              <a:ext uri="{FF2B5EF4-FFF2-40B4-BE49-F238E27FC236}">
                <a16:creationId xmlns:a16="http://schemas.microsoft.com/office/drawing/2014/main" id="{E5BE22CF-45F9-4BAA-AFD8-395C8716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dge-text-02">
            <a:extLst xmlns:a="http://schemas.openxmlformats.org/drawingml/2006/main">
              <a:ext uri="{FF2B5EF4-FFF2-40B4-BE49-F238E27FC236}">
                <a16:creationId xmlns:a16="http://schemas.microsoft.com/office/drawing/2014/main" id="{B393629E-02ED-42CA-9DDC-DBAEA34F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52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card-head-资源自动编目">
            <a:extLst xmlns:a="http://schemas.openxmlformats.org/drawingml/2006/main">
              <a:ext uri="{FF2B5EF4-FFF2-40B4-BE49-F238E27FC236}">
                <a16:creationId xmlns:a16="http://schemas.microsoft.com/office/drawing/2014/main" id="{79AF449A-23D0-4F75-9DA0-9A03FB09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241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报名审核与组织</a:t>
            </a:r>
          </a:p>
        </p:txBody>
      </p:sp>
      <p:sp>
        <p:nvSpPr>
          <p:cNvPr id="13" name="card-body-资源自动编目">
            <a:extLst xmlns:a="http://schemas.openxmlformats.org/drawingml/2006/main">
              <a:ext uri="{FF2B5EF4-FFF2-40B4-BE49-F238E27FC236}">
                <a16:creationId xmlns:a16="http://schemas.microsoft.com/office/drawing/2014/main" id="{B42DAC83-E2B7-43EC-89D2-A7FF3B09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432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根据报名条件、名额规则和人员数据，辅助生成招生通知、审核意见、名单校验和分班建议。</a:t>
            </a:r>
          </a:p>
        </p:txBody>
      </p:sp>
      <p:sp>
        <p:nvSpPr>
          <p:cNvPr id="14" name="card-运营助手">
            <a:extLst xmlns:a="http://schemas.openxmlformats.org/drawingml/2006/main">
              <a:ext uri="{FF2B5EF4-FFF2-40B4-BE49-F238E27FC236}">
                <a16:creationId xmlns:a16="http://schemas.microsoft.com/office/drawing/2014/main" id="{2E3CB0E0-235B-453B-8E90-0DEDB72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dge-03">
            <a:extLst xmlns:a="http://schemas.openxmlformats.org/drawingml/2006/main">
              <a:ext uri="{FF2B5EF4-FFF2-40B4-BE49-F238E27FC236}">
                <a16:creationId xmlns:a16="http://schemas.microsoft.com/office/drawing/2014/main" id="{B00DD3E2-4C0F-4F88-A8E0-86048E3E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dge-text-03">
            <a:extLst xmlns:a="http://schemas.openxmlformats.org/drawingml/2006/main">
              <a:ext uri="{FF2B5EF4-FFF2-40B4-BE49-F238E27FC236}">
                <a16:creationId xmlns:a16="http://schemas.microsoft.com/office/drawing/2014/main" id="{D51F6D00-F1A9-4A2A-9D12-B8358B5D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52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card-head-运营助手">
            <a:extLst xmlns:a="http://schemas.openxmlformats.org/drawingml/2006/main">
              <a:ext uri="{FF2B5EF4-FFF2-40B4-BE49-F238E27FC236}">
                <a16:creationId xmlns:a16="http://schemas.microsoft.com/office/drawing/2014/main" id="{1DA960BF-E788-4B2D-BDF1-D1CA3395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费用与台账治理</a:t>
            </a:r>
          </a:p>
        </p:txBody>
      </p:sp>
      <p:sp>
        <p:nvSpPr>
          <p:cNvPr id="18" name="card-body-运营助手">
            <a:extLst xmlns:a="http://schemas.openxmlformats.org/drawingml/2006/main">
              <a:ext uri="{FF2B5EF4-FFF2-40B4-BE49-F238E27FC236}">
                <a16:creationId xmlns:a16="http://schemas.microsoft.com/office/drawing/2014/main" id="{7CFCEE8D-E51E-4EB8-9CBD-535AC7C5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围绕费用标准、缴费状态、项目进度和通知任务，自动汇总台账、发现异常并生成统计报表。</a:t>
            </a:r>
          </a:p>
        </p:txBody>
      </p:sp>
      <p:sp>
        <p:nvSpPr>
          <p:cNvPr id="19" name="flow">
            <a:extLst xmlns:a="http://schemas.openxmlformats.org/drawingml/2006/main">
              <a:ext uri="{FF2B5EF4-FFF2-40B4-BE49-F238E27FC236}">
                <a16:creationId xmlns:a16="http://schemas.microsoft.com/office/drawing/2014/main" id="{3DAE5A4B-6D71-4A09-A37A-FBBAE451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" y="4629150"/>
            <a:ext cx="106457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0" name="flow-text">
            <a:extLst xmlns:a="http://schemas.openxmlformats.org/drawingml/2006/main">
              <a:ext uri="{FF2B5EF4-FFF2-40B4-BE49-F238E27FC236}">
                <a16:creationId xmlns:a16="http://schemas.microsoft.com/office/drawing/2014/main" id="{812C3F28-2166-4110-A996-0E4A53A9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" y="4829175"/>
            <a:ext cx="948753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4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输入：培训目标 / 对象名单 / 课程资源 / 报名条件 / 费用规则  →  AI 信息编排与校验  →  输出：项目计划 / 招生通知 / 审核名单 / 费用台账 / 统计报表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8CEC8212-54BB-4247-A18A-1169F4E6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350891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F74C56-93EE-42E1-886A-E5CA79B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“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研修活动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：空间承载过程，智能体陪伴学习与实训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0D6027F-0206-4B70-A977-A997D35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026453C5-A70E-4539-A35B-8DBC180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238375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EFE92DF8-7EFF-4D0A-89BF-BF963EA2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step-head-0">
            <a:extLst xmlns:a="http://schemas.openxmlformats.org/drawingml/2006/main">
              <a:ext uri="{FF2B5EF4-FFF2-40B4-BE49-F238E27FC236}">
                <a16:creationId xmlns:a16="http://schemas.microsoft.com/office/drawing/2014/main" id="{3C8B7937-2BBA-4BAF-9362-DD9DA3BD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线上学习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DBBC34E5-BCE6-4513-A266-1C3035E4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资料问答、课程导学、知识点解释、学习提醒。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7E91AD78-FC44-4B35-8803-653275C8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238375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0D9D9DAA-384E-45E5-ADA6-6B14C377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step-head-1">
            <a:extLst xmlns:a="http://schemas.openxmlformats.org/drawingml/2006/main">
              <a:ext uri="{FF2B5EF4-FFF2-40B4-BE49-F238E27FC236}">
                <a16:creationId xmlns:a16="http://schemas.microsoft.com/office/drawing/2014/main" id="{728E1823-9ECD-4A5C-BDAE-0609FDE8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线下工作坊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5CF0BBD-0ACC-4E2D-8153-2259E8C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任务分发、实操指导、现场问题答疑、成果点评记录。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6F0F0190-DD51-4C81-AA11-F318FFC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2238375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0EC45EB9-D7C5-4805-BF6E-805A624A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step-head-2">
            <a:extLst xmlns:a="http://schemas.openxmlformats.org/drawingml/2006/main">
              <a:ext uri="{FF2B5EF4-FFF2-40B4-BE49-F238E27FC236}">
                <a16:creationId xmlns:a16="http://schemas.microsoft.com/office/drawing/2014/main" id="{018A0D4C-9839-4C37-81B1-603E8623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协同研修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C927FD6-A578-431A-A130-F270F317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小组讨论总结、案例共创、课例打磨、研究资料整理。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A58A91CF-2BE4-48E7-80E2-714D782B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2238375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B2F61417-DE3C-4443-BC0E-8C86669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step-head-3">
            <a:extLst xmlns:a="http://schemas.openxmlformats.org/drawingml/2006/main">
              <a:ext uri="{FF2B5EF4-FFF2-40B4-BE49-F238E27FC236}">
                <a16:creationId xmlns:a16="http://schemas.microsoft.com/office/drawing/2014/main" id="{DFECFDAF-CD3B-4649-BC6E-AF8709AA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成果沉淀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6078A9D-585F-4A36-A66F-E97B967A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作业摘要、成果标签、优秀案例推荐和复用。</a:t>
            </a:r>
          </a:p>
        </p:txBody>
      </p:sp>
      <p:sp>
        <p:nvSpPr>
          <p:cNvPr id="20" name="note">
            <a:extLst xmlns:a="http://schemas.openxmlformats.org/drawingml/2006/main">
              <a:ext uri="{FF2B5EF4-FFF2-40B4-BE49-F238E27FC236}">
                <a16:creationId xmlns:a16="http://schemas.microsoft.com/office/drawing/2014/main" id="{E4AC44FF-62FB-4A48-919F-21EB61EF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4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关键变化：培训空间不只是页面容器，而是成员、任务、资料、智能体、成果和评价数据的统一业务现场。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A44202C1-2CA8-4710-9E52-57AFFA4D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850697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2A0861-83BE-4AE5-B2D9-EEC52AD0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赋能“培训评估”：AI + 大数据辅助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75F4388-D81B-4E5B-BC4C-80F3383D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F94F600D-A33D-4B9B-AF7B-E05290C8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25" name="eval-data-panel">
            <a:extLst xmlns:a="http://schemas.openxmlformats.org/drawingml/2006/main">
              <a:ext uri="{FF2B5EF4-FFF2-40B4-BE49-F238E27FC236}">
                <a16:creationId xmlns:a16="http://schemas.microsoft.com/office/drawing/2014/main" id="{D5670CB7-D675-4FCA-92D4-E715B7A2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352040" cy="281495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AE2"/>
            </a:solidFill>
            <a:prstDash val="solid"/>
          </a:ln>
        </p:spPr>
      </p:sp>
      <p:sp>
        <p:nvSpPr>
          <p:cNvPr id="26" name="eval-data-badge">
            <a:extLst xmlns:a="http://schemas.openxmlformats.org/drawingml/2006/main">
              <a:ext uri="{FF2B5EF4-FFF2-40B4-BE49-F238E27FC236}">
                <a16:creationId xmlns:a16="http://schemas.microsoft.com/office/drawing/2014/main" id="{B306BF9B-E82A-4FEF-811F-04691A3F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809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7" name="eval-data-badge-text">
            <a:extLst xmlns:a="http://schemas.openxmlformats.org/drawingml/2006/main">
              <a:ext uri="{FF2B5EF4-FFF2-40B4-BE49-F238E27FC236}">
                <a16:creationId xmlns:a16="http://schemas.microsoft.com/office/drawing/2014/main" id="{50E81D71-16EA-4627-B40B-EAC9AC8D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大数据（埋点）</a:t>
            </a:r>
          </a:p>
        </p:txBody>
      </p:sp>
      <p:sp>
        <p:nvSpPr>
          <p:cNvPr id="28" name="eval-data-pill-1">
            <a:extLst xmlns:a="http://schemas.openxmlformats.org/drawingml/2006/main">
              <a:ext uri="{FF2B5EF4-FFF2-40B4-BE49-F238E27FC236}">
                <a16:creationId xmlns:a16="http://schemas.microsoft.com/office/drawing/2014/main" id="{FC6C7DB7-2005-4DA2-BD1A-A0A78216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17907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29" name="eval-data-pill-1-text">
            <a:extLst xmlns:a="http://schemas.openxmlformats.org/drawingml/2006/main">
              <a:ext uri="{FF2B5EF4-FFF2-40B4-BE49-F238E27FC236}">
                <a16:creationId xmlns:a16="http://schemas.microsoft.com/office/drawing/2014/main" id="{0D58BE79-EE7D-4708-94B8-C12D195D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签到 / 互动</a:t>
            </a:r>
          </a:p>
        </p:txBody>
      </p:sp>
      <p:sp>
        <p:nvSpPr>
          <p:cNvPr id="30" name="eval-data-pill-2">
            <a:extLst xmlns:a="http://schemas.openxmlformats.org/drawingml/2006/main">
              <a:ext uri="{FF2B5EF4-FFF2-40B4-BE49-F238E27FC236}">
                <a16:creationId xmlns:a16="http://schemas.microsoft.com/office/drawing/2014/main" id="{3F4FFA90-2826-4721-BA9F-04F211CF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7907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31" name="eval-data-pill-2-text">
            <a:extLst xmlns:a="http://schemas.openxmlformats.org/drawingml/2006/main">
              <a:ext uri="{FF2B5EF4-FFF2-40B4-BE49-F238E27FC236}">
                <a16:creationId xmlns:a16="http://schemas.microsoft.com/office/drawing/2014/main" id="{6733CEC9-53F8-4214-86C8-B390052B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任务 / 问卷</a:t>
            </a:r>
          </a:p>
        </p:txBody>
      </p:sp>
      <p:sp>
        <p:nvSpPr>
          <p:cNvPr id="32" name="eval-data-pill-3">
            <a:extLst xmlns:a="http://schemas.openxmlformats.org/drawingml/2006/main">
              <a:ext uri="{FF2B5EF4-FFF2-40B4-BE49-F238E27FC236}">
                <a16:creationId xmlns:a16="http://schemas.microsoft.com/office/drawing/2014/main" id="{195C75FB-B0B7-4F8F-ADCF-4F0C44F9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7907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33" name="eval-data-pill-3-text">
            <a:extLst xmlns:a="http://schemas.openxmlformats.org/drawingml/2006/main">
              <a:ext uri="{FF2B5EF4-FFF2-40B4-BE49-F238E27FC236}">
                <a16:creationId xmlns:a16="http://schemas.microsoft.com/office/drawing/2014/main" id="{A7727DA4-A7DC-474C-9960-5B4D8D4A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课堂/研讨行为</a:t>
            </a:r>
          </a:p>
        </p:txBody>
      </p:sp>
      <p:sp>
        <p:nvSpPr>
          <p:cNvPr id="34" name="eval-data-pill-4">
            <a:extLst xmlns:a="http://schemas.openxmlformats.org/drawingml/2006/main">
              <a:ext uri="{FF2B5EF4-FFF2-40B4-BE49-F238E27FC236}">
                <a16:creationId xmlns:a16="http://schemas.microsoft.com/office/drawing/2014/main" id="{2B0CAA10-EAB7-426A-968D-399D16B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17907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35" name="eval-data-pill-4-text">
            <a:extLst xmlns:a="http://schemas.openxmlformats.org/drawingml/2006/main">
              <a:ext uri="{FF2B5EF4-FFF2-40B4-BE49-F238E27FC236}">
                <a16:creationId xmlns:a16="http://schemas.microsoft.com/office/drawing/2014/main" id="{2F98D46E-6549-4291-8BDA-6B6BC6A9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成果材料</a:t>
            </a:r>
          </a:p>
        </p:txBody>
      </p:sp>
      <p:sp>
        <p:nvSpPr>
          <p:cNvPr id="36" name="eval-data-pill-5">
            <a:extLst xmlns:a="http://schemas.openxmlformats.org/drawingml/2006/main">
              <a:ext uri="{FF2B5EF4-FFF2-40B4-BE49-F238E27FC236}">
                <a16:creationId xmlns:a16="http://schemas.microsoft.com/office/drawing/2014/main" id="{4CEFB3F8-6856-4018-81F0-C6835101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17907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37" name="eval-data-pill-5-text">
            <a:extLst xmlns:a="http://schemas.openxmlformats.org/drawingml/2006/main">
              <a:ext uri="{FF2B5EF4-FFF2-40B4-BE49-F238E27FC236}">
                <a16:creationId xmlns:a16="http://schemas.microsoft.com/office/drawing/2014/main" id="{FCA1A56A-E203-4A80-A70B-45B166B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专家意见 / 规则</a:t>
            </a:r>
          </a:p>
        </p:txBody>
      </p:sp>
      <p:sp>
        <p:nvSpPr>
          <p:cNvPr id="38" name="eval-arrow-data-to-ai">
            <a:extLst xmlns:a="http://schemas.openxmlformats.org/drawingml/2006/main">
              <a:ext uri="{FF2B5EF4-FFF2-40B4-BE49-F238E27FC236}">
                <a16:creationId xmlns:a16="http://schemas.microsoft.com/office/drawing/2014/main" id="{67CC063D-93D2-4463-B7CB-C9004932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162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39" name="eval-arrow-label-1">
            <a:extLst xmlns:a="http://schemas.openxmlformats.org/drawingml/2006/main">
              <a:ext uri="{FF2B5EF4-FFF2-40B4-BE49-F238E27FC236}">
                <a16:creationId xmlns:a16="http://schemas.microsoft.com/office/drawing/2014/main" id="{8664D1D7-AA4C-4BA8-ACEC-F2EC2D8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过程留痕</a:t>
            </a:r>
          </a:p>
        </p:txBody>
      </p:sp>
      <p:sp>
        <p:nvSpPr>
          <p:cNvPr id="40" name="eval-ai-oval">
            <a:extLst xmlns:a="http://schemas.openxmlformats.org/drawingml/2006/main">
              <a:ext uri="{FF2B5EF4-FFF2-40B4-BE49-F238E27FC236}">
                <a16:creationId xmlns:a16="http://schemas.microsoft.com/office/drawing/2014/main" id="{F53312EE-A9B6-424B-8ECA-BBD8F743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2766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2F83FF"/>
            </a:solidFill>
            <a:prstDash val="solid"/>
          </a:ln>
        </p:spPr>
      </p:sp>
      <p:sp>
        <p:nvSpPr>
          <p:cNvPr id="41" name="eval-ai-title">
            <a:extLst xmlns:a="http://schemas.openxmlformats.org/drawingml/2006/main">
              <a:ext uri="{FF2B5EF4-FFF2-40B4-BE49-F238E27FC236}">
                <a16:creationId xmlns:a16="http://schemas.microsoft.com/office/drawing/2014/main" id="{0E60F1F6-8B49-4AE8-A474-307D542A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9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+ 大数据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评估辅助</a:t>
            </a:r>
          </a:p>
        </p:txBody>
      </p:sp>
      <p:sp>
        <p:nvSpPr>
          <p:cNvPr id="42" name="eval-ai-body">
            <a:extLst xmlns:a="http://schemas.openxmlformats.org/drawingml/2006/main">
              <a:ext uri="{FF2B5EF4-FFF2-40B4-BE49-F238E27FC236}">
                <a16:creationId xmlns:a16="http://schemas.microsoft.com/office/drawing/2014/main" id="{FF10DC62-953B-4139-9A50-6D152D86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9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埋点分析 / 证据归集</a:t>
            </a:r>
          </a:p>
          <a:p xmlns:a="http://schemas.openxmlformats.org/drawingml/2006/main">
            <a:pPr algn="ctr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指标匹配 / 报告草稿 / 风险提示</a:t>
            </a:r>
          </a:p>
        </p:txBody>
      </p:sp>
      <p:sp>
        <p:nvSpPr>
          <p:cNvPr id="43" name="eval-arrow-ai-to-human">
            <a:extLst xmlns:a="http://schemas.openxmlformats.org/drawingml/2006/main">
              <a:ext uri="{FF2B5EF4-FFF2-40B4-BE49-F238E27FC236}">
                <a16:creationId xmlns:a16="http://schemas.microsoft.com/office/drawing/2014/main" id="{6059EBDF-6851-4E31-8461-38542059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1143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44" name="eval-arrow-label-2">
            <a:extLst xmlns:a="http://schemas.openxmlformats.org/drawingml/2006/main">
              <a:ext uri="{FF2B5EF4-FFF2-40B4-BE49-F238E27FC236}">
                <a16:creationId xmlns:a16="http://schemas.microsoft.com/office/drawing/2014/main" id="{1EB49AD1-CF5D-474E-ADD4-DA4E00EA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建议生成</a:t>
            </a:r>
          </a:p>
        </p:txBody>
      </p:sp>
      <p:sp>
        <p:nvSpPr>
          <p:cNvPr id="45" name="eval-human-panel">
            <a:extLst xmlns:a="http://schemas.openxmlformats.org/drawingml/2006/main">
              <a:ext uri="{FF2B5EF4-FFF2-40B4-BE49-F238E27FC236}">
                <a16:creationId xmlns:a16="http://schemas.microsoft.com/office/drawing/2014/main" id="{81372DCE-DC5B-4ED1-81DC-8B18B1F5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2324100" cy="196215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2F83FF"/>
            </a:solidFill>
            <a:prstDash val="solid"/>
          </a:ln>
        </p:spPr>
      </p:sp>
      <p:sp>
        <p:nvSpPr>
          <p:cNvPr id="46" name="eval-human-title">
            <a:extLst xmlns:a="http://schemas.openxmlformats.org/drawingml/2006/main">
              <a:ext uri="{FF2B5EF4-FFF2-40B4-BE49-F238E27FC236}">
                <a16:creationId xmlns:a16="http://schemas.microsoft.com/office/drawing/2014/main" id="{77FD64CA-1B97-4BE4-8133-2F9FB66B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47" name="eval-human-body">
            <a:extLst xmlns:a="http://schemas.openxmlformats.org/drawingml/2006/main">
              <a:ext uri="{FF2B5EF4-FFF2-40B4-BE49-F238E27FC236}">
                <a16:creationId xmlns:a16="http://schemas.microsoft.com/office/drawing/2014/main" id="{825720A6-9D25-4489-A78A-D1CF3E67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28950"/>
            <a:ext cx="1790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7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人工复核评分、等级、评语和结论。</a:t>
            </a:r>
          </a:p>
          <a:p xmlns:a="http://schemas.openxmlformats.org/drawingml/2006/main"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仅提供辅助建议。</a:t>
            </a:r>
          </a:p>
        </p:txBody>
      </p:sp>
      <p:sp>
        <p:nvSpPr>
          <p:cNvPr id="48" name="eval-bottom">
            <a:extLst xmlns:a="http://schemas.openxmlformats.org/drawingml/2006/main">
              <a:ext uri="{FF2B5EF4-FFF2-40B4-BE49-F238E27FC236}">
                <a16:creationId xmlns:a16="http://schemas.microsoft.com/office/drawing/2014/main" id="{7C6FCE15-CFEC-4176-A2B4-E32D79D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边界原则：埋点数据用于过程证据，AI 只做整理与建议；</a:t>
            </a: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最终评分、等级和结论由</a:t>
            </a: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19943831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63BEE0-2B93-47D0-9997-9A597F2E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“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教师档案与用户推荐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：让培训结果进入下一轮发展服务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98249A7-6AE7-40B5-87DA-6CEEEA25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chive">
            <a:extLst xmlns:a="http://schemas.openxmlformats.org/drawingml/2006/main">
              <a:ext uri="{FF2B5EF4-FFF2-40B4-BE49-F238E27FC236}">
                <a16:creationId xmlns:a16="http://schemas.microsoft.com/office/drawing/2014/main" id="{29FB3565-AAB4-45C0-968D-390AC767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841625" cy="2588895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chive-title">
            <a:extLst xmlns:a="http://schemas.openxmlformats.org/drawingml/2006/main">
              <a:ext uri="{FF2B5EF4-FFF2-40B4-BE49-F238E27FC236}">
                <a16:creationId xmlns:a16="http://schemas.microsoft.com/office/drawing/2014/main" id="{5F8B7651-9F7F-4C48-98D0-B67DD83C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</a:p>
        </p:txBody>
      </p:sp>
      <p:sp>
        <p:nvSpPr>
          <p:cNvPr id="6" name="pill-培训记录">
            <a:extLst xmlns:a="http://schemas.openxmlformats.org/drawingml/2006/main">
              <a:ext uri="{FF2B5EF4-FFF2-40B4-BE49-F238E27FC236}">
                <a16:creationId xmlns:a16="http://schemas.microsoft.com/office/drawing/2014/main" id="{4603EF78-AAA3-49E5-BEEB-8700D04B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000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ill-text-培训记录">
            <a:extLst xmlns:a="http://schemas.openxmlformats.org/drawingml/2006/main">
              <a:ext uri="{FF2B5EF4-FFF2-40B4-BE49-F238E27FC236}">
                <a16:creationId xmlns:a16="http://schemas.microsoft.com/office/drawing/2014/main" id="{4900C5AF-37FE-4713-8066-8E2C1E68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培训记录</a:t>
            </a:r>
          </a:p>
        </p:txBody>
      </p:sp>
      <p:sp>
        <p:nvSpPr>
          <p:cNvPr id="8" name="pill-成果材料">
            <a:extLst xmlns:a="http://schemas.openxmlformats.org/drawingml/2006/main">
              <a:ext uri="{FF2B5EF4-FFF2-40B4-BE49-F238E27FC236}">
                <a16:creationId xmlns:a16="http://schemas.microsoft.com/office/drawing/2014/main" id="{1D6E006E-AB42-48AE-8FA8-CC7F407E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000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ill-text-成果材料">
            <a:extLst xmlns:a="http://schemas.openxmlformats.org/drawingml/2006/main">
              <a:ext uri="{FF2B5EF4-FFF2-40B4-BE49-F238E27FC236}">
                <a16:creationId xmlns:a16="http://schemas.microsoft.com/office/drawing/2014/main" id="{83EE56B7-60B8-456A-ABEC-9687874D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成果材料</a:t>
            </a:r>
          </a:p>
        </p:txBody>
      </p:sp>
      <p:sp>
        <p:nvSpPr>
          <p:cNvPr id="10" name="pill-评价结果">
            <a:extLst xmlns:a="http://schemas.openxmlformats.org/drawingml/2006/main">
              <a:ext uri="{FF2B5EF4-FFF2-40B4-BE49-F238E27FC236}">
                <a16:creationId xmlns:a16="http://schemas.microsoft.com/office/drawing/2014/main" id="{195018A8-B191-48F6-87CF-AC8B8A5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000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ill-text-评价结果">
            <a:extLst xmlns:a="http://schemas.openxmlformats.org/drawingml/2006/main">
              <a:ext uri="{FF2B5EF4-FFF2-40B4-BE49-F238E27FC236}">
                <a16:creationId xmlns:a16="http://schemas.microsoft.com/office/drawing/2014/main" id="{97245FC3-90F8-450B-AACA-08F98FB3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评价结果</a:t>
            </a:r>
          </a:p>
        </p:txBody>
      </p:sp>
      <p:sp>
        <p:nvSpPr>
          <p:cNvPr id="12" name="pill-成长轨迹">
            <a:extLst xmlns:a="http://schemas.openxmlformats.org/drawingml/2006/main">
              <a:ext uri="{FF2B5EF4-FFF2-40B4-BE49-F238E27FC236}">
                <a16:creationId xmlns:a16="http://schemas.microsoft.com/office/drawing/2014/main" id="{DCE75929-17BB-4842-9B6E-76B25E5C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000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pill-text-成长轨迹">
            <a:extLst xmlns:a="http://schemas.openxmlformats.org/drawingml/2006/main">
              <a:ext uri="{FF2B5EF4-FFF2-40B4-BE49-F238E27FC236}">
                <a16:creationId xmlns:a16="http://schemas.microsoft.com/office/drawing/2014/main" id="{48B281F0-B623-41D1-B37E-F7B8049E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成长轨迹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32049C8-A837-4DE2-86E0-9E41EA86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ortrait">
            <a:extLst xmlns:a="http://schemas.openxmlformats.org/drawingml/2006/main">
              <a:ext uri="{FF2B5EF4-FFF2-40B4-BE49-F238E27FC236}">
                <a16:creationId xmlns:a16="http://schemas.microsoft.com/office/drawing/2014/main" id="{0D3F552B-1F7D-4F1F-A248-EA7345C1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17" name="portrait-text">
            <a:extLst xmlns:a="http://schemas.openxmlformats.org/drawingml/2006/main">
              <a:ext uri="{FF2B5EF4-FFF2-40B4-BE49-F238E27FC236}">
                <a16:creationId xmlns:a16="http://schemas.microsoft.com/office/drawing/2014/main" id="{7EF39694-4F7B-4B48-B980-1DF401B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画像与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能力诊断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D617681F-4685-45AD-BEE0-02CFDFD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row">
            <a:extLst xmlns:a="http://schemas.openxmlformats.org/drawingml/2006/main">
              <a:ext uri="{FF2B5EF4-FFF2-40B4-BE49-F238E27FC236}">
                <a16:creationId xmlns:a16="http://schemas.microsoft.com/office/drawing/2014/main" id="{44F67D8E-9265-4035-9678-1AFE8465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17890" y="332930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recommend">
            <a:extLst xmlns:a="http://schemas.openxmlformats.org/drawingml/2006/main">
              <a:ext uri="{FF2B5EF4-FFF2-40B4-BE49-F238E27FC236}">
                <a16:creationId xmlns:a16="http://schemas.microsoft.com/office/drawing/2014/main" id="{469B65F6-2B8A-4621-8F41-792CF4F6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764155" cy="2603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rec-title">
            <a:extLst xmlns:a="http://schemas.openxmlformats.org/drawingml/2006/main">
              <a:ext uri="{FF2B5EF4-FFF2-40B4-BE49-F238E27FC236}">
                <a16:creationId xmlns:a16="http://schemas.microsoft.com/office/drawing/2014/main" id="{A1CF7929-B59E-40AD-AF88-C9C4A64E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推荐服务</a:t>
            </a:r>
          </a:p>
        </p:txBody>
      </p:sp>
      <p:sp>
        <p:nvSpPr>
          <p:cNvPr id="22" name="pill-课程推荐">
            <a:extLst xmlns:a="http://schemas.openxmlformats.org/drawingml/2006/main">
              <a:ext uri="{FF2B5EF4-FFF2-40B4-BE49-F238E27FC236}">
                <a16:creationId xmlns:a16="http://schemas.microsoft.com/office/drawing/2014/main" id="{49842CB6-3790-4CD4-93A9-AEC55AD6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86100"/>
            <a:ext cx="1924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ll-text-课程推荐">
            <a:extLst xmlns:a="http://schemas.openxmlformats.org/drawingml/2006/main">
              <a:ext uri="{FF2B5EF4-FFF2-40B4-BE49-F238E27FC236}">
                <a16:creationId xmlns:a16="http://schemas.microsoft.com/office/drawing/2014/main" id="{601DE765-62E8-4F62-A3B7-C81F139F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课程推荐</a:t>
            </a:r>
          </a:p>
        </p:txBody>
      </p:sp>
      <p:sp>
        <p:nvSpPr>
          <p:cNvPr id="24" name="pill-活动推荐">
            <a:extLst xmlns:a="http://schemas.openxmlformats.org/drawingml/2006/main">
              <a:ext uri="{FF2B5EF4-FFF2-40B4-BE49-F238E27FC236}">
                <a16:creationId xmlns:a16="http://schemas.microsoft.com/office/drawing/2014/main" id="{D4AFB5CF-6360-46D0-ABBB-C3F295B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86150"/>
            <a:ext cx="1924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l-text-活动推荐">
            <a:extLst xmlns:a="http://schemas.openxmlformats.org/drawingml/2006/main">
              <a:ext uri="{FF2B5EF4-FFF2-40B4-BE49-F238E27FC236}">
                <a16:creationId xmlns:a16="http://schemas.microsoft.com/office/drawing/2014/main" id="{A247A041-3F4E-4538-92AD-8721A47A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活动推荐</a:t>
            </a:r>
          </a:p>
        </p:txBody>
      </p:sp>
      <p:sp>
        <p:nvSpPr>
          <p:cNvPr id="26" name="pill-资源推荐">
            <a:extLst xmlns:a="http://schemas.openxmlformats.org/drawingml/2006/main">
              <a:ext uri="{FF2B5EF4-FFF2-40B4-BE49-F238E27FC236}">
                <a16:creationId xmlns:a16="http://schemas.microsoft.com/office/drawing/2014/main" id="{4C463151-0E8F-430D-9FA0-266C6E38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86200"/>
            <a:ext cx="1924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ll-text-资源推荐">
            <a:extLst xmlns:a="http://schemas.openxmlformats.org/drawingml/2006/main">
              <a:ext uri="{FF2B5EF4-FFF2-40B4-BE49-F238E27FC236}">
                <a16:creationId xmlns:a16="http://schemas.microsoft.com/office/drawing/2014/main" id="{E2190C93-E90F-4D33-B983-9C41775A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资源推荐</a:t>
            </a:r>
          </a:p>
        </p:txBody>
      </p:sp>
      <p:sp>
        <p:nvSpPr>
          <p:cNvPr id="28" name="pill-路径推荐">
            <a:extLst xmlns:a="http://schemas.openxmlformats.org/drawingml/2006/main">
              <a:ext uri="{FF2B5EF4-FFF2-40B4-BE49-F238E27FC236}">
                <a16:creationId xmlns:a16="http://schemas.microsoft.com/office/drawing/2014/main" id="{9971C7DB-90CB-4D20-A1C6-54556526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86250"/>
            <a:ext cx="1924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ll-text-路径推荐">
            <a:extLst xmlns:a="http://schemas.openxmlformats.org/drawingml/2006/main">
              <a:ext uri="{FF2B5EF4-FFF2-40B4-BE49-F238E27FC236}">
                <a16:creationId xmlns:a16="http://schemas.microsoft.com/office/drawing/2014/main" id="{C5765FD8-B8FE-4DC6-91D9-EB532194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路径推荐</a:t>
            </a:r>
          </a:p>
        </p:txBody>
      </p:sp>
      <p:sp>
        <p:nvSpPr>
          <p:cNvPr id="30" name="note">
            <a:extLst xmlns:a="http://schemas.openxmlformats.org/drawingml/2006/main">
              <a:ext uri="{FF2B5EF4-FFF2-40B4-BE49-F238E27FC236}">
                <a16:creationId xmlns:a16="http://schemas.microsoft.com/office/drawing/2014/main" id="{0E8D57C4-229B-485D-AF09-D9732DC3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AI 原生底座把“评价发现问题”转化为“推荐推动改进”，形成持续培训闭环。</a:t>
            </a:r>
          </a:p>
        </p:txBody>
      </p:sp>
      <p:sp>
        <p:nvSpPr>
          <p:cNvPr id="31" name="page">
            <a:extLst xmlns:a="http://schemas.openxmlformats.org/drawingml/2006/main">
              <a:ext uri="{FF2B5EF4-FFF2-40B4-BE49-F238E27FC236}">
                <a16:creationId xmlns:a16="http://schemas.microsoft.com/office/drawing/2014/main" id="{0EA6CB14-204B-4F8A-8032-7C9D1662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3" name="arrow">
            <a:extLst xmlns:a="http://schemas.openxmlformats.org/drawingml/2006/main">
              <a:ext uri="{FF2B5EF4-FFF2-40B4-BE49-F238E27FC236}">
                <a16:creationId xmlns:a16="http://schemas.microsoft.com/office/drawing/2014/main" id="{B58DA523-EADB-4B8B-95F5-692F6DF2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73625" y="333184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19242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9E6BB1-2004-42B7-AA2D-D17E9D6B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智能体矩阵覆盖培训平台中的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所有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4C3567C-8B12-400A-8272-2924E4F1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教师智能助理">
            <a:extLst xmlns:a="http://schemas.openxmlformats.org/drawingml/2006/main">
              <a:ext uri="{FF2B5EF4-FFF2-40B4-BE49-F238E27FC236}">
                <a16:creationId xmlns:a16="http://schemas.microsoft.com/office/drawing/2014/main" id="{2500AA5A-B0C6-4C9B-B5A9-97E8FA4F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5" name="badge-01">
            <a:extLst xmlns:a="http://schemas.openxmlformats.org/drawingml/2006/main">
              <a:ext uri="{FF2B5EF4-FFF2-40B4-BE49-F238E27FC236}">
                <a16:creationId xmlns:a16="http://schemas.microsoft.com/office/drawing/2014/main" id="{EBA6258F-76A8-4D3F-9F9B-270A8C1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badge-text-01">
            <a:extLst xmlns:a="http://schemas.openxmlformats.org/drawingml/2006/main">
              <a:ext uri="{FF2B5EF4-FFF2-40B4-BE49-F238E27FC236}">
                <a16:creationId xmlns:a16="http://schemas.microsoft.com/office/drawing/2014/main" id="{34C3ACD7-3E26-49F2-A0F4-F982AF4E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ard-head-教师智能助理">
            <a:extLst xmlns:a="http://schemas.openxmlformats.org/drawingml/2006/main">
              <a:ext uri="{FF2B5EF4-FFF2-40B4-BE49-F238E27FC236}">
                <a16:creationId xmlns:a16="http://schemas.microsoft.com/office/drawing/2014/main" id="{B097038E-4FA3-4FDE-A5C7-69A7038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11671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教师智能助理</a:t>
            </a:r>
          </a:p>
        </p:txBody>
      </p:sp>
      <p:sp>
        <p:nvSpPr>
          <p:cNvPr id="8" name="card-body-教师智能助理">
            <a:extLst xmlns:a="http://schemas.openxmlformats.org/drawingml/2006/main">
              <a:ext uri="{FF2B5EF4-FFF2-40B4-BE49-F238E27FC236}">
                <a16:creationId xmlns:a16="http://schemas.microsoft.com/office/drawing/2014/main" id="{7B2A7EB3-FA7B-446F-9DDE-D5259C09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3027045"/>
            <a:ext cx="1423035" cy="1287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课程导学、任务辅导、成果生成、成长建议。</a:t>
            </a:r>
          </a:p>
        </p:txBody>
      </p:sp>
      <p:sp>
        <p:nvSpPr>
          <p:cNvPr id="9" name="card-专家评审助理">
            <a:extLst xmlns:a="http://schemas.openxmlformats.org/drawingml/2006/main">
              <a:ext uri="{FF2B5EF4-FFF2-40B4-BE49-F238E27FC236}">
                <a16:creationId xmlns:a16="http://schemas.microsoft.com/office/drawing/2014/main" id="{BF0019AD-16AF-43D4-A4FB-FA496ED4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adge-02">
            <a:extLst xmlns:a="http://schemas.openxmlformats.org/drawingml/2006/main">
              <a:ext uri="{FF2B5EF4-FFF2-40B4-BE49-F238E27FC236}">
                <a16:creationId xmlns:a16="http://schemas.microsoft.com/office/drawing/2014/main" id="{6F9C6D35-2C8B-4CA2-82A3-AA36A2BA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dge-text-02">
            <a:extLst xmlns:a="http://schemas.openxmlformats.org/drawingml/2006/main">
              <a:ext uri="{FF2B5EF4-FFF2-40B4-BE49-F238E27FC236}">
                <a16:creationId xmlns:a16="http://schemas.microsoft.com/office/drawing/2014/main" id="{A27D24C2-E5DF-4688-AC09-FD42A9E2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card-head-专家评审助理">
            <a:extLst xmlns:a="http://schemas.openxmlformats.org/drawingml/2006/main">
              <a:ext uri="{FF2B5EF4-FFF2-40B4-BE49-F238E27FC236}">
                <a16:creationId xmlns:a16="http://schemas.microsoft.com/office/drawing/2014/main" id="{DE91B9BA-5B82-4A03-B573-0F25F902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0" y="2457450"/>
            <a:ext cx="12230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专家评审助理</a:t>
            </a:r>
          </a:p>
        </p:txBody>
      </p:sp>
      <p:sp>
        <p:nvSpPr>
          <p:cNvPr id="13" name="card-body-专家评审助理">
            <a:extLst xmlns:a="http://schemas.openxmlformats.org/drawingml/2006/main">
              <a:ext uri="{FF2B5EF4-FFF2-40B4-BE49-F238E27FC236}">
                <a16:creationId xmlns:a16="http://schemas.microsoft.com/office/drawing/2014/main" id="{8C02C2A4-DB90-4FA2-BD4E-17E8F819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700" y="2989580"/>
            <a:ext cx="1567180" cy="1325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材料预读、证据摘要、评语草稿、复核提示。</a:t>
            </a:r>
          </a:p>
        </p:txBody>
      </p:sp>
      <p:sp>
        <p:nvSpPr>
          <p:cNvPr id="14" name="card-培训运营助理">
            <a:extLst xmlns:a="http://schemas.openxmlformats.org/drawingml/2006/main">
              <a:ext uri="{FF2B5EF4-FFF2-40B4-BE49-F238E27FC236}">
                <a16:creationId xmlns:a16="http://schemas.microsoft.com/office/drawing/2014/main" id="{12E00C33-9A0D-4EC2-9B8B-303E9DEA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5" name="badge-03">
            <a:extLst xmlns:a="http://schemas.openxmlformats.org/drawingml/2006/main">
              <a:ext uri="{FF2B5EF4-FFF2-40B4-BE49-F238E27FC236}">
                <a16:creationId xmlns:a16="http://schemas.microsoft.com/office/drawing/2014/main" id="{8DD025A3-0934-4190-B4BD-FE425566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badge-text-03">
            <a:extLst xmlns:a="http://schemas.openxmlformats.org/drawingml/2006/main">
              <a:ext uri="{FF2B5EF4-FFF2-40B4-BE49-F238E27FC236}">
                <a16:creationId xmlns:a16="http://schemas.microsoft.com/office/drawing/2014/main" id="{12BED0C1-CE71-42AC-83D0-2CCB509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card-head-培训运营助理">
            <a:extLst xmlns:a="http://schemas.openxmlformats.org/drawingml/2006/main">
              <a:ext uri="{FF2B5EF4-FFF2-40B4-BE49-F238E27FC236}">
                <a16:creationId xmlns:a16="http://schemas.microsoft.com/office/drawing/2014/main" id="{3900F42F-C1CB-4343-BAF0-E25A74A9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080" y="2486025"/>
            <a:ext cx="116014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培训运营助理</a:t>
            </a:r>
          </a:p>
        </p:txBody>
      </p:sp>
      <p:sp>
        <p:nvSpPr>
          <p:cNvPr id="18" name="card-body-培训运营助理">
            <a:extLst xmlns:a="http://schemas.openxmlformats.org/drawingml/2006/main">
              <a:ext uri="{FF2B5EF4-FFF2-40B4-BE49-F238E27FC236}">
                <a16:creationId xmlns:a16="http://schemas.microsoft.com/office/drawing/2014/main" id="{FCB3F5C6-7F6E-4058-AA8A-3A0EBADD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205" y="3027045"/>
            <a:ext cx="1522730" cy="1287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通知生成、进度提醒、数据汇总、问题答复。</a:t>
            </a:r>
          </a:p>
        </p:txBody>
      </p:sp>
      <p:sp>
        <p:nvSpPr>
          <p:cNvPr id="19" name="card-项目负责人助理">
            <a:extLst xmlns:a="http://schemas.openxmlformats.org/drawingml/2006/main">
              <a:ext uri="{FF2B5EF4-FFF2-40B4-BE49-F238E27FC236}">
                <a16:creationId xmlns:a16="http://schemas.microsoft.com/office/drawing/2014/main" id="{057FC2E1-6AD2-46A9-AFBA-399450F1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badge-04">
            <a:extLst xmlns:a="http://schemas.openxmlformats.org/drawingml/2006/main">
              <a:ext uri="{FF2B5EF4-FFF2-40B4-BE49-F238E27FC236}">
                <a16:creationId xmlns:a16="http://schemas.microsoft.com/office/drawing/2014/main" id="{EE35339E-A12B-47AB-98C0-18C4181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dge-text-04">
            <a:extLst xmlns:a="http://schemas.openxmlformats.org/drawingml/2006/main">
              <a:ext uri="{FF2B5EF4-FFF2-40B4-BE49-F238E27FC236}">
                <a16:creationId xmlns:a16="http://schemas.microsoft.com/office/drawing/2014/main" id="{31C5FF9C-A1A0-42B5-B81E-54BF1301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card-head-项目负责人助理">
            <a:extLst xmlns:a="http://schemas.openxmlformats.org/drawingml/2006/main">
              <a:ext uri="{FF2B5EF4-FFF2-40B4-BE49-F238E27FC236}">
                <a16:creationId xmlns:a16="http://schemas.microsoft.com/office/drawing/2014/main" id="{0506B839-7FC9-4405-BE6E-196FD9D1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235" y="2493010"/>
            <a:ext cx="11442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2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项目负责人助理</a:t>
            </a:r>
          </a:p>
        </p:txBody>
      </p:sp>
      <p:sp>
        <p:nvSpPr>
          <p:cNvPr id="23" name="card-body-项目负责人助理">
            <a:extLst xmlns:a="http://schemas.openxmlformats.org/drawingml/2006/main">
              <a:ext uri="{FF2B5EF4-FFF2-40B4-BE49-F238E27FC236}">
                <a16:creationId xmlns:a16="http://schemas.microsoft.com/office/drawing/2014/main" id="{17ABADE6-D247-488C-BEA5-0F51D233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026410"/>
            <a:ext cx="1734185" cy="13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方案编排、活动排期、质量跟踪、报告生成。</a:t>
            </a:r>
          </a:p>
        </p:txBody>
      </p:sp>
      <p:sp>
        <p:nvSpPr>
          <p:cNvPr id="24" name="card-学校/区域管理助理">
            <a:extLst xmlns:a="http://schemas.openxmlformats.org/drawingml/2006/main">
              <a:ext uri="{FF2B5EF4-FFF2-40B4-BE49-F238E27FC236}">
                <a16:creationId xmlns:a16="http://schemas.microsoft.com/office/drawing/2014/main" id="{1DE88D6C-9D58-47C7-97BF-2DF20975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badge-05">
            <a:extLst xmlns:a="http://schemas.openxmlformats.org/drawingml/2006/main">
              <a:ext uri="{FF2B5EF4-FFF2-40B4-BE49-F238E27FC236}">
                <a16:creationId xmlns:a16="http://schemas.microsoft.com/office/drawing/2014/main" id="{B99B5D60-C0A1-4644-AE70-3771E73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dge-text-05">
            <a:extLst xmlns:a="http://schemas.openxmlformats.org/drawingml/2006/main">
              <a:ext uri="{FF2B5EF4-FFF2-40B4-BE49-F238E27FC236}">
                <a16:creationId xmlns:a16="http://schemas.microsoft.com/office/drawing/2014/main" id="{8BF6EC2E-C115-48EA-B5E2-CF15611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card-head-学校/区域管理助理">
            <a:extLst xmlns:a="http://schemas.openxmlformats.org/drawingml/2006/main">
              <a:ext uri="{FF2B5EF4-FFF2-40B4-BE49-F238E27FC236}">
                <a16:creationId xmlns:a16="http://schemas.microsoft.com/office/drawing/2014/main" id="{349279CA-B166-4A82-8003-6AF04FEB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515" y="2493010"/>
            <a:ext cx="1203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9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学校/区域管理助理</a:t>
            </a:r>
          </a:p>
        </p:txBody>
      </p:sp>
      <p:sp>
        <p:nvSpPr>
          <p:cNvPr id="28" name="card-body-学校/区域管理助理">
            <a:extLst xmlns:a="http://schemas.openxmlformats.org/drawingml/2006/main">
              <a:ext uri="{FF2B5EF4-FFF2-40B4-BE49-F238E27FC236}">
                <a16:creationId xmlns:a16="http://schemas.microsoft.com/office/drawing/2014/main" id="{F2BDC89C-A1F5-489A-891C-5016553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915" y="2989580"/>
            <a:ext cx="1435735" cy="1325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项目监测、群体分析、资源调度、决策摘要。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D40DED3D-727A-4DEB-B9D3-591144F7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416537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F2BA87-173A-438D-8DD1-B99F11E5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数据与知识闭环让每次培训都沉淀为平台资产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89B138C-B3FD-4BAB-ABF8-BC9522D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ode-0">
            <a:extLst xmlns:a="http://schemas.openxmlformats.org/drawingml/2006/main">
              <a:ext uri="{FF2B5EF4-FFF2-40B4-BE49-F238E27FC236}">
                <a16:creationId xmlns:a16="http://schemas.microsoft.com/office/drawing/2014/main" id="{36437F8A-8C5E-4D46-BDFC-CEB6A915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de-text-0">
            <a:extLst xmlns:a="http://schemas.openxmlformats.org/drawingml/2006/main">
              <a:ext uri="{FF2B5EF4-FFF2-40B4-BE49-F238E27FC236}">
                <a16:creationId xmlns:a16="http://schemas.microsoft.com/office/drawing/2014/main" id="{84ED480F-E5DE-4FFC-8EE0-354E5EE8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培训资料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0ACCF72A-1CA2-488D-AB6A-4D6F8CB2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1">
            <a:extLst xmlns:a="http://schemas.openxmlformats.org/drawingml/2006/main">
              <a:ext uri="{FF2B5EF4-FFF2-40B4-BE49-F238E27FC236}">
                <a16:creationId xmlns:a16="http://schemas.microsoft.com/office/drawing/2014/main" id="{774EB5E7-CB37-4C47-B8BC-5AC46301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9" name="node-text-1">
            <a:extLst xmlns:a="http://schemas.openxmlformats.org/drawingml/2006/main">
              <a:ext uri="{FF2B5EF4-FFF2-40B4-BE49-F238E27FC236}">
                <a16:creationId xmlns:a16="http://schemas.microsoft.com/office/drawing/2014/main" id="{80F5512D-983C-44FC-B42E-1D43839A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知识资产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890C8707-CDBB-4D63-ABD4-86C8064B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6B5F8813-B53C-410C-90DD-54968D95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134048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text-2">
            <a:extLst xmlns:a="http://schemas.openxmlformats.org/drawingml/2006/main">
              <a:ext uri="{FF2B5EF4-FFF2-40B4-BE49-F238E27FC236}">
                <a16:creationId xmlns:a16="http://schemas.microsoft.com/office/drawing/2014/main" id="{19E52E9F-92C7-4C30-84AF-44DC5565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空间过程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F7F001B0-8CF3-45A6-9BAC-5D0987D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495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3">
            <a:extLst xmlns:a="http://schemas.openxmlformats.org/drawingml/2006/main">
              <a:ext uri="{FF2B5EF4-FFF2-40B4-BE49-F238E27FC236}">
                <a16:creationId xmlns:a16="http://schemas.microsoft.com/office/drawing/2014/main" id="{3A83EAF1-FF57-49C1-AB3F-29F1E3BC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node-text-3">
            <a:extLst xmlns:a="http://schemas.openxmlformats.org/drawingml/2006/main">
              <a:ext uri="{FF2B5EF4-FFF2-40B4-BE49-F238E27FC236}">
                <a16:creationId xmlns:a16="http://schemas.microsoft.com/office/drawing/2014/main" id="{81356E65-51E5-4B9F-BC3E-D017A9D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评价证据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5313D4C2-E77A-434E-97EB-7143996C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de-4">
            <a:extLst xmlns:a="http://schemas.openxmlformats.org/drawingml/2006/main">
              <a:ext uri="{FF2B5EF4-FFF2-40B4-BE49-F238E27FC236}">
                <a16:creationId xmlns:a16="http://schemas.microsoft.com/office/drawing/2014/main" id="{27FAE360-109F-4849-B3F0-4CD74E3A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805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node-text-4">
            <a:extLst xmlns:a="http://schemas.openxmlformats.org/drawingml/2006/main">
              <a:ext uri="{FF2B5EF4-FFF2-40B4-BE49-F238E27FC236}">
                <a16:creationId xmlns:a16="http://schemas.microsoft.com/office/drawing/2014/main" id="{103CB4E9-D3B4-475D-99B4-769178AD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105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3BB17AE7-B9DB-47E1-B0C1-0820BB80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505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ode-5">
            <a:extLst xmlns:a="http://schemas.openxmlformats.org/drawingml/2006/main">
              <a:ext uri="{FF2B5EF4-FFF2-40B4-BE49-F238E27FC236}">
                <a16:creationId xmlns:a16="http://schemas.microsoft.com/office/drawing/2014/main" id="{1584BDD5-AC12-4A20-BFB7-5036349C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31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5" name="node-text-5">
            <a:extLst xmlns:a="http://schemas.openxmlformats.org/drawingml/2006/main">
              <a:ext uri="{FF2B5EF4-FFF2-40B4-BE49-F238E27FC236}">
                <a16:creationId xmlns:a16="http://schemas.microsoft.com/office/drawing/2014/main" id="{69E49C1C-52ED-4209-8693-9B55CEF0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61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智能推荐</a:t>
            </a:r>
          </a:p>
        </p:txBody>
      </p:sp>
      <p:sp>
        <p:nvSpPr>
          <p:cNvPr id="27" name="loop-text">
            <a:extLst xmlns:a="http://schemas.openxmlformats.org/drawingml/2006/main">
              <a:ext uri="{FF2B5EF4-FFF2-40B4-BE49-F238E27FC236}">
                <a16:creationId xmlns:a16="http://schemas.microsoft.com/office/drawing/2014/main" id="{2F6C33DA-5D2E-454D-937D-128E96F8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下一轮培训复用资料、空间模板、评价模型和教师画像，平台越用越懂业务。</a:t>
            </a:r>
          </a:p>
        </p:txBody>
      </p:sp>
      <p:sp>
        <p:nvSpPr>
          <p:cNvPr id="28" name="top-note">
            <a:extLst xmlns:a="http://schemas.openxmlformats.org/drawingml/2006/main">
              <a:ext uri="{FF2B5EF4-FFF2-40B4-BE49-F238E27FC236}">
                <a16:creationId xmlns:a16="http://schemas.microsoft.com/office/drawing/2014/main" id="{16E19895-C7B4-46E1-8A72-6F7C284D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核心机制：业务资料进入资料库，活动过程进入空间，评价结果进入档案，推荐结果回到新一轮培训。</a:t>
            </a:r>
          </a:p>
        </p:txBody>
      </p:sp>
      <p:sp>
        <p:nvSpPr>
          <p:cNvPr id="29" name="page">
            <a:extLst xmlns:a="http://schemas.openxmlformats.org/drawingml/2006/main">
              <a:ext uri="{FF2B5EF4-FFF2-40B4-BE49-F238E27FC236}">
                <a16:creationId xmlns:a16="http://schemas.microsoft.com/office/drawing/2014/main" id="{ED7690DA-9B3E-4496-B77F-DCE72D30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31" name="arrow">
            <a:extLst xmlns:a="http://schemas.openxmlformats.org/drawingml/2006/main">
              <a:ext uri="{FF2B5EF4-FFF2-40B4-BE49-F238E27FC236}">
                <a16:creationId xmlns:a16="http://schemas.microsoft.com/office/drawing/2014/main" id="{17CB84A6-512A-42AC-A2AB-9B1D1EEA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92045" y="316928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arrow">
            <a:extLst xmlns:a="http://schemas.openxmlformats.org/drawingml/2006/main">
              <a:ext uri="{FF2B5EF4-FFF2-40B4-BE49-F238E27FC236}">
                <a16:creationId xmlns:a16="http://schemas.microsoft.com/office/drawing/2014/main" id="{BA411EA1-2EBC-47B1-97B0-51308DAD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01795" y="3175000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arrow">
            <a:extLst xmlns:a="http://schemas.openxmlformats.org/drawingml/2006/main">
              <a:ext uri="{FF2B5EF4-FFF2-40B4-BE49-F238E27FC236}">
                <a16:creationId xmlns:a16="http://schemas.microsoft.com/office/drawing/2014/main" id="{43B50651-1B11-4903-A0B7-5682F264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93130" y="316928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arrow">
            <a:extLst xmlns:a="http://schemas.openxmlformats.org/drawingml/2006/main">
              <a:ext uri="{FF2B5EF4-FFF2-40B4-BE49-F238E27FC236}">
                <a16:creationId xmlns:a16="http://schemas.microsoft.com/office/drawing/2014/main" id="{94E3F962-B193-412D-BCDA-36DBE960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07655" y="317182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arrow">
            <a:extLst xmlns:a="http://schemas.openxmlformats.org/drawingml/2006/main">
              <a:ext uri="{FF2B5EF4-FFF2-40B4-BE49-F238E27FC236}">
                <a16:creationId xmlns:a16="http://schemas.microsoft.com/office/drawing/2014/main" id="{82229A5F-D262-493D-86F4-B0D4E222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50425" y="3169285"/>
            <a:ext cx="215900" cy="21971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3091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5AA385-6568-4673-9464-27D35DF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建设路线：先建底座，再做培训场景闭环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FAE4DE3-150D-4EBD-B741-C7D49A0E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F12DABAE-CC35-48F4-9C4C-4D018856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25377526-374C-4888-B78B-67A834F0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4038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2010079D-346C-42FF-92F2-FEB095D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第一阶段</a:t>
            </a:r>
          </a:p>
        </p:txBody>
      </p:sp>
      <p:sp>
        <p:nvSpPr>
          <p:cNvPr id="7" name="phase-head-0">
            <a:extLst xmlns:a="http://schemas.openxmlformats.org/drawingml/2006/main">
              <a:ext uri="{FF2B5EF4-FFF2-40B4-BE49-F238E27FC236}">
                <a16:creationId xmlns:a16="http://schemas.microsoft.com/office/drawing/2014/main" id="{F723AAEF-F8BE-438F-AECE-BE03356B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原生底座接入</a:t>
            </a:r>
          </a:p>
        </p:txBody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637E9423-24D2-427C-8819-8D182CA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接入 Lucky、资料库、空间、租户、模型统计和基础权限。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DC99458D-CF13-4588-8316-CB213C6C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7AFFAF6B-5EA5-45A5-AB11-5ADE050D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75" y="304038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F94DE0FB-45B1-47B8-BB90-D9FA8835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第二阶段</a:t>
            </a:r>
          </a:p>
        </p:txBody>
      </p:sp>
      <p:sp>
        <p:nvSpPr>
          <p:cNvPr id="12" name="phase-head-1">
            <a:extLst xmlns:a="http://schemas.openxmlformats.org/drawingml/2006/main">
              <a:ext uri="{FF2B5EF4-FFF2-40B4-BE49-F238E27FC236}">
                <a16:creationId xmlns:a16="http://schemas.microsoft.com/office/drawing/2014/main" id="{E900CFD6-5EA7-4825-9583-878EC08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052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培训场景模板</a:t>
            </a:r>
          </a:p>
        </p:txBody>
      </p:sp>
      <p:sp>
        <p:nvSpPr>
          <p:cNvPr id="13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90B67334-6435-4B18-8DC5-F9832470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4335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沉淀培训项目、工作坊、网络研修、AI 实训等标准空间模板。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5FA9FA50-7AC5-4848-9F56-E1521C28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t-2">
            <a:extLst xmlns:a="http://schemas.openxmlformats.org/drawingml/2006/main">
              <a:ext uri="{FF2B5EF4-FFF2-40B4-BE49-F238E27FC236}">
                <a16:creationId xmlns:a16="http://schemas.microsoft.com/office/drawing/2014/main" id="{707CED48-323D-4089-B169-B323361E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5E853749-F60E-44CF-B5D5-BE344273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第三阶段</a:t>
            </a:r>
          </a:p>
        </p:txBody>
      </p:sp>
      <p:sp>
        <p:nvSpPr>
          <p:cNvPr id="17" name="phase-head-2">
            <a:extLst xmlns:a="http://schemas.openxmlformats.org/drawingml/2006/main">
              <a:ext uri="{FF2B5EF4-FFF2-40B4-BE49-F238E27FC236}">
                <a16:creationId xmlns:a16="http://schemas.microsoft.com/office/drawing/2014/main" id="{1C155260-A9E4-4DA8-9EA2-BDA6FE77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评估与档案闭环</a:t>
            </a:r>
          </a:p>
        </p:txBody>
      </p:sp>
      <p:sp>
        <p:nvSpPr>
          <p:cNvPr id="18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85D975F1-4DBB-476A-98A2-30D0E14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完成数据归集、评价模型、报告生成、档案沉淀和画像更新。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59381CB0-604E-4548-AD49-BCAF7B01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3">
            <a:extLst xmlns:a="http://schemas.openxmlformats.org/drawingml/2006/main">
              <a:ext uri="{FF2B5EF4-FFF2-40B4-BE49-F238E27FC236}">
                <a16:creationId xmlns:a16="http://schemas.microsoft.com/office/drawing/2014/main" id="{F40B7954-2D21-4E2E-8AE1-566C8C4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996B1870-DA95-4A11-9542-6D6E38F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第四阶段</a:t>
            </a:r>
          </a:p>
        </p:txBody>
      </p:sp>
      <p:sp>
        <p:nvSpPr>
          <p:cNvPr id="22" name="phase-head-3">
            <a:extLst xmlns:a="http://schemas.openxmlformats.org/drawingml/2006/main">
              <a:ext uri="{FF2B5EF4-FFF2-40B4-BE49-F238E27FC236}">
                <a16:creationId xmlns:a16="http://schemas.microsoft.com/office/drawing/2014/main" id="{B7AFFB35-2977-428C-B614-5530BE18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推荐与运营服务</a:t>
            </a:r>
          </a:p>
        </p:txBody>
      </p:sp>
      <p:sp>
        <p:nvSpPr>
          <p:cNvPr id="23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DBE73722-8B04-49FA-A6CB-995A238D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上线课程、活动、资源、路径推荐，并形成运营看板和触达机制。</a:t>
            </a:r>
          </a:p>
        </p:txBody>
      </p:sp>
      <p:sp>
        <p:nvSpPr>
          <p:cNvPr id="24" name="bottom">
            <a:extLst xmlns:a="http://schemas.openxmlformats.org/drawingml/2006/main">
              <a:ext uri="{FF2B5EF4-FFF2-40B4-BE49-F238E27FC236}">
                <a16:creationId xmlns:a16="http://schemas.microsoft.com/office/drawing/2014/main" id="{2DC535E5-946D-438E-88FE-C3BB0E06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5" name="bottom-text">
            <a:extLst xmlns:a="http://schemas.openxmlformats.org/drawingml/2006/main">
              <a:ext uri="{FF2B5EF4-FFF2-40B4-BE49-F238E27FC236}">
                <a16:creationId xmlns:a16="http://schemas.microsoft.com/office/drawing/2014/main" id="{488C65CF-FB5A-4C07-AB90-E5AA5946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建设原则：培训业务先跑通，AI 能力逐步嵌入；先形成可用闭环，再沉淀可复制模板。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F8C35A60-1208-44F5-8D0B-940E2D1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479218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F32C15-B3E2-4C2D-A3F5-0A78DF1D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交付形态：方案、资源、服务和算力共同形成平台价值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2799F3A-91AD-4FDD-9DC2-886F4A2F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解决方案">
            <a:extLst xmlns:a="http://schemas.openxmlformats.org/drawingml/2006/main">
              <a:ext uri="{FF2B5EF4-FFF2-40B4-BE49-F238E27FC236}">
                <a16:creationId xmlns:a16="http://schemas.microsoft.com/office/drawing/2014/main" id="{014D250B-3112-43E9-8105-194332A9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190750" cy="21907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badge-01">
            <a:extLst xmlns:a="http://schemas.openxmlformats.org/drawingml/2006/main">
              <a:ext uri="{FF2B5EF4-FFF2-40B4-BE49-F238E27FC236}">
                <a16:creationId xmlns:a16="http://schemas.microsoft.com/office/drawing/2014/main" id="{0C6E00C2-B964-4EA5-B8FC-4839633B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dge-text-01">
            <a:extLst xmlns:a="http://schemas.openxmlformats.org/drawingml/2006/main">
              <a:ext uri="{FF2B5EF4-FFF2-40B4-BE49-F238E27FC236}">
                <a16:creationId xmlns:a16="http://schemas.microsoft.com/office/drawing/2014/main" id="{2334AD09-4166-4F62-811E-11861A41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ard-head-解决方案">
            <a:extLst xmlns:a="http://schemas.openxmlformats.org/drawingml/2006/main">
              <a:ext uri="{FF2B5EF4-FFF2-40B4-BE49-F238E27FC236}">
                <a16:creationId xmlns:a16="http://schemas.microsoft.com/office/drawing/2014/main" id="{55BE951E-FF8B-4185-8264-BFD92962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" y="23241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解决方案</a:t>
            </a:r>
          </a:p>
        </p:txBody>
      </p:sp>
      <p:sp>
        <p:nvSpPr>
          <p:cNvPr id="8" name="card-body-解决方案">
            <a:extLst xmlns:a="http://schemas.openxmlformats.org/drawingml/2006/main">
              <a:ext uri="{FF2B5EF4-FFF2-40B4-BE49-F238E27FC236}">
                <a16:creationId xmlns:a16="http://schemas.microsoft.com/office/drawing/2014/main" id="{68112585-39BA-49B3-B4C1-384A333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1771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通答教学平台、</a:t>
            </a:r>
          </a:p>
          <a:p xmlns:a="http://schemas.openxmlformats.org/drawingml/2006/main"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通答智能体平台、</a:t>
            </a:r>
          </a:p>
          <a:p xmlns:a="http://schemas.openxmlformats.org/drawingml/2006/main"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中小学服务平台、</a:t>
            </a:r>
          </a:p>
          <a:p xmlns:a="http://schemas.openxmlformats.org/drawingml/2006/main"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教师发展平台、</a:t>
            </a:r>
          </a:p>
          <a:p xmlns:a="http://schemas.openxmlformats.org/drawingml/2006/main"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智慧继教、</a:t>
            </a:r>
          </a:p>
          <a:p xmlns:a="http://schemas.openxmlformats.org/drawingml/2006/main"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教师（/教学）档案袋</a:t>
            </a:r>
          </a:p>
        </p:txBody>
      </p:sp>
      <p:sp>
        <p:nvSpPr>
          <p:cNvPr id="14" name="card-资源包">
            <a:extLst xmlns:a="http://schemas.openxmlformats.org/drawingml/2006/main">
              <a:ext uri="{FF2B5EF4-FFF2-40B4-BE49-F238E27FC236}">
                <a16:creationId xmlns:a16="http://schemas.microsoft.com/office/drawing/2014/main" id="{0DB61AE0-3D50-48CA-B28B-F59FFE8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2190750" cy="21907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dge-03">
            <a:extLst xmlns:a="http://schemas.openxmlformats.org/drawingml/2006/main">
              <a:ext uri="{FF2B5EF4-FFF2-40B4-BE49-F238E27FC236}">
                <a16:creationId xmlns:a16="http://schemas.microsoft.com/office/drawing/2014/main" id="{1172FD78-EEE9-4C03-A08D-EBDC92BD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dge-text-03">
            <a:extLst xmlns:a="http://schemas.openxmlformats.org/drawingml/2006/main">
              <a:ext uri="{FF2B5EF4-FFF2-40B4-BE49-F238E27FC236}">
                <a16:creationId xmlns:a16="http://schemas.microsoft.com/office/drawing/2014/main" id="{A092BDC9-8D36-4451-942F-33077773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card-head-资源包">
            <a:extLst xmlns:a="http://schemas.openxmlformats.org/drawingml/2006/main">
              <a:ext uri="{FF2B5EF4-FFF2-40B4-BE49-F238E27FC236}">
                <a16:creationId xmlns:a16="http://schemas.microsoft.com/office/drawing/2014/main" id="{101BDB0C-EDA2-486B-BAF6-D1AF0DC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445" y="2343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资源包</a:t>
            </a:r>
          </a:p>
        </p:txBody>
      </p:sp>
      <p:sp>
        <p:nvSpPr>
          <p:cNvPr id="18" name="card-body-资源包">
            <a:extLst xmlns:a="http://schemas.openxmlformats.org/drawingml/2006/main">
              <a:ext uri="{FF2B5EF4-FFF2-40B4-BE49-F238E27FC236}">
                <a16:creationId xmlns:a16="http://schemas.microsoft.com/office/drawing/2014/main" id="{BEB54301-05C2-4058-B122-27A6CB57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1771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沉淀课程、案例、任务单、测验、成果模板和优秀案例。</a:t>
            </a:r>
          </a:p>
        </p:txBody>
      </p:sp>
      <p:sp>
        <p:nvSpPr>
          <p:cNvPr id="19" name="card-运营服务">
            <a:extLst xmlns:a="http://schemas.openxmlformats.org/drawingml/2006/main">
              <a:ext uri="{FF2B5EF4-FFF2-40B4-BE49-F238E27FC236}">
                <a16:creationId xmlns:a16="http://schemas.microsoft.com/office/drawing/2014/main" id="{26406733-7C52-4C23-A87B-674DA9B8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190750" cy="21907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badge-04">
            <a:extLst xmlns:a="http://schemas.openxmlformats.org/drawingml/2006/main">
              <a:ext uri="{FF2B5EF4-FFF2-40B4-BE49-F238E27FC236}">
                <a16:creationId xmlns:a16="http://schemas.microsoft.com/office/drawing/2014/main" id="{CDDB9C1E-1C1D-44E7-ADB3-31897082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dge-text-04">
            <a:extLst xmlns:a="http://schemas.openxmlformats.org/drawingml/2006/main">
              <a:ext uri="{FF2B5EF4-FFF2-40B4-BE49-F238E27FC236}">
                <a16:creationId xmlns:a16="http://schemas.microsoft.com/office/drawing/2014/main" id="{84577FB1-F59D-497C-86BB-AD83834B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card-head-运营服务">
            <a:extLst xmlns:a="http://schemas.openxmlformats.org/drawingml/2006/main">
              <a:ext uri="{FF2B5EF4-FFF2-40B4-BE49-F238E27FC236}">
                <a16:creationId xmlns:a16="http://schemas.microsoft.com/office/drawing/2014/main" id="{2E8C7F40-E1C4-492B-A248-AFEC73B9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43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运营服务</a:t>
            </a:r>
          </a:p>
        </p:txBody>
      </p:sp>
      <p:sp>
        <p:nvSpPr>
          <p:cNvPr id="23" name="card-body-运营服务">
            <a:extLst xmlns:a="http://schemas.openxmlformats.org/drawingml/2006/main">
              <a:ext uri="{FF2B5EF4-FFF2-40B4-BE49-F238E27FC236}">
                <a16:creationId xmlns:a16="http://schemas.microsoft.com/office/drawing/2014/main" id="{DC628D18-9356-446B-B6C1-C1905F5B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771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提供场景配置、培训辅导、数据分析、报告输出和持续优化。</a:t>
            </a:r>
          </a:p>
        </p:txBody>
      </p:sp>
      <p:sp>
        <p:nvSpPr>
          <p:cNvPr id="24" name="card-Token 算力">
            <a:extLst xmlns:a="http://schemas.openxmlformats.org/drawingml/2006/main">
              <a:ext uri="{FF2B5EF4-FFF2-40B4-BE49-F238E27FC236}">
                <a16:creationId xmlns:a16="http://schemas.microsoft.com/office/drawing/2014/main" id="{0849A350-7F32-478D-A6DA-1E5CC9C6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190750" cy="21907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5" name="badge-05">
            <a:extLst xmlns:a="http://schemas.openxmlformats.org/drawingml/2006/main">
              <a:ext uri="{FF2B5EF4-FFF2-40B4-BE49-F238E27FC236}">
                <a16:creationId xmlns:a16="http://schemas.microsoft.com/office/drawing/2014/main" id="{8FBC4E0F-8FD6-45D6-B101-A2E85361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dge-text-05">
            <a:extLst xmlns:a="http://schemas.openxmlformats.org/drawingml/2006/main">
              <a:ext uri="{FF2B5EF4-FFF2-40B4-BE49-F238E27FC236}">
                <a16:creationId xmlns:a16="http://schemas.microsoft.com/office/drawing/2014/main" id="{2BCFE660-E3A8-49E1-8509-AC81362A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7" name="card-head-Token 算力">
            <a:extLst xmlns:a="http://schemas.openxmlformats.org/drawingml/2006/main">
              <a:ext uri="{FF2B5EF4-FFF2-40B4-BE49-F238E27FC236}">
                <a16:creationId xmlns:a16="http://schemas.microsoft.com/office/drawing/2014/main" id="{96745C6F-7AA5-4276-9FA4-B152B0D6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43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Token 算力</a:t>
            </a:r>
          </a:p>
        </p:txBody>
      </p:sp>
      <p:sp>
        <p:nvSpPr>
          <p:cNvPr id="28" name="card-body-Token 算力">
            <a:extLst xmlns:a="http://schemas.openxmlformats.org/drawingml/2006/main">
              <a:ext uri="{FF2B5EF4-FFF2-40B4-BE49-F238E27FC236}">
                <a16:creationId xmlns:a16="http://schemas.microsoft.com/office/drawing/2014/main" id="{593DFBB2-8169-4C90-81C8-49F3339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771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以模型统计计量 AI 调用和算力消耗，支撑套餐、预警和结算。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D5AD8825-6ACE-4DDE-AF01-E38A6A5E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32" name="card-subhead-解决方案-产品">
            <a:extLst xmlns:a="http://schemas.openxmlformats.org/drawingml/2006/main">
              <a:ext uri="{FF2B5EF4-FFF2-40B4-BE49-F238E27FC236}">
                <a16:creationId xmlns:a16="http://schemas.microsoft.com/office/drawing/2014/main" id="{C571466F-A8AF-48C2-A2CD-C9FD7C55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" y="26289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【产品线】</a:t>
            </a:r>
          </a:p>
        </p:txBody>
      </p:sp>
      <p:sp>
        <p:nvSpPr>
          <p:cNvPr id="33" name="commercial-card">
            <a:extLst xmlns:a="http://schemas.openxmlformats.org/drawingml/2006/main">
              <a:ext uri="{FF2B5EF4-FFF2-40B4-BE49-F238E27FC236}">
                <a16:creationId xmlns:a16="http://schemas.microsoft.com/office/drawing/2014/main" id="{EC04225A-0BE5-498C-9423-BDFDF105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5143500" cy="11811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36" name="commercial-title">
            <a:extLst xmlns:a="http://schemas.openxmlformats.org/drawingml/2006/main">
              <a:ext uri="{FF2B5EF4-FFF2-40B4-BE49-F238E27FC236}">
                <a16:creationId xmlns:a16="http://schemas.microsoft.com/office/drawing/2014/main" id="{CAD74BC7-A42A-4CFE-A1D3-6962B76E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14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多元商业模式支撑</a:t>
            </a:r>
          </a:p>
        </p:txBody>
      </p:sp>
      <p:sp>
        <p:nvSpPr>
          <p:cNvPr id="37" name="commercial-body">
            <a:extLst xmlns:a="http://schemas.openxmlformats.org/drawingml/2006/main">
              <a:ext uri="{FF2B5EF4-FFF2-40B4-BE49-F238E27FC236}">
                <a16:creationId xmlns:a16="http://schemas.microsoft.com/office/drawing/2014/main" id="{DC6E7296-515C-41ED-AB68-ED75FD5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支持 SaaS 订阅、项目制交付和私有化部署，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适配不同客户的付费习惯与安全合规要求。</a:t>
            </a:r>
          </a:p>
        </p:txBody>
      </p:sp>
      <p:sp>
        <p:nvSpPr>
          <p:cNvPr id="38" name="value-depth-card">
            <a:extLst xmlns:a="http://schemas.openxmlformats.org/drawingml/2006/main">
              <a:ext uri="{FF2B5EF4-FFF2-40B4-BE49-F238E27FC236}">
                <a16:creationId xmlns:a16="http://schemas.microsoft.com/office/drawing/2014/main" id="{8FBEE0EC-FB0C-4416-A07D-A6F35A58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43450"/>
            <a:ext cx="5143500" cy="11811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41" name="value-depth-title">
            <a:extLst xmlns:a="http://schemas.openxmlformats.org/drawingml/2006/main">
              <a:ext uri="{FF2B5EF4-FFF2-40B4-BE49-F238E27FC236}">
                <a16:creationId xmlns:a16="http://schemas.microsoft.com/office/drawing/2014/main" id="{3E787630-37A8-4AFC-B92D-FCEB1C9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14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价值与深度逐级递进</a:t>
            </a:r>
          </a:p>
        </p:txBody>
      </p:sp>
      <p:sp>
        <p:nvSpPr>
          <p:cNvPr id="42" name="value-depth-body">
            <a:extLst xmlns:a="http://schemas.openxmlformats.org/drawingml/2006/main">
              <a:ext uri="{FF2B5EF4-FFF2-40B4-BE49-F238E27FC236}">
                <a16:creationId xmlns:a16="http://schemas.microsoft.com/office/drawing/2014/main" id="{98ED399D-419C-4096-91C4-0B27ECCF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19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从工具平台到业务支撑平台，再到场景化解决方案，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伴随客户成熟度提升实现价值共创。</a:t>
            </a:r>
          </a:p>
        </p:txBody>
      </p:sp>
      <p:pic>
        <p:nvPicPr>
          <p:cNvPr id="7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fd9c270b54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9515" y="490093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76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a8818349a4d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490029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864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2BB1E8-1A40-4B57-83FA-856911D4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" y="62039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附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录：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基于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原生底座开发模式的优势与特点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FF3087C-FCA1-4E4E-ABAF-21B6B433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" y="136334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4" name="lead-band">
            <a:extLst xmlns:a="http://schemas.openxmlformats.org/drawingml/2006/main">
              <a:ext uri="{FF2B5EF4-FFF2-40B4-BE49-F238E27FC236}">
                <a16:creationId xmlns:a16="http://schemas.microsoft.com/office/drawing/2014/main" id="{C356A773-48D9-4F18-BDA0-9A630D23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07061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0478">
            <a:solidFill>
              <a:srgbClr val="A7D4FF"/>
            </a:solidFill>
            <a:prstDash val="solid"/>
          </a:ln>
        </p:spPr>
      </p:sp>
      <p:sp>
        <p:nvSpPr>
          <p:cNvPr id="5" name="lead-text">
            <a:extLst xmlns:a="http://schemas.openxmlformats.org/drawingml/2006/main">
              <a:ext uri="{FF2B5EF4-FFF2-40B4-BE49-F238E27FC236}">
                <a16:creationId xmlns:a16="http://schemas.microsoft.com/office/drawing/2014/main" id="{09CFA0A7-D81C-4DA7-A8E8-F07947F3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5C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5CC7"/>
                </a:solidFill>
                <a:latin typeface="PingFang SC"/>
                <a:ea typeface="PingFang SC"/>
                <a:cs typeface="PingFang SC"/>
              </a:rPr>
              <a:t>本小节聚焦 AI 原生底座带来的开发模式变化：更快迭代、更强复用、更可验证。</a:t>
            </a:r>
          </a:p>
        </p:txBody>
      </p:sp>
      <p:sp>
        <p:nvSpPr>
          <p:cNvPr id="6" name="toc-card-1">
            <a:extLst xmlns:a="http://schemas.openxmlformats.org/drawingml/2006/main">
              <a:ext uri="{FF2B5EF4-FFF2-40B4-BE49-F238E27FC236}">
                <a16:creationId xmlns:a16="http://schemas.microsoft.com/office/drawing/2014/main" id="{135E1CAF-97AD-4E1A-BF54-8DC83949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2575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7" name="toc-badge-1">
            <a:extLst xmlns:a="http://schemas.openxmlformats.org/drawingml/2006/main">
              <a:ext uri="{FF2B5EF4-FFF2-40B4-BE49-F238E27FC236}">
                <a16:creationId xmlns:a16="http://schemas.microsoft.com/office/drawing/2014/main" id="{E52ED91D-BDBE-4090-A37D-7576ED2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toc-badge-1-text">
            <a:extLst xmlns:a="http://schemas.openxmlformats.org/drawingml/2006/main">
              <a:ext uri="{FF2B5EF4-FFF2-40B4-BE49-F238E27FC236}">
                <a16:creationId xmlns:a16="http://schemas.microsoft.com/office/drawing/2014/main" id="{A94E01B2-1963-4906-8FB2-42F20F0D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oc-title-1">
            <a:extLst xmlns:a="http://schemas.openxmlformats.org/drawingml/2006/main">
              <a:ext uri="{FF2B5EF4-FFF2-40B4-BE49-F238E27FC236}">
                <a16:creationId xmlns:a16="http://schemas.microsoft.com/office/drawing/2014/main" id="{F9D1900E-4F33-4DE9-BE34-19D737E6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快速迭代</a:t>
            </a:r>
          </a:p>
        </p:txBody>
      </p:sp>
      <p:sp>
        <p:nvSpPr>
          <p:cNvPr id="10" name="toc-body-1">
            <a:extLst xmlns:a="http://schemas.openxmlformats.org/drawingml/2006/main">
              <a:ext uri="{FF2B5EF4-FFF2-40B4-BE49-F238E27FC236}">
                <a16:creationId xmlns:a16="http://schemas.microsoft.com/office/drawing/2014/main" id="{6A56CE39-91C4-4473-A34F-92C1DC23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从需求到上线形成 AI + 敏捷闭环，缩短试错和交付周期。</a:t>
            </a:r>
          </a:p>
        </p:txBody>
      </p:sp>
      <p:sp>
        <p:nvSpPr>
          <p:cNvPr id="14" name="toc-card-2">
            <a:extLst xmlns:a="http://schemas.openxmlformats.org/drawingml/2006/main">
              <a:ext uri="{FF2B5EF4-FFF2-40B4-BE49-F238E27FC236}">
                <a16:creationId xmlns:a16="http://schemas.microsoft.com/office/drawing/2014/main" id="{11728873-01FE-4D79-B69C-7F8D8E64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2575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5" name="toc-badge-2">
            <a:extLst xmlns:a="http://schemas.openxmlformats.org/drawingml/2006/main">
              <a:ext uri="{FF2B5EF4-FFF2-40B4-BE49-F238E27FC236}">
                <a16:creationId xmlns:a16="http://schemas.microsoft.com/office/drawing/2014/main" id="{CD8564E9-F56B-4A1E-872A-220F802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toc-badge-2-text">
            <a:extLst xmlns:a="http://schemas.openxmlformats.org/drawingml/2006/main">
              <a:ext uri="{FF2B5EF4-FFF2-40B4-BE49-F238E27FC236}">
                <a16:creationId xmlns:a16="http://schemas.microsoft.com/office/drawing/2014/main" id="{9EB668BF-49E4-4E10-BCE5-3578A222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toc-title-2">
            <a:extLst xmlns:a="http://schemas.openxmlformats.org/drawingml/2006/main">
              <a:ext uri="{FF2B5EF4-FFF2-40B4-BE49-F238E27FC236}">
                <a16:creationId xmlns:a16="http://schemas.microsoft.com/office/drawing/2014/main" id="{7CEA489E-6606-4C6F-A160-09424F4E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三层协同</a:t>
            </a:r>
          </a:p>
        </p:txBody>
      </p:sp>
      <p:sp>
        <p:nvSpPr>
          <p:cNvPr id="18" name="toc-body-2">
            <a:extLst xmlns:a="http://schemas.openxmlformats.org/drawingml/2006/main">
              <a:ext uri="{FF2B5EF4-FFF2-40B4-BE49-F238E27FC236}">
                <a16:creationId xmlns:a16="http://schemas.microsoft.com/office/drawing/2014/main" id="{3F653A0E-0ECC-45DD-B18A-CD34D82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稳态底座、配置层和前台定开分工协作，支撑复用和灵活响应。</a:t>
            </a:r>
          </a:p>
        </p:txBody>
      </p:sp>
      <p:sp>
        <p:nvSpPr>
          <p:cNvPr id="22" name="toc-card-3">
            <a:extLst xmlns:a="http://schemas.openxmlformats.org/drawingml/2006/main">
              <a:ext uri="{FF2B5EF4-FFF2-40B4-BE49-F238E27FC236}">
                <a16:creationId xmlns:a16="http://schemas.microsoft.com/office/drawing/2014/main" id="{D22B1F77-EAC0-4FB9-A44F-D15C875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2575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3" name="toc-badge-3">
            <a:extLst xmlns:a="http://schemas.openxmlformats.org/drawingml/2006/main">
              <a:ext uri="{FF2B5EF4-FFF2-40B4-BE49-F238E27FC236}">
                <a16:creationId xmlns:a16="http://schemas.microsoft.com/office/drawing/2014/main" id="{CDEF80E4-BE76-419E-B294-D30E0D2E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toc-badge-3-text">
            <a:extLst xmlns:a="http://schemas.openxmlformats.org/drawingml/2006/main">
              <a:ext uri="{FF2B5EF4-FFF2-40B4-BE49-F238E27FC236}">
                <a16:creationId xmlns:a16="http://schemas.microsoft.com/office/drawing/2014/main" id="{D1BAB4D0-1DB3-4FA0-B6FC-3305727D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5" name="toc-title-3">
            <a:extLst xmlns:a="http://schemas.openxmlformats.org/drawingml/2006/main">
              <a:ext uri="{FF2B5EF4-FFF2-40B4-BE49-F238E27FC236}">
                <a16:creationId xmlns:a16="http://schemas.microsoft.com/office/drawing/2014/main" id="{2BF7A5E3-8F74-466E-9869-80D1FE24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90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实践验证</a:t>
            </a:r>
          </a:p>
        </p:txBody>
      </p:sp>
      <p:sp>
        <p:nvSpPr>
          <p:cNvPr id="26" name="toc-body-3">
            <a:extLst xmlns:a="http://schemas.openxmlformats.org/drawingml/2006/main">
              <a:ext uri="{FF2B5EF4-FFF2-40B4-BE49-F238E27FC236}">
                <a16:creationId xmlns:a16="http://schemas.microsoft.com/office/drawing/2014/main" id="{4653D6F6-9E61-4176-82EE-13CD23A7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用3个月实践验证效率、质量和产研能力的系统提升。</a:t>
            </a:r>
          </a:p>
        </p:txBody>
      </p:sp>
      <p:sp>
        <p:nvSpPr>
          <p:cNvPr id="31" name="page">
            <a:extLst xmlns:a="http://schemas.openxmlformats.org/drawingml/2006/main">
              <a:ext uri="{FF2B5EF4-FFF2-40B4-BE49-F238E27FC236}">
                <a16:creationId xmlns:a16="http://schemas.microsoft.com/office/drawing/2014/main" id="{3DA4218F-8BAB-410F-AE33-E8140032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13" name="toc-arrow-1">
            <a:extLst xmlns:a="http://schemas.openxmlformats.org/drawingml/2006/main">
              <a:ext uri="{FF2B5EF4-FFF2-40B4-BE49-F238E27FC236}">
                <a16:creationId xmlns:a16="http://schemas.microsoft.com/office/drawing/2014/main" id="{818E56DD-EF21-4E64-8419-3068B526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240" y="36957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21" name="toc-arrow-2">
            <a:extLst xmlns:a="http://schemas.openxmlformats.org/drawingml/2006/main">
              <a:ext uri="{FF2B5EF4-FFF2-40B4-BE49-F238E27FC236}">
                <a16:creationId xmlns:a16="http://schemas.microsoft.com/office/drawing/2014/main" id="{1AF24617-5DCA-42B1-AAE7-D5C13E9D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190" y="3695700"/>
            <a:ext cx="34480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06082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E58779-24F8-4657-883F-BBBD3A79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开发新模式：拥抱 AI 时代的快速迭代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ADB7554-8306-4176-B205-DD76F4F5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4FE22C7-6B90-473D-AD58-E75745E2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5" name="lead-band">
            <a:extLst xmlns:a="http://schemas.openxmlformats.org/drawingml/2006/main">
              <a:ext uri="{FF2B5EF4-FFF2-40B4-BE49-F238E27FC236}">
                <a16:creationId xmlns:a16="http://schemas.microsoft.com/office/drawing/2014/main" id="{60E1D465-80E8-40A2-89D7-0EF684F5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07061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0478">
            <a:solidFill>
              <a:srgbClr val="A7D4FF"/>
            </a:solidFill>
            <a:prstDash val="solid"/>
          </a:ln>
        </p:spPr>
      </p:sp>
      <p:sp>
        <p:nvSpPr>
          <p:cNvPr id="6" name="lead-label">
            <a:extLst xmlns:a="http://schemas.openxmlformats.org/drawingml/2006/main">
              <a:ext uri="{FF2B5EF4-FFF2-40B4-BE49-F238E27FC236}">
                <a16:creationId xmlns:a16="http://schemas.microsoft.com/office/drawing/2014/main" id="{78C7E76B-024E-41FA-9E71-8876946B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5CC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5CC7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7" name="lead-copy">
            <a:extLst xmlns:a="http://schemas.openxmlformats.org/drawingml/2006/main">
              <a:ext uri="{FF2B5EF4-FFF2-40B4-BE49-F238E27FC236}">
                <a16:creationId xmlns:a16="http://schemas.microsoft.com/office/drawing/2014/main" id="{FF7393D3-E721-4C97-956A-22FCBAD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828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在 AI 时代，速度即竞争力。</a:t>
            </a:r>
          </a:p>
          <a:p xmlns:a="http://schemas.openxmlformats.org/drawingml/2006/main">
            <a:pPr algn="l">
              <a:buNone/>
              <a:def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原生开发模式把产品底座、业务模型和开发流程统一起来，</a:t>
            </a:r>
          </a:p>
          <a:p xmlns:a="http://schemas.openxmlformats.org/drawingml/2006/main">
            <a:pPr algn="l">
              <a:buNone/>
              <a:def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让需求、设计、代码、测试和部署形成快速闭环。</a:t>
            </a:r>
          </a:p>
        </p:txBody>
      </p:sp>
      <p:sp>
        <p:nvSpPr>
          <p:cNvPr id="8" name="step-card-1">
            <a:extLst xmlns:a="http://schemas.openxmlformats.org/drawingml/2006/main">
              <a:ext uri="{FF2B5EF4-FFF2-40B4-BE49-F238E27FC236}">
                <a16:creationId xmlns:a16="http://schemas.microsoft.com/office/drawing/2014/main" id="{05606D2F-9A26-4512-8901-BDAAF4BD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21907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9" name="step-card-1-badge">
            <a:extLst xmlns:a="http://schemas.openxmlformats.org/drawingml/2006/main">
              <a:ext uri="{FF2B5EF4-FFF2-40B4-BE49-F238E27FC236}">
                <a16:creationId xmlns:a16="http://schemas.microsoft.com/office/drawing/2014/main" id="{7B04E97A-5352-4AD9-A82E-6971DBCB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step-card-1-badge-text">
            <a:extLst xmlns:a="http://schemas.openxmlformats.org/drawingml/2006/main">
              <a:ext uri="{FF2B5EF4-FFF2-40B4-BE49-F238E27FC236}">
                <a16:creationId xmlns:a16="http://schemas.microsoft.com/office/drawing/2014/main" id="{5E83D126-FBEB-4533-ABCC-F1FBD2A4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step-card-1-title">
            <a:extLst xmlns:a="http://schemas.openxmlformats.org/drawingml/2006/main">
              <a:ext uri="{FF2B5EF4-FFF2-40B4-BE49-F238E27FC236}">
                <a16:creationId xmlns:a16="http://schemas.microsoft.com/office/drawing/2014/main" id="{14B58C03-9E14-4127-83C3-C6F23D88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业务抽象</a:t>
            </a:r>
          </a:p>
        </p:txBody>
      </p:sp>
      <p:sp>
        <p:nvSpPr>
          <p:cNvPr id="12" name="step-card-1-body">
            <a:extLst xmlns:a="http://schemas.openxmlformats.org/drawingml/2006/main">
              <a:ext uri="{FF2B5EF4-FFF2-40B4-BE49-F238E27FC236}">
                <a16:creationId xmlns:a16="http://schemas.microsoft.com/office/drawing/2014/main" id="{69CD71B6-6DF1-45A9-BF35-56F1899D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用统一模型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表达业务需求</a:t>
            </a:r>
          </a:p>
        </p:txBody>
      </p:sp>
      <p:sp>
        <p:nvSpPr>
          <p:cNvPr id="13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BED2B09A-E9F9-42AA-8E09-8695BE6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148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14" name="step-card-2">
            <a:extLst xmlns:a="http://schemas.openxmlformats.org/drawingml/2006/main">
              <a:ext uri="{FF2B5EF4-FFF2-40B4-BE49-F238E27FC236}">
                <a16:creationId xmlns:a16="http://schemas.microsoft.com/office/drawing/2014/main" id="{6F0B7829-CA3C-4145-9DAD-61607AA3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43350"/>
            <a:ext cx="21907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5" name="step-card-2-badge">
            <a:extLst xmlns:a="http://schemas.openxmlformats.org/drawingml/2006/main">
              <a:ext uri="{FF2B5EF4-FFF2-40B4-BE49-F238E27FC236}">
                <a16:creationId xmlns:a16="http://schemas.microsoft.com/office/drawing/2014/main" id="{98499DA7-0BE6-406A-8660-1BAF1E46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step-card-2-badge-text">
            <a:extLst xmlns:a="http://schemas.openxmlformats.org/drawingml/2006/main">
              <a:ext uri="{FF2B5EF4-FFF2-40B4-BE49-F238E27FC236}">
                <a16:creationId xmlns:a16="http://schemas.microsoft.com/office/drawing/2014/main" id="{9D344977-A51A-4736-AE0B-AE44C363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step-card-2-title">
            <a:extLst xmlns:a="http://schemas.openxmlformats.org/drawingml/2006/main">
              <a:ext uri="{FF2B5EF4-FFF2-40B4-BE49-F238E27FC236}">
                <a16:creationId xmlns:a16="http://schemas.microsoft.com/office/drawing/2014/main" id="{476EB842-2F1F-46F5-AB4D-9900EF8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52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生成</a:t>
            </a:r>
          </a:p>
        </p:txBody>
      </p:sp>
      <p:sp>
        <p:nvSpPr>
          <p:cNvPr id="18" name="step-card-2-body">
            <a:extLst xmlns:a="http://schemas.openxmlformats.org/drawingml/2006/main">
              <a:ext uri="{FF2B5EF4-FFF2-40B4-BE49-F238E27FC236}">
                <a16:creationId xmlns:a16="http://schemas.microsoft.com/office/drawing/2014/main" id="{9667106C-C5E3-4DA0-BA28-0D4A395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6725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辅助方案、页面、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代码和测试生成</a:t>
            </a:r>
          </a:p>
        </p:txBody>
      </p:sp>
      <p:sp>
        <p:nvSpPr>
          <p:cNvPr id="19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FE37FD7A-DFB4-4B0B-BD9B-95CFA922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20" name="step-card-3">
            <a:extLst xmlns:a="http://schemas.openxmlformats.org/drawingml/2006/main">
              <a:ext uri="{FF2B5EF4-FFF2-40B4-BE49-F238E27FC236}">
                <a16:creationId xmlns:a16="http://schemas.microsoft.com/office/drawing/2014/main" id="{7105C8B1-0FD2-4752-9B64-6CE79F14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21907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1" name="step-card-3-badge">
            <a:extLst xmlns:a="http://schemas.openxmlformats.org/drawingml/2006/main">
              <a:ext uri="{FF2B5EF4-FFF2-40B4-BE49-F238E27FC236}">
                <a16:creationId xmlns:a16="http://schemas.microsoft.com/office/drawing/2014/main" id="{74B032CF-297A-4042-9BDB-2D754236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step-card-3-badge-text">
            <a:extLst xmlns:a="http://schemas.openxmlformats.org/drawingml/2006/main">
              <a:ext uri="{FF2B5EF4-FFF2-40B4-BE49-F238E27FC236}">
                <a16:creationId xmlns:a16="http://schemas.microsoft.com/office/drawing/2014/main" id="{8FC31DAC-EB6B-4582-927E-2902E962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step-card-3-title">
            <a:extLst xmlns:a="http://schemas.openxmlformats.org/drawingml/2006/main">
              <a:ext uri="{FF2B5EF4-FFF2-40B4-BE49-F238E27FC236}">
                <a16:creationId xmlns:a16="http://schemas.microsoft.com/office/drawing/2014/main" id="{F278414A-5AC9-4A44-8BDB-94AF241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52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快速验证</a:t>
            </a:r>
          </a:p>
        </p:txBody>
      </p:sp>
      <p:sp>
        <p:nvSpPr>
          <p:cNvPr id="24" name="step-card-3-body">
            <a:extLst xmlns:a="http://schemas.openxmlformats.org/drawingml/2006/main">
              <a:ext uri="{FF2B5EF4-FFF2-40B4-BE49-F238E27FC236}">
                <a16:creationId xmlns:a16="http://schemas.microsoft.com/office/drawing/2014/main" id="{8F86364E-8F54-4D24-A88E-3D28224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6725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快速上线、试错、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反馈和迭代</a:t>
            </a:r>
          </a:p>
        </p:txBody>
      </p:sp>
      <p:sp>
        <p:nvSpPr>
          <p:cNvPr id="25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42DEEECC-D7E5-48A7-BC5B-F58B0DF4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26" name="step-card-4">
            <a:extLst xmlns:a="http://schemas.openxmlformats.org/drawingml/2006/main">
              <a:ext uri="{FF2B5EF4-FFF2-40B4-BE49-F238E27FC236}">
                <a16:creationId xmlns:a16="http://schemas.microsoft.com/office/drawing/2014/main" id="{18B96E4A-F214-4B10-8218-4E9383A4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43350"/>
            <a:ext cx="21907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7" name="step-card-4-badge">
            <a:extLst xmlns:a="http://schemas.openxmlformats.org/drawingml/2006/main">
              <a:ext uri="{FF2B5EF4-FFF2-40B4-BE49-F238E27FC236}">
                <a16:creationId xmlns:a16="http://schemas.microsoft.com/office/drawing/2014/main" id="{BFD379EF-9059-4B5C-9ECB-E095E67D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step-card-4-badge-text">
            <a:extLst xmlns:a="http://schemas.openxmlformats.org/drawingml/2006/main">
              <a:ext uri="{FF2B5EF4-FFF2-40B4-BE49-F238E27FC236}">
                <a16:creationId xmlns:a16="http://schemas.microsoft.com/office/drawing/2014/main" id="{6446D9EE-A886-45DE-917A-C87D149D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9" name="step-card-4-title">
            <a:extLst xmlns:a="http://schemas.openxmlformats.org/drawingml/2006/main">
              <a:ext uri="{FF2B5EF4-FFF2-40B4-BE49-F238E27FC236}">
                <a16:creationId xmlns:a16="http://schemas.microsoft.com/office/drawing/2014/main" id="{34F22FA0-4E7B-4F19-BC6D-39156BF9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52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能力沉淀</a:t>
            </a:r>
          </a:p>
        </p:txBody>
      </p:sp>
      <p:sp>
        <p:nvSpPr>
          <p:cNvPr id="30" name="step-card-4-body">
            <a:extLst xmlns:a="http://schemas.openxmlformats.org/drawingml/2006/main">
              <a:ext uri="{FF2B5EF4-FFF2-40B4-BE49-F238E27FC236}">
                <a16:creationId xmlns:a16="http://schemas.microsoft.com/office/drawing/2014/main" id="{8CB68735-6825-4DA6-87CD-ABD00A39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6725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沉淀为可复用的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产品能力</a:t>
            </a:r>
          </a:p>
        </p:txBody>
      </p:sp>
      <p:sp>
        <p:nvSpPr>
          <p:cNvPr id="31" name="bottom-note-band">
            <a:extLst xmlns:a="http://schemas.openxmlformats.org/drawingml/2006/main">
              <a:ext uri="{FF2B5EF4-FFF2-40B4-BE49-F238E27FC236}">
                <a16:creationId xmlns:a16="http://schemas.microsoft.com/office/drawing/2014/main" id="{0200B34D-BB74-406A-98E9-49D0EF72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91200"/>
            <a:ext cx="971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0478">
            <a:solidFill>
              <a:srgbClr val="D8ECFF"/>
            </a:solidFill>
            <a:prstDash val="solid"/>
          </a:ln>
        </p:spPr>
      </p:sp>
      <p:sp>
        <p:nvSpPr>
          <p:cNvPr id="32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7C99A6C-F246-4CC5-B80A-A9AFA7F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关键变化：AI 不只参与单点工具，而是进入从需求到上线的完整产研链路。</a:t>
            </a:r>
          </a:p>
        </p:txBody>
      </p:sp>
    </p:spTree>
    <p:extLst>
      <p:ext uri="{BB962C8B-B14F-4D97-AF65-F5344CB8AC3E}">
        <p14:creationId xmlns:p14="http://schemas.microsoft.com/office/powerpoint/2010/main" val="18722737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5F7573-0047-44AE-8CD9-ADEABA9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产品开发模式探索：稳态、配置、定开三层协同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5508733-A80B-45EE-8BAF-DE3FFF4C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020A583-0E0F-4024-A261-964ECAC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5" name="layer-1">
            <a:extLst xmlns:a="http://schemas.openxmlformats.org/drawingml/2006/main">
              <a:ext uri="{FF2B5EF4-FFF2-40B4-BE49-F238E27FC236}">
                <a16:creationId xmlns:a16="http://schemas.microsoft.com/office/drawing/2014/main" id="{CE196816-E986-42A0-B7B7-A9B9FF31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03632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2383">
            <a:solidFill>
              <a:srgbClr val="A7D4FF"/>
            </a:solidFill>
            <a:prstDash val="solid"/>
          </a:ln>
        </p:spPr>
      </p:sp>
      <p:sp>
        <p:nvSpPr>
          <p:cNvPr id="6" name="layer-1-badge">
            <a:extLst xmlns:a="http://schemas.openxmlformats.org/drawingml/2006/main">
              <a:ext uri="{FF2B5EF4-FFF2-40B4-BE49-F238E27FC236}">
                <a16:creationId xmlns:a16="http://schemas.microsoft.com/office/drawing/2014/main" id="{C120798E-F1E0-449E-88AC-992E6010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7" name="layer-1-badge-text">
            <a:extLst xmlns:a="http://schemas.openxmlformats.org/drawingml/2006/main">
              <a:ext uri="{FF2B5EF4-FFF2-40B4-BE49-F238E27FC236}">
                <a16:creationId xmlns:a16="http://schemas.microsoft.com/office/drawing/2014/main" id="{C3B985A7-D56D-479E-A28A-4D807B5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907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1AE2B30F-5A6D-4F82-817A-6FC390F6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66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5CC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F5CC7"/>
                </a:solidFill>
                <a:latin typeface="PingFang SC"/>
                <a:ea typeface="PingFang SC"/>
                <a:cs typeface="PingFang SC"/>
              </a:rPr>
              <a:t>前台 AI 定制开发层：AI Vibe Coding</a:t>
            </a:r>
          </a:p>
        </p:txBody>
      </p:sp>
      <p:sp>
        <p:nvSpPr>
          <p:cNvPr id="9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F11F5802-7E71-4F97-9451-38F8BB86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098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基于稳态能力，使用 AI 辅助生成前台代码与页面，快速响应个性化需求。</a:t>
            </a:r>
          </a:p>
        </p:txBody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E26095BA-BCBE-430E-AAD1-44EC7DAA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3632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2" name="layer-2-badge">
            <a:extLst xmlns:a="http://schemas.openxmlformats.org/drawingml/2006/main">
              <a:ext uri="{FF2B5EF4-FFF2-40B4-BE49-F238E27FC236}">
                <a16:creationId xmlns:a16="http://schemas.microsoft.com/office/drawing/2014/main" id="{0FF6FFAE-B918-435B-92A4-DE56346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71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layer-2-badge-text">
            <a:extLst xmlns:a="http://schemas.openxmlformats.org/drawingml/2006/main">
              <a:ext uri="{FF2B5EF4-FFF2-40B4-BE49-F238E27FC236}">
                <a16:creationId xmlns:a16="http://schemas.microsoft.com/office/drawing/2014/main" id="{57C8ABE1-2015-4574-9A1D-D5D10076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290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90C6484F-AB63-43CF-8571-DF863029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052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配置层：解决方案与场景模板</a:t>
            </a:r>
          </a:p>
        </p:txBody>
      </p:sp>
      <p:sp>
        <p:nvSpPr>
          <p:cNvPr id="15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E2573079-425D-4330-A1D1-7A9308CC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481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解决方案按产品能力组合；场景模板来自空间模块，支持项目、工作坊、校本研修和 AI 教学快速绑定。</a:t>
            </a:r>
          </a:p>
        </p:txBody>
      </p:sp>
      <p:sp>
        <p:nvSpPr>
          <p:cNvPr id="17" name="layer-3">
            <a:extLst xmlns:a="http://schemas.openxmlformats.org/drawingml/2006/main">
              <a:ext uri="{FF2B5EF4-FFF2-40B4-BE49-F238E27FC236}">
                <a16:creationId xmlns:a16="http://schemas.microsoft.com/office/drawing/2014/main" id="{763ECA3B-6590-4434-AC69-4949DB27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03632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8" name="layer-3-badge">
            <a:extLst xmlns:a="http://schemas.openxmlformats.org/drawingml/2006/main">
              <a:ext uri="{FF2B5EF4-FFF2-40B4-BE49-F238E27FC236}">
                <a16:creationId xmlns:a16="http://schemas.microsoft.com/office/drawing/2014/main" id="{7FD4E789-FC96-4EB6-B7AC-1BB61D1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9" name="layer-3-badge-text">
            <a:extLst xmlns:a="http://schemas.openxmlformats.org/drawingml/2006/main">
              <a:ext uri="{FF2B5EF4-FFF2-40B4-BE49-F238E27FC236}">
                <a16:creationId xmlns:a16="http://schemas.microsoft.com/office/drawing/2014/main" id="{449013D8-F2FA-4A26-8502-6F810009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67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0" name="layer-3-title">
            <a:extLst xmlns:a="http://schemas.openxmlformats.org/drawingml/2006/main">
              <a:ext uri="{FF2B5EF4-FFF2-40B4-BE49-F238E27FC236}">
                <a16:creationId xmlns:a16="http://schemas.microsoft.com/office/drawing/2014/main" id="{2E954BE1-4F35-4311-930E-5E2E0073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43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稳态层：AI 原生产品底座</a:t>
            </a:r>
          </a:p>
        </p:txBody>
      </p:sp>
      <p:sp>
        <p:nvSpPr>
          <p:cNvPr id="21" name="layer-3-body">
            <a:extLst xmlns:a="http://schemas.openxmlformats.org/drawingml/2006/main">
              <a:ext uri="{FF2B5EF4-FFF2-40B4-BE49-F238E27FC236}">
                <a16:creationId xmlns:a16="http://schemas.microsoft.com/office/drawing/2014/main" id="{F0E2B1A0-2D00-45F4-BEC0-184FB34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863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沉淀资料库、空间、智能体、模型统计与开放接口，形成安全可靠的长期底座。</a:t>
            </a:r>
          </a:p>
        </p:txBody>
      </p:sp>
      <p:sp>
        <p:nvSpPr>
          <p:cNvPr id="22" name="bottom-note-band">
            <a:extLst xmlns:a="http://schemas.openxmlformats.org/drawingml/2006/main">
              <a:ext uri="{FF2B5EF4-FFF2-40B4-BE49-F238E27FC236}">
                <a16:creationId xmlns:a16="http://schemas.microsoft.com/office/drawing/2014/main" id="{8A4A044D-578D-4D91-9943-CC21FB53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86450"/>
            <a:ext cx="9715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0478">
            <a:solidFill>
              <a:srgbClr val="D8ECFF"/>
            </a:solidFill>
            <a:prstDash val="solid"/>
          </a:ln>
        </p:spPr>
      </p:sp>
      <p:sp>
        <p:nvSpPr>
          <p:cNvPr id="2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942105C8-A453-4FD6-9046-0A454B14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开发逻辑：稳态底座保持可靠，配置层负责复用组合，前台定开层面向变化快速响应。</a:t>
            </a:r>
          </a:p>
        </p:txBody>
      </p:sp>
      <p:sp>
        <p:nvSpPr>
          <p:cNvPr id="16" name="layer-arrow-2">
            <a:extLst xmlns:a="http://schemas.openxmlformats.org/drawingml/2006/main">
              <a:ext uri="{FF2B5EF4-FFF2-40B4-BE49-F238E27FC236}">
                <a16:creationId xmlns:a16="http://schemas.microsoft.com/office/drawing/2014/main" id="{5B308074-0291-490F-A89A-B975EB2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886450" y="43434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25" name="layer-arrow-2">
            <a:extLst xmlns:a="http://schemas.openxmlformats.org/drawingml/2006/main">
              <a:ext uri="{FF2B5EF4-FFF2-40B4-BE49-F238E27FC236}">
                <a16:creationId xmlns:a16="http://schemas.microsoft.com/office/drawing/2014/main" id="{C5DE83CD-0B0A-4FE1-A5A0-990AB300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885180" y="30353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01639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677638-43C6-4D4C-9A2C-6AA3689A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3个月实践验证：AI + 敏捷流程带来至少6倍提效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5926122-6FDC-49F8-B131-DD5D0BA1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782AFD1-C480-4AD7-AF14-2CF69ACE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70ACF3DB-8E29-4E9A-92B3-D0D596F4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85750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6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EA00B247-84D7-49F8-8E2C-FEE02A2C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3个月</a:t>
            </a:r>
          </a:p>
        </p:txBody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F669562-446B-40BF-99F7-D563D04F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至少6倍</a:t>
            </a:r>
          </a:p>
        </p:txBody>
      </p:sp>
      <p:sp>
        <p:nvSpPr>
          <p:cNvPr id="8" name="metric-body">
            <a:extLst xmlns:a="http://schemas.openxmlformats.org/drawingml/2006/main">
              <a:ext uri="{FF2B5EF4-FFF2-40B4-BE49-F238E27FC236}">
                <a16:creationId xmlns:a16="http://schemas.microsoft.com/office/drawing/2014/main" id="{9E80404E-E33C-49DB-BC05-D1636404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研发效率综合提升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速度、质量和协作同步提升</a:t>
            </a:r>
          </a:p>
        </p:txBody>
      </p:sp>
      <p:sp>
        <p:nvSpPr>
          <p:cNvPr id="9" name="benefit-card-1">
            <a:extLst xmlns:a="http://schemas.openxmlformats.org/drawingml/2006/main">
              <a:ext uri="{FF2B5EF4-FFF2-40B4-BE49-F238E27FC236}">
                <a16:creationId xmlns:a16="http://schemas.microsoft.com/office/drawing/2014/main" id="{6B28591B-1AFA-4400-86F5-22233AD6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14550"/>
            <a:ext cx="241935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0" name="benefit-card-1-badge">
            <a:extLst xmlns:a="http://schemas.openxmlformats.org/drawingml/2006/main">
              <a:ext uri="{FF2B5EF4-FFF2-40B4-BE49-F238E27FC236}">
                <a16:creationId xmlns:a16="http://schemas.microsoft.com/office/drawing/2014/main" id="{07377FBD-466A-44D3-BCA5-B5862E62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1" name="benefit-card-1-badge-text">
            <a:extLst xmlns:a="http://schemas.openxmlformats.org/drawingml/2006/main">
              <a:ext uri="{FF2B5EF4-FFF2-40B4-BE49-F238E27FC236}">
                <a16:creationId xmlns:a16="http://schemas.microsoft.com/office/drawing/2014/main" id="{7C02AE71-ACEA-4C6E-933D-DB47802F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benefit-card-1-title">
            <a:extLst xmlns:a="http://schemas.openxmlformats.org/drawingml/2006/main">
              <a:ext uri="{FF2B5EF4-FFF2-40B4-BE49-F238E27FC236}">
                <a16:creationId xmlns:a16="http://schemas.microsoft.com/office/drawing/2014/main" id="{A2AAC6BE-0A82-4E0D-BA21-0AADB22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需求闭环提速</a:t>
            </a:r>
          </a:p>
        </p:txBody>
      </p:sp>
      <p:sp>
        <p:nvSpPr>
          <p:cNvPr id="13" name="benefit-card-1-body">
            <a:extLst xmlns:a="http://schemas.openxmlformats.org/drawingml/2006/main">
              <a:ext uri="{FF2B5EF4-FFF2-40B4-BE49-F238E27FC236}">
                <a16:creationId xmlns:a16="http://schemas.microsoft.com/office/drawing/2014/main" id="{BA18BA85-BE82-4EB7-A0B1-37124CBB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38450"/>
            <a:ext cx="1924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AI辅助需求理解、</a:t>
            </a:r>
          </a:p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方案整理、代码生成和测试验证，</a:t>
            </a:r>
          </a:p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缩短上线周期。</a:t>
            </a:r>
          </a:p>
        </p:txBody>
      </p:sp>
      <p:sp>
        <p:nvSpPr>
          <p:cNvPr id="14" name="benefit-card-2">
            <a:extLst xmlns:a="http://schemas.openxmlformats.org/drawingml/2006/main">
              <a:ext uri="{FF2B5EF4-FFF2-40B4-BE49-F238E27FC236}">
                <a16:creationId xmlns:a16="http://schemas.microsoft.com/office/drawing/2014/main" id="{E5976C7A-DFF1-43E1-96B9-BE393BEF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241935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5" name="benefit-card-2-badge">
            <a:extLst xmlns:a="http://schemas.openxmlformats.org/drawingml/2006/main">
              <a:ext uri="{FF2B5EF4-FFF2-40B4-BE49-F238E27FC236}">
                <a16:creationId xmlns:a16="http://schemas.microsoft.com/office/drawing/2014/main" id="{CD6E6D94-B948-4585-A4A1-F68BE0ED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benefit-card-2-badge-text">
            <a:extLst xmlns:a="http://schemas.openxmlformats.org/drawingml/2006/main">
              <a:ext uri="{FF2B5EF4-FFF2-40B4-BE49-F238E27FC236}">
                <a16:creationId xmlns:a16="http://schemas.microsoft.com/office/drawing/2014/main" id="{78AD5C8D-3581-4213-A0AD-C6A01E7B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benefit-card-2-title">
            <a:extLst xmlns:a="http://schemas.openxmlformats.org/drawingml/2006/main">
              <a:ext uri="{FF2B5EF4-FFF2-40B4-BE49-F238E27FC236}">
                <a16:creationId xmlns:a16="http://schemas.microsoft.com/office/drawing/2014/main" id="{65478C28-C015-4A31-8A1A-491D2E94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协同模式重构</a:t>
            </a:r>
          </a:p>
        </p:txBody>
      </p:sp>
      <p:sp>
        <p:nvSpPr>
          <p:cNvPr id="18" name="benefit-card-2-body">
            <a:extLst xmlns:a="http://schemas.openxmlformats.org/drawingml/2006/main">
              <a:ext uri="{FF2B5EF4-FFF2-40B4-BE49-F238E27FC236}">
                <a16:creationId xmlns:a16="http://schemas.microsoft.com/office/drawing/2014/main" id="{C0FCF2D9-1789-4A7B-937C-81A1774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38450"/>
            <a:ext cx="1924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产品、设计、研发和测试从串行转向并行，人机协同贯穿全过程。</a:t>
            </a:r>
          </a:p>
        </p:txBody>
      </p:sp>
      <p:sp>
        <p:nvSpPr>
          <p:cNvPr id="19" name="benefit-card-3">
            <a:extLst xmlns:a="http://schemas.openxmlformats.org/drawingml/2006/main">
              <a:ext uri="{FF2B5EF4-FFF2-40B4-BE49-F238E27FC236}">
                <a16:creationId xmlns:a16="http://schemas.microsoft.com/office/drawing/2014/main" id="{D61F03C2-B226-4789-9B07-66A835F1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241935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0478">
            <a:solidFill>
              <a:srgbClr val="A7D4FF"/>
            </a:solidFill>
            <a:prstDash val="solid"/>
          </a:ln>
        </p:spPr>
      </p:sp>
      <p:sp>
        <p:nvSpPr>
          <p:cNvPr id="20" name="benefit-card-3-badge">
            <a:extLst xmlns:a="http://schemas.openxmlformats.org/drawingml/2006/main">
              <a:ext uri="{FF2B5EF4-FFF2-40B4-BE49-F238E27FC236}">
                <a16:creationId xmlns:a16="http://schemas.microsoft.com/office/drawing/2014/main" id="{8DA77FF4-79EC-45B0-BDB5-C7D45283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1" name="benefit-card-3-badge-text">
            <a:extLst xmlns:a="http://schemas.openxmlformats.org/drawingml/2006/main">
              <a:ext uri="{FF2B5EF4-FFF2-40B4-BE49-F238E27FC236}">
                <a16:creationId xmlns:a16="http://schemas.microsoft.com/office/drawing/2014/main" id="{774F7218-CDFE-4C53-B953-03F26F11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benefit-card-3-title">
            <a:extLst xmlns:a="http://schemas.openxmlformats.org/drawingml/2006/main">
              <a:ext uri="{FF2B5EF4-FFF2-40B4-BE49-F238E27FC236}">
                <a16:creationId xmlns:a16="http://schemas.microsoft.com/office/drawing/2014/main" id="{5EB5311C-1ED9-44B5-9959-699A8879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全域能力升级</a:t>
            </a:r>
          </a:p>
        </p:txBody>
      </p:sp>
      <p:sp>
        <p:nvSpPr>
          <p:cNvPr id="23" name="benefit-card-3-body">
            <a:extLst xmlns:a="http://schemas.openxmlformats.org/drawingml/2006/main">
              <a:ext uri="{FF2B5EF4-FFF2-40B4-BE49-F238E27FC236}">
                <a16:creationId xmlns:a16="http://schemas.microsoft.com/office/drawing/2014/main" id="{73B9AEC6-1C58-4D21-8B25-9C43DEF5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38450"/>
            <a:ext cx="1924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团队从单一开发走向全域产研，覆盖洞察、规划、落地和运营迭代。</a:t>
            </a:r>
          </a:p>
        </p:txBody>
      </p:sp>
      <p:sp>
        <p:nvSpPr>
          <p:cNvPr id="24" name="proof-band">
            <a:extLst xmlns:a="http://schemas.openxmlformats.org/drawingml/2006/main">
              <a:ext uri="{FF2B5EF4-FFF2-40B4-BE49-F238E27FC236}">
                <a16:creationId xmlns:a16="http://schemas.microsoft.com/office/drawing/2014/main" id="{DD7D693D-1A7C-4AC5-A0A3-D2B062D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7061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5" name="proof-text">
            <a:extLst xmlns:a="http://schemas.openxmlformats.org/drawingml/2006/main">
              <a:ext uri="{FF2B5EF4-FFF2-40B4-BE49-F238E27FC236}">
                <a16:creationId xmlns:a16="http://schemas.microsoft.com/office/drawing/2014/main" id="{3DEB1003-50A6-42BA-A52F-7B94D4B4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1005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实践证明，开发模式创新不是简单工具替换，而是借助AI与敏捷流程重构产品研发体系，</a:t>
            </a:r>
          </a:p>
          <a:p xmlns:a="http://schemas.openxmlformats.org/drawingml/2006/main"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带来效率、质量和产研能力的系统提升。</a:t>
            </a:r>
          </a:p>
        </p:txBody>
      </p:sp>
    </p:spTree>
    <p:extLst>
      <p:ext uri="{BB962C8B-B14F-4D97-AF65-F5344CB8AC3E}">
        <p14:creationId xmlns:p14="http://schemas.microsoft.com/office/powerpoint/2010/main" val="8416540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A79824-6B06-4B70-BFA9-B11BBF1C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学习公社、通答、AI原生底座产品三者之间的关系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0961160-4748-423B-AA6C-D5C38334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4" name="relationship-panel">
            <a:extLst xmlns:a="http://schemas.openxmlformats.org/drawingml/2006/main">
              <a:ext uri="{FF2B5EF4-FFF2-40B4-BE49-F238E27FC236}">
                <a16:creationId xmlns:a16="http://schemas.microsoft.com/office/drawing/2014/main" id="{4AA2B3ED-C37A-476E-86BA-C129EB4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991350" cy="3352800"/>
          </a:xfrm>
          <a:prstGeom xmlns:a="http://schemas.openxmlformats.org/drawingml/2006/main" prst="roundRect">
            <a:avLst>
              <a:gd name="adj" fmla="val 170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5" name="tongda-relation-dot">
            <a:extLst xmlns:a="http://schemas.openxmlformats.org/drawingml/2006/main">
              <a:ext uri="{FF2B5EF4-FFF2-40B4-BE49-F238E27FC236}">
                <a16:creationId xmlns:a16="http://schemas.microsoft.com/office/drawing/2014/main" id="{FAB736C5-1F2B-4760-87DD-40907DB4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6" name="tongda-relation-title">
            <a:extLst xmlns:a="http://schemas.openxmlformats.org/drawingml/2006/main">
              <a:ext uri="{FF2B5EF4-FFF2-40B4-BE49-F238E27FC236}">
                <a16:creationId xmlns:a16="http://schemas.microsoft.com/office/drawing/2014/main" id="{C40CEA87-B221-47AE-9685-D9D3DD99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和通答的关系</a:t>
            </a:r>
          </a:p>
        </p:txBody>
      </p:sp>
      <p:sp>
        <p:nvSpPr>
          <p:cNvPr id="7" name="tongda-relation-1-dot">
            <a:extLst xmlns:a="http://schemas.openxmlformats.org/drawingml/2006/main">
              <a:ext uri="{FF2B5EF4-FFF2-40B4-BE49-F238E27FC236}">
                <a16:creationId xmlns:a16="http://schemas.microsoft.com/office/drawing/2014/main" id="{8FCF5294-E203-4F06-8A44-4174B981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8" name="tongda-relation-1-text">
            <a:extLst xmlns:a="http://schemas.openxmlformats.org/drawingml/2006/main">
              <a:ext uri="{FF2B5EF4-FFF2-40B4-BE49-F238E27FC236}">
                <a16:creationId xmlns:a16="http://schemas.microsoft.com/office/drawing/2014/main" id="{327A7403-2D19-42E3-B9EE-70CB1824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985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原生底座产品构建的部分产品，归为“通答”品牌。</a:t>
            </a:r>
          </a:p>
        </p:txBody>
      </p:sp>
      <p:sp>
        <p:nvSpPr>
          <p:cNvPr id="9" name="learning-relation-dot">
            <a:extLst xmlns:a="http://schemas.openxmlformats.org/drawingml/2006/main">
              <a:ext uri="{FF2B5EF4-FFF2-40B4-BE49-F238E27FC236}">
                <a16:creationId xmlns:a16="http://schemas.microsoft.com/office/drawing/2014/main" id="{ABB167E8-06FE-4799-B19E-5142D408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0" name="learning-relation-title">
            <a:extLst xmlns:a="http://schemas.openxmlformats.org/drawingml/2006/main">
              <a:ext uri="{FF2B5EF4-FFF2-40B4-BE49-F238E27FC236}">
                <a16:creationId xmlns:a16="http://schemas.microsoft.com/office/drawing/2014/main" id="{7AB2D151-BF72-44D0-8A6E-0ED923C2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67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和学习公社的关系</a:t>
            </a:r>
          </a:p>
        </p:txBody>
      </p:sp>
      <p:sp>
        <p:nvSpPr>
          <p:cNvPr id="11" name="difference-card">
            <a:extLst xmlns:a="http://schemas.openxmlformats.org/drawingml/2006/main">
              <a:ext uri="{FF2B5EF4-FFF2-40B4-BE49-F238E27FC236}">
                <a16:creationId xmlns:a16="http://schemas.microsoft.com/office/drawing/2014/main" id="{4BF8C3A2-1737-49D6-8F5F-67B3AA02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30289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12" name="difference-title">
            <a:extLst xmlns:a="http://schemas.openxmlformats.org/drawingml/2006/main">
              <a:ext uri="{FF2B5EF4-FFF2-40B4-BE49-F238E27FC236}">
                <a16:creationId xmlns:a16="http://schemas.microsoft.com/office/drawing/2014/main" id="{66110A34-D112-4482-A777-3A0E7EA3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480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区别</a:t>
            </a:r>
          </a:p>
        </p:txBody>
      </p:sp>
      <p:sp>
        <p:nvSpPr>
          <p:cNvPr id="13" name="difference-1-dot">
            <a:extLst xmlns:a="http://schemas.openxmlformats.org/drawingml/2006/main">
              <a:ext uri="{FF2B5EF4-FFF2-40B4-BE49-F238E27FC236}">
                <a16:creationId xmlns:a16="http://schemas.microsoft.com/office/drawing/2014/main" id="{E42436E2-DF35-47D8-96F7-52E2DED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4" name="difference-1-text">
            <a:extLst xmlns:a="http://schemas.openxmlformats.org/drawingml/2006/main">
              <a:ext uri="{FF2B5EF4-FFF2-40B4-BE49-F238E27FC236}">
                <a16:creationId xmlns:a16="http://schemas.microsoft.com/office/drawing/2014/main" id="{BD874DA0-E8FE-4D10-B1DD-48D8AC74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9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9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学习公社承载培训项目</a:t>
            </a:r>
          </a:p>
        </p:txBody>
      </p:sp>
      <p:sp>
        <p:nvSpPr>
          <p:cNvPr id="15" name="difference-2-dot">
            <a:extLst xmlns:a="http://schemas.openxmlformats.org/drawingml/2006/main">
              <a:ext uri="{FF2B5EF4-FFF2-40B4-BE49-F238E27FC236}">
                <a16:creationId xmlns:a16="http://schemas.microsoft.com/office/drawing/2014/main" id="{80170C03-033B-4423-B8D5-0ED89C4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6" name="difference-2-text">
            <a:extLst xmlns:a="http://schemas.openxmlformats.org/drawingml/2006/main">
              <a:ext uri="{FF2B5EF4-FFF2-40B4-BE49-F238E27FC236}">
                <a16:creationId xmlns:a16="http://schemas.microsoft.com/office/drawing/2014/main" id="{3C58920A-ACF2-45A3-AE5D-1F404EC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原生产品底座承载技术产品，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是技术产品的底座</a:t>
            </a:r>
          </a:p>
        </p:txBody>
      </p:sp>
      <p:sp>
        <p:nvSpPr>
          <p:cNvPr id="17" name="connection-card">
            <a:extLst xmlns:a="http://schemas.openxmlformats.org/drawingml/2006/main">
              <a:ext uri="{FF2B5EF4-FFF2-40B4-BE49-F238E27FC236}">
                <a16:creationId xmlns:a16="http://schemas.microsoft.com/office/drawing/2014/main" id="{2E98171A-40CF-45E1-BEE3-528BB9D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30289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18" name="connection-title">
            <a:extLst xmlns:a="http://schemas.openxmlformats.org/drawingml/2006/main">
              <a:ext uri="{FF2B5EF4-FFF2-40B4-BE49-F238E27FC236}">
                <a16:creationId xmlns:a16="http://schemas.microsoft.com/office/drawing/2014/main" id="{7F8D517A-8582-4914-AA2B-ECFD3DD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480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联系</a:t>
            </a:r>
          </a:p>
        </p:txBody>
      </p:sp>
      <p:sp>
        <p:nvSpPr>
          <p:cNvPr id="19" name="connection-1-dot">
            <a:extLst xmlns:a="http://schemas.openxmlformats.org/drawingml/2006/main">
              <a:ext uri="{FF2B5EF4-FFF2-40B4-BE49-F238E27FC236}">
                <a16:creationId xmlns:a16="http://schemas.microsoft.com/office/drawing/2014/main" id="{39CEA01C-C41D-4751-9860-454A775C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0" name="connection-1-text">
            <a:extLst xmlns:a="http://schemas.openxmlformats.org/drawingml/2006/main">
              <a:ext uri="{FF2B5EF4-FFF2-40B4-BE49-F238E27FC236}">
                <a16:creationId xmlns:a16="http://schemas.microsoft.com/office/drawing/2014/main" id="{16595491-E856-43AA-A25C-C3BFDB59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19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1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作为培训项目中“工作坊”环节的实训平台</a:t>
            </a:r>
          </a:p>
        </p:txBody>
      </p:sp>
      <p:sp>
        <p:nvSpPr>
          <p:cNvPr id="21" name="connection-2-dot">
            <a:extLst xmlns:a="http://schemas.openxmlformats.org/drawingml/2006/main">
              <a:ext uri="{FF2B5EF4-FFF2-40B4-BE49-F238E27FC236}">
                <a16:creationId xmlns:a16="http://schemas.microsoft.com/office/drawing/2014/main" id="{613B96D4-8062-46AD-82C5-04142555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38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2" name="connection-2-text">
            <a:extLst xmlns:a="http://schemas.openxmlformats.org/drawingml/2006/main">
              <a:ext uri="{FF2B5EF4-FFF2-40B4-BE49-F238E27FC236}">
                <a16:creationId xmlns:a16="http://schemas.microsoft.com/office/drawing/2014/main" id="{8AC56725-E9A2-46E8-B0F7-5FF600F4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24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1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可以通过培训项目引流到技术产品</a:t>
            </a:r>
          </a:p>
        </p:txBody>
      </p:sp>
      <p:sp>
        <p:nvSpPr>
          <p:cNvPr id="23" name="appendix-panel">
            <a:extLst xmlns:a="http://schemas.openxmlformats.org/drawingml/2006/main">
              <a:ext uri="{FF2B5EF4-FFF2-40B4-BE49-F238E27FC236}">
                <a16:creationId xmlns:a16="http://schemas.microsoft.com/office/drawing/2014/main" id="{7CAF75BB-7F39-4DDC-8F8E-A3062214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562350" cy="3352800"/>
          </a:xfrm>
          <a:prstGeom xmlns:a="http://schemas.openxmlformats.org/drawingml/2006/main" prst="roundRect">
            <a:avLst>
              <a:gd name="adj" fmla="val 170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24" name="appendix-dot">
            <a:extLst xmlns:a="http://schemas.openxmlformats.org/drawingml/2006/main">
              <a:ext uri="{FF2B5EF4-FFF2-40B4-BE49-F238E27FC236}">
                <a16:creationId xmlns:a16="http://schemas.microsoft.com/office/drawing/2014/main" id="{00A63789-1699-4F2A-B06C-9EA05732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5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962FB843-08DB-491D-905B-016836CC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6" name="appendix-desc">
            <a:extLst xmlns:a="http://schemas.openxmlformats.org/drawingml/2006/main">
              <a:ext uri="{FF2B5EF4-FFF2-40B4-BE49-F238E27FC236}">
                <a16:creationId xmlns:a16="http://schemas.microsoft.com/office/drawing/2014/main" id="{EC33E8CB-F473-4D5B-8A42-04CDEB26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基于 AI 原生产品底座构建的产品线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【计划/已经实施】</a:t>
            </a:r>
          </a:p>
        </p:txBody>
      </p:sp>
      <p:sp>
        <p:nvSpPr>
          <p:cNvPr id="47" name="summary-band">
            <a:extLst xmlns:a="http://schemas.openxmlformats.org/drawingml/2006/main">
              <a:ext uri="{FF2B5EF4-FFF2-40B4-BE49-F238E27FC236}">
                <a16:creationId xmlns:a16="http://schemas.microsoft.com/office/drawing/2014/main" id="{A3D3B9BA-DC6C-4E01-985C-86CA6515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48" name="summary-text">
            <a:extLst xmlns:a="http://schemas.openxmlformats.org/drawingml/2006/main">
              <a:ext uri="{FF2B5EF4-FFF2-40B4-BE49-F238E27FC236}">
                <a16:creationId xmlns:a16="http://schemas.microsoft.com/office/drawing/2014/main" id="{2B9BCDC9-028E-41AE-A94D-6CCF5067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531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4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一句话：学习公社承载培训项目并导入场景和用户；AI 原生产品底座承载技术产品并支撑实训平台；通答是其中部分产品对外呈现的品牌。</a:t>
            </a:r>
          </a:p>
        </p:txBody>
      </p:sp>
      <p:sp>
        <p:nvSpPr>
          <p:cNvPr id="49" name="page">
            <a:extLst xmlns:a="http://schemas.openxmlformats.org/drawingml/2006/main">
              <a:ext uri="{FF2B5EF4-FFF2-40B4-BE49-F238E27FC236}">
                <a16:creationId xmlns:a16="http://schemas.microsoft.com/office/drawing/2014/main" id="{B2ACE5F8-F60C-4F9F-BA80-595EAE39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50" name="product-1-dot">
            <a:extLst xmlns:a="http://schemas.openxmlformats.org/drawingml/2006/main">
              <a:ext uri="{FF2B5EF4-FFF2-40B4-BE49-F238E27FC236}">
                <a16:creationId xmlns:a16="http://schemas.microsoft.com/office/drawing/2014/main" id="{3F263A15-7D38-4529-8D60-AB935919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51" name="product-1-pill">
            <a:extLst xmlns:a="http://schemas.openxmlformats.org/drawingml/2006/main">
              <a:ext uri="{FF2B5EF4-FFF2-40B4-BE49-F238E27FC236}">
                <a16:creationId xmlns:a16="http://schemas.microsoft.com/office/drawing/2014/main" id="{714BE87E-520A-4B85-B563-FF7C9A06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3105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52" name="product-1-text">
            <a:extLst xmlns:a="http://schemas.openxmlformats.org/drawingml/2006/main">
              <a:ext uri="{FF2B5EF4-FFF2-40B4-BE49-F238E27FC236}">
                <a16:creationId xmlns:a16="http://schemas.microsoft.com/office/drawing/2014/main" id="{EC9DA140-B0D8-46C7-B34D-3DE77377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8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通答：（人工智能通识）教学平台</a:t>
            </a:r>
          </a:p>
        </p:txBody>
      </p:sp>
      <p:sp>
        <p:nvSpPr>
          <p:cNvPr id="53" name="product-1-status">
            <a:extLst xmlns:a="http://schemas.openxmlformats.org/drawingml/2006/main">
              <a:ext uri="{FF2B5EF4-FFF2-40B4-BE49-F238E27FC236}">
                <a16:creationId xmlns:a16="http://schemas.microsoft.com/office/drawing/2014/main" id="{D0BBA742-4873-4614-AC17-2154D400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6858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54" name="product-1-status-text">
            <a:extLst xmlns:a="http://schemas.openxmlformats.org/drawingml/2006/main">
              <a:ext uri="{FF2B5EF4-FFF2-40B4-BE49-F238E27FC236}">
                <a16:creationId xmlns:a16="http://schemas.microsoft.com/office/drawing/2014/main" id="{1D089964-3A93-4D39-918B-407FF324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30517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7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4.0上线</a:t>
            </a:r>
          </a:p>
        </p:txBody>
      </p:sp>
      <p:sp>
        <p:nvSpPr>
          <p:cNvPr id="55" name="product-2-dot">
            <a:extLst xmlns:a="http://schemas.openxmlformats.org/drawingml/2006/main">
              <a:ext uri="{FF2B5EF4-FFF2-40B4-BE49-F238E27FC236}">
                <a16:creationId xmlns:a16="http://schemas.microsoft.com/office/drawing/2014/main" id="{2A8D2B8E-B2C9-47EE-9712-DC2028A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56" name="product-2-pill">
            <a:extLst xmlns:a="http://schemas.openxmlformats.org/drawingml/2006/main">
              <a:ext uri="{FF2B5EF4-FFF2-40B4-BE49-F238E27FC236}">
                <a16:creationId xmlns:a16="http://schemas.microsoft.com/office/drawing/2014/main" id="{ADE1FF11-9BAA-46EE-8FF5-74340E42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3105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57" name="product-2-text">
            <a:extLst xmlns:a="http://schemas.openxmlformats.org/drawingml/2006/main">
              <a:ext uri="{FF2B5EF4-FFF2-40B4-BE49-F238E27FC236}">
                <a16:creationId xmlns:a16="http://schemas.microsoft.com/office/drawing/2014/main" id="{553AD4CC-C8A5-43C7-BE55-AE536194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通答：智能体平台</a:t>
            </a:r>
          </a:p>
        </p:txBody>
      </p:sp>
      <p:sp>
        <p:nvSpPr>
          <p:cNvPr id="58" name="product-3-dot">
            <a:extLst xmlns:a="http://schemas.openxmlformats.org/drawingml/2006/main">
              <a:ext uri="{FF2B5EF4-FFF2-40B4-BE49-F238E27FC236}">
                <a16:creationId xmlns:a16="http://schemas.microsoft.com/office/drawing/2014/main" id="{AAE57581-EB66-4111-8BDF-40259A37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59" name="product-3-pill">
            <a:extLst xmlns:a="http://schemas.openxmlformats.org/drawingml/2006/main">
              <a:ext uri="{FF2B5EF4-FFF2-40B4-BE49-F238E27FC236}">
                <a16:creationId xmlns:a16="http://schemas.microsoft.com/office/drawing/2014/main" id="{5F5C9DE3-DCF6-41F2-9329-57821AE1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3105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60" name="product-3-text">
            <a:extLst xmlns:a="http://schemas.openxmlformats.org/drawingml/2006/main">
              <a:ext uri="{FF2B5EF4-FFF2-40B4-BE49-F238E27FC236}">
                <a16:creationId xmlns:a16="http://schemas.microsoft.com/office/drawing/2014/main" id="{12B31E93-1CC0-4316-A67B-979363D4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中小学服务平台</a:t>
            </a:r>
          </a:p>
        </p:txBody>
      </p:sp>
      <p:sp>
        <p:nvSpPr>
          <p:cNvPr id="61" name="product-4-dot">
            <a:extLst xmlns:a="http://schemas.openxmlformats.org/drawingml/2006/main">
              <a:ext uri="{FF2B5EF4-FFF2-40B4-BE49-F238E27FC236}">
                <a16:creationId xmlns:a16="http://schemas.microsoft.com/office/drawing/2014/main" id="{07C26ABD-967D-48F3-B43F-6AFCA459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62" name="product-4-pill">
            <a:extLst xmlns:a="http://schemas.openxmlformats.org/drawingml/2006/main">
              <a:ext uri="{FF2B5EF4-FFF2-40B4-BE49-F238E27FC236}">
                <a16:creationId xmlns:a16="http://schemas.microsoft.com/office/drawing/2014/main" id="{7D5827AE-1360-426A-9E3F-3985415F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3105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63" name="product-4-text">
            <a:extLst xmlns:a="http://schemas.openxmlformats.org/drawingml/2006/main">
              <a:ext uri="{FF2B5EF4-FFF2-40B4-BE49-F238E27FC236}">
                <a16:creationId xmlns:a16="http://schemas.microsoft.com/office/drawing/2014/main" id="{E5C87419-3F15-41C1-9DBA-A94D42B9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481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教师发展平台</a:t>
            </a:r>
          </a:p>
        </p:txBody>
      </p:sp>
      <p:sp>
        <p:nvSpPr>
          <p:cNvPr id="64" name="product-5-dot">
            <a:extLst xmlns:a="http://schemas.openxmlformats.org/drawingml/2006/main">
              <a:ext uri="{FF2B5EF4-FFF2-40B4-BE49-F238E27FC236}">
                <a16:creationId xmlns:a16="http://schemas.microsoft.com/office/drawing/2014/main" id="{E7636297-999B-4E71-AAC4-06CDDE5E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65" name="product-5-pill">
            <a:extLst xmlns:a="http://schemas.openxmlformats.org/drawingml/2006/main">
              <a:ext uri="{FF2B5EF4-FFF2-40B4-BE49-F238E27FC236}">
                <a16:creationId xmlns:a16="http://schemas.microsoft.com/office/drawing/2014/main" id="{45E7D695-23B0-4E86-B7A6-E2A425F9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33900"/>
            <a:ext cx="3105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66" name="product-5-text">
            <a:extLst xmlns:a="http://schemas.openxmlformats.org/drawingml/2006/main">
              <a:ext uri="{FF2B5EF4-FFF2-40B4-BE49-F238E27FC236}">
                <a16:creationId xmlns:a16="http://schemas.microsoft.com/office/drawing/2014/main" id="{54391BD0-B331-4BC8-BA03-1643A744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72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智慧继教</a:t>
            </a:r>
          </a:p>
        </p:txBody>
      </p:sp>
      <p:sp>
        <p:nvSpPr>
          <p:cNvPr id="67" name="product-6-dot">
            <a:extLst xmlns:a="http://schemas.openxmlformats.org/drawingml/2006/main">
              <a:ext uri="{FF2B5EF4-FFF2-40B4-BE49-F238E27FC236}">
                <a16:creationId xmlns:a16="http://schemas.microsoft.com/office/drawing/2014/main" id="{026253F6-5C80-4802-80FE-E4EB8E13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68" name="product-6-pill">
            <a:extLst xmlns:a="http://schemas.openxmlformats.org/drawingml/2006/main">
              <a:ext uri="{FF2B5EF4-FFF2-40B4-BE49-F238E27FC236}">
                <a16:creationId xmlns:a16="http://schemas.microsoft.com/office/drawing/2014/main" id="{3945712C-B320-4E4B-8140-AAE11647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3105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69" name="product-6-text">
            <a:extLst xmlns:a="http://schemas.openxmlformats.org/drawingml/2006/main">
              <a:ext uri="{FF2B5EF4-FFF2-40B4-BE49-F238E27FC236}">
                <a16:creationId xmlns:a16="http://schemas.microsoft.com/office/drawing/2014/main" id="{661F0499-E761-485D-8961-6E4DA65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教师（/教学）档案袋</a:t>
            </a:r>
          </a:p>
        </p:txBody>
      </p:sp>
    </p:spTree>
    <p:extLst>
      <p:ext uri="{BB962C8B-B14F-4D97-AF65-F5344CB8AC3E}">
        <p14:creationId xmlns:p14="http://schemas.microsoft.com/office/powerpoint/2010/main" val="85612096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A30729-A597-40B9-AEBB-83467E2F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为什么用 AI 原生产品底座构建技术产品？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24B9161-B8DF-4ED7-8AF3-50E139BC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底座能力优先复用和装配，让应用更智能、开发更快、场景更广、部署更轻、运营可计量。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D42A18D-5C55-4C7C-A546-FF52F142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5" name="reason-1-card">
            <a:extLst xmlns:a="http://schemas.openxmlformats.org/drawingml/2006/main">
              <a:ext uri="{FF2B5EF4-FFF2-40B4-BE49-F238E27FC236}">
                <a16:creationId xmlns:a16="http://schemas.microsoft.com/office/drawing/2014/main" id="{BE032722-18A6-47BD-8FD9-1F9C909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4099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954">
            <a:solidFill>
              <a:srgbClr val="C9CED8"/>
            </a:solidFill>
            <a:prstDash val="solid"/>
          </a:ln>
        </p:spPr>
      </p:sp>
      <p:sp>
        <p:nvSpPr>
          <p:cNvPr id="6" name="reason-1-num-bg">
            <a:extLst xmlns:a="http://schemas.openxmlformats.org/drawingml/2006/main">
              <a:ext uri="{FF2B5EF4-FFF2-40B4-BE49-F238E27FC236}">
                <a16:creationId xmlns:a16="http://schemas.microsoft.com/office/drawing/2014/main" id="{DB20FCD4-8C62-476E-95DF-3B18E7FA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7" name="reason-1-num">
            <a:extLst xmlns:a="http://schemas.openxmlformats.org/drawingml/2006/main">
              <a:ext uri="{FF2B5EF4-FFF2-40B4-BE49-F238E27FC236}">
                <a16:creationId xmlns:a16="http://schemas.microsoft.com/office/drawing/2014/main" id="{E340C17F-0457-4FE6-A3EF-9DC89BD7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reason-1-title">
            <a:extLst xmlns:a="http://schemas.openxmlformats.org/drawingml/2006/main">
              <a:ext uri="{FF2B5EF4-FFF2-40B4-BE49-F238E27FC236}">
                <a16:creationId xmlns:a16="http://schemas.microsoft.com/office/drawing/2014/main" id="{C9B13D77-13F6-4A52-B81E-6970F081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9077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应用智能</a:t>
            </a:r>
          </a:p>
        </p:txBody>
      </p:sp>
      <p:sp>
        <p:nvSpPr>
          <p:cNvPr id="9" name="reason-1-bullet-0">
            <a:extLst xmlns:a="http://schemas.openxmlformats.org/drawingml/2006/main">
              <a:ext uri="{FF2B5EF4-FFF2-40B4-BE49-F238E27FC236}">
                <a16:creationId xmlns:a16="http://schemas.microsoft.com/office/drawing/2014/main" id="{66F29663-9710-4102-8CA7-DFB6776D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0" name="reason-1-bullet-0-text">
            <a:extLst xmlns:a="http://schemas.openxmlformats.org/drawingml/2006/main">
              <a:ext uri="{FF2B5EF4-FFF2-40B4-BE49-F238E27FC236}">
                <a16:creationId xmlns:a16="http://schemas.microsoft.com/office/drawing/2014/main" id="{AFE25E2D-960C-4AC3-AB40-E2238729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底层赋能业务</a:t>
            </a:r>
          </a:p>
        </p:txBody>
      </p:sp>
      <p:sp>
        <p:nvSpPr>
          <p:cNvPr id="11" name="reason-2-card">
            <a:extLst xmlns:a="http://schemas.openxmlformats.org/drawingml/2006/main">
              <a:ext uri="{FF2B5EF4-FFF2-40B4-BE49-F238E27FC236}">
                <a16:creationId xmlns:a16="http://schemas.microsoft.com/office/drawing/2014/main" id="{2A8038CF-BD40-41E1-A3F4-EA5A24EF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40995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954">
            <a:solidFill>
              <a:srgbClr val="C9CED8"/>
            </a:solidFill>
            <a:prstDash val="solid"/>
          </a:ln>
        </p:spPr>
      </p:sp>
      <p:sp>
        <p:nvSpPr>
          <p:cNvPr id="12" name="reason-2-num-bg">
            <a:extLst xmlns:a="http://schemas.openxmlformats.org/drawingml/2006/main">
              <a:ext uri="{FF2B5EF4-FFF2-40B4-BE49-F238E27FC236}">
                <a16:creationId xmlns:a16="http://schemas.microsoft.com/office/drawing/2014/main" id="{D3ECD19F-31AD-4272-8E09-E1EB4050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reason-2-num">
            <a:extLst xmlns:a="http://schemas.openxmlformats.org/drawingml/2006/main">
              <a:ext uri="{FF2B5EF4-FFF2-40B4-BE49-F238E27FC236}">
                <a16:creationId xmlns:a16="http://schemas.microsoft.com/office/drawing/2014/main" id="{6344F573-1B9E-4E2D-81F7-5F39C1B8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reason-2-title">
            <a:extLst xmlns:a="http://schemas.openxmlformats.org/drawingml/2006/main">
              <a:ext uri="{FF2B5EF4-FFF2-40B4-BE49-F238E27FC236}">
                <a16:creationId xmlns:a16="http://schemas.microsoft.com/office/drawing/2014/main" id="{043DBF7F-AAD1-489E-B16B-4BB4C630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9077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开发快</a:t>
            </a:r>
          </a:p>
        </p:txBody>
      </p:sp>
      <p:sp>
        <p:nvSpPr>
          <p:cNvPr id="15" name="reason-2-bullet-0">
            <a:extLst xmlns:a="http://schemas.openxmlformats.org/drawingml/2006/main">
              <a:ext uri="{FF2B5EF4-FFF2-40B4-BE49-F238E27FC236}">
                <a16:creationId xmlns:a16="http://schemas.microsoft.com/office/drawing/2014/main" id="{8C62BCF8-7E59-402E-8ECC-30F643F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6" name="reason-2-bullet-0-text">
            <a:extLst xmlns:a="http://schemas.openxmlformats.org/drawingml/2006/main">
              <a:ext uri="{FF2B5EF4-FFF2-40B4-BE49-F238E27FC236}">
                <a16:creationId xmlns:a16="http://schemas.microsoft.com/office/drawing/2014/main" id="{ECCBEF46-A488-467B-9AC7-7CECE7B0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146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更多原子组件开箱即用</a:t>
            </a:r>
          </a:p>
        </p:txBody>
      </p:sp>
      <p:sp>
        <p:nvSpPr>
          <p:cNvPr id="17" name="reason-2-bullet-1">
            <a:extLst xmlns:a="http://schemas.openxmlformats.org/drawingml/2006/main">
              <a:ext uri="{FF2B5EF4-FFF2-40B4-BE49-F238E27FC236}">
                <a16:creationId xmlns:a16="http://schemas.microsoft.com/office/drawing/2014/main" id="{898EAFA3-1192-42E2-BD67-12FB3D6C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8" name="reason-2-bullet-1-text">
            <a:extLst xmlns:a="http://schemas.openxmlformats.org/drawingml/2006/main">
              <a:ext uri="{FF2B5EF4-FFF2-40B4-BE49-F238E27FC236}">
                <a16:creationId xmlns:a16="http://schemas.microsoft.com/office/drawing/2014/main" id="{EE0BD6AC-41D9-4482-B64C-7AA0AC6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三层架构支撑快速开发</a:t>
            </a:r>
          </a:p>
        </p:txBody>
      </p:sp>
      <p:sp>
        <p:nvSpPr>
          <p:cNvPr id="19" name="reason-2-bullet-2">
            <a:extLst xmlns:a="http://schemas.openxmlformats.org/drawingml/2006/main">
              <a:ext uri="{FF2B5EF4-FFF2-40B4-BE49-F238E27FC236}">
                <a16:creationId xmlns:a16="http://schemas.microsoft.com/office/drawing/2014/main" id="{56F7570F-6977-49EA-A649-39CC0745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0" name="reason-2-bullet-2-text">
            <a:extLst xmlns:a="http://schemas.openxmlformats.org/drawingml/2006/main">
              <a:ext uri="{FF2B5EF4-FFF2-40B4-BE49-F238E27FC236}">
                <a16:creationId xmlns:a16="http://schemas.microsoft.com/office/drawing/2014/main" id="{2EED590E-0D4D-46C7-85D1-AF576CF4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原生 vibe coding</a:t>
            </a:r>
          </a:p>
        </p:txBody>
      </p:sp>
      <p:sp>
        <p:nvSpPr>
          <p:cNvPr id="21" name="reason-3-card">
            <a:extLst xmlns:a="http://schemas.openxmlformats.org/drawingml/2006/main">
              <a:ext uri="{FF2B5EF4-FFF2-40B4-BE49-F238E27FC236}">
                <a16:creationId xmlns:a16="http://schemas.microsoft.com/office/drawing/2014/main" id="{08E31B9D-2465-48BA-910B-B65160E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954">
            <a:solidFill>
              <a:srgbClr val="C9CED8"/>
            </a:solidFill>
            <a:prstDash val="solid"/>
          </a:ln>
        </p:spPr>
      </p:sp>
      <p:sp>
        <p:nvSpPr>
          <p:cNvPr id="22" name="reason-3-num-bg">
            <a:extLst xmlns:a="http://schemas.openxmlformats.org/drawingml/2006/main">
              <a:ext uri="{FF2B5EF4-FFF2-40B4-BE49-F238E27FC236}">
                <a16:creationId xmlns:a16="http://schemas.microsoft.com/office/drawing/2014/main" id="{2DD331DF-5C1B-4016-B92B-22AED02D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3" name="reason-3-num">
            <a:extLst xmlns:a="http://schemas.openxmlformats.org/drawingml/2006/main">
              <a:ext uri="{FF2B5EF4-FFF2-40B4-BE49-F238E27FC236}">
                <a16:creationId xmlns:a16="http://schemas.microsoft.com/office/drawing/2014/main" id="{10DE1A09-4A8F-4B5F-871B-8A4F9006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reason-3-title">
            <a:extLst xmlns:a="http://schemas.openxmlformats.org/drawingml/2006/main">
              <a:ext uri="{FF2B5EF4-FFF2-40B4-BE49-F238E27FC236}">
                <a16:creationId xmlns:a16="http://schemas.microsoft.com/office/drawing/2014/main" id="{9B0A4863-31FC-413F-805E-912B30DF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9077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场景广泛</a:t>
            </a:r>
          </a:p>
        </p:txBody>
      </p:sp>
      <p:sp>
        <p:nvSpPr>
          <p:cNvPr id="25" name="reason-3-bullet-0">
            <a:extLst xmlns:a="http://schemas.openxmlformats.org/drawingml/2006/main">
              <a:ext uri="{FF2B5EF4-FFF2-40B4-BE49-F238E27FC236}">
                <a16:creationId xmlns:a16="http://schemas.microsoft.com/office/drawing/2014/main" id="{9D961BC5-D748-4DBC-B090-6BC46817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6" name="reason-3-bullet-0-text">
            <a:extLst xmlns:a="http://schemas.openxmlformats.org/drawingml/2006/main">
              <a:ext uri="{FF2B5EF4-FFF2-40B4-BE49-F238E27FC236}">
                <a16:creationId xmlns:a16="http://schemas.microsoft.com/office/drawing/2014/main" id="{5901A560-06EF-4015-9CE0-5FBFA03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场景自由装配：研训一体化</a:t>
            </a:r>
          </a:p>
        </p:txBody>
      </p:sp>
      <p:sp>
        <p:nvSpPr>
          <p:cNvPr id="27" name="reason-4-card">
            <a:extLst xmlns:a="http://schemas.openxmlformats.org/drawingml/2006/main">
              <a:ext uri="{FF2B5EF4-FFF2-40B4-BE49-F238E27FC236}">
                <a16:creationId xmlns:a16="http://schemas.microsoft.com/office/drawing/2014/main" id="{7081B9F0-9D60-4C71-BC54-DE415110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37338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0954">
            <a:solidFill>
              <a:srgbClr val="C9CED8"/>
            </a:solidFill>
            <a:prstDash val="solid"/>
          </a:ln>
        </p:spPr>
      </p:sp>
      <p:sp>
        <p:nvSpPr>
          <p:cNvPr id="28" name="reason-4-num-bg">
            <a:extLst xmlns:a="http://schemas.openxmlformats.org/drawingml/2006/main">
              <a:ext uri="{FF2B5EF4-FFF2-40B4-BE49-F238E27FC236}">
                <a16:creationId xmlns:a16="http://schemas.microsoft.com/office/drawing/2014/main" id="{2092E4F2-8151-4686-AFD3-7336D1D1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reason-4-num">
            <a:extLst xmlns:a="http://schemas.openxmlformats.org/drawingml/2006/main">
              <a:ext uri="{FF2B5EF4-FFF2-40B4-BE49-F238E27FC236}">
                <a16:creationId xmlns:a16="http://schemas.microsoft.com/office/drawing/2014/main" id="{02CDBE7A-C879-4561-9C8D-A867E14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863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reason-4-title">
            <a:extLst xmlns:a="http://schemas.openxmlformats.org/drawingml/2006/main">
              <a:ext uri="{FF2B5EF4-FFF2-40B4-BE49-F238E27FC236}">
                <a16:creationId xmlns:a16="http://schemas.microsoft.com/office/drawing/2014/main" id="{A4AED8F6-23D6-4F9C-AE66-B54BCD1B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005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部署轻量</a:t>
            </a:r>
          </a:p>
        </p:txBody>
      </p:sp>
      <p:sp>
        <p:nvSpPr>
          <p:cNvPr id="31" name="reason-4-bullet-0">
            <a:extLst xmlns:a="http://schemas.openxmlformats.org/drawingml/2006/main">
              <a:ext uri="{FF2B5EF4-FFF2-40B4-BE49-F238E27FC236}">
                <a16:creationId xmlns:a16="http://schemas.microsoft.com/office/drawing/2014/main" id="{D23B11F9-4E24-4396-BA50-A37343EE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19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32" name="reason-4-bullet-0-text">
            <a:extLst xmlns:a="http://schemas.openxmlformats.org/drawingml/2006/main">
              <a:ext uri="{FF2B5EF4-FFF2-40B4-BE49-F238E27FC236}">
                <a16:creationId xmlns:a16="http://schemas.microsoft.com/office/drawing/2014/main" id="{40AC8503-3BA0-4B43-B273-99F17191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244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部署效率高、部署成本低</a:t>
            </a:r>
          </a:p>
        </p:txBody>
      </p:sp>
      <p:sp>
        <p:nvSpPr>
          <p:cNvPr id="33" name="reason-5-card">
            <a:extLst xmlns:a="http://schemas.openxmlformats.org/drawingml/2006/main">
              <a:ext uri="{FF2B5EF4-FFF2-40B4-BE49-F238E27FC236}">
                <a16:creationId xmlns:a16="http://schemas.microsoft.com/office/drawing/2014/main" id="{B7D6E78B-6189-4574-8FB5-666827FB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37338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0954">
            <a:solidFill>
              <a:srgbClr val="C9CED8"/>
            </a:solidFill>
            <a:prstDash val="solid"/>
          </a:ln>
        </p:spPr>
      </p:sp>
      <p:sp>
        <p:nvSpPr>
          <p:cNvPr id="34" name="reason-5-num-bg">
            <a:extLst xmlns:a="http://schemas.openxmlformats.org/drawingml/2006/main">
              <a:ext uri="{FF2B5EF4-FFF2-40B4-BE49-F238E27FC236}">
                <a16:creationId xmlns:a16="http://schemas.microsoft.com/office/drawing/2014/main" id="{8FB6B7FA-FA9D-412F-8EB3-A8D9CFDC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35" name="reason-5-num">
            <a:extLst xmlns:a="http://schemas.openxmlformats.org/drawingml/2006/main">
              <a:ext uri="{FF2B5EF4-FFF2-40B4-BE49-F238E27FC236}">
                <a16:creationId xmlns:a16="http://schemas.microsoft.com/office/drawing/2014/main" id="{9B808748-94CF-41E4-AE83-4F83BFD4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6" name="reason-5-title">
            <a:extLst xmlns:a="http://schemas.openxmlformats.org/drawingml/2006/main">
              <a:ext uri="{FF2B5EF4-FFF2-40B4-BE49-F238E27FC236}">
                <a16:creationId xmlns:a16="http://schemas.microsoft.com/office/drawing/2014/main" id="{8D7BFEE3-9C15-4EF9-8A6E-B1AD17E8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005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支持 Token 商业模式的落地</a:t>
            </a:r>
          </a:p>
        </p:txBody>
      </p:sp>
      <p:sp>
        <p:nvSpPr>
          <p:cNvPr id="37" name="reason-5-bullet-0">
            <a:extLst xmlns:a="http://schemas.openxmlformats.org/drawingml/2006/main">
              <a:ext uri="{FF2B5EF4-FFF2-40B4-BE49-F238E27FC236}">
                <a16:creationId xmlns:a16="http://schemas.microsoft.com/office/drawing/2014/main" id="{31D0678A-DF7A-492D-9491-4CA2F76C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38" name="reason-5-bullet-0-text">
            <a:extLst xmlns:a="http://schemas.openxmlformats.org/drawingml/2006/main">
              <a:ext uri="{FF2B5EF4-FFF2-40B4-BE49-F238E27FC236}">
                <a16:creationId xmlns:a16="http://schemas.microsoft.com/office/drawing/2014/main" id="{A05ED266-22F0-42B0-8C70-0D18C94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244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大模型治理</a:t>
            </a:r>
          </a:p>
        </p:txBody>
      </p:sp>
      <p:sp>
        <p:nvSpPr>
          <p:cNvPr id="39" name="judgement-band">
            <a:extLst xmlns:a="http://schemas.openxmlformats.org/drawingml/2006/main">
              <a:ext uri="{FF2B5EF4-FFF2-40B4-BE49-F238E27FC236}">
                <a16:creationId xmlns:a16="http://schemas.microsoft.com/office/drawing/2014/main" id="{E69C3C22-003A-4B96-B72B-D1422C05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76950"/>
            <a:ext cx="97536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40" name="judgement-text">
            <a:extLst xmlns:a="http://schemas.openxmlformats.org/drawingml/2006/main">
              <a:ext uri="{FF2B5EF4-FFF2-40B4-BE49-F238E27FC236}">
                <a16:creationId xmlns:a16="http://schemas.microsoft.com/office/drawing/2014/main" id="{6660C5D9-CF6E-4F18-AD4D-3D6BD198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53150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核心判断：AI 原生产品底座不是固定技术架构限制，而是按业务优先级复用、装配和持续演进的产品构建方式。</a:t>
            </a:r>
          </a:p>
        </p:txBody>
      </p:sp>
      <p:sp>
        <p:nvSpPr>
          <p:cNvPr id="41" name="page">
            <a:extLst xmlns:a="http://schemas.openxmlformats.org/drawingml/2006/main">
              <a:ext uri="{FF2B5EF4-FFF2-40B4-BE49-F238E27FC236}">
                <a16:creationId xmlns:a16="http://schemas.microsoft.com/office/drawing/2014/main" id="{7F9CBF7D-AB69-4BFC-8E5C-A3EB3889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656261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i-era-title">
            <a:extLst xmlns:a="http://schemas.openxmlformats.org/drawingml/2006/main">
              <a:ext uri="{FF2B5EF4-FFF2-40B4-BE49-F238E27FC236}">
                <a16:creationId xmlns:a16="http://schemas.microsoft.com/office/drawing/2014/main" id="{5022F00F-D2FC-432D-AA23-CA158E62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时代，智能是刚需，速度即竞争力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AE1B91C-3B36-4FAA-B793-513A703E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原生产品底座 + AI 原生开发模式，是快速形成产品矩阵、试错验证和持续迭代的基础。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EFCC43B-8BFF-4A02-A56A-F99EBF2F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CED8"/>
            </a:solidFill>
            <a:prstDash val="solid"/>
          </a:ln>
        </p:spPr>
      </p:sp>
      <p:sp>
        <p:nvSpPr>
          <p:cNvPr id="5" name="stage-1-card">
            <a:extLst xmlns:a="http://schemas.openxmlformats.org/drawingml/2006/main">
              <a:ext uri="{FF2B5EF4-FFF2-40B4-BE49-F238E27FC236}">
                <a16:creationId xmlns:a16="http://schemas.microsoft.com/office/drawing/2014/main" id="{21A5AA6B-9BBB-448D-A088-7E99FE05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14325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6" name="stage-1-badge">
            <a:extLst xmlns:a="http://schemas.openxmlformats.org/drawingml/2006/main">
              <a:ext uri="{FF2B5EF4-FFF2-40B4-BE49-F238E27FC236}">
                <a16:creationId xmlns:a16="http://schemas.microsoft.com/office/drawing/2014/main" id="{FD22B27A-6F7D-41D7-A7F5-3424B2A8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7" name="stage-1-badge-text">
            <a:extLst xmlns:a="http://schemas.openxmlformats.org/drawingml/2006/main">
              <a:ext uri="{FF2B5EF4-FFF2-40B4-BE49-F238E27FC236}">
                <a16:creationId xmlns:a16="http://schemas.microsoft.com/office/drawing/2014/main" id="{D64CEF0D-BDEE-4376-811A-AF4C0AA9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0A0F4A06-E0A9-4CD5-A524-804B8E33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共同基础</a:t>
            </a:r>
          </a:p>
        </p:txBody>
      </p:sp>
      <p:sp>
        <p:nvSpPr>
          <p:cNvPr id="9" name="stage-1-subtitle">
            <a:extLst xmlns:a="http://schemas.openxmlformats.org/drawingml/2006/main">
              <a:ext uri="{FF2B5EF4-FFF2-40B4-BE49-F238E27FC236}">
                <a16:creationId xmlns:a16="http://schemas.microsoft.com/office/drawing/2014/main" id="{DF13E58B-36F3-4581-9246-DB8031B3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908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原生产品底座 + AI 原生开发模式</a:t>
            </a:r>
          </a:p>
        </p:txBody>
      </p:sp>
      <p:sp>
        <p:nvSpPr>
          <p:cNvPr id="10" name="stage-1-bullet-0-dot">
            <a:extLst xmlns:a="http://schemas.openxmlformats.org/drawingml/2006/main">
              <a:ext uri="{FF2B5EF4-FFF2-40B4-BE49-F238E27FC236}">
                <a16:creationId xmlns:a16="http://schemas.microsoft.com/office/drawing/2014/main" id="{AF18C01B-26D8-4481-B201-EA45FEE9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1" name="stage-1-bullet-0-text">
            <a:extLst xmlns:a="http://schemas.openxmlformats.org/drawingml/2006/main">
              <a:ext uri="{FF2B5EF4-FFF2-40B4-BE49-F238E27FC236}">
                <a16:creationId xmlns:a16="http://schemas.microsoft.com/office/drawing/2014/main" id="{DCB5DA6D-4CBC-45CE-811A-43BDA945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43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底层架构可复用</a:t>
            </a:r>
          </a:p>
        </p:txBody>
      </p:sp>
      <p:sp>
        <p:nvSpPr>
          <p:cNvPr id="12" name="stage-1-bullet-1-dot">
            <a:extLst xmlns:a="http://schemas.openxmlformats.org/drawingml/2006/main">
              <a:ext uri="{FF2B5EF4-FFF2-40B4-BE49-F238E27FC236}">
                <a16:creationId xmlns:a16="http://schemas.microsoft.com/office/drawing/2014/main" id="{78B37BEB-8307-4363-9D49-A910CB50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00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3" name="stage-1-bullet-1-text">
            <a:extLst xmlns:a="http://schemas.openxmlformats.org/drawingml/2006/main">
              <a:ext uri="{FF2B5EF4-FFF2-40B4-BE49-F238E27FC236}">
                <a16:creationId xmlns:a16="http://schemas.microsoft.com/office/drawing/2014/main" id="{7E48A4D5-82F1-4FA2-BFC8-4961D780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86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原子组件可装配</a:t>
            </a:r>
          </a:p>
        </p:txBody>
      </p:sp>
      <p:sp>
        <p:nvSpPr>
          <p:cNvPr id="14" name="stage-1-bullet-2-dot">
            <a:extLst xmlns:a="http://schemas.openxmlformats.org/drawingml/2006/main">
              <a:ext uri="{FF2B5EF4-FFF2-40B4-BE49-F238E27FC236}">
                <a16:creationId xmlns:a16="http://schemas.microsoft.com/office/drawing/2014/main" id="{DBF418C9-12CE-4E81-8A4C-1BEB33A9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43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15" name="stage-1-bullet-2-text">
            <a:extLst xmlns:a="http://schemas.openxmlformats.org/drawingml/2006/main">
              <a:ext uri="{FF2B5EF4-FFF2-40B4-BE49-F238E27FC236}">
                <a16:creationId xmlns:a16="http://schemas.microsoft.com/office/drawing/2014/main" id="{1F14387C-2D1C-4A60-A09A-5B510DDF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能力沉淀可迁移</a:t>
            </a:r>
          </a:p>
        </p:txBody>
      </p:sp>
      <p:sp>
        <p:nvSpPr>
          <p:cNvPr id="16" name="arrow-1">
            <a:extLst xmlns:a="http://schemas.openxmlformats.org/drawingml/2006/main">
              <a:ext uri="{FF2B5EF4-FFF2-40B4-BE49-F238E27FC236}">
                <a16:creationId xmlns:a16="http://schemas.microsoft.com/office/drawing/2014/main" id="{BFBC099B-35DF-4290-AA64-AA248DDA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528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17" name="stage-2-card">
            <a:extLst xmlns:a="http://schemas.openxmlformats.org/drawingml/2006/main">
              <a:ext uri="{FF2B5EF4-FFF2-40B4-BE49-F238E27FC236}">
                <a16:creationId xmlns:a16="http://schemas.microsoft.com/office/drawing/2014/main" id="{487792C3-9886-4584-B46E-721F403B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18" name="stage-2-badge">
            <a:extLst xmlns:a="http://schemas.openxmlformats.org/drawingml/2006/main">
              <a:ext uri="{FF2B5EF4-FFF2-40B4-BE49-F238E27FC236}">
                <a16:creationId xmlns:a16="http://schemas.microsoft.com/office/drawing/2014/main" id="{B462C420-26F1-4364-8260-A4794C0C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47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stage-2-badge-text">
            <a:extLst xmlns:a="http://schemas.openxmlformats.org/drawingml/2006/main">
              <a:ext uri="{FF2B5EF4-FFF2-40B4-BE49-F238E27FC236}">
                <a16:creationId xmlns:a16="http://schemas.microsoft.com/office/drawing/2014/main" id="{5F4330AB-E223-49BF-BB29-CA1BE1FC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0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0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9A3D99CF-4197-4904-A475-D7169873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289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产品矩阵</a:t>
            </a:r>
          </a:p>
        </p:txBody>
      </p:sp>
      <p:sp>
        <p:nvSpPr>
          <p:cNvPr id="21" name="stage-2-subtitle">
            <a:extLst xmlns:a="http://schemas.openxmlformats.org/drawingml/2006/main">
              <a:ext uri="{FF2B5EF4-FFF2-40B4-BE49-F238E27FC236}">
                <a16:creationId xmlns:a16="http://schemas.microsoft.com/office/drawing/2014/main" id="{102E7FB5-8295-4970-9406-CD7CA706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908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面向不同垂直场景，快速包装成解决方案</a:t>
            </a:r>
          </a:p>
        </p:txBody>
      </p:sp>
      <p:sp>
        <p:nvSpPr>
          <p:cNvPr id="22" name="stage-2-bullet-0-dot">
            <a:extLst xmlns:a="http://schemas.openxmlformats.org/drawingml/2006/main">
              <a:ext uri="{FF2B5EF4-FFF2-40B4-BE49-F238E27FC236}">
                <a16:creationId xmlns:a16="http://schemas.microsoft.com/office/drawing/2014/main" id="{EAF895A2-B280-4DBF-B061-8B1451E3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3" name="stage-2-bullet-0-text">
            <a:extLst xmlns:a="http://schemas.openxmlformats.org/drawingml/2006/main">
              <a:ext uri="{FF2B5EF4-FFF2-40B4-BE49-F238E27FC236}">
                <a16:creationId xmlns:a16="http://schemas.microsoft.com/office/drawing/2014/main" id="{7DA032AC-CA4D-4147-A973-8BC9086D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543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4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通答教学平台 / 通答智能体平台</a:t>
            </a:r>
          </a:p>
        </p:txBody>
      </p:sp>
      <p:sp>
        <p:nvSpPr>
          <p:cNvPr id="24" name="stage-2-bullet-1-dot">
            <a:extLst xmlns:a="http://schemas.openxmlformats.org/drawingml/2006/main">
              <a:ext uri="{FF2B5EF4-FFF2-40B4-BE49-F238E27FC236}">
                <a16:creationId xmlns:a16="http://schemas.microsoft.com/office/drawing/2014/main" id="{2D0EA5D4-31DD-4FEF-A096-FA07462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000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5" name="stage-2-bullet-1-text">
            <a:extLst xmlns:a="http://schemas.openxmlformats.org/drawingml/2006/main">
              <a:ext uri="{FF2B5EF4-FFF2-40B4-BE49-F238E27FC236}">
                <a16:creationId xmlns:a16="http://schemas.microsoft.com/office/drawing/2014/main" id="{D05EF410-457D-40DD-B457-7EF2759E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886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4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中小学服务平台 / 教师发展平台</a:t>
            </a:r>
          </a:p>
        </p:txBody>
      </p:sp>
      <p:sp>
        <p:nvSpPr>
          <p:cNvPr id="26" name="stage-2-bullet-2-dot">
            <a:extLst xmlns:a="http://schemas.openxmlformats.org/drawingml/2006/main">
              <a:ext uri="{FF2B5EF4-FFF2-40B4-BE49-F238E27FC236}">
                <a16:creationId xmlns:a16="http://schemas.microsoft.com/office/drawing/2014/main" id="{C7AA0B57-D5F1-44F9-9FBB-16D08ED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43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27" name="stage-2-bullet-2-text">
            <a:extLst xmlns:a="http://schemas.openxmlformats.org/drawingml/2006/main">
              <a:ext uri="{FF2B5EF4-FFF2-40B4-BE49-F238E27FC236}">
                <a16:creationId xmlns:a16="http://schemas.microsoft.com/office/drawing/2014/main" id="{C1F5E8A1-4C85-4573-AEB1-2B495D04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229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智慧继教 / 教师（/教学）档案袋</a:t>
            </a:r>
          </a:p>
        </p:txBody>
      </p:sp>
      <p:sp>
        <p:nvSpPr>
          <p:cNvPr id="28" name="arrow-2">
            <a:extLst xmlns:a="http://schemas.openxmlformats.org/drawingml/2006/main">
              <a:ext uri="{FF2B5EF4-FFF2-40B4-BE49-F238E27FC236}">
                <a16:creationId xmlns:a16="http://schemas.microsoft.com/office/drawing/2014/main" id="{5B0B07B7-083F-44BA-92E6-79692E61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BDC8"/>
          </a:solidFill>
          <a:ln xmlns:a="http://schemas.openxmlformats.org/drawingml/2006/main" w="0">
            <a:solidFill>
              <a:srgbClr val="B7BDC8"/>
            </a:solidFill>
            <a:prstDash val="solid"/>
          </a:ln>
        </p:spPr>
      </p:sp>
      <p:sp>
        <p:nvSpPr>
          <p:cNvPr id="29" name="stage-3-card">
            <a:extLst xmlns:a="http://schemas.openxmlformats.org/drawingml/2006/main">
              <a:ext uri="{FF2B5EF4-FFF2-40B4-BE49-F238E27FC236}">
                <a16:creationId xmlns:a16="http://schemas.microsoft.com/office/drawing/2014/main" id="{C9072D8C-441C-4A79-8D2D-F8941D3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314325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30" name="stage-3-badge">
            <a:extLst xmlns:a="http://schemas.openxmlformats.org/drawingml/2006/main">
              <a:ext uri="{FF2B5EF4-FFF2-40B4-BE49-F238E27FC236}">
                <a16:creationId xmlns:a16="http://schemas.microsoft.com/office/drawing/2014/main" id="{A6CF871F-CDB2-4812-A84B-8F882390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31" name="stage-3-badge-text">
            <a:extLst xmlns:a="http://schemas.openxmlformats.org/drawingml/2006/main">
              <a:ext uri="{FF2B5EF4-FFF2-40B4-BE49-F238E27FC236}">
                <a16:creationId xmlns:a16="http://schemas.microsoft.com/office/drawing/2014/main" id="{058E91F9-CD06-4887-B5CC-5F81791C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2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E81D26CC-A48E-4713-AA93-F9F58F7C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快速迭代</a:t>
            </a:r>
          </a:p>
        </p:txBody>
      </p:sp>
      <p:sp>
        <p:nvSpPr>
          <p:cNvPr id="33" name="stage-3-subtitle">
            <a:extLst xmlns:a="http://schemas.openxmlformats.org/drawingml/2006/main">
              <a:ext uri="{FF2B5EF4-FFF2-40B4-BE49-F238E27FC236}">
                <a16:creationId xmlns:a16="http://schemas.microsoft.com/office/drawing/2014/main" id="{A3838FC1-DC4D-49E2-8FF8-3D61D974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上线试错、验证反馈、持续优化</a:t>
            </a:r>
          </a:p>
        </p:txBody>
      </p:sp>
      <p:sp>
        <p:nvSpPr>
          <p:cNvPr id="34" name="stage-3-bullet-0-dot">
            <a:extLst xmlns:a="http://schemas.openxmlformats.org/drawingml/2006/main">
              <a:ext uri="{FF2B5EF4-FFF2-40B4-BE49-F238E27FC236}">
                <a16:creationId xmlns:a16="http://schemas.microsoft.com/office/drawing/2014/main" id="{A43AE008-A583-48B7-8A70-C84379A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35" name="stage-3-bullet-0-text">
            <a:extLst xmlns:a="http://schemas.openxmlformats.org/drawingml/2006/main">
              <a:ext uri="{FF2B5EF4-FFF2-40B4-BE49-F238E27FC236}">
                <a16:creationId xmlns:a16="http://schemas.microsoft.com/office/drawing/2014/main" id="{0AF7415C-EA9E-4130-A781-ADCC94EE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43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小步快跑验证</a:t>
            </a:r>
          </a:p>
        </p:txBody>
      </p:sp>
      <p:sp>
        <p:nvSpPr>
          <p:cNvPr id="36" name="stage-3-bullet-1-dot">
            <a:extLst xmlns:a="http://schemas.openxmlformats.org/drawingml/2006/main">
              <a:ext uri="{FF2B5EF4-FFF2-40B4-BE49-F238E27FC236}">
                <a16:creationId xmlns:a16="http://schemas.microsoft.com/office/drawing/2014/main" id="{311B1E13-6CC1-4311-B468-690F759A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37" name="stage-3-bullet-1-text">
            <a:extLst xmlns:a="http://schemas.openxmlformats.org/drawingml/2006/main">
              <a:ext uri="{FF2B5EF4-FFF2-40B4-BE49-F238E27FC236}">
                <a16:creationId xmlns:a16="http://schemas.microsoft.com/office/drawing/2014/main" id="{BC5CF5DB-4348-4B96-A3B9-57EF3474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成功能力复用</a:t>
            </a:r>
          </a:p>
        </p:txBody>
      </p:sp>
      <p:sp>
        <p:nvSpPr>
          <p:cNvPr id="38" name="stage-3-bullet-2-dot">
            <a:extLst xmlns:a="http://schemas.openxmlformats.org/drawingml/2006/main">
              <a:ext uri="{FF2B5EF4-FFF2-40B4-BE49-F238E27FC236}">
                <a16:creationId xmlns:a16="http://schemas.microsoft.com/office/drawing/2014/main" id="{2CB4C648-2F4D-4EBF-A50D-82976832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43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solidFill>
              <a:srgbClr val="2F83FF"/>
            </a:solidFill>
            <a:prstDash val="solid"/>
          </a:ln>
        </p:spPr>
      </p:sp>
      <p:sp>
        <p:nvSpPr>
          <p:cNvPr id="39" name="stage-3-bullet-2-text">
            <a:extLst xmlns:a="http://schemas.openxmlformats.org/drawingml/2006/main">
              <a:ext uri="{FF2B5EF4-FFF2-40B4-BE49-F238E27FC236}">
                <a16:creationId xmlns:a16="http://schemas.microsoft.com/office/drawing/2014/main" id="{02DC84DC-35EC-4ABA-899F-E3F0D241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29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产品形态持续扩展</a:t>
            </a:r>
          </a:p>
        </p:txBody>
      </p:sp>
      <p:sp>
        <p:nvSpPr>
          <p:cNvPr id="40" name="insight-band">
            <a:extLst xmlns:a="http://schemas.openxmlformats.org/drawingml/2006/main">
              <a:ext uri="{FF2B5EF4-FFF2-40B4-BE49-F238E27FC236}">
                <a16:creationId xmlns:a16="http://schemas.microsoft.com/office/drawing/2014/main" id="{BE249572-EED7-4B9A-A969-7E7652A8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7061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0478">
            <a:solidFill>
              <a:srgbClr val="C9CED8"/>
            </a:solidFill>
            <a:prstDash val="solid"/>
          </a:ln>
        </p:spPr>
      </p:sp>
      <p:sp>
        <p:nvSpPr>
          <p:cNvPr id="41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15257169-5B05-4FF0-8153-EFEE5DEC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透过现象看本质：外部包装不同，底层根基相同</a:t>
            </a:r>
          </a:p>
        </p:txBody>
      </p:sp>
      <p:sp>
        <p:nvSpPr>
          <p:cNvPr id="42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9B7777F0-F7EE-407A-9D2F-92513A51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各种产品形态层出不穷，看起来是不同领域的解决方案，本质上都在复用自己的底层技术架构、能力组件、数据资产和开发方法。</a:t>
            </a:r>
          </a:p>
        </p:txBody>
      </p:sp>
      <p:sp>
        <p:nvSpPr>
          <p:cNvPr id="43" name="bottom-judgement">
            <a:extLst xmlns:a="http://schemas.openxmlformats.org/drawingml/2006/main">
              <a:ext uri="{FF2B5EF4-FFF2-40B4-BE49-F238E27FC236}">
                <a16:creationId xmlns:a16="http://schemas.microsoft.com/office/drawing/2014/main" id="{88936274-5B21-4D21-83EA-E5515776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57900"/>
            <a:ext cx="89535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44" name="bottom-judgement-text">
            <a:extLst xmlns:a="http://schemas.openxmlformats.org/drawingml/2006/main">
              <a:ext uri="{FF2B5EF4-FFF2-40B4-BE49-F238E27FC236}">
                <a16:creationId xmlns:a16="http://schemas.microsoft.com/office/drawing/2014/main" id="{4341BC8A-174D-480E-A9CA-644DF6EC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34100"/>
            <a:ext cx="845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关键判断：竞争不只在单个产品，而在能否用同一套底座持续生成、验证和复制产品。</a:t>
            </a:r>
          </a:p>
        </p:txBody>
      </p:sp>
      <p:sp>
        <p:nvSpPr>
          <p:cNvPr id="45" name="page">
            <a:extLst xmlns:a="http://schemas.openxmlformats.org/drawingml/2006/main">
              <a:ext uri="{FF2B5EF4-FFF2-40B4-BE49-F238E27FC236}">
                <a16:creationId xmlns:a16="http://schemas.microsoft.com/office/drawing/2014/main" id="{58116A3B-C9FC-4E6A-B641-4CAD1A1A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05661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2026-07-29T04:37:26.5750000Z</dcterms:created>
  <dcterms:modified xsi:type="dcterms:W3CDTF">2026-07-29T04:37:26.5750000Z</dcterms:modified>
</coreProperties>
</file>