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cbb71877c47eb" /><Relationship Type="http://schemas.openxmlformats.org/officeDocument/2006/relationships/extended-properties" Target="/docProps/app.xml" Id="R20643312c42f4348" /><Relationship Type="http://schemas.openxmlformats.org/officeDocument/2006/relationships/officeDocument" Target="/ppt/presentation.xml" Id="R5b5ff16ebd874a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786415f0114e52"/>
  </p:sldMasterIdLst>
  <p:notesMasterIdLst>
    <p:notesMasterId xmlns:r="http://schemas.openxmlformats.org/officeDocument/2006/relationships" r:id="R769fb42f11b24937"/>
  </p:notesMasterIdLst>
  <p:sldIdLst>
    <p:sldId xmlns:r="http://schemas.openxmlformats.org/officeDocument/2006/relationships" id="256" r:id="R3d05e08b00fe40fa"/>
    <p:sldId xmlns:r="http://schemas.openxmlformats.org/officeDocument/2006/relationships" id="257" r:id="Rad1f241f11b14a46"/>
    <p:sldId xmlns:r="http://schemas.openxmlformats.org/officeDocument/2006/relationships" id="258" r:id="R1ed37ce320dc4575"/>
    <p:sldId xmlns:r="http://schemas.openxmlformats.org/officeDocument/2006/relationships" id="259" r:id="R01dcc5993dcc473a"/>
    <p:sldId xmlns:r="http://schemas.openxmlformats.org/officeDocument/2006/relationships" id="260" r:id="R746cdaba0dda48bf"/>
    <p:sldId xmlns:r="http://schemas.openxmlformats.org/officeDocument/2006/relationships" id="261" r:id="R328335457ba940fb"/>
    <p:sldId xmlns:r="http://schemas.openxmlformats.org/officeDocument/2006/relationships" id="262" r:id="R51e12904aa44464f"/>
    <p:sldId xmlns:r="http://schemas.openxmlformats.org/officeDocument/2006/relationships" id="263" r:id="R99b6a888891344e2"/>
    <p:sldId xmlns:r="http://schemas.openxmlformats.org/officeDocument/2006/relationships" id="264" r:id="R0e158600c7bc4d85"/>
    <p:sldId xmlns:r="http://schemas.openxmlformats.org/officeDocument/2006/relationships" id="265" r:id="R2a55d2799d564940"/>
    <p:sldId xmlns:r="http://schemas.openxmlformats.org/officeDocument/2006/relationships" id="266" r:id="R08de900a540b4088"/>
    <p:sldId xmlns:r="http://schemas.openxmlformats.org/officeDocument/2006/relationships" id="267" r:id="R74810d358d3f4860"/>
    <p:sldId xmlns:r="http://schemas.openxmlformats.org/officeDocument/2006/relationships" id="268" r:id="R68084d2859e0480d"/>
    <p:sldId xmlns:r="http://schemas.openxmlformats.org/officeDocument/2006/relationships" id="269" r:id="R8982febdd6b94470"/>
    <p:sldId xmlns:r="http://schemas.openxmlformats.org/officeDocument/2006/relationships" id="270" r:id="Rfac8b10905664460"/>
    <p:sldId xmlns:r="http://schemas.openxmlformats.org/officeDocument/2006/relationships" id="271" r:id="R25917423616b47df"/>
    <p:sldId xmlns:r="http://schemas.openxmlformats.org/officeDocument/2006/relationships" id="272" r:id="R70ab02c7dbb54d3f"/>
    <p:sldId xmlns:r="http://schemas.openxmlformats.org/officeDocument/2006/relationships" id="273" r:id="Rcd9363695e7140fa"/>
    <p:sldId xmlns:r="http://schemas.openxmlformats.org/officeDocument/2006/relationships" id="274" r:id="R92bb6c3eae1144fb"/>
    <p:sldId xmlns:r="http://schemas.openxmlformats.org/officeDocument/2006/relationships" id="275" r:id="Rf88fefe6216d404d"/>
    <p:sldId xmlns:r="http://schemas.openxmlformats.org/officeDocument/2006/relationships" id="276" r:id="R62501170fa454ee3"/>
    <p:sldId xmlns:r="http://schemas.openxmlformats.org/officeDocument/2006/relationships" id="277" r:id="R8150a6cee0d545ab"/>
    <p:sldId xmlns:r="http://schemas.openxmlformats.org/officeDocument/2006/relationships" id="278" r:id="Rd94d74e1939c4a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7a2e0f8dd14dab" /><Relationship Type="http://schemas.openxmlformats.org/officeDocument/2006/relationships/slideMaster" Target="/ppt/slideMasters/slideMaster1.xml" Id="R19786415f0114e52" /><Relationship Type="http://schemas.openxmlformats.org/officeDocument/2006/relationships/notesMaster" Target="/ppt/notesMasters/notesMaster1.xml" Id="R769fb42f11b24937" /><Relationship Type="http://schemas.openxmlformats.org/officeDocument/2006/relationships/presProps" Target="/ppt/presProps.xml" Id="R795df7ed3aac4933" /><Relationship Type="http://schemas.openxmlformats.org/officeDocument/2006/relationships/tableStyles" Target="/ppt/tableStyles.xml" Id="R02df0ba98ae44b33" /><Relationship Type="http://schemas.openxmlformats.org/officeDocument/2006/relationships/slide" Target="/ppt/slides/slide1.xml" Id="R3d05e08b00fe40fa" /><Relationship Type="http://schemas.openxmlformats.org/officeDocument/2006/relationships/slide" Target="/ppt/slides/slide2.xml" Id="Rad1f241f11b14a46" /><Relationship Type="http://schemas.openxmlformats.org/officeDocument/2006/relationships/slide" Target="/ppt/slides/slide3.xml" Id="R1ed37ce320dc4575" /><Relationship Type="http://schemas.openxmlformats.org/officeDocument/2006/relationships/slide" Target="/ppt/slides/slide4.xml" Id="R01dcc5993dcc473a" /><Relationship Type="http://schemas.openxmlformats.org/officeDocument/2006/relationships/slide" Target="/ppt/slides/slide5.xml" Id="R746cdaba0dda48bf" /><Relationship Type="http://schemas.openxmlformats.org/officeDocument/2006/relationships/slide" Target="/ppt/slides/slide6.xml" Id="R328335457ba940fb" /><Relationship Type="http://schemas.openxmlformats.org/officeDocument/2006/relationships/slide" Target="/ppt/slides/slide7.xml" Id="R51e12904aa44464f" /><Relationship Type="http://schemas.openxmlformats.org/officeDocument/2006/relationships/slide" Target="/ppt/slides/slide8.xml" Id="R99b6a888891344e2" /><Relationship Type="http://schemas.openxmlformats.org/officeDocument/2006/relationships/slide" Target="/ppt/slides/slide9.xml" Id="R0e158600c7bc4d85" /><Relationship Type="http://schemas.openxmlformats.org/officeDocument/2006/relationships/slide" Target="/ppt/slides/slide10.xml" Id="R2a55d2799d564940" /><Relationship Type="http://schemas.openxmlformats.org/officeDocument/2006/relationships/slide" Target="/ppt/slides/slide11.xml" Id="R08de900a540b4088" /><Relationship Type="http://schemas.openxmlformats.org/officeDocument/2006/relationships/slide" Target="/ppt/slides/slide12.xml" Id="R74810d358d3f4860" /><Relationship Type="http://schemas.openxmlformats.org/officeDocument/2006/relationships/slide" Target="/ppt/slides/slide13.xml" Id="R68084d2859e0480d" /><Relationship Type="http://schemas.openxmlformats.org/officeDocument/2006/relationships/slide" Target="/ppt/slides/slide14.xml" Id="R8982febdd6b94470" /><Relationship Type="http://schemas.openxmlformats.org/officeDocument/2006/relationships/slide" Target="/ppt/slides/slide15.xml" Id="Rfac8b10905664460" /><Relationship Type="http://schemas.openxmlformats.org/officeDocument/2006/relationships/slide" Target="/ppt/slides/slide16.xml" Id="R25917423616b47df" /><Relationship Type="http://schemas.openxmlformats.org/officeDocument/2006/relationships/slide" Target="/ppt/slides/slide17.xml" Id="R70ab02c7dbb54d3f" /><Relationship Type="http://schemas.openxmlformats.org/officeDocument/2006/relationships/slide" Target="/ppt/slides/slide18.xml" Id="Rcd9363695e7140fa" /><Relationship Type="http://schemas.openxmlformats.org/officeDocument/2006/relationships/slide" Target="/ppt/slides/slide19.xml" Id="R92bb6c3eae1144fb" /><Relationship Type="http://schemas.openxmlformats.org/officeDocument/2006/relationships/slide" Target="/ppt/slides/slide20.xml" Id="Rf88fefe6216d404d" /><Relationship Type="http://schemas.openxmlformats.org/officeDocument/2006/relationships/slide" Target="/ppt/slides/slide21.xml" Id="R62501170fa454ee3" /><Relationship Type="http://schemas.openxmlformats.org/officeDocument/2006/relationships/slide" Target="/ppt/slides/slide22.xml" Id="R8150a6cee0d545ab" /><Relationship Type="http://schemas.openxmlformats.org/officeDocument/2006/relationships/slide" Target="/ppt/slides/slide23.xml" Id="Rd94d74e1939c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36b2d07e9c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acd7c990f4973" /><Relationship Type="http://schemas.openxmlformats.org/officeDocument/2006/relationships/notesMaster" Target="/ppt/notesMasters/notesMaster1.xml" Id="R0bb86175fdc0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315b8b96043b8" /><Relationship Type="http://schemas.openxmlformats.org/officeDocument/2006/relationships/notesMaster" Target="/ppt/notesMasters/notesMaster1.xml" Id="R5559126c226a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862fca15ce4870" /><Relationship Type="http://schemas.openxmlformats.org/officeDocument/2006/relationships/notesMaster" Target="/ppt/notesMasters/notesMaster1.xml" Id="R9cf86e0501c342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9793e4d1184896" /><Relationship Type="http://schemas.openxmlformats.org/officeDocument/2006/relationships/notesMaster" Target="/ppt/notesMasters/notesMaster1.xml" Id="Rab6f1c09981746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aa77e3672d4cbf" /><Relationship Type="http://schemas.openxmlformats.org/officeDocument/2006/relationships/notesMaster" Target="/ppt/notesMasters/notesMaster1.xml" Id="R02a175ddb0094d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0cc836247f477e" /><Relationship Type="http://schemas.openxmlformats.org/officeDocument/2006/relationships/notesMaster" Target="/ppt/notesMasters/notesMaster1.xml" Id="Rcecaa4cdb1bb41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a536effa914eaa" /><Relationship Type="http://schemas.openxmlformats.org/officeDocument/2006/relationships/notesMaster" Target="/ppt/notesMasters/notesMaster1.xml" Id="Re9c78b5ead1d4c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7e799ec9e04b8e" /><Relationship Type="http://schemas.openxmlformats.org/officeDocument/2006/relationships/notesMaster" Target="/ppt/notesMasters/notesMaster1.xml" Id="Rfc4b6d10176a40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888aaf33f144d1" /><Relationship Type="http://schemas.openxmlformats.org/officeDocument/2006/relationships/notesMaster" Target="/ppt/notesMasters/notesMaster1.xml" Id="Ra99430496ab748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3d59bd1f6c4371" /><Relationship Type="http://schemas.openxmlformats.org/officeDocument/2006/relationships/notesMaster" Target="/ppt/notesMasters/notesMaster1.xml" Id="R9a8783f28d644c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b49b8fcd3e4009" /><Relationship Type="http://schemas.openxmlformats.org/officeDocument/2006/relationships/notesMaster" Target="/ppt/notesMasters/notesMaster1.xml" Id="R90d7271ff12147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4b9ba9df3e42b9" /><Relationship Type="http://schemas.openxmlformats.org/officeDocument/2006/relationships/notesMaster" Target="/ppt/notesMasters/notesMaster1.xml" Id="Rf8dd1111f60d4b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921a1e78fb4287" /><Relationship Type="http://schemas.openxmlformats.org/officeDocument/2006/relationships/notesMaster" Target="/ppt/notesMasters/notesMaster1.xml" Id="R97dee67b388b43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7ac29941e04bdc" /><Relationship Type="http://schemas.openxmlformats.org/officeDocument/2006/relationships/notesMaster" Target="/ppt/notesMasters/notesMaster1.xml" Id="R21f016008c8c41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3d4ce96de94338" /><Relationship Type="http://schemas.openxmlformats.org/officeDocument/2006/relationships/notesMaster" Target="/ppt/notesMasters/notesMaster1.xml" Id="R387fcf1a48e24b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1c4aceeeba48ae" /><Relationship Type="http://schemas.openxmlformats.org/officeDocument/2006/relationships/notesMaster" Target="/ppt/notesMasters/notesMaster1.xml" Id="R1dc2a042c69845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937342284447e8" /><Relationship Type="http://schemas.openxmlformats.org/officeDocument/2006/relationships/notesMaster" Target="/ppt/notesMasters/notesMaster1.xml" Id="R05deddeb26df47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ba2017d1e64dac" /><Relationship Type="http://schemas.openxmlformats.org/officeDocument/2006/relationships/notesMaster" Target="/ppt/notesMasters/notesMaster1.xml" Id="Ree4860969c1d4e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71e0395b314c47" /><Relationship Type="http://schemas.openxmlformats.org/officeDocument/2006/relationships/notesMaster" Target="/ppt/notesMasters/notesMaster1.xml" Id="Ra514d2a5734648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dcdd7895bb4179" /><Relationship Type="http://schemas.openxmlformats.org/officeDocument/2006/relationships/notesMaster" Target="/ppt/notesMasters/notesMaster1.xml" Id="Re34a2d714e3f4b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223370f3944c5f" /><Relationship Type="http://schemas.openxmlformats.org/officeDocument/2006/relationships/notesMaster" Target="/ppt/notesMasters/notesMaster1.xml" Id="Rdfcdfcfee0ee46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4b29c369164e3a" /><Relationship Type="http://schemas.openxmlformats.org/officeDocument/2006/relationships/notesMaster" Target="/ppt/notesMasters/notesMaster1.xml" Id="R778257a9159f4c3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f621a5b6214256" /><Relationship Type="http://schemas.openxmlformats.org/officeDocument/2006/relationships/notesMaster" Target="/ppt/notesMasters/notesMaster1.xml" Id="R3732413a3fcf41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platform positioning: Lucky supports internal agent construction and external commercialization.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platform ownership matters before introducing Lucky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AI 原生平台定位本地文档: /Users/zhanghl/Documents/GitHub/guoren-v2/docs/guoren-vs-learnbuddy-ai-native-platform.md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platform's four-layer capability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智搭模块源码: /Users/zhanghl/Documents/GitHub/guoren-v2/src/quickBuild/QuickBuildModule.jsx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internal/external split requested by the user and connect it to platform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Lucky's assistant as the first user-facing entry, but focus on reasoning, knowledge access, and system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user-provided training project example and the local AI-native use-case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空间与教学场景源码: /Users/zhanghl/Documents/GitHub/guoren-v2/src/TopicDetail.jsx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conversational agent creation and operational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skills as reusable action assets rather than just prompt fragments.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user's corrected wording: best-practice market, not best-time market.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the user's requested operation layer: agent quality evaluation, Token traffic visibility, and billing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user-provided resource types and emphasize AI-native recognizability and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资料库模块源码: /Users/zhanghl/Documents/GitHub/guoren-v2/src/resourceLib/ResourceLibrary.jsx</a:t>
            </a:r>
          </a:p>
          <a:p xmlns:a="http://schemas.openxmlformats.org/drawingml/2006/main">
            <a:r>
              <a:t>- 资料库本地存储与目录映射源码: /Users/zhanghl/Documents/GitHub/guoren-v2/src/resourceLib/resourceLibStore.js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the planning item requested by the user: local disk directory mapping as a knowledge-base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资料库模块源码: /Users/zhanghl/Documents/GitHub/guoren-v2/src/resourceLib/ResourceLibrary.jsx</a:t>
            </a:r>
          </a:p>
          <a:p xmlns:a="http://schemas.openxmlformats.org/drawingml/2006/main">
            <a:r>
              <a:t>- 资料库本地存储与目录映射源码: /Users/zhanghl/Documents/GitHub/guoren-v2/src/resourceLib/resourceLibStore.js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product copy from QuickBuild and Lucky code mode: fast application building for AI applications and lightweight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智搭模块源码: /Users/zhanghl/Documents/GitHub/guoren-v2/src/quickBuild/QuickBuildModule.jsx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 delivery forms to include QuickBuild applications as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智搭模块源码: /Users/zhanghl/Documents/GitHub/guoren-v2/src/quickBuild/QuickBuildModule.jsx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Strengthen the internal value slide per the user's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智搭模块源码: /Users/zhanghl/Documents/GitHub/guoren-v2/src/quickBuild/QuickBuildModule.jsx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Strengthen external sales value and private deployment positioning.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AI 原生平台定位本地文档: /Users/zhanghl/Documents/GitHub/guoren-v2/docs/guoren-vs-learnbuddy-ai-native-platform.md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智搭模块源码: /Users/zhanghl/Documents/GitHub/guoren-v2/src/quickBuild/QuickBuildModule.jsx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Rebuild the user's first teaching-platform reference as a native slide instead of pasting the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用户提供人工智能教学平台参考图 1: /var/folders/b1/n7l3tg6951bg2fxcv64856x00000gn/T/codex-clipboard-149b152b-a9f3-46b5-b650-9833bb59d8e3.png</a:t>
            </a:r>
          </a:p>
          <a:p xmlns:a="http://schemas.openxmlformats.org/drawingml/2006/main">
            <a:r>
              <a:t>- 空间与教学场景源码: /Users/zhanghl/Documents/GitHub/guoren-v2/src/TopicDetail.jsx</a:t>
            </a:r>
          </a:p>
          <a:p xmlns:a="http://schemas.openxmlformats.org/drawingml/2006/main">
            <a:r>
              <a:t>- 解决方案样板间数据源码: /Users/zhanghl/Documents/GitHub/guoren-v2/src/solutionShowroom/showroomData.js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Rebuild the second teaching-platform reference as a native slide focused on lab development workflow and teacher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用户提供人工智能教学平台参考图 2: /var/folders/b1/n7l3tg6951bg2fxcv64856x00000gn/T/codex-clipboard-045c5a90-5e45-4103-a96e-d1c743c1afbd.png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空间与教学场景源码: /Users/zhanghl/Documents/GitHub/guoren-v2/src/TopicDetail.jsx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Rebuild the third teaching-platform reference as a native slide about AI-driven courseware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用户提供人工智能教学平台参考图 3: /var/folders/b1/n7l3tg6951bg2fxcv64856x00000gn/T/codex-clipboard-48052a4b-3632-4796-b381-46cc82e6faea.png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Rebuild the fourth teaching-platform reference as a native workflow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用户提供人工智能教学平台参考图 4: /var/folders/b1/n7l3tg6951bg2fxcv64856x00000gn/T/codex-clipboard-607e9416-7674-4dba-91be-15d5a4c0b775.png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空间与教学场景源码: /Users/zhanghl/Documents/GitHub/guoren-v2/src/TopicDetail.jsx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Rebuild the fifth teaching-platform reference as a native slide about practical-course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用户提供人工智能教学平台参考图 5: /var/folders/b1/n7l3tg6951bg2fxcv64856x00000gn/T/codex-clipboard-eb583dcd-848d-49ac-8dea-1edd799ac397.png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空间与教学场景源码: /Users/zhanghl/Documents/GitHub/guoren-v2/src/TopicDetail.jsx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value argument before the planning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AI 原生平台定位本地文档: /Users/zhanghl/Documents/GitHub/guoren-v2/docs/guoren-vs-learnbuddy-ai-native-platform.md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focuses on platform capability construction across agents, automation, operation governance, local knowledge mapping, and QuickBuild.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用户提供的路演计划与补充要求: 用户提供的路演计划与补充要求（本对话）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智搭模块源码: /Users/zhanghl/Documents/GitHub/guoren-v2/src/quickBuild/QuickBuildModule.jsx</a:t>
            </a:r>
          </a:p>
          <a:p xmlns:a="http://schemas.openxmlformats.org/drawingml/2006/main">
            <a:r>
              <a:t>- 资料库模块源码: /Users/zhanghl/Documents/GitHub/guoren-v2/src/resourceLib/ResourceLibrary.jsx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5e0ee94c04d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ff754f52b44ae5" /><Relationship Type="http://schemas.openxmlformats.org/officeDocument/2006/relationships/slideLayout" Target="/ppt/slideLayouts/slideLayout1.xml" Id="R358b52faef25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b52faef25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22b3ab0e941df" /><Relationship Type="http://schemas.openxmlformats.org/officeDocument/2006/relationships/notesSlide" Target="/ppt/notesSlides/notesSlide1.xml" Id="R4fc9ab3047e0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6c60bf24943b5" /><Relationship Type="http://schemas.openxmlformats.org/officeDocument/2006/relationships/notesSlide" Target="/ppt/notesSlides/notesSlide2.xml" Id="R5a02afb15e6243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828790fbe4e7b" /><Relationship Type="http://schemas.openxmlformats.org/officeDocument/2006/relationships/notesSlide" Target="/ppt/notesSlides/notesSlide3.xml" Id="R443e5f597ada45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9feaa4dd445c0" /><Relationship Type="http://schemas.openxmlformats.org/officeDocument/2006/relationships/notesSlide" Target="/ppt/notesSlides/notesSlide4.xml" Id="Red829dec9ec84a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6739baeee4adb" /><Relationship Type="http://schemas.openxmlformats.org/officeDocument/2006/relationships/notesSlide" Target="/ppt/notesSlides/notesSlide5.xml" Id="R3e05e3663540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45b1677e449bf" /><Relationship Type="http://schemas.openxmlformats.org/officeDocument/2006/relationships/notesSlide" Target="/ppt/notesSlides/notesSlide6.xml" Id="Rac7d701aa12c46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58f53df04c15" /><Relationship Type="http://schemas.openxmlformats.org/officeDocument/2006/relationships/notesSlide" Target="/ppt/notesSlides/notesSlide7.xml" Id="Rff459411023a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740bbe7914cd2" /><Relationship Type="http://schemas.openxmlformats.org/officeDocument/2006/relationships/notesSlide" Target="/ppt/notesSlides/notesSlide8.xml" Id="R36479f4c2cfe4b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5822d29f24e81" /><Relationship Type="http://schemas.openxmlformats.org/officeDocument/2006/relationships/notesSlide" Target="/ppt/notesSlides/notesSlide9.xml" Id="Rcb7129ba057c44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20a026a3a451e" /><Relationship Type="http://schemas.openxmlformats.org/officeDocument/2006/relationships/notesSlide" Target="/ppt/notesSlides/notesSlide10.xml" Id="R91dd541d625f41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a0be50294757" /><Relationship Type="http://schemas.openxmlformats.org/officeDocument/2006/relationships/notesSlide" Target="/ppt/notesSlides/notesSlide11.xml" Id="R835e7214840346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96949bb514796" /><Relationship Type="http://schemas.openxmlformats.org/officeDocument/2006/relationships/notesSlide" Target="/ppt/notesSlides/notesSlide12.xml" Id="Rbc4095c94e5649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1ad7ea4af482e" /><Relationship Type="http://schemas.openxmlformats.org/officeDocument/2006/relationships/notesSlide" Target="/ppt/notesSlides/notesSlide13.xml" Id="Recc6ac97e24a4d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6a4c5e23345de" /><Relationship Type="http://schemas.openxmlformats.org/officeDocument/2006/relationships/notesSlide" Target="/ppt/notesSlides/notesSlide14.xml" Id="R51517be772d041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1fbc15cbc4344" /><Relationship Type="http://schemas.openxmlformats.org/officeDocument/2006/relationships/notesSlide" Target="/ppt/notesSlides/notesSlide15.xml" Id="R2af67e0ea41643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caad207d94a52" /><Relationship Type="http://schemas.openxmlformats.org/officeDocument/2006/relationships/notesSlide" Target="/ppt/notesSlides/notesSlide16.xml" Id="Re2c5fcd7037447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1b13294bc4cc0" /><Relationship Type="http://schemas.openxmlformats.org/officeDocument/2006/relationships/notesSlide" Target="/ppt/notesSlides/notesSlide17.xml" Id="Rfc69fca9e45d4b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c7b8593946c6" /><Relationship Type="http://schemas.openxmlformats.org/officeDocument/2006/relationships/notesSlide" Target="/ppt/notesSlides/notesSlide18.xml" Id="R1a9d47a90fdc41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4d71ee4ac44ac" /><Relationship Type="http://schemas.openxmlformats.org/officeDocument/2006/relationships/notesSlide" Target="/ppt/notesSlides/notesSlide19.xml" Id="Re59d59be7c984b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e62d7b5b349a6" /><Relationship Type="http://schemas.openxmlformats.org/officeDocument/2006/relationships/notesSlide" Target="/ppt/notesSlides/notesSlide20.xml" Id="R5b283ccc0e3249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fa6d7702c44e8" /><Relationship Type="http://schemas.openxmlformats.org/officeDocument/2006/relationships/notesSlide" Target="/ppt/notesSlides/notesSlide21.xml" Id="R3ab0eaf450aa45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d4e194f154a5e" /><Relationship Type="http://schemas.openxmlformats.org/officeDocument/2006/relationships/notesSlide" Target="/ppt/notesSlides/notesSlide22.xml" Id="R830c5ef3307e4a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84881c28d456b" /><Relationship Type="http://schemas.openxmlformats.org/officeDocument/2006/relationships/notesSlide" Target="/ppt/notesSlides/notesSlide23.xml" Id="R3622991cebaa42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4D836-A419-4F1A-8650-E1D677BE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智能体建设平台路演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CD142-76DF-4127-8A1E-510D2870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智能体建设平台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A7337-66CB-48C4-ABC9-C6561BF3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内部建设智能体，外部交付智能体；用资料库和智搭把 AI 能力变成可运行、可复用、可销售的业务应用。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9050A-1DF4-4EBD-8F7E-6D0F54C9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5300"/>
            <a:ext cx="18669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6369A-8F1D-49ED-9FE8-2B81AF3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1371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BUILDING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E7F95-1968-4B9A-AEF2-2B8F3CB0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990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F22DA-A82C-4BD8-8893-8C9952C1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970D0-54D1-44D8-99D6-CCF63A7A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990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A0302-4E1D-4057-ADE7-180BDCCB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052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208CB-4ACC-41B5-8FD4-AD257DB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81450"/>
            <a:ext cx="990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FC05D-329C-47FF-8165-9558A7E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052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6A227-191A-421B-A3E3-5B86D41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81450"/>
            <a:ext cx="990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A8BA8-1DEF-4D08-B01A-EBC49260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052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私有化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BB438-C604-46A1-A211-BEE83B1D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Lucky + 资料库 + 空间 + 智搭</a:t>
            </a:r>
          </a:p>
        </p:txBody>
      </p:sp>
    </p:spTree>
    <p:extLst>
      <p:ext uri="{BB962C8B-B14F-4D97-AF65-F5344CB8AC3E}">
        <p14:creationId xmlns:p14="http://schemas.microsoft.com/office/powerpoint/2010/main" val="142650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374A0-F879-4E1A-A097-69778A0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为什么现在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DFAE2-BC11-4EEC-8239-FC72D570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公司需要掌握自己的智能体建设能力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B2677-AAAA-4709-991F-93FD5E20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采购一个聊天入口解决不了长期问题；真正的竞争力来自可沉淀、可复用、可交付的智能体资产。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1083D-418D-490C-8C5C-9F36340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7A2A9-8776-47B0-B8C2-4DDFFB0D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FE57E-4358-4455-832C-8D208ADD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86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EF699-845F-446F-B735-8A7943FB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业务会持续变化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80BA3-D647-4A33-88D9-2222504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培训、教研、教学、市场、客户成功等场景不断变化，需要快速生成新能力。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544B9-FD8D-4CC0-B68C-255E2A3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3086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FBEF6-FD7A-4E2A-974B-A0C88760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知识必须可控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17D90-31FA-4B33-8C41-E36459A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资料、经验、流程和客户数据要沉淀在公司自己的知识体系和权限边界内。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35930-E862-405E-B91C-3BBB313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3086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74AC0-0994-4A35-A219-88229631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交付要能复制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17BF0-A6AE-4929-BDAE-0104A04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对外销售不能每次从零定制，需要把方案、技能和应用沉淀为模板。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732E8-410E-4FA1-A9FF-7940DFD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9AB2E-0198-494C-A6C6-01529B7F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智能体平台的价值，是让公司从“使用 AI”升级为“建设 AI 能力”。</a:t>
            </a:r>
          </a:p>
        </p:txBody>
      </p:sp>
    </p:spTree>
    <p:extLst>
      <p:ext uri="{BB962C8B-B14F-4D97-AF65-F5344CB8AC3E}">
        <p14:creationId xmlns:p14="http://schemas.microsoft.com/office/powerpoint/2010/main" val="2092536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DD44B-E345-4C27-A68F-728C4D8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平台定位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2A0B7-C97D-4E30-963A-B1AD9F1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是智能体建设、运营和交付平台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CFFA8-34CA-4B20-9FB9-F46E7C10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一个入口连接助理、智能体、技能、知识、空间和应用搭建，让 AI 能力进入业务执行。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0592C-FC1E-4859-A06B-F9DDA782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841FC-685E-442F-9EDE-A98D3E9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3D75D-5750-4F86-A732-396FB5FF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17096-C035-4BB7-865C-24EF0CA3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12FB6-0E16-4C1A-94AB-D534E6AB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Lucky 助理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F50AF-B078-4D0A-8382-EACC80A5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推理、检索资料库、操作平台功能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9486F-5680-4DA0-8F15-653B7BCD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0970B-A975-4709-AE5B-316156B0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63DAF-84B3-4A99-8F44-BB00A8B1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智能体建设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0EE04-5B3D-4F43-AE73-85EDBF8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通过对话创建角色、技能、知识和工具权限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26C7C-AEAD-4FC6-97D0-C1EA0E5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7A604-FB67-47BF-9A79-66DC1809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93BFE-B3A3-4ACF-98C0-F0598C3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知识底座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3390F-CC16-4907-8AC1-EF29EFC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资料库与本地目录成为可引用知识范围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43FE4-5A49-485B-A60C-552D77FB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62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C3301-D811-4A57-95E6-FB6AAE7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A517F-6BFA-49DC-9F6E-0F45883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智搭应用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943BB-43D5-4AE9-87A3-17DEB232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把场景、表单、流程和工具搭成可运行应用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16239-EA2D-4DF4-A9A4-079170D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343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68D87-4BD9-42C0-ADF2-994AD45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4000"/>
            <a:ext cx="750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解决“谁来理解和执行”，智搭解决“交付成什么可运行应用”。</a:t>
            </a:r>
          </a:p>
        </p:txBody>
      </p:sp>
    </p:spTree>
    <p:extLst>
      <p:ext uri="{BB962C8B-B14F-4D97-AF65-F5344CB8AC3E}">
        <p14:creationId xmlns:p14="http://schemas.microsoft.com/office/powerpoint/2010/main" val="109114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74C767-2EF2-4B74-A302-4A61079C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双场景定位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5FF4C-3670-4CC7-8D60-0DDFC7BF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同一套平台，同时支撑内部使用和对外销售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B86E0-C332-44DB-BFF3-084C54FD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内部先跑通智能体建设和运营机制，再沉淀为可复制、可私有化交付的外部方案。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A3D7-D0BA-4A0F-AFF8-B7B3928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237A-DB6F-4FBC-BA05-44BE1E86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16358-3F22-42BA-B68B-185EE520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47053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C860D-B075-43F7-B21E-7F0AFBE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内部使用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2B773-062F-407E-9905-CCDAB78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面向员工、部门和项目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A0A33-7479-4A85-885B-4E784C8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84FDB-F12F-4781-8D57-4BF59B99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9100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提升效率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BE09B-73D7-4F84-81BF-70D0317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65BBD-FD9C-448D-91A6-1B335815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9100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沉淀知识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49644-FF9F-4CFD-AEDA-A841FEC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FE9F4-66E0-4CAC-A6E0-D3E3C49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4345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复用技能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5CEA1-0DD6-40E1-A9B8-1A21038E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993D0-87B1-41A3-8799-70E1B315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推动任务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24B92-2258-45F1-A27E-12CDAEB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7053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76688-9BDF-467C-A207-47913DE2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对外销售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A910-4479-4BA6-A61E-28A3E96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面向客户场景和行业方案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01770-E217-40C7-91FA-DF997DE6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41358-55C7-49C0-B9BE-12805E28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9100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产品化交付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E5039-A673-4890-815F-0F7DFA87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1EE66-C6FA-42F9-8BA6-CEA0FF2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9100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方案复制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5C913-4C9C-4109-BD88-5AFAC4E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100F2-8AD7-4BA2-AA4B-1B31D1A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私有化部署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B6B08-225D-4F12-A7E4-7FB32D50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482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828F8-55A6-48A6-B1F5-64DC60E2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4345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商业增长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97E54-30E2-4C86-BFF1-4732C728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626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内部智能体沉淀方法，外部智能体沉淀收入；两者共用一套平台能力。</a:t>
            </a:r>
          </a:p>
        </p:txBody>
      </p:sp>
    </p:spTree>
    <p:extLst>
      <p:ext uri="{BB962C8B-B14F-4D97-AF65-F5344CB8AC3E}">
        <p14:creationId xmlns:p14="http://schemas.microsoft.com/office/powerpoint/2010/main" val="84733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2A118-CFE0-4BDB-98CB-70DC8233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Lucky 助理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D059-16CA-48AF-9571-E6AD9DEA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个人助理是入口，推理和平台操作才是关键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2F74A-846A-4789-993B-4D4B5939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Lucky 内置个人助理智能体，能理解目标、调用知识、拆解任务，并操作 AI 原生平台能力。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FD348-6833-438B-9721-3DB1C99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E463C-E29D-4DD8-85D6-9C7A7E2F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91259-C63C-49A6-A846-03E6DF7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C2905-9C40-4430-9EAB-B47474D7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支持推理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32EE8-454F-46E0-BCAC-5222D06C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多轮澄清目标、对象、约束和成功标准。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1B036-DDD1-49B6-BB63-874BE703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28BDF-5081-4147-92BA-B918105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资料库为知识库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23544-D187-4044-AAC0-CAEA526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把资料库和本地目录作为可检索、可引用的知识范围。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913EF-0E09-4343-A264-CEF5F08D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BF817-433F-4C14-BF3C-F706DA0B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操作平台功能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B4CC6-C2A1-4134-B8FB-39328E8F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创建空间、配置课程、生成任务、推动通知和服务清单。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83726-DB1F-4032-8C5D-53E4BAED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3DF5E-69A0-4213-8196-179FA26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这让 Lucky 从“回答问题”进入“理解目标并推动业务完成”。</a:t>
            </a:r>
          </a:p>
        </p:txBody>
      </p:sp>
    </p:spTree>
    <p:extLst>
      <p:ext uri="{BB962C8B-B14F-4D97-AF65-F5344CB8AC3E}">
        <p14:creationId xmlns:p14="http://schemas.microsoft.com/office/powerpoint/2010/main" val="531100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3A118-831D-4752-B6F7-D8293BC3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业务示例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5B2D6-0030-4B55-9FEA-E1919631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培训项目组织从人工协调，转向目标驱动交付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D70D8-FA6A-4274-88CB-A014A6C3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用户只表达培训目标，Lucky 负责梳理需求、生成方案、推荐资源，并在空间中推进执行。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0C14F-F6A9-400F-B25E-F51E5B8E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6850A-C799-46C4-AB2C-5928B2E3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47869-061B-42E4-8040-63ACD170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7CEDF-8C19-445B-8C32-2F8AFF3A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传统模式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87930-BBC6-408C-A441-0D819CF0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需求方提出需求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教研设计培训计划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教务创建项目和课程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运营通知、签到、资料、作业和反馈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0BBA0-396F-489A-BEA2-F373252C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359EE-5956-4822-8DB6-9D041DF0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A9118-CD66-4C7B-B9E8-96BF5F8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用户与 Lucky 多轮对话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Lucky 生成培训计划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推荐课程、讲师和日程</a:t>
            </a:r>
          </a:p>
          <a:p xmlns:a="http://schemas.openxmlformats.org/drawingml/2006/main">
            <a:pPr algn="ctr">
              <a:lnSpc>
                <a:spcPct val="134000"/>
              </a:lnSpc>
              <a:buNone/>
              <a:def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确认后创建空间、课程和服务清单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C14B1-6D4D-4C97-8418-38BFA8F8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业务价值：减少跨部门反复沟通，让项目从“人工协调型流程”变成“目标驱动型交付”。</a:t>
            </a:r>
          </a:p>
        </p:txBody>
      </p:sp>
    </p:spTree>
    <p:extLst>
      <p:ext uri="{BB962C8B-B14F-4D97-AF65-F5344CB8AC3E}">
        <p14:creationId xmlns:p14="http://schemas.microsoft.com/office/powerpoint/2010/main" val="482342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B94B8-BF8C-499D-B3E5-2F34B12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智能体构建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3D21C-A0BC-417D-9B05-FD7D4C04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通过对话创建智能体，并配置知识、技能和工具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41DDA-8753-47A6-AF6E-67DAFD69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平台把智能体创建从专业配置工作，变成可被部门和项目团队复用的建设流程。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12D59-41F1-4BA6-B34A-C7625E25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BE30A-5133-4F2F-A9C1-FCFEEC30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072A2-8FEA-4FBA-97C4-16D9530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CF8BC-5CD3-46A7-BF68-075B9B93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8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34A95-0205-4924-B408-2D6EB8BB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BC89-D853-4184-8AE9-FBE5CD33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说明服务对象、任务边界和工作风格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452CB-871D-4439-94F5-0D413AF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4E104-22B6-4431-8D40-5688132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47439-71F3-48A5-A410-F3FA1D5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3456A-40CE-4BB0-BEBA-B68FAEB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选择资料库、本地目录和空间资料范围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E6A8F-7DC7-486B-B32D-48F398A4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F261A-B7B1-4E18-AE45-B4A3FBC1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D9C38-62F9-4E78-9B5E-02D1CF60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绑定技能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FD841-8725-418D-8486-30511D30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添加可调用技能、流程和工具权限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88554-15B1-477D-B87A-6BBFF0BE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C0D84-7C95-40E2-95CC-FF892CA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8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E3B7B-2586-4DC2-98C2-C41C119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上线运营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CC843-25C3-4B9F-B152-0534B86B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跟踪效果、复盘问题、持续迭代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6FAA4-89FB-477F-A224-47F3F441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A6127-0DCD-4BC1-9074-21ED1A64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平台让智能体从一次性配置，变成可建设、可运营、可复用的能力资产。</a:t>
            </a:r>
          </a:p>
        </p:txBody>
      </p:sp>
    </p:spTree>
    <p:extLst>
      <p:ext uri="{BB962C8B-B14F-4D97-AF65-F5344CB8AC3E}">
        <p14:creationId xmlns:p14="http://schemas.microsoft.com/office/powerpoint/2010/main" val="2016296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F78D4-747F-42F2-895A-5C90674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技能构建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3ABCB-3D2C-4A4A-B461-4754E89F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技能可以通过对话创建，也可以从外部优秀实践导入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C553-DD9C-4DB8-85A4-F474CA10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技能沉淀的是可复用动作：提示词、工具调用、流程节点、任务模板和输出标准。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25B62-45CD-4578-BDD6-F111280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07CC3-9570-47A3-8A93-573575F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8084E-2E5C-4AB0-B3A5-67B0A8BE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9146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363EB-BA21-45D0-B584-C762CD1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对话创建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85921-7F27-47E5-86EF-E9C6D25A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用自然语言描述要完成的工作，生成可复用技能草稿。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EB21C-7275-477C-A2F7-F1FA6EFE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29146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7F58E-5F66-417A-A029-66297DBF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外部导入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B0BB7-3A67-4EF3-A800-EDFB77C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看到外部平台或技能市场中的优秀技能，可导入、改造、内化。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B2CDF-800B-4771-9056-D24659D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29146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3425A-3155-4D49-A9AD-D1D8E67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持续沉淀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B2CD4-943C-4627-97B1-32D4FEAB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把项目交付中验证过的动作，沉淀为部门和客户可复用能力。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4C8AF-CDBC-49DB-A07D-0560DA94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57A49-E3E4-4CD8-B186-BB585EEE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技能是智能体平台的“动作库”，决定智能体能做什么、怎么做、做到什么标准。</a:t>
            </a:r>
          </a:p>
        </p:txBody>
      </p:sp>
    </p:spTree>
    <p:extLst>
      <p:ext uri="{BB962C8B-B14F-4D97-AF65-F5344CB8AC3E}">
        <p14:creationId xmlns:p14="http://schemas.microsoft.com/office/powerpoint/2010/main" val="56036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468DD-F84C-484B-B0C3-E1FEED8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能力市场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37BB-6728-4773-9897-77C0933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市场机制让专家、技能和最佳实践被复制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DF917-8401-4BB2-9B8E-8F8848A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智能体市场、技能市场和最佳实践市场，是平台内部复用与外部交付复制的核心机制。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DBED9-F303-41BA-AE0A-7017895B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0B9FC-3501-4693-A662-CFA52A0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9D16E-69BF-4816-BB39-13F16C24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7241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9060A-8337-4C88-9B61-0975728A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智能体市场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85484-DC46-4BE4-8830-B83D1BEB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复用专家智能体、部门智能体和客户场景智能体。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7E896-32EE-4CE4-B3F2-4351332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27241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A3D5E-B3F8-444A-97B6-6AE472D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86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技能市场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9D0A6-E477-403E-AD82-86A3ED54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沉淀可调用动作，让智能体复用成熟任务能力。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E3F04-87F2-45A6-99B5-2DF64D5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76500"/>
            <a:ext cx="27241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0602B-B242-4F81-BFB8-9470A06F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最佳实践市场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4B59B-3431-4ACC-A2B0-74BCE1F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把成功项目、行业方案和交付流程打包成模板。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1BD37-2DE2-4842-A1D0-2A038E3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0550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市场不是展示入口，而是让能力从一个项目复制到更多项目的分发机制。</a:t>
            </a:r>
          </a:p>
        </p:txBody>
      </p:sp>
    </p:spTree>
    <p:extLst>
      <p:ext uri="{BB962C8B-B14F-4D97-AF65-F5344CB8AC3E}">
        <p14:creationId xmlns:p14="http://schemas.microsoft.com/office/powerpoint/2010/main" val="645636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FFB19-48FE-4F15-B8C6-300921BD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运营治理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B23E3-1776-416D-8DFA-65FF1BB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智能体要测得准、看得见、管得住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B73F4-79A7-4675-A3ED-88EBD28D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当智能体从内部试点走向规模使用和外售交付，平台需要同时管理效果、消耗和成本边界。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408A1-A348-4302-9920-8ED7AC8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360B4-D72F-402D-BBD3-4DBB6F27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9DE33-94C1-4E95-8FE9-589D9C1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143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74D46-3EAB-4A41-B9B6-0E1AB6B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从建设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到运营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553EC-ADAE-4EF8-8F7F-D926238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质量、流量和计费是智能体平台商业化交付的基础设施。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763AC-5B32-43D1-ACE9-DE76C6A2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0240D-8FE8-48B8-9F1A-F4015A7A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质量测评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8DA42-FED3-44CF-9BA4-6393C657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用标准测试集、场景样例和人工反馈评估回答准确性、任务完成率、稳定性和安全边界。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253A4-04EE-4B74-B3A0-F5E2CCE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5B39F-E4CB-453E-8A75-49C05ECE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Token 流量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3A719-B778-4FE8-AEAA-75C7E707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00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按智能体、技能、用户和项目统计模型调用、输入输出 Token、峰值趋势和异常消耗。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407CD-FECC-41C1-8975-68FBB3F3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627CD-B888-4E18-9BDD-C84111DC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482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计费管控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D3295-F9D7-4CC2-938E-2819994A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按部门、客户和项目设置额度、预算、套餐、告警和结算口径，支撑私有化与外售。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FE440-C178-4836-89AF-25BE9EA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715EF-1072-45EC-A00F-4F26894E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43600"/>
            <a:ext cx="861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治理能力让智能体平台从“能用”，走向“可信、可控、可规模销售”。</a:t>
            </a:r>
          </a:p>
        </p:txBody>
      </p:sp>
    </p:spTree>
    <p:extLst>
      <p:ext uri="{BB962C8B-B14F-4D97-AF65-F5344CB8AC3E}">
        <p14:creationId xmlns:p14="http://schemas.microsoft.com/office/powerpoint/2010/main" val="749317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58E88-2F3F-4763-941F-D8881526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知识底座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BD207-2965-4795-8B20-849AC873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资料库统一管理多类型资料，成为智能体知识底座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D25F1-B9CD-4A71-A3CE-0225136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资料库的核心不是类型多，而是所有资料都能进入智能体可识别、可引用、可生成的知识范围。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9E12B-32E8-4332-A8AA-7AA1240C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29305-F466-40CA-82F7-8EF4D026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FBE53-6809-4829-B4E0-EC54CF2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810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F8AC-F627-42EF-8057-04070BD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698E-3535-4E30-8F3A-D170647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3086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office、md、pdf、音视频、会议回放、在线文档、白板、问卷、投票、考试、报名、接龙、360评估、测评、实训任务、知识图谱、能力模型、虚拟课堂、html课件、案例仿真、AI课堂评价报告等。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77E08-E5DA-4EDE-9079-28636F4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19350"/>
            <a:ext cx="2667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ED10A-D60A-4735-9201-AE5382FF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289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智能体识别资料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162B6-9507-41DF-9CD3-B19F04B4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所有资料进入知识范围后，可被问答、分析、推荐和生成调用。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C1CE3-4409-4ED8-BB1B-D137437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667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D5E4A-3989-4B3F-B141-CD391D57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智能体生成资料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1C9A-AFB5-4EDD-B51E-2E5F7EB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通过智能体生成课件、报告、问卷、任务、评价材料和业务文档。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16E7C-B42E-4732-83F6-B9CB850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14800"/>
            <a:ext cx="6057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3B067-E5B6-4B49-9424-690B35B4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2435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资料参与业务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AFD22-2AA1-4E65-BB4D-9DCE63A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053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资料不止存放，而是进入空间、项目、智能体和智搭应用。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B8A05-8E43-4E61-92FD-F3369BDB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资料库让公司资产从“文件”变成“智能体可调用的业务上下文”。</a:t>
            </a:r>
          </a:p>
        </p:txBody>
      </p:sp>
    </p:spTree>
    <p:extLst>
      <p:ext uri="{BB962C8B-B14F-4D97-AF65-F5344CB8AC3E}">
        <p14:creationId xmlns:p14="http://schemas.microsoft.com/office/powerpoint/2010/main" val="420876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CAE65-683C-4DBE-8E02-537BC4B8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知识库规划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FA827-2552-43EB-9905-5ABE60EA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本地磁盘目录映射，让已有文件夹直接成为知识库来源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A816-C70C-4577-8936-3C1108D9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客户和内部部门不必先搬迁所有资料；本地目录可映射进知识范围，逐步识别、检索、引用和治理。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7EBA5-FDC0-441B-A310-5D590AF3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5DC3A-A4B1-43DA-95E6-3BCD2F91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1FAA6-AA92-406A-A5E9-CACC7DB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7BEC-DAF5-4C34-BDF7-F5137402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本地文件夹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6F18D-F990-4E6D-B31D-5E79913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已有项目资料、课件、案例、交付物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C1845-7720-43A4-8D6C-BBA65362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7185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94E22-DF12-4831-8E71-5B983B0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55B55-55A9-40BA-A1C3-0AA65AE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目录映射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BC02A-32EB-419E-9DEF-59B3BAF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9570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建立路径、权限、同步和扫描规则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1119C-D854-4FA6-AF9F-5487BEE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6CC89-E6C3-4A70-BDF1-F101A568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A24CF-5953-45E3-8EB0-C2F0772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知识库引用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67CA1-6018-4C7C-BCB9-3FB82FE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智能体检索、生成、分析和任务执行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E86D8-DDEF-4758-A0C5-7A6B320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20780-113A-40DC-B2E2-FAC09853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价值：降低资料迁移成本，让已有知识更快进入智能体能力范围。</a:t>
            </a:r>
          </a:p>
        </p:txBody>
      </p:sp>
    </p:spTree>
    <p:extLst>
      <p:ext uri="{BB962C8B-B14F-4D97-AF65-F5344CB8AC3E}">
        <p14:creationId xmlns:p14="http://schemas.microsoft.com/office/powerpoint/2010/main" val="1762963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1E337-BB62-4272-B0CB-AD8F1CA2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智搭模块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FB6D6-EAE7-455C-A226-C65421A0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智搭把场景、知识库和工具流程快速搭成应用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CF426-131B-4745-A1E0-078F3B7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当智能体能力需要被演示、交付和复制时，智搭把它落成轻量业务系统、AI 应用和团队工具。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48029-ED05-4CA6-A3E1-61A1C65B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D9532-E001-49B5-8F81-2BA38D84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045B5-6AF6-41AF-81E9-C9017D5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276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73011-9DC8-4C3E-BE59-F87262AA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B5E8C-BC60-4D8B-96AF-7ADEA5A9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灵感落地生花，即刻智搭万物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5F1CB-B4D0-44A3-89A9-5FB4BDE1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面向智能体应用开发，把业务场景、知识库和工具流程快速搭成可运行应用。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CE6B1-DED2-4F71-9001-4218736E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781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8B603-FDDE-4883-AC98-401855E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AI 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A473E-6EBD-41E1-BCD5-416F674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面向客户或内部部门快速搭建可运行应用。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80B0D-DE64-4BE2-BFF2-D2518ADD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781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C99E3-E8C1-4733-BCF4-06CF20E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轻型业务系统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26876-9B6F-4530-8FB2-52C74313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承载表单、看板、流程、任务和团队协作。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4AF43-AF23-4A8D-8813-6EB9740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6248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41E0B-E2BD-4D41-AEA5-EA2062F9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0530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应用模板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22C19-E5C7-49BD-83CE-8631ABC1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05350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沉淀做同款、部署和复用能力，降低交付成本。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A5876-BCBB-4184-8A65-47B3D1A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智搭让智能体能力不只存在于对话里，而是变成客户能看见、能操作、能部署的应用。</a:t>
            </a:r>
          </a:p>
        </p:txBody>
      </p:sp>
    </p:spTree>
    <p:extLst>
      <p:ext uri="{BB962C8B-B14F-4D97-AF65-F5344CB8AC3E}">
        <p14:creationId xmlns:p14="http://schemas.microsoft.com/office/powerpoint/2010/main" val="1609032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D1A41-3A4B-463A-A3AA-3A80921F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交付形态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BA4AA-0653-434B-800A-767E7E6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平台能力可以组合成四种递进式交付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6333-DE5B-4A56-9323-106BD53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从单个智能体，到知识服务，再到业务空间和智搭应用，交付深度逐级增加。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5F14B-4260-47FD-B215-B35812B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BFD28-691C-4D0B-9854-0680F76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69D4E-4679-4842-AEDC-B19C179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552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0A3F8-E157-43F1-93B9-993090CF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A6258-44D2-49B5-B007-53101A17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适合内部助理、专家智能体、业务问答和轻量任务。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0F3C7-A2DC-4A14-96DC-8F14AF7C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2552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DA70C-8754-4B0E-961C-8C81703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 + 资料库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99452-E268-4FF6-A32D-2429E3DD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适合组织知识助手、资料问答、内容生成和资料运营。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F1604-FFBF-489F-BADC-AD5EB6B2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552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359A7-14C6-4120-99B1-A76D7720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 + 资料库 + 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1110C-873B-4E7B-AA14-0E468BFB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适合培训、教研、教学、项目协作等业务场景。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6BE66-DCA3-4CFB-8130-CB90F5D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552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DFE86-8AC6-490C-959E-39ACF6F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智搭应用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299A1-8249-4B6D-BB6E-812058E2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把客户需求包装成可运行、可演示、可部署的 AI 应用。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0CD36-7228-479F-913D-09DFB88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941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交付越深入，客户沉淀的资料、流程、智能体和应用越多，平台粘性越强。</a:t>
            </a:r>
          </a:p>
        </p:txBody>
      </p:sp>
    </p:spTree>
    <p:extLst>
      <p:ext uri="{BB962C8B-B14F-4D97-AF65-F5344CB8AC3E}">
        <p14:creationId xmlns:p14="http://schemas.microsoft.com/office/powerpoint/2010/main" val="9445110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9D72E-4022-4C07-9A8A-0F170F28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内部价值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4A462-A498-45C6-AC7F-E4275A27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内部使用的价值，是把组织经验变成可复用生产力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9E76-E2DF-4EA7-A84C-A9EE454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内部智能体不是只帮个人省时间，而是帮助部门沉淀知识、流程、技能和应用模板。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8625C-4425-4271-9E68-B8935D3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D5DD6-E1B2-49DB-80DD-A360B7E9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B50C6-3D30-4C5F-93A5-FA6C866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2479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6FAA8-0467-4FD2-B875-604BAD77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效率提升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4CDC4-1F59-4A84-99CD-B49ABFC0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自然语言发起任务，减少找功能、填表单和反复沟通。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D71DE-DDB6-4D97-8E69-00567B1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22479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8FB18-4A21-4A0A-8005-4CDF260E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知识复用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016E4-76AE-4C03-87FA-518FA1E4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766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资料库、本地目录、项目经验和专家方法都能被调用。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912FC-A29E-41C4-8C26-40724C3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22479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2D15E-CA04-4275-8A5F-4E6D2410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流程沉淀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B99C0-8FCF-4D9B-AFD4-0F489BD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把重复任务、服务清单和交付动作沉淀为技能和自动化。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79578-748E-454B-945B-7D1DD3FF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22479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51E6E-9D69-4227-BE7E-B83B969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应用建设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66B41-623C-4791-B5B3-14611E05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用智搭快速生成内部工具、看板、表单和轻量系统。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AF734-8B32-49A6-A90B-57CC64D2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8796E-06B5-470C-A8CE-9ADAF20C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把经验从“个人会做”沉淀为“智能体会做、应用能跑、团队可复用”。</a:t>
            </a:r>
          </a:p>
        </p:txBody>
      </p:sp>
    </p:spTree>
    <p:extLst>
      <p:ext uri="{BB962C8B-B14F-4D97-AF65-F5344CB8AC3E}">
        <p14:creationId xmlns:p14="http://schemas.microsoft.com/office/powerpoint/2010/main" val="6259354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D51F1-8968-4177-94F5-77A3A5F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外售价值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76596-7B4F-4807-87B2-D61C0809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对外销售的价值，是把 AI 能力产品化、方案化、私有化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0AB21-98E3-44A6-B510-5CFB28B7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客户买到的不是一个聊天窗口，而是能读取资料、执行任务、承载场景并生成应用的完整能力包。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B8D1-14B6-47C1-919C-567E8FB4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5FF17-0FB5-4A39-BB42-E2EE61C2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6881F-B903-434B-8605-BCBC2836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0439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B233F-8D2D-4219-95AC-D789CA29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70477-C3DF-4228-BF3D-FA22148D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外售价值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20797-9C17-46DD-AE26-5FE7251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为什么客户愿意买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B64B3-261F-4B8E-B1E9-ED67531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043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D3526-4D3D-4F11-A9F6-673F521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产品化交付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01C8E-2478-4C63-9438-BBDDA6FC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智能体、资料库、空间和智搭应用可以按客户成熟度组合销售。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88E1-A4D4-4BA1-BB95-33C23151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方案复制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72BB2-D7DB-41ED-8A81-5FE1FF7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专家经验、交付流程、最佳实践和应用模板可以跨客户复用。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09A52-FF32-4281-9EDC-18F35916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43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548A0-19E6-4CD6-8583-D9D6B96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私有化部署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EC23B-958A-4D3F-9F70-85D8513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满足客户对数据、权限、模型接入、本地资料和流程控制的要求。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AAD70-6C93-4573-8060-4674220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商业增长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63591-C037-402E-A9B1-9AA74C78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从项目定制走向平台订阅、场景方案、智能体资产和运营服务。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0D3B0-B718-4C3D-9C1E-9D86C6FE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43600"/>
            <a:ext cx="925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外售智能体的重点不是“能聊”，而是能嵌入客户业务并持续沉淀客户资产。</a:t>
            </a:r>
          </a:p>
        </p:txBody>
      </p:sp>
    </p:spTree>
    <p:extLst>
      <p:ext uri="{BB962C8B-B14F-4D97-AF65-F5344CB8AC3E}">
        <p14:creationId xmlns:p14="http://schemas.microsoft.com/office/powerpoint/2010/main" val="16888691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3EADD-D175-4120-B69C-F6823234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1CDA5-F4B2-46C2-93E2-EB64F31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人工智能教学平台打造“教、学、练、评”一体化闭环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33EE0-8CB8-419A-9F68-584E8920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线上课堂、任务管理、课堂实训和学情分析共同构成可运营、可评价、可持续优化的教学场景。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4AEB6-B9BD-4A2A-8DD4-FF75663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B8D89-F539-4BD4-A3BE-6D9C29B5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C1DFA-0B9C-4669-9B43-C93AAAD3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DB19F-541D-4ABE-ACBC-FDCF8685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 / 线上课堂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CB073-13A5-42F3-B013-3EB88D04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集成高清直播、互动白板和 IM 工具，支持大规模在线教学与实时互动。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60816-D0D1-4691-B1DB-C63F9A3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BF1BC-2624-4207-BFE9-B7987381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02 / 任务管理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6B2A2-7ED9-4698-90AF-FE52D1B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教师一键发布理论学习、编程练习等任务，学生在线接收、完成和提交。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A7553-4930-46BE-9682-500022D1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26949-9DDB-42E8-B593-72AF5DB3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03 / 课堂实训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3F9E6-2070-41B6-9B86-2DAFF7A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提供云电脑环境，支持复杂编程和模型训练，智能体辅助答疑与代码纠错。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7C551-7815-4F81-A551-4857414C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E529D-6B1E-41F4-9BC0-946E2B52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52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04 / 学情分析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12B6F-E1EA-42BD-A7A5-C5DDFCD6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自动采集学习数据，生成多维学情报告，支持精准化和个性化教学。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2B962-1076-4BF7-91B0-EC54827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6A975-733C-473A-AD2D-E174A6F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8645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案例价值：把 AI 教学从单点工具，升级为“教、学、练、评”一体化平台。</a:t>
            </a:r>
          </a:p>
        </p:txBody>
      </p:sp>
    </p:spTree>
    <p:extLst>
      <p:ext uri="{BB962C8B-B14F-4D97-AF65-F5344CB8AC3E}">
        <p14:creationId xmlns:p14="http://schemas.microsoft.com/office/powerpoint/2010/main" val="17769991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AE4CF-0774-4985-A28D-A372EA82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案例 / 实训实验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40F1F-7631-4BDE-A3F3-05DDB23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实训实验开发让教师从运维转向教学设计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7DA04-9A0B-47F2-BADB-58378973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基于 Lucky 和实验室能力，教师可以选择实验室、配置内容、发布任务，并持续监控与指导。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F4F09-08A4-4BEC-A75D-F02A136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8C4D1-9A32-4FFA-B09E-02CEF0DC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9A580-ED91-4418-8C5E-E961E006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2B28A-2923-41D3-814E-896361AF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选择/创建实验室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DB444-3E74-461B-B434-FD85C27A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从模板库选择，或按教学需求组合软件，自定义实训环境。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5429A-0C30-4104-BA7C-E9DBF233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57F11-549C-4693-8938-DB450C3C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配置实验内容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2E4BE-AA52-4E27-99E3-5AC661B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设置目标、步骤、代码/文档/数据集，并配置评价标准。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8F910-5D48-46B0-98C4-28A1E40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8FAD8-CC9C-4269-B10B-F194FA1D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发布实训任务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7C2E2-F993-44EA-807B-8BE0974E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一键发布给班级或学生，学生无需复杂配置即可开始。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0782F-3E2B-4B10-BF27-20AB2B8B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39B72-4653-4299-9E00-DA5CFB94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监控与指导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7B14C-FA02-4338-9FA3-43591498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148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通过仪表盘查看进度和资源状态，在线答疑与代码评审。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F8235-8E67-45CD-A0B6-F7E9A43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67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160C4-5CA2-4837-84E0-65EABF7E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全流程掌控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5C117-D161-44B2-B715-EB0D38B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DEDE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EDEDE"/>
                </a:solidFill>
                <a:latin typeface="PingFang SC"/>
                <a:ea typeface="PingFang SC"/>
                <a:cs typeface="PingFang SC"/>
              </a:rPr>
              <a:t>从模板生成到任务分发与实时监管，覆盖核心教学动作。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E96D8-0B62-4857-AD9A-5ABA630F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24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所见即所得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A9948-541C-411B-B84A-EAB98044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DEDE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EDEDE"/>
                </a:solidFill>
                <a:latin typeface="PingFang SC"/>
                <a:ea typeface="PingFang SC"/>
                <a:cs typeface="PingFang SC"/>
              </a:rPr>
              <a:t>代码和数据资源自动同步，降低环境差异与核对错误。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5245C-9BF0-4560-84E5-355BFC4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4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多元化教学工具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5FC7D1-B7C3-47D5-87E4-B810719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339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DEDE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EDEDE"/>
                </a:solidFill>
                <a:latin typeface="PingFang SC"/>
                <a:ea typeface="PingFang SC"/>
                <a:cs typeface="PingFang SC"/>
              </a:rPr>
              <a:t>编程录制、线上授课、异步录制与实时互动按需组合。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20737-B19F-41A0-9C0E-AFBD30EF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5310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D7378-8AA1-4825-8707-52385ECF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886450"/>
            <a:ext cx="832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核心价值：释放教师生产力，专注教学设计与指导，实现高质量实训教学。</a:t>
            </a:r>
          </a:p>
        </p:txBody>
      </p:sp>
    </p:spTree>
    <p:extLst>
      <p:ext uri="{BB962C8B-B14F-4D97-AF65-F5344CB8AC3E}">
        <p14:creationId xmlns:p14="http://schemas.microsoft.com/office/powerpoint/2010/main" val="19417067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6BDA6-68E7-438C-AC35-F205E85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案例 / 课件创作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9A87B-9E01-41C0-A024-5EAFBEC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课件创作中心用 AI 驱动智能教学内容生成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60387-7048-43D5-A5CA-8DD461A5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依托 Lucky，把教学目标和素材转化为结构化、可交互、可实训的教学内容。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61D37-BB4C-4CFD-83A2-674B9D0B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916B0-2596-4ED1-821A-0AB8E2C9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2C64A-8942-4D14-9B6D-63984E2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086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19C6F-570D-4782-843B-3FD0AD21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依托 Lucky 智能体平台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F6CAD-051D-49F2-AA92-3465B9B1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7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通过自然语言理解与多模态生成，将教师目标和课程素材转化为结构化教学内容。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6C5F7-A3C6-48B8-8211-20BAFAB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086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01CC8-556E-4247-8F44-9C6F665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多模态课件生成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9BAB8-83E8-4CDF-8E42-990C8CB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7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一句话或一段文字即可生成文本、图片、音视频、互动问答和在线代码等富媒体课件。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3A2FA-C0C7-45BE-A303-36908956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086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60C58-3F4B-4FA7-B435-CA52DB6E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实训课件生成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11B28-D7A6-4A5C-A525-742220A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7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围绕实践任务、操作步骤、过程考核和结果评价，生成完整实训课程。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C4CE9-E786-47DC-A182-598C64F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62650"/>
            <a:ext cx="937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这让课件生产从“手工编辑内容”，升级为“AI 理解目标、生成内容、支持互动和实训”。</a:t>
            </a:r>
          </a:p>
        </p:txBody>
      </p:sp>
    </p:spTree>
    <p:extLst>
      <p:ext uri="{BB962C8B-B14F-4D97-AF65-F5344CB8AC3E}">
        <p14:creationId xmlns:p14="http://schemas.microsoft.com/office/powerpoint/2010/main" val="7395362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54CA7-72A3-4445-8A98-9B6CDDB9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案例 / 创作工作台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CCF2A-5FD9-4264-9E04-FD8D55F9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创作工作台把互动课件进一步生成互动课堂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090F6-98EB-480A-B96B-9EB75E1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教师输入教学主题或大纲，AI 生成课件，教师预览编辑后可一键加入备课系统。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319F6-4FF1-4ED4-A72F-0757244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B986E-9813-4C9A-8BD3-49F9576F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CAEDB-AB58-4DA2-A4FC-A88A68D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552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F6F7-3415-48DC-8128-24A8D4AE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01 输入目标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48D7F-E8A9-4C19-967C-BABBEE6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教师输入教学主题或大纲，系统识别并解析备课需求。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8B05E-3E05-4975-A383-7E5842D7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552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228C5-DDFE-4C66-94FE-E3469CBD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 AI 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0D652-BD5D-4E98-93F5-434392FE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生成包含文本、图片、互动问答和在线代码的互动课件。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74A91-2270-4114-8A1C-4D4A50F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2552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2A5AB-9C90-4FFF-8A5F-D5E2489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03 预览编辑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A2D49-E52D-43F8-AB6B-F61E6B9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教师在线预览课件，进行二次修改和个性化完善。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DF9DC-ED46-4548-829E-1690A38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2552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1A1A4-B293-4003-AA35-24276F8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04 一键备课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7343F-4999-4FB9-AD49-B12237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52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编辑完成后，一键添加至平台备课系统，用于课堂教学。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50DA2-5CFB-4903-BB89-8A3EC213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C9E2B-4738-42A7-BC84-783116BB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智能生成多模态互动课件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6238C-D1C5-4CCF-9511-1FBEA3FC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内置智能体自动生成图文、问答、代码演示和游戏化元素。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6AA49-15E7-48D1-A160-A113BA65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478A0-7A11-456F-8544-8E2FAF13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生成多智能体互动课堂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F539A-D384-4A26-817C-F603B5B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一键生成含师生助智能体的平台，支持模拟教学和小组讨论。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FDCB7-CEE8-415A-9122-F636912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6725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CBC42-1A81-4FCB-B75F-E5E83B5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38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一键添加至备课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3C5451-746A-4E57-B319-F971F73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无缝集成备课系统，减少格式转换和重复录入。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30188-4C17-4421-8C60-DD20C08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676FC-3D27-47F5-AFE1-BED9627A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互动课件不是静态内容，而是能进入课堂、连接智能体和教学活动的应用化资源。</a:t>
            </a:r>
          </a:p>
        </p:txBody>
      </p:sp>
    </p:spTree>
    <p:extLst>
      <p:ext uri="{BB962C8B-B14F-4D97-AF65-F5344CB8AC3E}">
        <p14:creationId xmlns:p14="http://schemas.microsoft.com/office/powerpoint/2010/main" val="1250889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7C8EB-ADB3-4561-AA78-23AA1ECB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案例 / 实训课程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1B7A7-1DCA-489C-A1FE-AADE43B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创作工作台让实训课程从目标输入到环境生成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73A77-E0C9-450B-8A66-0E37CB65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教师输入课程目标后，AI 规划知识脉络、配置实训环境，并生成互动课件与评测脚本。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FC458-237A-4E43-AC0D-F9E10F3D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801F5-1C59-4262-A429-98EDC3DB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C8252-8655-48E3-9753-F1FD84B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647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60BF-0099-4A72-9684-510307ED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输入教学目标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1629-3E10-48A3-AF4E-4C85160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明确课程目标、学生基础和预期能力。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36915-B2A9-497D-A2CD-9F9257FE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2647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B8308-6734-4DA6-9984-5F3B2AC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AI 分析与规划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F8125-6C3F-461B-AF5B-A96ED983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拆解目标，生成知识图谱、技能要求和实操任务。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870DD-448E-438D-BFAC-66C0CE2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47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6074B-389C-4733-9B8F-19893E7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自动生成实训环境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75012-683E-48B1-83C0-001002B8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调用云端资源，生成操作系统、编程语言、数据库和软件预置。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2DC0E-6654-4EDA-9BB7-394A08E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2647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86356-8ECE-41EB-8D09-AE781FF3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生成课件与评测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FA02B-E1A2-46D7-86F2-E04AECC5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52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生成图文讲解、代码演示、互动练习和自动评分脚本。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C8B0F-6875-4DC2-BDC2-165D4219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81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A351F-2702-4160-AB9F-C318E85D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9080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智能分析与规划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A496E-5131-4135-9C00-3962F4E4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理解教学目标，自动拆解知识图谱、技能要求和实操任务。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17414-12A7-48E7-A9A6-FEC29C1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05200"/>
            <a:ext cx="481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F0215-CDA1-4B78-B06F-4B686266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5760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环境自动配置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3B914-4054-4495-9666-A75492BE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根据大纲匹配云端资源，一键完成实训环境底层部署。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73CAF-F4D7-4DC4-909C-A42CEE60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481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2E82C-313F-490B-9669-F04D2246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内容与价值双重飞跃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82B99-9F31-429A-A684-C8CE724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0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将数天课程开发压缩为分钟级生成，并通过标准化流程保证专业性。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1DD18-2C1E-450B-96E3-E70900D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EA839-03B5-43B0-930E-0B2A1DE6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899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实训课程生成把教师从环境部署细节中释放出来，回到教学目标和学习效果设计。</a:t>
            </a:r>
          </a:p>
        </p:txBody>
      </p:sp>
    </p:spTree>
    <p:extLst>
      <p:ext uri="{BB962C8B-B14F-4D97-AF65-F5344CB8AC3E}">
        <p14:creationId xmlns:p14="http://schemas.microsoft.com/office/powerpoint/2010/main" val="617137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FE89F-72C9-47BE-84BF-C0AB18D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价值总结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E5A75-2221-43A5-9726-83DA3F3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的核心价值，是把智能体能力变成公司资产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473DD-79B8-4691-BD8F-22F938F3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快速搭建、能力复用、效果更智能、从对话到干活，是平台价值的四个落点。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79F19-B6A7-4E7A-A545-3C90A4A2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962B3-9DFB-4EDF-8091-F19AAEC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E80D6-C825-4F03-A237-0376F29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8B90-2240-4E26-BD46-A8EDCA21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快速搭建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8F050-3787-4389-8A64-688FE5D2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通过对话创建智能体、技能和应用。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5BD55-684E-4FBD-9B92-D9B43DCC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C8D22-8798-4E19-B6A5-B228EE7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能力复用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C433F-34E1-46AA-A124-ED23CDA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市场、模板、资料库和智搭应用持续沉淀。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71F65-722F-483B-BF6E-D05BDBDC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D7A21-236B-4B98-AEFB-B65B66B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效果更智能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258A6-2FA3-47FD-84AF-BA0F40F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支持推理、资料识别、知识引用和业务上下文。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34EE7-9E0C-4561-8C82-E1C4A16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146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3B950-B04D-4380-B5C6-F928B6C8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从对话到干活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204CF-119C-455E-BF40-80197058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能调用平台功能，推动任务、空间和流程执行。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60E41-EBD9-40DA-8FA3-C546544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43600"/>
            <a:ext cx="849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最终目标：公司既能自己建设智能体，也能把智能体能力打包卖出去。</a:t>
            </a:r>
          </a:p>
        </p:txBody>
      </p:sp>
    </p:spTree>
    <p:extLst>
      <p:ext uri="{BB962C8B-B14F-4D97-AF65-F5344CB8AC3E}">
        <p14:creationId xmlns:p14="http://schemas.microsoft.com/office/powerpoint/2010/main" val="2116816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6EB15-9D98-470C-A925-F095693F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65AF-E058-4FF5-85AC-BF089C7F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下一阶段聚焦平台能力建设和运营治理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ACEAF-8B42-4C87-9EB9-72302B98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围绕公司智能体建设、多智能体协同、自动化、运营治理、本地知识库映射和智搭增强，形成持续演进路线。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F4353-8CDB-4728-8613-79227154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05C22-EBB4-4EE1-93EF-6B1BF13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C2948-6F96-4102-BE6C-BDAF9F81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5C4D7-8609-4391-B21E-DE2C4B81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5F15D-5C30-4B8F-BA45-E374A47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908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公司智能体建设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48D6C-89E8-448D-9EAE-94B4E4AF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先建内部部门智能体，再沉淀外售模板。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416DE-55D1-4BAA-8862-3E2B1744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0D428-701B-47DB-B08B-8138CDB0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03B8A-93DE-4FF7-A51D-C3AE79B4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多智能体协同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74843-25AE-4FD9-8BAA-56A4CA22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527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支持任务分工、调度、汇总与复盘。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89740-7193-490E-A4F8-8C9E4F4D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DF18F-AB8B-4A92-85C2-06F126B4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C8571-FC8F-4FA2-B0E1-B600546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B6151-6C3E-41F5-B9F8-58EAA24E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按时间、状态、事件和规则触发任务。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63CD0-CAE0-4579-AF0F-5493250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65A4D-BDE0-4F9A-A6AC-80BF83B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3DE83-D793-41F0-9FDB-16CD5DD3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576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CFB09-E505-44FE-A2A3-9492717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质量测评、Token 统计、额度和计费管控。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27EF8-5206-4951-8F73-BF7DF5D0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2610B-02E4-4DA3-B7D4-714A3152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D8C5D-A658-4B19-B48F-C9D94D76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576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本地知识库映射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2A286-B19B-44D5-A689-C3CCD5E4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本地文件夹接入知识库，支持检索引用。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93557-3226-4892-9589-05BE78C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2C7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66B99-C386-4560-A2CB-DE27CB00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6C864-151A-45C3-9EB7-948E10E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智搭增强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3434B-9B07-4B0F-A3B3-BAF698AC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自然语言创建应用，连接资料、智能体和流程。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9F1DA-9F39-4BF4-B342-4251DCF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578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3CCB1C-163B-4BBA-927B-DA890C4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791200"/>
            <a:ext cx="775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规划重点：让平台持续沉淀能力、复制方案、支撑交付。</a:t>
            </a:r>
          </a:p>
        </p:txBody>
      </p:sp>
    </p:spTree>
    <p:extLst>
      <p:ext uri="{BB962C8B-B14F-4D97-AF65-F5344CB8AC3E}">
        <p14:creationId xmlns:p14="http://schemas.microsoft.com/office/powerpoint/2010/main" val="1535522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2026-08-20T07:41:22.0070000Z</dcterms:created>
  <dcterms:modified xsi:type="dcterms:W3CDTF">2026-08-20T07:41:22.0070000Z</dcterms:modified>
</coreProperties>
</file>