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c415366638415e" /><Relationship Type="http://schemas.openxmlformats.org/officeDocument/2006/relationships/extended-properties" Target="/docProps/app.xml" Id="Rbb0c68ae5b42421d" /><Relationship Type="http://schemas.openxmlformats.org/officeDocument/2006/relationships/officeDocument" Target="/ppt/presentation.xml" Id="Rd7d6904c22774b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dcd8a0c104a86"/>
  </p:sldMasterIdLst>
  <p:notesMasterIdLst>
    <p:notesMasterId xmlns:r="http://schemas.openxmlformats.org/officeDocument/2006/relationships" r:id="R22c66642277049dc"/>
  </p:notesMasterIdLst>
  <p:sldIdLst>
    <p:sldId xmlns:r="http://schemas.openxmlformats.org/officeDocument/2006/relationships" id="256" r:id="R2f17b1f3066e4d0c"/>
    <p:sldId xmlns:r="http://schemas.openxmlformats.org/officeDocument/2006/relationships" id="257" r:id="Rae7ed8e7b94c492e"/>
    <p:sldId xmlns:r="http://schemas.openxmlformats.org/officeDocument/2006/relationships" id="258" r:id="R4deccf559ae64f7f"/>
    <p:sldId xmlns:r="http://schemas.openxmlformats.org/officeDocument/2006/relationships" id="259" r:id="Ra0b646bceb2543aa"/>
    <p:sldId xmlns:r="http://schemas.openxmlformats.org/officeDocument/2006/relationships" id="260" r:id="R0341e19178cb4ed9"/>
    <p:sldId xmlns:r="http://schemas.openxmlformats.org/officeDocument/2006/relationships" id="261" r:id="R2cfa9bd93f1a464c"/>
    <p:sldId xmlns:r="http://schemas.openxmlformats.org/officeDocument/2006/relationships" id="262" r:id="R24146750ea254827"/>
    <p:sldId xmlns:r="http://schemas.openxmlformats.org/officeDocument/2006/relationships" id="263" r:id="Ra02379a331d04c11"/>
    <p:sldId xmlns:r="http://schemas.openxmlformats.org/officeDocument/2006/relationships" id="264" r:id="R33e60d32e99d47fb"/>
    <p:sldId xmlns:r="http://schemas.openxmlformats.org/officeDocument/2006/relationships" id="265" r:id="Rd28b4b837f0846c8"/>
    <p:sldId xmlns:r="http://schemas.openxmlformats.org/officeDocument/2006/relationships" id="266" r:id="R66a6aed638064352"/>
    <p:sldId xmlns:r="http://schemas.openxmlformats.org/officeDocument/2006/relationships" id="267" r:id="Rf9bfda278fb64a45"/>
    <p:sldId xmlns:r="http://schemas.openxmlformats.org/officeDocument/2006/relationships" id="268" r:id="R0e5c04bf280c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06aecb11f4bf9" /><Relationship Type="http://schemas.openxmlformats.org/officeDocument/2006/relationships/slideMaster" Target="/ppt/slideMasters/slideMaster1.xml" Id="R016dcd8a0c104a86" /><Relationship Type="http://schemas.openxmlformats.org/officeDocument/2006/relationships/notesMaster" Target="/ppt/notesMasters/notesMaster1.xml" Id="R22c66642277049dc" /><Relationship Type="http://schemas.openxmlformats.org/officeDocument/2006/relationships/presProps" Target="/ppt/presProps.xml" Id="R35d9f0c8f0e64a52" /><Relationship Type="http://schemas.openxmlformats.org/officeDocument/2006/relationships/tableStyles" Target="/ppt/tableStyles.xml" Id="R4c939a88724b4cc7" /><Relationship Type="http://schemas.openxmlformats.org/officeDocument/2006/relationships/slide" Target="/ppt/slides/slide1.xml" Id="R2f17b1f3066e4d0c" /><Relationship Type="http://schemas.openxmlformats.org/officeDocument/2006/relationships/slide" Target="/ppt/slides/slide2.xml" Id="Rae7ed8e7b94c492e" /><Relationship Type="http://schemas.openxmlformats.org/officeDocument/2006/relationships/slide" Target="/ppt/slides/slide3.xml" Id="R4deccf559ae64f7f" /><Relationship Type="http://schemas.openxmlformats.org/officeDocument/2006/relationships/slide" Target="/ppt/slides/slide4.xml" Id="Ra0b646bceb2543aa" /><Relationship Type="http://schemas.openxmlformats.org/officeDocument/2006/relationships/slide" Target="/ppt/slides/slide5.xml" Id="R0341e19178cb4ed9" /><Relationship Type="http://schemas.openxmlformats.org/officeDocument/2006/relationships/slide" Target="/ppt/slides/slide6.xml" Id="R2cfa9bd93f1a464c" /><Relationship Type="http://schemas.openxmlformats.org/officeDocument/2006/relationships/slide" Target="/ppt/slides/slide7.xml" Id="R24146750ea254827" /><Relationship Type="http://schemas.openxmlformats.org/officeDocument/2006/relationships/slide" Target="/ppt/slides/slide8.xml" Id="Ra02379a331d04c11" /><Relationship Type="http://schemas.openxmlformats.org/officeDocument/2006/relationships/slide" Target="/ppt/slides/slide9.xml" Id="R33e60d32e99d47fb" /><Relationship Type="http://schemas.openxmlformats.org/officeDocument/2006/relationships/slide" Target="/ppt/slides/slide10.xml" Id="Rd28b4b837f0846c8" /><Relationship Type="http://schemas.openxmlformats.org/officeDocument/2006/relationships/slide" Target="/ppt/slides/slide11.xml" Id="R66a6aed638064352" /><Relationship Type="http://schemas.openxmlformats.org/officeDocument/2006/relationships/slide" Target="/ppt/slides/slide12.xml" Id="Rf9bfda278fb64a45" /><Relationship Type="http://schemas.openxmlformats.org/officeDocument/2006/relationships/slide" Target="/ppt/slides/slide13.xml" Id="R0e5c04bf280c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e16911bce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11271c705b40b4" /><Relationship Type="http://schemas.openxmlformats.org/officeDocument/2006/relationships/notesMaster" Target="/ppt/notesMasters/notesMaster1.xml" Id="R786b6361bf1b4f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a33e2df5064f96" /><Relationship Type="http://schemas.openxmlformats.org/officeDocument/2006/relationships/notesMaster" Target="/ppt/notesMasters/notesMaster1.xml" Id="R93a4c94da61848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e597857c2c452d" /><Relationship Type="http://schemas.openxmlformats.org/officeDocument/2006/relationships/notesMaster" Target="/ppt/notesMasters/notesMaster1.xml" Id="Rea461b22ca704e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410a8a7a764050" /><Relationship Type="http://schemas.openxmlformats.org/officeDocument/2006/relationships/notesMaster" Target="/ppt/notesMasters/notesMaster1.xml" Id="R6026c901375548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ea19a8c2a94705" /><Relationship Type="http://schemas.openxmlformats.org/officeDocument/2006/relationships/notesMaster" Target="/ppt/notesMasters/notesMaster1.xml" Id="R300bee82ed6046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64ea7d1f144adb" /><Relationship Type="http://schemas.openxmlformats.org/officeDocument/2006/relationships/notesMaster" Target="/ppt/notesMasters/notesMaster1.xml" Id="R240f25e39cad4c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85cbef7564dd7" /><Relationship Type="http://schemas.openxmlformats.org/officeDocument/2006/relationships/notesMaster" Target="/ppt/notesMasters/notesMaster1.xml" Id="R3447442e91ad4e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ede5c4d7554436" /><Relationship Type="http://schemas.openxmlformats.org/officeDocument/2006/relationships/notesMaster" Target="/ppt/notesMasters/notesMaster1.xml" Id="Re2b109af94334b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b9719e42764fb1" /><Relationship Type="http://schemas.openxmlformats.org/officeDocument/2006/relationships/notesMaster" Target="/ppt/notesMasters/notesMaster1.xml" Id="R734ad726612242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f54b2a97b2448e" /><Relationship Type="http://schemas.openxmlformats.org/officeDocument/2006/relationships/notesMaster" Target="/ppt/notesMasters/notesMaster1.xml" Id="Rdb222e6039da46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00b44a50f4efe" /><Relationship Type="http://schemas.openxmlformats.org/officeDocument/2006/relationships/notesMaster" Target="/ppt/notesMasters/notesMaster1.xml" Id="R08c2b908cdf445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f4ab92af834f23" /><Relationship Type="http://schemas.openxmlformats.org/officeDocument/2006/relationships/notesMaster" Target="/ppt/notesMasters/notesMaster1.xml" Id="R34e8f3e7e88241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8b8a390224c81" /><Relationship Type="http://schemas.openxmlformats.org/officeDocument/2006/relationships/notesMaster" Target="/ppt/notesMasters/notesMaster1.xml" Id="R778685a434b7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deck as a shift in business execution, not a feature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AI-native is a management and operating model shift, not only a technology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contrasts the old operating model and the target AI-native operating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lucky as an agent that can lead execution while humans retain judgment and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training project example to make the execution model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AI-native training scenario covers the complete lifecycle, not a single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 the 15 application cases into business task families for easier executive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five system-level changes described in the Markdown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AI-native model into organizational impact and management implications.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Identify the first three company changes required to make the agent executable, not merely conversational.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organizational mechanisms needed beyond platform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practical phased rollout path grounded in the Markdown recommendations.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the intended end-state for the organization.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Based on the local Markdown source: /Users/zhanghl/Documents/GitHub/guoren-v2/docs/ai-native-driven-system-use-cases.md</a:t>
            </a:r>
          </a:p>
          <a:p xmlns:a="http://schemas.openxmlformats.org/drawingml/2006/main"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979b6c0c4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8744fa32a24cf7" /><Relationship Type="http://schemas.openxmlformats.org/officeDocument/2006/relationships/slideLayout" Target="/ppt/slideLayouts/slideLayout1.xml" Id="R9966a7f9b514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66a7f9b514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ebc40ea2d4b66" /><Relationship Type="http://schemas.openxmlformats.org/officeDocument/2006/relationships/notesSlide" Target="/ppt/notesSlides/notesSlide1.xml" Id="R0adcba115f8d46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2bbe6fc0f4893" /><Relationship Type="http://schemas.openxmlformats.org/officeDocument/2006/relationships/notesSlide" Target="/ppt/notesSlides/notesSlide2.xml" Id="Rc44b74278cfe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5b25814d047ca" /><Relationship Type="http://schemas.openxmlformats.org/officeDocument/2006/relationships/notesSlide" Target="/ppt/notesSlides/notesSlide3.xml" Id="R88953e4f91d346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29a8fb44047db" /><Relationship Type="http://schemas.openxmlformats.org/officeDocument/2006/relationships/notesSlide" Target="/ppt/notesSlides/notesSlide4.xml" Id="R4cb22bf497b04e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dfe6f683e494d" /><Relationship Type="http://schemas.openxmlformats.org/officeDocument/2006/relationships/notesSlide" Target="/ppt/notesSlides/notesSlide5.xml" Id="R366b60d3778a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0adbd856422f" /><Relationship Type="http://schemas.openxmlformats.org/officeDocument/2006/relationships/notesSlide" Target="/ppt/notesSlides/notesSlide6.xml" Id="R688ad09986c9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f7da4453b485c" /><Relationship Type="http://schemas.openxmlformats.org/officeDocument/2006/relationships/notesSlide" Target="/ppt/notesSlides/notesSlide7.xml" Id="R6aa5bede8f5040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bf277f0b94b31" /><Relationship Type="http://schemas.openxmlformats.org/officeDocument/2006/relationships/notesSlide" Target="/ppt/notesSlides/notesSlide8.xml" Id="Rc4895557b7e348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02c7d4704ed5" /><Relationship Type="http://schemas.openxmlformats.org/officeDocument/2006/relationships/notesSlide" Target="/ppt/notesSlides/notesSlide9.xml" Id="Raa443f685bc140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950918cb944c6" /><Relationship Type="http://schemas.openxmlformats.org/officeDocument/2006/relationships/notesSlide" Target="/ppt/notesSlides/notesSlide10.xml" Id="Ra10b3b23c29e46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1a6cbba2494c" /><Relationship Type="http://schemas.openxmlformats.org/officeDocument/2006/relationships/notesSlide" Target="/ppt/notesSlides/notesSlide11.xml" Id="R8123b9331d8948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47817239b440e" /><Relationship Type="http://schemas.openxmlformats.org/officeDocument/2006/relationships/notesSlide" Target="/ppt/notesSlides/notesSlide12.xml" Id="R155802586f634c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42c228c2e462a" /><Relationship Type="http://schemas.openxmlformats.org/officeDocument/2006/relationships/notesSlide" Target="/ppt/notesSlides/notesSlide13.xml" Id="R29764bbc38ba40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3CC50F6-15C0-43B5-A408-DB74394A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果仁业务系统 / AI 原生专题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6EBEA4E-B079-4BBE-820E-95EC3C37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4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AI 原生业务执行模式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BEA449E-518C-467F-9094-6EB87D98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32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应用场景、组织影响与落地建议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47FB3C8-EFCB-43A1-B384-DA5CA672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B7F4929E-C173-42CB-8656-23DF75D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从功能系统到任务执行主导者</a:t>
            </a:r>
          </a:p>
        </p:txBody>
      </p:sp>
    </p:spTree>
    <p:extLst>
      <p:ext uri="{BB962C8B-B14F-4D97-AF65-F5344CB8AC3E}">
        <p14:creationId xmlns:p14="http://schemas.microsoft.com/office/powerpoint/2010/main" val="760843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2">
            <a:extLst xmlns:a="http://schemas.openxmlformats.org/drawingml/2006/main">
              <a:ext uri="{FF2B5EF4-FFF2-40B4-BE49-F238E27FC236}">
                <a16:creationId xmlns:a16="http://schemas.microsoft.com/office/drawing/2014/main" id="{B25F727A-461B-4BD2-8B44-8126BDC1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AI 原生首先是一种业务思维模式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6FC73A5D-28C9-4A3F-8D82-1147B2FA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它不只是技术、平台或聊天入口，而是重新思考业务目标如何被理解、拆解、执行和优化。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ED55C4C-0D0B-4355-BEE1-D7A6733C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02</a:t>
            </a:r>
          </a:p>
        </p:txBody>
      </p:sp>
      <p:sp>
        <p:nvSpPr>
          <p:cNvPr id="4" name="mindset-accent">
            <a:extLst xmlns:a="http://schemas.openxmlformats.org/drawingml/2006/main">
              <a:ext uri="{FF2B5EF4-FFF2-40B4-BE49-F238E27FC236}">
                <a16:creationId xmlns:a16="http://schemas.microsoft.com/office/drawing/2014/main" id="{53477D66-3BA0-4848-9D66-BBEFD84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ndset-quote">
            <a:extLst xmlns:a="http://schemas.openxmlformats.org/drawingml/2006/main">
              <a:ext uri="{FF2B5EF4-FFF2-40B4-BE49-F238E27FC236}">
                <a16:creationId xmlns:a16="http://schemas.microsoft.com/office/drawing/2014/main" id="{8BA447BC-00BB-4D1C-9C5B-1EE1BAE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810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公司不再只问：</a:t>
            </a:r>
          </a:p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“系统应该有哪些功能？”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而是进一步问：</a:t>
            </a:r>
          </a:p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6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“业务目标如何被智能体执行？”</a:t>
            </a:r>
          </a:p>
        </p:txBody>
      </p:sp>
      <p:sp>
        <p:nvSpPr>
          <p:cNvPr id="6" name="mindset-panel-1">
            <a:extLst xmlns:a="http://schemas.openxmlformats.org/drawingml/2006/main">
              <a:ext uri="{FF2B5EF4-FFF2-40B4-BE49-F238E27FC236}">
                <a16:creationId xmlns:a16="http://schemas.microsoft.com/office/drawing/2014/main" id="{6F9844E4-2B0B-456D-B077-DE25247A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57350"/>
            <a:ext cx="43434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" name="mindset-idx-1">
            <a:extLst xmlns:a="http://schemas.openxmlformats.org/drawingml/2006/main">
              <a:ext uri="{FF2B5EF4-FFF2-40B4-BE49-F238E27FC236}">
                <a16:creationId xmlns:a16="http://schemas.microsoft.com/office/drawing/2014/main" id="{E569F5F8-EDE3-4713-BE72-F327C938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01</a:t>
            </a:r>
          </a:p>
        </p:txBody>
      </p:sp>
      <p:sp>
        <p:nvSpPr>
          <p:cNvPr id="8" name="mindset-title-1">
            <a:extLst xmlns:a="http://schemas.openxmlformats.org/drawingml/2006/main">
              <a:ext uri="{FF2B5EF4-FFF2-40B4-BE49-F238E27FC236}">
                <a16:creationId xmlns:a16="http://schemas.microsoft.com/office/drawing/2014/main" id="{51C6CEAE-F5A0-4D66-98C5-9B8531AE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288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流程设计</a:t>
            </a:r>
          </a:p>
        </p:txBody>
      </p:sp>
      <p:sp>
        <p:nvSpPr>
          <p:cNvPr id="9" name="mindset-body-1">
            <a:extLst xmlns:a="http://schemas.openxmlformats.org/drawingml/2006/main">
              <a:ext uri="{FF2B5EF4-FFF2-40B4-BE49-F238E27FC236}">
                <a16:creationId xmlns:a16="http://schemas.microsoft.com/office/drawing/2014/main" id="{67F371D5-ACEA-41E7-A4C7-41D419A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098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围绕任务目标重组流程，不再围绕菜单拆分动作</a:t>
            </a:r>
          </a:p>
        </p:txBody>
      </p:sp>
      <p:sp>
        <p:nvSpPr>
          <p:cNvPr id="10" name="mindset-panel-2">
            <a:extLst xmlns:a="http://schemas.openxmlformats.org/drawingml/2006/main">
              <a:ext uri="{FF2B5EF4-FFF2-40B4-BE49-F238E27FC236}">
                <a16:creationId xmlns:a16="http://schemas.microsoft.com/office/drawing/2014/main" id="{0D1ED81C-23AC-42B0-8FA7-962EC2E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38475"/>
            <a:ext cx="43434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mindset-idx-2">
            <a:extLst xmlns:a="http://schemas.openxmlformats.org/drawingml/2006/main">
              <a:ext uri="{FF2B5EF4-FFF2-40B4-BE49-F238E27FC236}">
                <a16:creationId xmlns:a16="http://schemas.microsoft.com/office/drawing/2014/main" id="{25BE8A4E-48A0-4A65-97B0-A4FAB0D5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289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02</a:t>
            </a:r>
          </a:p>
        </p:txBody>
      </p:sp>
      <p:sp>
        <p:nvSpPr>
          <p:cNvPr id="12" name="mindset-title-2">
            <a:extLst xmlns:a="http://schemas.openxmlformats.org/drawingml/2006/main">
              <a:ext uri="{FF2B5EF4-FFF2-40B4-BE49-F238E27FC236}">
                <a16:creationId xmlns:a16="http://schemas.microsoft.com/office/drawing/2014/main" id="{EBC76A2D-D063-4943-803B-591265D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9925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组织协作</a:t>
            </a:r>
          </a:p>
        </p:txBody>
      </p:sp>
      <p:sp>
        <p:nvSpPr>
          <p:cNvPr id="13" name="mindset-body-2">
            <a:extLst xmlns:a="http://schemas.openxmlformats.org/drawingml/2006/main">
              <a:ext uri="{FF2B5EF4-FFF2-40B4-BE49-F238E27FC236}">
                <a16:creationId xmlns:a16="http://schemas.microsoft.com/office/drawing/2014/main" id="{6A995578-875E-40CC-BF78-18D9CB21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90925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让智能体主动串联角色、数据、知识和系统能力</a:t>
            </a:r>
          </a:p>
        </p:txBody>
      </p:sp>
      <p:sp>
        <p:nvSpPr>
          <p:cNvPr id="14" name="mindset-panel-3">
            <a:extLst xmlns:a="http://schemas.openxmlformats.org/drawingml/2006/main">
              <a:ext uri="{FF2B5EF4-FFF2-40B4-BE49-F238E27FC236}">
                <a16:creationId xmlns:a16="http://schemas.microsoft.com/office/drawing/2014/main" id="{0468700F-1178-4A22-A858-F84A86F2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19600"/>
            <a:ext cx="43434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mindset-idx-3">
            <a:extLst xmlns:a="http://schemas.openxmlformats.org/drawingml/2006/main">
              <a:ext uri="{FF2B5EF4-FFF2-40B4-BE49-F238E27FC236}">
                <a16:creationId xmlns:a16="http://schemas.microsoft.com/office/drawing/2014/main" id="{A6DAECD7-3D3C-49F3-8436-267C5E7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10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03</a:t>
            </a:r>
          </a:p>
        </p:txBody>
      </p:sp>
      <p:sp>
        <p:nvSpPr>
          <p:cNvPr id="16" name="mindset-title-3">
            <a:extLst xmlns:a="http://schemas.openxmlformats.org/drawingml/2006/main">
              <a:ext uri="{FF2B5EF4-FFF2-40B4-BE49-F238E27FC236}">
                <a16:creationId xmlns:a16="http://schemas.microsoft.com/office/drawing/2014/main" id="{BABFA289-1ECA-44FC-B63A-A7E20B96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910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人才培养</a:t>
            </a:r>
          </a:p>
        </p:txBody>
      </p:sp>
      <p:sp>
        <p:nvSpPr>
          <p:cNvPr id="17" name="mindset-body-3">
            <a:extLst xmlns:a="http://schemas.openxmlformats.org/drawingml/2006/main">
              <a:ext uri="{FF2B5EF4-FFF2-40B4-BE49-F238E27FC236}">
                <a16:creationId xmlns:a16="http://schemas.microsoft.com/office/drawing/2014/main" id="{79716693-8696-4131-85F1-1891FC5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员工转向表达目标、校准输出和判断业务风险</a:t>
            </a:r>
          </a:p>
        </p:txBody>
      </p:sp>
    </p:spTree>
    <p:extLst>
      <p:ext uri="{BB962C8B-B14F-4D97-AF65-F5344CB8AC3E}">
        <p14:creationId xmlns:p14="http://schemas.microsoft.com/office/powerpoint/2010/main" val="1672519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38C04E70-7114-4641-AD20-10378613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核心变化是从功能操作走向目标执行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3060B732-B0C5-4190-A81B-57A380EE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03</a:t>
            </a:r>
          </a:p>
        </p:txBody>
      </p:sp>
      <p:sp>
        <p:nvSpPr>
          <p:cNvPr id="3" name="mode-shift-left-title">
            <a:extLst xmlns:a="http://schemas.openxmlformats.org/drawingml/2006/main">
              <a:ext uri="{FF2B5EF4-FFF2-40B4-BE49-F238E27FC236}">
                <a16:creationId xmlns:a16="http://schemas.microsoft.com/office/drawing/2014/main" id="{F6FEEF76-BD21-4E0F-979F-246BEA9C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传统系统模式</a:t>
            </a:r>
          </a:p>
        </p:txBody>
      </p:sp>
      <p:sp>
        <p:nvSpPr>
          <p:cNvPr id="4" name="mode-shift-right-title">
            <a:extLst xmlns:a="http://schemas.openxmlformats.org/drawingml/2006/main">
              <a:ext uri="{FF2B5EF4-FFF2-40B4-BE49-F238E27FC236}">
                <a16:creationId xmlns:a16="http://schemas.microsoft.com/office/drawing/2014/main" id="{1E3DC08D-BE10-46E5-891D-97769C7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668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AI 原生模式</a:t>
            </a:r>
          </a:p>
        </p:txBody>
      </p:sp>
      <p:sp>
        <p:nvSpPr>
          <p:cNvPr id="5" name="mode-shift-row-rule-0">
            <a:extLst xmlns:a="http://schemas.openxmlformats.org/drawingml/2006/main">
              <a:ext uri="{FF2B5EF4-FFF2-40B4-BE49-F238E27FC236}">
                <a16:creationId xmlns:a16="http://schemas.microsoft.com/office/drawing/2014/main" id="{D314B277-7ECF-4B28-BC4C-1AE843B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e-shift-left-0">
            <a:extLst xmlns:a="http://schemas.openxmlformats.org/drawingml/2006/main">
              <a:ext uri="{FF2B5EF4-FFF2-40B4-BE49-F238E27FC236}">
                <a16:creationId xmlns:a16="http://schemas.microsoft.com/office/drawing/2014/main" id="{545F97CD-9FA9-4B3D-A25F-4A69EFCA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人找菜单、填表单、推流程</a:t>
            </a:r>
          </a:p>
        </p:txBody>
      </p:sp>
      <p:sp>
        <p:nvSpPr>
          <p:cNvPr id="7" name="mode-shift-right-0">
            <a:extLst xmlns:a="http://schemas.openxmlformats.org/drawingml/2006/main">
              <a:ext uri="{FF2B5EF4-FFF2-40B4-BE49-F238E27FC236}">
                <a16:creationId xmlns:a16="http://schemas.microsoft.com/office/drawing/2014/main" id="{97EB7EBF-2515-40A5-9BAA-BB90DF57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人表达目标，智能体选择路径并推进任务</a:t>
            </a:r>
          </a:p>
        </p:txBody>
      </p:sp>
      <p:sp>
        <p:nvSpPr>
          <p:cNvPr id="8" name="mode-shift-row-rule-1">
            <a:extLst xmlns:a="http://schemas.openxmlformats.org/drawingml/2006/main">
              <a:ext uri="{FF2B5EF4-FFF2-40B4-BE49-F238E27FC236}">
                <a16:creationId xmlns:a16="http://schemas.microsoft.com/office/drawing/2014/main" id="{8F4AD165-A0B7-42AD-8C10-1467D82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09950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de-shift-left-1">
            <a:extLst xmlns:a="http://schemas.openxmlformats.org/drawingml/2006/main">
              <a:ext uri="{FF2B5EF4-FFF2-40B4-BE49-F238E27FC236}">
                <a16:creationId xmlns:a16="http://schemas.microsoft.com/office/drawing/2014/main" id="{EE3ACCD2-8D7C-4AF4-A1DC-7112DD3C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系统主要负责记录和留痕</a:t>
            </a:r>
          </a:p>
        </p:txBody>
      </p:sp>
      <p:sp>
        <p:nvSpPr>
          <p:cNvPr id="10" name="mode-shift-right-1">
            <a:extLst xmlns:a="http://schemas.openxmlformats.org/drawingml/2006/main">
              <a:ext uri="{FF2B5EF4-FFF2-40B4-BE49-F238E27FC236}">
                <a16:creationId xmlns:a16="http://schemas.microsoft.com/office/drawing/2014/main" id="{D48DD6E2-1A7F-4548-B98D-6FC6250C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系统具备理解、规划、执行和反馈能力</a:t>
            </a:r>
          </a:p>
        </p:txBody>
      </p:sp>
      <p:sp>
        <p:nvSpPr>
          <p:cNvPr id="11" name="mode-shift-row-rule-2">
            <a:extLst xmlns:a="http://schemas.openxmlformats.org/drawingml/2006/main">
              <a:ext uri="{FF2B5EF4-FFF2-40B4-BE49-F238E27FC236}">
                <a16:creationId xmlns:a16="http://schemas.microsoft.com/office/drawing/2014/main" id="{B805A129-E213-4078-8F0C-0F45BB3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48150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de-shift-left-2">
            <a:extLst xmlns:a="http://schemas.openxmlformats.org/drawingml/2006/main">
              <a:ext uri="{FF2B5EF4-FFF2-40B4-BE49-F238E27FC236}">
                <a16:creationId xmlns:a16="http://schemas.microsoft.com/office/drawing/2014/main" id="{39FBB47D-E7BA-4EED-B350-53481ECA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业务依赖人工协调和经验判断</a:t>
            </a:r>
          </a:p>
        </p:txBody>
      </p:sp>
      <p:sp>
        <p:nvSpPr>
          <p:cNvPr id="13" name="mode-shift-right-2">
            <a:extLst xmlns:a="http://schemas.openxmlformats.org/drawingml/2006/main">
              <a:ext uri="{FF2B5EF4-FFF2-40B4-BE49-F238E27FC236}">
                <a16:creationId xmlns:a16="http://schemas.microsoft.com/office/drawing/2014/main" id="{60020923-F862-4627-8BC2-BF84033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lucky 负责拆解任务、调用能力和提醒异常</a:t>
            </a:r>
          </a:p>
        </p:txBody>
      </p:sp>
      <p:sp>
        <p:nvSpPr>
          <p:cNvPr id="14" name="mode-shift-row-rule-3">
            <a:extLst xmlns:a="http://schemas.openxmlformats.org/drawingml/2006/main">
              <a:ext uri="{FF2B5EF4-FFF2-40B4-BE49-F238E27FC236}">
                <a16:creationId xmlns:a16="http://schemas.microsoft.com/office/drawing/2014/main" id="{C0BE9372-2645-4CEF-8A61-A9E3B4D4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-shift-left-3">
            <a:extLst xmlns:a="http://schemas.openxmlformats.org/drawingml/2006/main">
              <a:ext uri="{FF2B5EF4-FFF2-40B4-BE49-F238E27FC236}">
                <a16:creationId xmlns:a16="http://schemas.microsoft.com/office/drawing/2014/main" id="{C50D4251-2B9B-4D3E-B604-1E3535A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数据更多用于事后报表</a:t>
            </a:r>
          </a:p>
        </p:txBody>
      </p:sp>
      <p:sp>
        <p:nvSpPr>
          <p:cNvPr id="16" name="mode-shift-right-3">
            <a:extLst xmlns:a="http://schemas.openxmlformats.org/drawingml/2006/main">
              <a:ext uri="{FF2B5EF4-FFF2-40B4-BE49-F238E27FC236}">
                <a16:creationId xmlns:a16="http://schemas.microsoft.com/office/drawing/2014/main" id="{AF7EDE30-68E7-4FC3-8181-7A403F0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数据实时参与方案生成、过程预警和经营分析</a:t>
            </a:r>
          </a:p>
        </p:txBody>
      </p:sp>
      <p:sp>
        <p:nvSpPr>
          <p:cNvPr id="17" name="mode-arrow">
            <a:extLst xmlns:a="http://schemas.openxmlformats.org/drawingml/2006/main">
              <a:ext uri="{FF2B5EF4-FFF2-40B4-BE49-F238E27FC236}">
                <a16:creationId xmlns:a16="http://schemas.microsoft.com/office/drawing/2014/main" id="{AF055E12-0831-48DB-818C-87EA2DB0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956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58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34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94151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4D879FDE-A31F-4267-A871-D687987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lucky 可以成为任务的执行主导者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BD987E6A-AFAA-4BBA-A88B-6EA0792B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人的角色更聚焦在目标确认、专业校准、关键判断和风险决策。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D07FF1E3-84FC-4455-9DAC-A39837E0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04</a:t>
            </a:r>
          </a:p>
        </p:txBody>
      </p:sp>
      <p:sp>
        <p:nvSpPr>
          <p:cNvPr id="4" name="leader-line">
            <a:extLst xmlns:a="http://schemas.openxmlformats.org/drawingml/2006/main">
              <a:ext uri="{FF2B5EF4-FFF2-40B4-BE49-F238E27FC236}">
                <a16:creationId xmlns:a16="http://schemas.microsoft.com/office/drawing/2014/main" id="{916D7147-ED0F-4DB6-B20D-D71E5596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ader-dot-0">
            <a:extLst xmlns:a="http://schemas.openxmlformats.org/drawingml/2006/main">
              <a:ext uri="{FF2B5EF4-FFF2-40B4-BE49-F238E27FC236}">
                <a16:creationId xmlns:a16="http://schemas.microsoft.com/office/drawing/2014/main" id="{84B270C6-DD79-4BF0-A2CE-08ED4BDE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95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ader-step-title-0">
            <a:extLst xmlns:a="http://schemas.openxmlformats.org/drawingml/2006/main">
              <a:ext uri="{FF2B5EF4-FFF2-40B4-BE49-F238E27FC236}">
                <a16:creationId xmlns:a16="http://schemas.microsoft.com/office/drawing/2014/main" id="{7C8CE280-D8AD-4B4D-B1F0-C9891AE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需求澄清</a:t>
            </a:r>
          </a:p>
        </p:txBody>
      </p:sp>
      <p:sp>
        <p:nvSpPr>
          <p:cNvPr id="7" name="leader-step-body-0">
            <a:extLst xmlns:a="http://schemas.openxmlformats.org/drawingml/2006/main">
              <a:ext uri="{FF2B5EF4-FFF2-40B4-BE49-F238E27FC236}">
                <a16:creationId xmlns:a16="http://schemas.microsoft.com/office/drawing/2014/main" id="{CA8C2777-E209-4CD1-9E8A-409E838B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理解业务意图</a:t>
            </a:r>
          </a:p>
        </p:txBody>
      </p:sp>
      <p:sp>
        <p:nvSpPr>
          <p:cNvPr id="8" name="leader-dot-1">
            <a:extLst xmlns:a="http://schemas.openxmlformats.org/drawingml/2006/main">
              <a:ext uri="{FF2B5EF4-FFF2-40B4-BE49-F238E27FC236}">
                <a16:creationId xmlns:a16="http://schemas.microsoft.com/office/drawing/2014/main" id="{546FB39B-E75C-4A39-B2D1-115826A5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95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eader-step-title-1">
            <a:extLst xmlns:a="http://schemas.openxmlformats.org/drawingml/2006/main">
              <a:ext uri="{FF2B5EF4-FFF2-40B4-BE49-F238E27FC236}">
                <a16:creationId xmlns:a16="http://schemas.microsoft.com/office/drawing/2014/main" id="{8F600A44-A481-4192-90B4-400BC20A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479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任务拆解</a:t>
            </a:r>
          </a:p>
        </p:txBody>
      </p:sp>
      <p:sp>
        <p:nvSpPr>
          <p:cNvPr id="10" name="leader-step-body-1">
            <a:extLst xmlns:a="http://schemas.openxmlformats.org/drawingml/2006/main">
              <a:ext uri="{FF2B5EF4-FFF2-40B4-BE49-F238E27FC236}">
                <a16:creationId xmlns:a16="http://schemas.microsoft.com/office/drawing/2014/main" id="{24A1F3AE-C34B-47E5-AE3B-490C6DA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形成执行步骤</a:t>
            </a:r>
          </a:p>
        </p:txBody>
      </p:sp>
      <p:sp>
        <p:nvSpPr>
          <p:cNvPr id="11" name="leader-dot-2">
            <a:extLst xmlns:a="http://schemas.openxmlformats.org/drawingml/2006/main">
              <a:ext uri="{FF2B5EF4-FFF2-40B4-BE49-F238E27FC236}">
                <a16:creationId xmlns:a16="http://schemas.microsoft.com/office/drawing/2014/main" id="{57EAF987-3CCC-46CF-A8B6-C3A34502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95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ader-step-title-2">
            <a:extLst xmlns:a="http://schemas.openxmlformats.org/drawingml/2006/main">
              <a:ext uri="{FF2B5EF4-FFF2-40B4-BE49-F238E27FC236}">
                <a16:creationId xmlns:a16="http://schemas.microsoft.com/office/drawing/2014/main" id="{965A1598-C6E0-484D-AD10-4568AC75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479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系统调用</a:t>
            </a:r>
          </a:p>
        </p:txBody>
      </p:sp>
      <p:sp>
        <p:nvSpPr>
          <p:cNvPr id="13" name="leader-step-body-2">
            <a:extLst xmlns:a="http://schemas.openxmlformats.org/drawingml/2006/main">
              <a:ext uri="{FF2B5EF4-FFF2-40B4-BE49-F238E27FC236}">
                <a16:creationId xmlns:a16="http://schemas.microsoft.com/office/drawing/2014/main" id="{2B585979-82ED-42FF-885B-830F8555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配置项目与资源</a:t>
            </a:r>
          </a:p>
        </p:txBody>
      </p:sp>
      <p:sp>
        <p:nvSpPr>
          <p:cNvPr id="14" name="leader-dot-3">
            <a:extLst xmlns:a="http://schemas.openxmlformats.org/drawingml/2006/main">
              <a:ext uri="{FF2B5EF4-FFF2-40B4-BE49-F238E27FC236}">
                <a16:creationId xmlns:a16="http://schemas.microsoft.com/office/drawing/2014/main" id="{0956F6ED-2FBF-4411-A0D7-7E85304A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95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eader-step-title-3">
            <a:extLst xmlns:a="http://schemas.openxmlformats.org/drawingml/2006/main">
              <a:ext uri="{FF2B5EF4-FFF2-40B4-BE49-F238E27FC236}">
                <a16:creationId xmlns:a16="http://schemas.microsoft.com/office/drawing/2014/main" id="{F04ABAD7-36C3-49FD-B4E9-393D11E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过程推进</a:t>
            </a:r>
          </a:p>
        </p:txBody>
      </p:sp>
      <p:sp>
        <p:nvSpPr>
          <p:cNvPr id="16" name="leader-step-body-3">
            <a:extLst xmlns:a="http://schemas.openxmlformats.org/drawingml/2006/main">
              <a:ext uri="{FF2B5EF4-FFF2-40B4-BE49-F238E27FC236}">
                <a16:creationId xmlns:a16="http://schemas.microsoft.com/office/drawing/2014/main" id="{FF0D18FB-2F89-4413-9CD3-ECDE33D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提醒、预警、转交</a:t>
            </a:r>
          </a:p>
        </p:txBody>
      </p:sp>
      <p:sp>
        <p:nvSpPr>
          <p:cNvPr id="17" name="leader-dot-4">
            <a:extLst xmlns:a="http://schemas.openxmlformats.org/drawingml/2006/main">
              <a:ext uri="{FF2B5EF4-FFF2-40B4-BE49-F238E27FC236}">
                <a16:creationId xmlns:a16="http://schemas.microsoft.com/office/drawing/2014/main" id="{D50B951D-F907-4036-A3F6-C8A69EBC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295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eader-step-title-4">
            <a:extLst xmlns:a="http://schemas.openxmlformats.org/drawingml/2006/main">
              <a:ext uri="{FF2B5EF4-FFF2-40B4-BE49-F238E27FC236}">
                <a16:creationId xmlns:a16="http://schemas.microsoft.com/office/drawing/2014/main" id="{E6A49A01-AC33-4D0D-BD22-9BA727E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479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结果沉淀</a:t>
            </a:r>
          </a:p>
        </p:txBody>
      </p:sp>
      <p:sp>
        <p:nvSpPr>
          <p:cNvPr id="19" name="leader-step-body-4">
            <a:extLst xmlns:a="http://schemas.openxmlformats.org/drawingml/2006/main">
              <a:ext uri="{FF2B5EF4-FFF2-40B4-BE49-F238E27FC236}">
                <a16:creationId xmlns:a16="http://schemas.microsoft.com/office/drawing/2014/main" id="{68361F2B-8663-4D74-81B3-EA82DD4A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生成报告与经验</a:t>
            </a:r>
          </a:p>
        </p:txBody>
      </p:sp>
      <p:sp>
        <p:nvSpPr>
          <p:cNvPr id="20" name="leader-lucky-panel">
            <a:extLst xmlns:a="http://schemas.openxmlformats.org/drawingml/2006/main">
              <a:ext uri="{FF2B5EF4-FFF2-40B4-BE49-F238E27FC236}">
                <a16:creationId xmlns:a16="http://schemas.microsoft.com/office/drawing/2014/main" id="{C8C0CADF-E49C-43E7-9257-EAE4344C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24400"/>
            <a:ext cx="32194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leader-lucky">
            <a:extLst xmlns:a="http://schemas.openxmlformats.org/drawingml/2006/main">
              <a:ext uri="{FF2B5EF4-FFF2-40B4-BE49-F238E27FC236}">
                <a16:creationId xmlns:a16="http://schemas.microsoft.com/office/drawing/2014/main" id="{81E2BFB7-D487-4F0E-BD38-64CCCF72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34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lucky 不是旁路助手，而是面向任务执行的业务入口</a:t>
            </a:r>
          </a:p>
        </p:txBody>
      </p:sp>
    </p:spTree>
    <p:extLst>
      <p:ext uri="{BB962C8B-B14F-4D97-AF65-F5344CB8AC3E}">
        <p14:creationId xmlns:p14="http://schemas.microsoft.com/office/powerpoint/2010/main" val="498226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5">
            <a:extLst xmlns:a="http://schemas.openxmlformats.org/drawingml/2006/main">
              <a:ext uri="{FF2B5EF4-FFF2-40B4-BE49-F238E27FC236}">
                <a16:creationId xmlns:a16="http://schemas.microsoft.com/office/drawing/2014/main" id="{2932318B-F2A7-45D8-BBA1-C678222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培训项目是最典型的端到端场景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725C932-0C96-41F2-AA72-EE5BFA25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05</a:t>
            </a:r>
          </a:p>
        </p:txBody>
      </p:sp>
      <p:sp>
        <p:nvSpPr>
          <p:cNvPr id="3" name="training-left-title">
            <a:extLst xmlns:a="http://schemas.openxmlformats.org/drawingml/2006/main">
              <a:ext uri="{FF2B5EF4-FFF2-40B4-BE49-F238E27FC236}">
                <a16:creationId xmlns:a16="http://schemas.microsoft.com/office/drawing/2014/main" id="{BE233B30-C0C1-4319-AE3B-035A0B7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传统模式</a:t>
            </a:r>
          </a:p>
        </p:txBody>
      </p:sp>
      <p:sp>
        <p:nvSpPr>
          <p:cNvPr id="4" name="training-right-title">
            <a:extLst xmlns:a="http://schemas.openxmlformats.org/drawingml/2006/main">
              <a:ext uri="{FF2B5EF4-FFF2-40B4-BE49-F238E27FC236}">
                <a16:creationId xmlns:a16="http://schemas.microsoft.com/office/drawing/2014/main" id="{3837695B-B553-43BE-B379-4AD11A9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02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AI 原生模式</a:t>
            </a:r>
          </a:p>
        </p:txBody>
      </p:sp>
      <p:sp>
        <p:nvSpPr>
          <p:cNvPr id="5" name="training-left">
            <a:extLst xmlns:a="http://schemas.openxmlformats.org/drawingml/2006/main">
              <a:ext uri="{FF2B5EF4-FFF2-40B4-BE49-F238E27FC236}">
                <a16:creationId xmlns:a16="http://schemas.microsoft.com/office/drawing/2014/main" id="{2BF2743D-2080-472F-8BF2-DDBF1F29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762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用户提出培训需求</a:t>
            </a:r>
          </a:p>
          <a:p xmlns:a="http://schemas.openxmlformats.org/drawingml/2006/main">
            <a:pPr algn="l">
              <a:def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教研部门设计培训计划</a:t>
            </a:r>
          </a:p>
          <a:p xmlns:a="http://schemas.openxmlformats.org/drawingml/2006/main">
            <a:pPr algn="l">
              <a:def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教务部门创建项目、配置课程</a:t>
            </a:r>
          </a:p>
          <a:p xmlns:a="http://schemas.openxmlformats.org/drawingml/2006/main">
            <a:pPr algn="l">
              <a:def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人工安排讲师、导入学员</a:t>
            </a:r>
          </a:p>
          <a:p xmlns:a="http://schemas.openxmlformats.org/drawingml/2006/main">
            <a:pPr algn="l">
              <a:def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持续处理通知、签到、资料和反馈</a:t>
            </a:r>
          </a:p>
        </p:txBody>
      </p:sp>
      <p:sp>
        <p:nvSpPr>
          <p:cNvPr id="6" name="training-right">
            <a:extLst xmlns:a="http://schemas.openxmlformats.org/drawingml/2006/main">
              <a:ext uri="{FF2B5EF4-FFF2-40B4-BE49-F238E27FC236}">
                <a16:creationId xmlns:a16="http://schemas.microsoft.com/office/drawing/2014/main" id="{1B5FB758-42C3-41BE-9CF2-50D4C4D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762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用户与 lucky 多轮对话澄清需求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lucky 自动生成培训计划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确认后创建项目并配置课程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自动生成服务清单和通知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持续推动过程服务与评估复盘</a:t>
            </a:r>
          </a:p>
        </p:txBody>
      </p:sp>
      <p:sp>
        <p:nvSpPr>
          <p:cNvPr id="7" name="training-arrow">
            <a:extLst xmlns:a="http://schemas.openxmlformats.org/drawingml/2006/main">
              <a:ext uri="{FF2B5EF4-FFF2-40B4-BE49-F238E27FC236}">
                <a16:creationId xmlns:a16="http://schemas.microsoft.com/office/drawing/2014/main" id="{DA52D1C2-624A-4ABD-9B10-289B8F90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58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34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→</a:t>
            </a:r>
          </a:p>
        </p:txBody>
      </p:sp>
      <p:sp>
        <p:nvSpPr>
          <p:cNvPr id="8" name="training-value-panel">
            <a:extLst xmlns:a="http://schemas.openxmlformats.org/drawingml/2006/main">
              <a:ext uri="{FF2B5EF4-FFF2-40B4-BE49-F238E27FC236}">
                <a16:creationId xmlns:a16="http://schemas.microsoft.com/office/drawing/2014/main" id="{4D1C3B6E-1106-46E7-84AE-53A9636B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87058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training-value">
            <a:extLst xmlns:a="http://schemas.openxmlformats.org/drawingml/2006/main">
              <a:ext uri="{FF2B5EF4-FFF2-40B4-BE49-F238E27FC236}">
                <a16:creationId xmlns:a16="http://schemas.microsoft.com/office/drawing/2014/main" id="{53D81010-60E4-4CAF-8961-A1A0814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821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业务价值：减少跨部门反复沟通，让培训项目从人工协调型流程转向目标驱动型交付。</a:t>
            </a:r>
          </a:p>
        </p:txBody>
      </p:sp>
    </p:spTree>
    <p:extLst>
      <p:ext uri="{BB962C8B-B14F-4D97-AF65-F5344CB8AC3E}">
        <p14:creationId xmlns:p14="http://schemas.microsoft.com/office/powerpoint/2010/main" val="891788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71FC4564-BC1D-4F5B-A1FB-DEFDFC5E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培训业务的智能体执行链路可以覆盖全流程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032BA124-7739-4C28-833A-7B10FD8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06</a:t>
            </a:r>
          </a:p>
        </p:txBody>
      </p:sp>
      <p:sp>
        <p:nvSpPr>
          <p:cNvPr id="3" name="training-chain-line">
            <a:extLst xmlns:a="http://schemas.openxmlformats.org/drawingml/2006/main">
              <a:ext uri="{FF2B5EF4-FFF2-40B4-BE49-F238E27FC236}">
                <a16:creationId xmlns:a16="http://schemas.microsoft.com/office/drawing/2014/main" id="{8624A323-DDDD-4F46-A6E8-1277FF3C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ge-num-0">
            <a:extLst xmlns:a="http://schemas.openxmlformats.org/drawingml/2006/main">
              <a:ext uri="{FF2B5EF4-FFF2-40B4-BE49-F238E27FC236}">
                <a16:creationId xmlns:a16="http://schemas.microsoft.com/office/drawing/2014/main" id="{D71A2BEB-4E18-4956-99CA-738F9BE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01</a:t>
            </a:r>
          </a:p>
        </p:txBody>
      </p:sp>
      <p:sp>
        <p:nvSpPr>
          <p:cNvPr id="5" name="stage-dot-0">
            <a:extLst xmlns:a="http://schemas.openxmlformats.org/drawingml/2006/main">
              <a:ext uri="{FF2B5EF4-FFF2-40B4-BE49-F238E27FC236}">
                <a16:creationId xmlns:a16="http://schemas.microsoft.com/office/drawing/2014/main" id="{33547417-0B39-4F99-9C71-60EE7E8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3A3744CD-9B3B-4CB7-A7AD-595B5FD2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需求沟通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C057496-7B26-4C8A-AC84-83E455A4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447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多轮澄清对象、目标、时间与预算</a:t>
            </a:r>
          </a:p>
        </p:txBody>
      </p:sp>
      <p:sp>
        <p:nvSpPr>
          <p:cNvPr id="8" name="stage-num-1">
            <a:extLst xmlns:a="http://schemas.openxmlformats.org/drawingml/2006/main">
              <a:ext uri="{FF2B5EF4-FFF2-40B4-BE49-F238E27FC236}">
                <a16:creationId xmlns:a16="http://schemas.microsoft.com/office/drawing/2014/main" id="{506A4837-C5E9-4BCE-88F1-47E34C2D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02</a:t>
            </a:r>
          </a:p>
        </p:txBody>
      </p:sp>
      <p:sp>
        <p:nvSpPr>
          <p:cNvPr id="9" name="stage-dot-1">
            <a:extLst xmlns:a="http://schemas.openxmlformats.org/drawingml/2006/main">
              <a:ext uri="{FF2B5EF4-FFF2-40B4-BE49-F238E27FC236}">
                <a16:creationId xmlns:a16="http://schemas.microsoft.com/office/drawing/2014/main" id="{37E4F147-C4EB-4845-B248-6905CB3A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76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8217C936-62C5-47E5-A0A2-FE1F8361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385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方案生成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8DFAC532-8FFF-43F8-8D9C-8663C005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1447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生成培训计划、课程组合与实施排期</a:t>
            </a:r>
          </a:p>
        </p:txBody>
      </p:sp>
      <p:sp>
        <p:nvSpPr>
          <p:cNvPr id="12" name="stage-num-2">
            <a:extLst xmlns:a="http://schemas.openxmlformats.org/drawingml/2006/main">
              <a:ext uri="{FF2B5EF4-FFF2-40B4-BE49-F238E27FC236}">
                <a16:creationId xmlns:a16="http://schemas.microsoft.com/office/drawing/2014/main" id="{4ED6EDB9-BC0A-4B84-8C19-5C8D2CF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03</a:t>
            </a:r>
          </a:p>
        </p:txBody>
      </p:sp>
      <p:sp>
        <p:nvSpPr>
          <p:cNvPr id="13" name="stage-dot-2">
            <a:extLst xmlns:a="http://schemas.openxmlformats.org/drawingml/2006/main">
              <a:ext uri="{FF2B5EF4-FFF2-40B4-BE49-F238E27FC236}">
                <a16:creationId xmlns:a16="http://schemas.microsoft.com/office/drawing/2014/main" id="{F5E539D2-FFA5-4F2F-9756-3F5C0E68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75DB4CD1-84B6-4C78-B8BE-70BBA350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项目创建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95945FF-3064-41EB-81D7-40B1BA9E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1447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在空间中创建项目并配置基础信息</a:t>
            </a:r>
          </a:p>
        </p:txBody>
      </p:sp>
      <p:sp>
        <p:nvSpPr>
          <p:cNvPr id="16" name="stage-num-3">
            <a:extLst xmlns:a="http://schemas.openxmlformats.org/drawingml/2006/main">
              <a:ext uri="{FF2B5EF4-FFF2-40B4-BE49-F238E27FC236}">
                <a16:creationId xmlns:a16="http://schemas.microsoft.com/office/drawing/2014/main" id="{53A66A0F-A6D2-4B87-BE65-D8E1F72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04</a:t>
            </a:r>
          </a:p>
        </p:txBody>
      </p:sp>
      <p:sp>
        <p:nvSpPr>
          <p:cNvPr id="17" name="stage-dot-3">
            <a:extLst xmlns:a="http://schemas.openxmlformats.org/drawingml/2006/main">
              <a:ext uri="{FF2B5EF4-FFF2-40B4-BE49-F238E27FC236}">
                <a16:creationId xmlns:a16="http://schemas.microsoft.com/office/drawing/2014/main" id="{EF1D8FE0-98A5-4C11-91C9-0AAFAAE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76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0100F54B-7BF9-48A8-B51B-D6F63248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课程配置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ED724443-3D28-4349-86F9-C0E674D0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1447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匹配讲师、课程、资料与学习任务</a:t>
            </a:r>
          </a:p>
        </p:txBody>
      </p:sp>
      <p:sp>
        <p:nvSpPr>
          <p:cNvPr id="20" name="stage-num-4">
            <a:extLst xmlns:a="http://schemas.openxmlformats.org/drawingml/2006/main">
              <a:ext uri="{FF2B5EF4-FFF2-40B4-BE49-F238E27FC236}">
                <a16:creationId xmlns:a16="http://schemas.microsoft.com/office/drawing/2014/main" id="{09667EE6-1F94-432E-9DC8-847A882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05</a:t>
            </a:r>
          </a:p>
        </p:txBody>
      </p:sp>
      <p:sp>
        <p:nvSpPr>
          <p:cNvPr id="21" name="stage-dot-4">
            <a:extLst xmlns:a="http://schemas.openxmlformats.org/drawingml/2006/main">
              <a:ext uri="{FF2B5EF4-FFF2-40B4-BE49-F238E27FC236}">
                <a16:creationId xmlns:a16="http://schemas.microsoft.com/office/drawing/2014/main" id="{11771AAA-6DC9-47E9-8141-F36B755E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76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AD1E9FD7-EE7A-4C71-B947-755416F9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过程服务</a:t>
            </a:r>
          </a:p>
        </p:txBody>
      </p:sp>
      <p:sp>
        <p:nvSpPr>
          <p:cNvPr id="23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1EF93747-8500-4296-8958-E2E7DE63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1447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提醒、签到、作业、答疑和异常转交</a:t>
            </a:r>
          </a:p>
        </p:txBody>
      </p:sp>
      <p:sp>
        <p:nvSpPr>
          <p:cNvPr id="24" name="stage-num-5">
            <a:extLst xmlns:a="http://schemas.openxmlformats.org/drawingml/2006/main">
              <a:ext uri="{FF2B5EF4-FFF2-40B4-BE49-F238E27FC236}">
                <a16:creationId xmlns:a16="http://schemas.microsoft.com/office/drawing/2014/main" id="{E045A4BA-5BF5-47E9-B9B8-FF71FAF4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06</a:t>
            </a:r>
          </a:p>
        </p:txBody>
      </p:sp>
      <p:sp>
        <p:nvSpPr>
          <p:cNvPr id="25" name="stage-dot-5">
            <a:extLst xmlns:a="http://schemas.openxmlformats.org/drawingml/2006/main">
              <a:ext uri="{FF2B5EF4-FFF2-40B4-BE49-F238E27FC236}">
                <a16:creationId xmlns:a16="http://schemas.microsoft.com/office/drawing/2014/main" id="{6BF6266D-F891-45F6-B6B2-4E9B63A6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76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288684CB-5C6C-43EC-B91B-0573C7FD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评估复盘</a:t>
            </a:r>
          </a:p>
        </p:txBody>
      </p:sp>
      <p:sp>
        <p:nvSpPr>
          <p:cNvPr id="27" name="stage-body-5">
            <a:extLst xmlns:a="http://schemas.openxmlformats.org/drawingml/2006/main">
              <a:ext uri="{FF2B5EF4-FFF2-40B4-BE49-F238E27FC236}">
                <a16:creationId xmlns:a16="http://schemas.microsoft.com/office/drawing/2014/main" id="{A454C3B8-794E-4353-A542-7ADCB292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33800"/>
            <a:ext cx="1447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汇总数据，生成报告并沉淀经验</a:t>
            </a:r>
          </a:p>
        </p:txBody>
      </p:sp>
    </p:spTree>
    <p:extLst>
      <p:ext uri="{BB962C8B-B14F-4D97-AF65-F5344CB8AC3E}">
        <p14:creationId xmlns:p14="http://schemas.microsoft.com/office/powerpoint/2010/main" val="758163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7">
            <a:extLst xmlns:a="http://schemas.openxmlformats.org/drawingml/2006/main">
              <a:ext uri="{FF2B5EF4-FFF2-40B4-BE49-F238E27FC236}">
                <a16:creationId xmlns:a16="http://schemas.microsoft.com/office/drawing/2014/main" id="{561DA2CE-8763-4A03-A87A-A932E1B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15 个案例可以归为四类业务任务</a:t>
            </a:r>
          </a:p>
        </p:txBody>
      </p:sp>
      <p:sp>
        <p:nvSpPr>
          <p:cNvPr id="2" name="subtitle-7">
            <a:extLst xmlns:a="http://schemas.openxmlformats.org/drawingml/2006/main">
              <a:ext uri="{FF2B5EF4-FFF2-40B4-BE49-F238E27FC236}">
                <a16:creationId xmlns:a16="http://schemas.microsoft.com/office/drawing/2014/main" id="{E1E14451-2E14-4461-9CAB-6C6BF327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场景越高频、重复、跨部门、强规则、强数据依赖，越适合优先改造。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83146738-F9E7-4606-AA14-8757A8E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07</a:t>
            </a:r>
          </a:p>
        </p:txBody>
      </p:sp>
      <p:sp>
        <p:nvSpPr>
          <p:cNvPr id="4" name="case-group-0">
            <a:extLst xmlns:a="http://schemas.openxmlformats.org/drawingml/2006/main">
              <a:ext uri="{FF2B5EF4-FFF2-40B4-BE49-F238E27FC236}">
                <a16:creationId xmlns:a16="http://schemas.microsoft.com/office/drawing/2014/main" id="{5C0E9FE1-C15C-40C5-BC13-470799C6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2590800" cy="35052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" name="case-group-title-0">
            <a:extLst xmlns:a="http://schemas.openxmlformats.org/drawingml/2006/main">
              <a:ext uri="{FF2B5EF4-FFF2-40B4-BE49-F238E27FC236}">
                <a16:creationId xmlns:a16="http://schemas.microsoft.com/office/drawing/2014/main" id="{FEFA3909-26B6-4376-AED9-C1792633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培训交付</a:t>
            </a:r>
          </a:p>
        </p:txBody>
      </p:sp>
      <p:sp>
        <p:nvSpPr>
          <p:cNvPr id="6" name="case-group-body-0">
            <a:extLst xmlns:a="http://schemas.openxmlformats.org/drawingml/2006/main">
              <a:ext uri="{FF2B5EF4-FFF2-40B4-BE49-F238E27FC236}">
                <a16:creationId xmlns:a16="http://schemas.microsoft.com/office/drawing/2014/main" id="{7284E506-9EE2-4E53-998C-83B2AEA3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21336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培训项目组织</a:t>
            </a:r>
          </a:p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课程资源建设</a:t>
            </a:r>
          </a:p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排课与师资安排</a:t>
            </a:r>
          </a:p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报名与分班</a:t>
            </a:r>
          </a:p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过程服务</a:t>
            </a:r>
          </a:p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效果评估</a:t>
            </a:r>
          </a:p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证书与结业</a:t>
            </a:r>
          </a:p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项目复盘</a:t>
            </a:r>
          </a:p>
        </p:txBody>
      </p:sp>
      <p:sp>
        <p:nvSpPr>
          <p:cNvPr id="7" name="case-group-1">
            <a:extLst xmlns:a="http://schemas.openxmlformats.org/drawingml/2006/main">
              <a:ext uri="{FF2B5EF4-FFF2-40B4-BE49-F238E27FC236}">
                <a16:creationId xmlns:a16="http://schemas.microsoft.com/office/drawing/2014/main" id="{01FDB219-6D2E-4EB9-B0F3-AD66E63A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19300"/>
            <a:ext cx="2590800" cy="35052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case-group-title-1">
            <a:extLst xmlns:a="http://schemas.openxmlformats.org/drawingml/2006/main">
              <a:ext uri="{FF2B5EF4-FFF2-40B4-BE49-F238E27FC236}">
                <a16:creationId xmlns:a16="http://schemas.microsoft.com/office/drawing/2014/main" id="{96B4C888-E0AB-41D5-B803-523118D8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05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客户增长</a:t>
            </a:r>
          </a:p>
        </p:txBody>
      </p:sp>
      <p:sp>
        <p:nvSpPr>
          <p:cNvPr id="9" name="case-group-body-1">
            <a:extLst xmlns:a="http://schemas.openxmlformats.org/drawingml/2006/main">
              <a:ext uri="{FF2B5EF4-FFF2-40B4-BE49-F238E27FC236}">
                <a16:creationId xmlns:a16="http://schemas.microsoft.com/office/drawing/2014/main" id="{56D8ED9A-8979-426D-9959-ECEA2A0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14650"/>
            <a:ext cx="21336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客户需求转方案</a:t>
            </a:r>
          </a:p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招生与营销活动</a:t>
            </a:r>
          </a:p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客户成功与续约</a:t>
            </a:r>
          </a:p>
        </p:txBody>
      </p:sp>
      <p:sp>
        <p:nvSpPr>
          <p:cNvPr id="10" name="case-group-2">
            <a:extLst xmlns:a="http://schemas.openxmlformats.org/drawingml/2006/main">
              <a:ext uri="{FF2B5EF4-FFF2-40B4-BE49-F238E27FC236}">
                <a16:creationId xmlns:a16="http://schemas.microsoft.com/office/drawing/2014/main" id="{217A52D1-DDA2-413F-9013-35F8FFE8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19300"/>
            <a:ext cx="2590800" cy="35052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case-group-title-2">
            <a:extLst xmlns:a="http://schemas.openxmlformats.org/drawingml/2006/main">
              <a:ext uri="{FF2B5EF4-FFF2-40B4-BE49-F238E27FC236}">
                <a16:creationId xmlns:a16="http://schemas.microsoft.com/office/drawing/2014/main" id="{9C08503F-F02B-4983-8CA0-AC36A6A1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05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商业履约</a:t>
            </a:r>
          </a:p>
        </p:txBody>
      </p:sp>
      <p:sp>
        <p:nvSpPr>
          <p:cNvPr id="12" name="case-group-body-2">
            <a:extLst xmlns:a="http://schemas.openxmlformats.org/drawingml/2006/main">
              <a:ext uri="{FF2B5EF4-FFF2-40B4-BE49-F238E27FC236}">
                <a16:creationId xmlns:a16="http://schemas.microsoft.com/office/drawing/2014/main" id="{43374C14-7E4D-44B0-A29C-F52131DE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14650"/>
            <a:ext cx="21336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合同、报价与交付联动</a:t>
            </a:r>
          </a:p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管理驾驶舱分析</a:t>
            </a:r>
          </a:p>
        </p:txBody>
      </p:sp>
      <p:sp>
        <p:nvSpPr>
          <p:cNvPr id="13" name="case-group-3">
            <a:extLst xmlns:a="http://schemas.openxmlformats.org/drawingml/2006/main">
              <a:ext uri="{FF2B5EF4-FFF2-40B4-BE49-F238E27FC236}">
                <a16:creationId xmlns:a16="http://schemas.microsoft.com/office/drawing/2014/main" id="{CDF9A663-5BB9-4BA8-9DAB-B96FAD6D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19300"/>
            <a:ext cx="2590800" cy="35052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case-group-title-3">
            <a:extLst xmlns:a="http://schemas.openxmlformats.org/drawingml/2006/main">
              <a:ext uri="{FF2B5EF4-FFF2-40B4-BE49-F238E27FC236}">
                <a16:creationId xmlns:a16="http://schemas.microsoft.com/office/drawing/2014/main" id="{61ED0E5F-AD01-4531-ABFA-96792296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组织运营</a:t>
            </a:r>
          </a:p>
        </p:txBody>
      </p:sp>
      <p:sp>
        <p:nvSpPr>
          <p:cNvPr id="15" name="case-group-body-3">
            <a:extLst xmlns:a="http://schemas.openxmlformats.org/drawingml/2006/main">
              <a:ext uri="{FF2B5EF4-FFF2-40B4-BE49-F238E27FC236}">
                <a16:creationId xmlns:a16="http://schemas.microsoft.com/office/drawing/2014/main" id="{8C37F424-900F-44B8-85F3-A9CBA479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14650"/>
            <a:ext cx="21336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制度与流程助手</a:t>
            </a:r>
          </a:p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内部协同任务推进</a:t>
            </a:r>
          </a:p>
        </p:txBody>
      </p:sp>
    </p:spTree>
    <p:extLst>
      <p:ext uri="{BB962C8B-B14F-4D97-AF65-F5344CB8AC3E}">
        <p14:creationId xmlns:p14="http://schemas.microsoft.com/office/powerpoint/2010/main" val="1682623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8">
            <a:extLst xmlns:a="http://schemas.openxmlformats.org/drawingml/2006/main">
              <a:ext uri="{FF2B5EF4-FFF2-40B4-BE49-F238E27FC236}">
                <a16:creationId xmlns:a16="http://schemas.microsoft.com/office/drawing/2014/main" id="{46D8E4F2-C3A3-4833-994C-7E90172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系统变化不是一个入口，而是五个层面的重构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AB668A52-BE0F-4106-BBFB-6D023756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08</a:t>
            </a:r>
          </a:p>
        </p:txBody>
      </p:sp>
      <p:sp>
        <p:nvSpPr>
          <p:cNvPr id="3" name="system-h1">
            <a:extLst xmlns:a="http://schemas.openxmlformats.org/drawingml/2006/main">
              <a:ext uri="{FF2B5EF4-FFF2-40B4-BE49-F238E27FC236}">
                <a16:creationId xmlns:a16="http://schemas.microsoft.com/office/drawing/2014/main" id="{001B8C93-E1F2-4392-A4EA-B636F56C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变化层面</a:t>
            </a:r>
          </a:p>
        </p:txBody>
      </p:sp>
      <p:sp>
        <p:nvSpPr>
          <p:cNvPr id="4" name="system-h2">
            <a:extLst xmlns:a="http://schemas.openxmlformats.org/drawingml/2006/main">
              <a:ext uri="{FF2B5EF4-FFF2-40B4-BE49-F238E27FC236}">
                <a16:creationId xmlns:a16="http://schemas.microsoft.com/office/drawing/2014/main" id="{3CC3C164-B95D-4950-9CE5-EEE8C686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81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过去</a:t>
            </a:r>
          </a:p>
        </p:txBody>
      </p:sp>
      <p:sp>
        <p:nvSpPr>
          <p:cNvPr id="5" name="system-h3">
            <a:extLst xmlns:a="http://schemas.openxmlformats.org/drawingml/2006/main">
              <a:ext uri="{FF2B5EF4-FFF2-40B4-BE49-F238E27FC236}">
                <a16:creationId xmlns:a16="http://schemas.microsoft.com/office/drawing/2014/main" id="{1C5164EB-B13F-456B-BB42-9DBE552B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现在</a:t>
            </a:r>
          </a:p>
        </p:txBody>
      </p:sp>
      <p:sp>
        <p:nvSpPr>
          <p:cNvPr id="6" name="system-row-bg-0">
            <a:extLst xmlns:a="http://schemas.openxmlformats.org/drawingml/2006/main">
              <a:ext uri="{FF2B5EF4-FFF2-40B4-BE49-F238E27FC236}">
                <a16:creationId xmlns:a16="http://schemas.microsoft.com/office/drawing/2014/main" id="{4B1C71EB-A83D-4A3D-9885-A0D2DE0B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81200"/>
            <a:ext cx="11401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ystem-row-name-0">
            <a:extLst xmlns:a="http://schemas.openxmlformats.org/drawingml/2006/main">
              <a:ext uri="{FF2B5EF4-FFF2-40B4-BE49-F238E27FC236}">
                <a16:creationId xmlns:a16="http://schemas.microsoft.com/office/drawing/2014/main" id="{54149970-7229-4C6D-82F2-74B4D46A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入口</a:t>
            </a:r>
          </a:p>
        </p:txBody>
      </p:sp>
      <p:sp>
        <p:nvSpPr>
          <p:cNvPr id="8" name="system-row-old-0">
            <a:extLst xmlns:a="http://schemas.openxmlformats.org/drawingml/2006/main">
              <a:ext uri="{FF2B5EF4-FFF2-40B4-BE49-F238E27FC236}">
                <a16:creationId xmlns:a16="http://schemas.microsoft.com/office/drawing/2014/main" id="{673A1857-2AF3-4575-8AC4-8E65F99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用户找菜单和表单</a:t>
            </a:r>
          </a:p>
        </p:txBody>
      </p:sp>
      <p:sp>
        <p:nvSpPr>
          <p:cNvPr id="9" name="system-row-new-0">
            <a:extLst xmlns:a="http://schemas.openxmlformats.org/drawingml/2006/main">
              <a:ext uri="{FF2B5EF4-FFF2-40B4-BE49-F238E27FC236}">
                <a16:creationId xmlns:a16="http://schemas.microsoft.com/office/drawing/2014/main" id="{79BFC3F0-D959-42FD-86D5-127976FA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用户表达业务目标</a:t>
            </a:r>
          </a:p>
        </p:txBody>
      </p:sp>
      <p:sp>
        <p:nvSpPr>
          <p:cNvPr id="10" name="system-row-name-1">
            <a:extLst xmlns:a="http://schemas.openxmlformats.org/drawingml/2006/main">
              <a:ext uri="{FF2B5EF4-FFF2-40B4-BE49-F238E27FC236}">
                <a16:creationId xmlns:a16="http://schemas.microsoft.com/office/drawing/2014/main" id="{AB4C3390-B355-4FEC-AEFB-5A357E52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流程</a:t>
            </a:r>
          </a:p>
        </p:txBody>
      </p:sp>
      <p:sp>
        <p:nvSpPr>
          <p:cNvPr id="11" name="system-row-old-1">
            <a:extLst xmlns:a="http://schemas.openxmlformats.org/drawingml/2006/main">
              <a:ext uri="{FF2B5EF4-FFF2-40B4-BE49-F238E27FC236}">
                <a16:creationId xmlns:a16="http://schemas.microsoft.com/office/drawing/2014/main" id="{97E43ACF-D6B8-4F24-BF4E-2C5C78AD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流程由人推动，系统被动记录</a:t>
            </a:r>
          </a:p>
        </p:txBody>
      </p:sp>
      <p:sp>
        <p:nvSpPr>
          <p:cNvPr id="12" name="system-row-new-1">
            <a:extLst xmlns:a="http://schemas.openxmlformats.org/drawingml/2006/main">
              <a:ext uri="{FF2B5EF4-FFF2-40B4-BE49-F238E27FC236}">
                <a16:creationId xmlns:a16="http://schemas.microsoft.com/office/drawing/2014/main" id="{AFB21E45-71E6-4816-869F-78AD9298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流程由智能体牵引，系统主动执行</a:t>
            </a:r>
          </a:p>
        </p:txBody>
      </p:sp>
      <p:sp>
        <p:nvSpPr>
          <p:cNvPr id="13" name="system-row-bg-2">
            <a:extLst xmlns:a="http://schemas.openxmlformats.org/drawingml/2006/main">
              <a:ext uri="{FF2B5EF4-FFF2-40B4-BE49-F238E27FC236}">
                <a16:creationId xmlns:a16="http://schemas.microsoft.com/office/drawing/2014/main" id="{A1B0C3C8-0A5F-4780-A66C-16EB5882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67100"/>
            <a:ext cx="11401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ystem-row-name-2">
            <a:extLst xmlns:a="http://schemas.openxmlformats.org/drawingml/2006/main">
              <a:ext uri="{FF2B5EF4-FFF2-40B4-BE49-F238E27FC236}">
                <a16:creationId xmlns:a16="http://schemas.microsoft.com/office/drawing/2014/main" id="{204A99D4-BA9E-4004-BCD7-0E89D8D0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角色</a:t>
            </a:r>
          </a:p>
        </p:txBody>
      </p:sp>
      <p:sp>
        <p:nvSpPr>
          <p:cNvPr id="15" name="system-row-old-2">
            <a:extLst xmlns:a="http://schemas.openxmlformats.org/drawingml/2006/main">
              <a:ext uri="{FF2B5EF4-FFF2-40B4-BE49-F238E27FC236}">
                <a16:creationId xmlns:a16="http://schemas.microsoft.com/office/drawing/2014/main" id="{746C2FE1-A9E2-49B4-907D-D73B5C2E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62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业务人员跨系统、跨部门协调</a:t>
            </a:r>
          </a:p>
        </p:txBody>
      </p:sp>
      <p:sp>
        <p:nvSpPr>
          <p:cNvPr id="16" name="system-row-new-2">
            <a:extLst xmlns:a="http://schemas.openxmlformats.org/drawingml/2006/main">
              <a:ext uri="{FF2B5EF4-FFF2-40B4-BE49-F238E27FC236}">
                <a16:creationId xmlns:a16="http://schemas.microsoft.com/office/drawing/2014/main" id="{8611C999-1ADA-462F-B7D9-387A6B3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lucky 承担拆解、协调、推进和沉淀</a:t>
            </a:r>
          </a:p>
        </p:txBody>
      </p:sp>
      <p:sp>
        <p:nvSpPr>
          <p:cNvPr id="17" name="system-row-name-3">
            <a:extLst xmlns:a="http://schemas.openxmlformats.org/drawingml/2006/main">
              <a:ext uri="{FF2B5EF4-FFF2-40B4-BE49-F238E27FC236}">
                <a16:creationId xmlns:a16="http://schemas.microsoft.com/office/drawing/2014/main" id="{B774B5F6-A170-44C4-96F2-E655BE92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数据</a:t>
            </a:r>
          </a:p>
        </p:txBody>
      </p:sp>
      <p:sp>
        <p:nvSpPr>
          <p:cNvPr id="18" name="system-row-old-3">
            <a:extLst xmlns:a="http://schemas.openxmlformats.org/drawingml/2006/main">
              <a:ext uri="{FF2B5EF4-FFF2-40B4-BE49-F238E27FC236}">
                <a16:creationId xmlns:a16="http://schemas.microsoft.com/office/drawing/2014/main" id="{FD5F70E3-6C56-4885-9372-671682D9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05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数据用于事后统计和报表展示</a:t>
            </a:r>
          </a:p>
        </p:txBody>
      </p:sp>
      <p:sp>
        <p:nvSpPr>
          <p:cNvPr id="19" name="system-row-new-3">
            <a:extLst xmlns:a="http://schemas.openxmlformats.org/drawingml/2006/main">
              <a:ext uri="{FF2B5EF4-FFF2-40B4-BE49-F238E27FC236}">
                <a16:creationId xmlns:a16="http://schemas.microsoft.com/office/drawing/2014/main" id="{3BE5B755-6CE7-403B-AD6A-39590819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数据实时参与方案、预警和决策建议</a:t>
            </a:r>
          </a:p>
        </p:txBody>
      </p:sp>
      <p:sp>
        <p:nvSpPr>
          <p:cNvPr id="20" name="system-row-bg-4">
            <a:extLst xmlns:a="http://schemas.openxmlformats.org/drawingml/2006/main">
              <a:ext uri="{FF2B5EF4-FFF2-40B4-BE49-F238E27FC236}">
                <a16:creationId xmlns:a16="http://schemas.microsoft.com/office/drawing/2014/main" id="{FAD0312D-EB41-4B91-B927-1DC500DE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1401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ystem-row-name-4">
            <a:extLst xmlns:a="http://schemas.openxmlformats.org/drawingml/2006/main">
              <a:ext uri="{FF2B5EF4-FFF2-40B4-BE49-F238E27FC236}">
                <a16:creationId xmlns:a16="http://schemas.microsoft.com/office/drawing/2014/main" id="{C286760A-AA12-4423-994C-DB583A9F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经验</a:t>
            </a:r>
          </a:p>
        </p:txBody>
      </p:sp>
      <p:sp>
        <p:nvSpPr>
          <p:cNvPr id="22" name="system-row-old-4">
            <a:extLst xmlns:a="http://schemas.openxmlformats.org/drawingml/2006/main">
              <a:ext uri="{FF2B5EF4-FFF2-40B4-BE49-F238E27FC236}">
                <a16:creationId xmlns:a16="http://schemas.microsoft.com/office/drawing/2014/main" id="{2DDDFF8E-673B-465D-9A06-B19C9B99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48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经验散落在个人和文档中</a:t>
            </a:r>
          </a:p>
        </p:txBody>
      </p:sp>
      <p:sp>
        <p:nvSpPr>
          <p:cNvPr id="23" name="system-row-new-4">
            <a:extLst xmlns:a="http://schemas.openxmlformats.org/drawingml/2006/main">
              <a:ext uri="{FF2B5EF4-FFF2-40B4-BE49-F238E27FC236}">
                <a16:creationId xmlns:a16="http://schemas.microsoft.com/office/drawing/2014/main" id="{725D74F6-E65E-4063-9A9B-73C3C5B2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经验沉淀为可检索、可复用的组织资产</a:t>
            </a:r>
          </a:p>
        </p:txBody>
      </p:sp>
    </p:spTree>
    <p:extLst>
      <p:ext uri="{BB962C8B-B14F-4D97-AF65-F5344CB8AC3E}">
        <p14:creationId xmlns:p14="http://schemas.microsoft.com/office/powerpoint/2010/main" val="1677306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9">
            <a:extLst xmlns:a="http://schemas.openxmlformats.org/drawingml/2006/main">
              <a:ext uri="{FF2B5EF4-FFF2-40B4-BE49-F238E27FC236}">
                <a16:creationId xmlns:a16="http://schemas.microsoft.com/office/drawing/2014/main" id="{D6D0AFFA-ADB2-4221-A5B4-CB651AE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对公司的影响会体现在组织运行方式上</a:t>
            </a:r>
          </a:p>
        </p:txBody>
      </p:sp>
      <p:sp>
        <p:nvSpPr>
          <p:cNvPr id="2" name="subtitle-9">
            <a:extLst xmlns:a="http://schemas.openxmlformats.org/drawingml/2006/main">
              <a:ext uri="{FF2B5EF4-FFF2-40B4-BE49-F238E27FC236}">
                <a16:creationId xmlns:a16="http://schemas.microsoft.com/office/drawing/2014/main" id="{49E6B8E8-176B-451D-B33B-A739A6A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AI 原生会推动公司从控制流程，转向让系统围绕目标自动组织执行。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9AB72B8-A48C-48C9-9092-678E2BF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09</a:t>
            </a:r>
          </a:p>
        </p:txBody>
      </p:sp>
      <p:sp>
        <p:nvSpPr>
          <p:cNvPr id="4" name="impact-panel-0">
            <a:extLst xmlns:a="http://schemas.openxmlformats.org/drawingml/2006/main">
              <a:ext uri="{FF2B5EF4-FFF2-40B4-BE49-F238E27FC236}">
                <a16:creationId xmlns:a16="http://schemas.microsoft.com/office/drawing/2014/main" id="{1C30FDE5-CEAA-4AFF-857B-7690EDC5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6FE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" name="impact-title-0">
            <a:extLst xmlns:a="http://schemas.openxmlformats.org/drawingml/2006/main">
              <a:ext uri="{FF2B5EF4-FFF2-40B4-BE49-F238E27FC236}">
                <a16:creationId xmlns:a16="http://schemas.microsoft.com/office/drawing/2014/main" id="{160BFB3A-800F-4CAC-A765-1DF8A20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目标驱动</a:t>
            </a:r>
          </a:p>
        </p:txBody>
      </p:sp>
      <p:sp>
        <p:nvSpPr>
          <p:cNvPr id="6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13353D8C-5CCD-4282-9C9D-B393D5D7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管理重点从要求员工按流程操作，转向围绕业务目标自动组织执行。</a:t>
            </a:r>
          </a:p>
        </p:txBody>
      </p:sp>
      <p:sp>
        <p:nvSpPr>
          <p:cNvPr id="7" name="impact-panel-1">
            <a:extLst xmlns:a="http://schemas.openxmlformats.org/drawingml/2006/main">
              <a:ext uri="{FF2B5EF4-FFF2-40B4-BE49-F238E27FC236}">
                <a16:creationId xmlns:a16="http://schemas.microsoft.com/office/drawing/2014/main" id="{EF60507B-61D0-483E-9827-F288FF64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impact-title-1">
            <a:extLst xmlns:a="http://schemas.openxmlformats.org/drawingml/2006/main">
              <a:ext uri="{FF2B5EF4-FFF2-40B4-BE49-F238E27FC236}">
                <a16:creationId xmlns:a16="http://schemas.microsoft.com/office/drawing/2014/main" id="{ADB39F6A-8699-4EB6-A1DD-64F73621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05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系统理解人</a:t>
            </a:r>
          </a:p>
        </p:txBody>
      </p:sp>
      <p:sp>
        <p:nvSpPr>
          <p:cNvPr id="9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D5C2F0A6-B8AC-4B69-8A46-E6FBAE9D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62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员工不必先学习复杂菜单，通过自然语言即可进入业务流程。</a:t>
            </a:r>
          </a:p>
        </p:txBody>
      </p:sp>
      <p:sp>
        <p:nvSpPr>
          <p:cNvPr id="10" name="impact-panel-2">
            <a:extLst xmlns:a="http://schemas.openxmlformats.org/drawingml/2006/main">
              <a:ext uri="{FF2B5EF4-FFF2-40B4-BE49-F238E27FC236}">
                <a16:creationId xmlns:a16="http://schemas.microsoft.com/office/drawing/2014/main" id="{FDB31C61-6A29-4C67-97E7-7F8A2525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764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impact-title-2">
            <a:extLst xmlns:a="http://schemas.openxmlformats.org/drawingml/2006/main">
              <a:ext uri="{FF2B5EF4-FFF2-40B4-BE49-F238E27FC236}">
                <a16:creationId xmlns:a16="http://schemas.microsoft.com/office/drawing/2014/main" id="{ABB0151C-A7E0-4302-B243-07F86964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智能体主导执行</a:t>
            </a:r>
          </a:p>
        </p:txBody>
      </p:sp>
      <p:sp>
        <p:nvSpPr>
          <p:cNvPr id="12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C5A586FD-1D0F-4EEB-B4B0-248953A0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减少人工催办和跨部门反复沟通，执行体系更稳定。</a:t>
            </a:r>
          </a:p>
        </p:txBody>
      </p:sp>
      <p:sp>
        <p:nvSpPr>
          <p:cNvPr id="13" name="impact-panel-3">
            <a:extLst xmlns:a="http://schemas.openxmlformats.org/drawingml/2006/main">
              <a:ext uri="{FF2B5EF4-FFF2-40B4-BE49-F238E27FC236}">
                <a16:creationId xmlns:a16="http://schemas.microsoft.com/office/drawing/2014/main" id="{D886D460-BC23-4F4C-9C44-0A02F516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7670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impact-title-3">
            <a:extLst xmlns:a="http://schemas.openxmlformats.org/drawingml/2006/main">
              <a:ext uri="{FF2B5EF4-FFF2-40B4-BE49-F238E27FC236}">
                <a16:creationId xmlns:a16="http://schemas.microsoft.com/office/drawing/2014/main" id="{AD247395-63C0-40A4-BB4F-0877406F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05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能力在组织</a:t>
            </a:r>
          </a:p>
        </p:txBody>
      </p:sp>
      <p:sp>
        <p:nvSpPr>
          <p:cNvPr id="15" name="impact-body-3">
            <a:extLst xmlns:a="http://schemas.openxmlformats.org/drawingml/2006/main">
              <a:ext uri="{FF2B5EF4-FFF2-40B4-BE49-F238E27FC236}">
                <a16:creationId xmlns:a16="http://schemas.microsoft.com/office/drawing/2014/main" id="{E606A8F2-4BD0-4535-B043-42C7E63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762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项目经验、客户经验和交付经验沉淀为组织级知识资产。</a:t>
            </a:r>
          </a:p>
        </p:txBody>
      </p:sp>
      <p:sp>
        <p:nvSpPr>
          <p:cNvPr id="16" name="impact-panel-4">
            <a:extLst xmlns:a="http://schemas.openxmlformats.org/drawingml/2006/main">
              <a:ext uri="{FF2B5EF4-FFF2-40B4-BE49-F238E27FC236}">
                <a16:creationId xmlns:a16="http://schemas.microsoft.com/office/drawing/2014/main" id="{7415B06A-B1D7-47D3-A1A5-58938D76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7670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impact-title-4">
            <a:extLst xmlns:a="http://schemas.openxmlformats.org/drawingml/2006/main">
              <a:ext uri="{FF2B5EF4-FFF2-40B4-BE49-F238E27FC236}">
                <a16:creationId xmlns:a16="http://schemas.microsoft.com/office/drawing/2014/main" id="{7BB8C5F8-540B-4CCE-926A-47A4CA08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过程洞察</a:t>
            </a:r>
          </a:p>
        </p:txBody>
      </p:sp>
      <p:sp>
        <p:nvSpPr>
          <p:cNvPr id="18" name="impact-body-4">
            <a:extLst xmlns:a="http://schemas.openxmlformats.org/drawingml/2006/main">
              <a:ext uri="{FF2B5EF4-FFF2-40B4-BE49-F238E27FC236}">
                <a16:creationId xmlns:a16="http://schemas.microsoft.com/office/drawing/2014/main" id="{5F0C5A7C-9CAD-4470-A26C-A2DD5A24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提前识别延期、满意度、资源冲突和履约风险。</a:t>
            </a:r>
          </a:p>
        </p:txBody>
      </p:sp>
    </p:spTree>
    <p:extLst>
      <p:ext uri="{BB962C8B-B14F-4D97-AF65-F5344CB8AC3E}">
        <p14:creationId xmlns:p14="http://schemas.microsoft.com/office/powerpoint/2010/main" val="7716432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0">
            <a:extLst xmlns:a="http://schemas.openxmlformats.org/drawingml/2006/main">
              <a:ext uri="{FF2B5EF4-FFF2-40B4-BE49-F238E27FC236}">
                <a16:creationId xmlns:a16="http://schemas.microsoft.com/office/drawing/2014/main" id="{51C1D768-88A9-4798-81BE-D6FF4AE8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公司需要把建设重心从功能清单转向任务体系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BAC06D87-AE83-44B7-97DD-C1685CA4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10</a:t>
            </a:r>
          </a:p>
        </p:txBody>
      </p:sp>
      <p:sp>
        <p:nvSpPr>
          <p:cNvPr id="3" name="company-actions-panel-1">
            <a:extLst xmlns:a="http://schemas.openxmlformats.org/drawingml/2006/main">
              <a:ext uri="{FF2B5EF4-FFF2-40B4-BE49-F238E27FC236}">
                <a16:creationId xmlns:a16="http://schemas.microsoft.com/office/drawing/2014/main" id="{818EA5C4-27FF-41B0-8BDF-BA0CFC5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35623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company-actions-idx-1">
            <a:extLst xmlns:a="http://schemas.openxmlformats.org/drawingml/2006/main">
              <a:ext uri="{FF2B5EF4-FFF2-40B4-BE49-F238E27FC236}">
                <a16:creationId xmlns:a16="http://schemas.microsoft.com/office/drawing/2014/main" id="{D1718142-07CE-4852-9C99-BD7CEA8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860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01</a:t>
            </a:r>
          </a:p>
        </p:txBody>
      </p:sp>
      <p:sp>
        <p:nvSpPr>
          <p:cNvPr id="5" name="company-actions-title-1">
            <a:extLst xmlns:a="http://schemas.openxmlformats.org/drawingml/2006/main">
              <a:ext uri="{FF2B5EF4-FFF2-40B4-BE49-F238E27FC236}">
                <a16:creationId xmlns:a16="http://schemas.microsoft.com/office/drawing/2014/main" id="{61B6F334-DB1A-490F-BB63-AA5C1C9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重新梳理业务任务</a:t>
            </a:r>
          </a:p>
        </p:txBody>
      </p:sp>
      <p:sp>
        <p:nvSpPr>
          <p:cNvPr id="6" name="company-actions-body-1">
            <a:extLst xmlns:a="http://schemas.openxmlformats.org/drawingml/2006/main">
              <a:ext uri="{FF2B5EF4-FFF2-40B4-BE49-F238E27FC236}">
                <a16:creationId xmlns:a16="http://schemas.microsoft.com/office/drawing/2014/main" id="{6B34D1AC-B508-4B5C-8D33-FBC092C8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3067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优先选择高频、重复、跨部门、强规则、强数据依赖的任务，例如创建培训项目、生成客户方案、完成排课。</a:t>
            </a:r>
          </a:p>
        </p:txBody>
      </p:sp>
      <p:sp>
        <p:nvSpPr>
          <p:cNvPr id="7" name="company-actions-panel-2">
            <a:extLst xmlns:a="http://schemas.openxmlformats.org/drawingml/2006/main">
              <a:ext uri="{FF2B5EF4-FFF2-40B4-BE49-F238E27FC236}">
                <a16:creationId xmlns:a16="http://schemas.microsoft.com/office/drawing/2014/main" id="{09EC7F10-D971-4159-8B6A-B2ED4FC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19300"/>
            <a:ext cx="35623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company-actions-idx-2">
            <a:extLst xmlns:a="http://schemas.openxmlformats.org/drawingml/2006/main">
              <a:ext uri="{FF2B5EF4-FFF2-40B4-BE49-F238E27FC236}">
                <a16:creationId xmlns:a16="http://schemas.microsoft.com/office/drawing/2014/main" id="{374AF92F-08C4-4A3C-AB4D-EBABDD59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02</a:t>
            </a:r>
          </a:p>
        </p:txBody>
      </p:sp>
      <p:sp>
        <p:nvSpPr>
          <p:cNvPr id="9" name="company-actions-title-2">
            <a:extLst xmlns:a="http://schemas.openxmlformats.org/drawingml/2006/main">
              <a:ext uri="{FF2B5EF4-FFF2-40B4-BE49-F238E27FC236}">
                <a16:creationId xmlns:a16="http://schemas.microsoft.com/office/drawing/2014/main" id="{95D1EE7E-99FC-4B53-A975-5CFFD2E1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建立可调用的业务能力</a:t>
            </a:r>
          </a:p>
        </p:txBody>
      </p:sp>
      <p:sp>
        <p:nvSpPr>
          <p:cNvPr id="10" name="company-actions-body-2">
            <a:extLst xmlns:a="http://schemas.openxmlformats.org/drawingml/2006/main">
              <a:ext uri="{FF2B5EF4-FFF2-40B4-BE49-F238E27FC236}">
                <a16:creationId xmlns:a16="http://schemas.microsoft.com/office/drawing/2014/main" id="{25B58AA0-259A-4FF3-94F9-6B034394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067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将创建项目、配置课程、查询讲师档期、生成证书、发送通知、发起审批等能力标准化封装。</a:t>
            </a:r>
          </a:p>
        </p:txBody>
      </p:sp>
      <p:sp>
        <p:nvSpPr>
          <p:cNvPr id="11" name="company-actions-panel-3">
            <a:extLst xmlns:a="http://schemas.openxmlformats.org/drawingml/2006/main">
              <a:ext uri="{FF2B5EF4-FFF2-40B4-BE49-F238E27FC236}">
                <a16:creationId xmlns:a16="http://schemas.microsoft.com/office/drawing/2014/main" id="{9C5599F5-476C-41F8-B61E-EC937B2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19300"/>
            <a:ext cx="35623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company-actions-idx-3">
            <a:extLst xmlns:a="http://schemas.openxmlformats.org/drawingml/2006/main">
              <a:ext uri="{FF2B5EF4-FFF2-40B4-BE49-F238E27FC236}">
                <a16:creationId xmlns:a16="http://schemas.microsoft.com/office/drawing/2014/main" id="{3564F088-EE11-438A-A63E-A8F3BCDF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860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6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03</a:t>
            </a:r>
          </a:p>
        </p:txBody>
      </p:sp>
      <p:sp>
        <p:nvSpPr>
          <p:cNvPr id="13" name="company-actions-title-3">
            <a:extLst xmlns:a="http://schemas.openxmlformats.org/drawingml/2006/main">
              <a:ext uri="{FF2B5EF4-FFF2-40B4-BE49-F238E27FC236}">
                <a16:creationId xmlns:a16="http://schemas.microsoft.com/office/drawing/2014/main" id="{9507AA73-6903-42C7-90D1-7EA507CE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622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0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建设数据和知识底座</a:t>
            </a:r>
          </a:p>
        </p:txBody>
      </p:sp>
      <p:sp>
        <p:nvSpPr>
          <p:cNvPr id="14" name="company-actions-body-3">
            <a:extLst xmlns:a="http://schemas.openxmlformats.org/drawingml/2006/main">
              <a:ext uri="{FF2B5EF4-FFF2-40B4-BE49-F238E27FC236}">
                <a16:creationId xmlns:a16="http://schemas.microsoft.com/office/drawing/2014/main" id="{E0A93862-18AD-4086-A6E2-2EC080E5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76600"/>
            <a:ext cx="3067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治理客户、课程、讲师、项目、合同、反馈和制度流程数据，沉淀知识库、案例库、模板库和规则库。</a:t>
            </a:r>
          </a:p>
        </p:txBody>
      </p:sp>
      <p:sp>
        <p:nvSpPr>
          <p:cNvPr id="15" name="company-actions-bottom">
            <a:extLst xmlns:a="http://schemas.openxmlformats.org/drawingml/2006/main">
              <a:ext uri="{FF2B5EF4-FFF2-40B4-BE49-F238E27FC236}">
                <a16:creationId xmlns:a16="http://schemas.microsoft.com/office/drawing/2014/main" id="{FD28C140-5719-48BC-B64E-82509D1F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05450"/>
            <a:ext cx="902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这是 lucky 从“回答问题”进一步走向“执行任务”的前提。</a:t>
            </a:r>
          </a:p>
        </p:txBody>
      </p:sp>
    </p:spTree>
    <p:extLst>
      <p:ext uri="{BB962C8B-B14F-4D97-AF65-F5344CB8AC3E}">
        <p14:creationId xmlns:p14="http://schemas.microsoft.com/office/powerpoint/2010/main" val="52079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B531B770-1585-4F5B-8898-F79FC219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落地 AI 原生，还要调整组织机制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68FF2257-964A-4727-8F40-E6430BB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11</a:t>
            </a:r>
          </a:p>
        </p:txBody>
      </p:sp>
      <p:sp>
        <p:nvSpPr>
          <p:cNvPr id="3" name="mechanism-topline-0">
            <a:extLst xmlns:a="http://schemas.openxmlformats.org/drawingml/2006/main">
              <a:ext uri="{FF2B5EF4-FFF2-40B4-BE49-F238E27FC236}">
                <a16:creationId xmlns:a16="http://schemas.microsoft.com/office/drawing/2014/main" id="{845F2BDE-7E83-4974-BFB7-145D78FA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chanism-title-0">
            <a:extLst xmlns:a="http://schemas.openxmlformats.org/drawingml/2006/main">
              <a:ext uri="{FF2B5EF4-FFF2-40B4-BE49-F238E27FC236}">
                <a16:creationId xmlns:a16="http://schemas.microsoft.com/office/drawing/2014/main" id="{2EA19DDA-B1BC-4F6A-9D1C-1D812C77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2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岗位能力</a:t>
            </a:r>
          </a:p>
        </p:txBody>
      </p:sp>
      <p:sp>
        <p:nvSpPr>
          <p:cNvPr id="5" name="mechanism-body-0">
            <a:extLst xmlns:a="http://schemas.openxmlformats.org/drawingml/2006/main">
              <a:ext uri="{FF2B5EF4-FFF2-40B4-BE49-F238E27FC236}">
                <a16:creationId xmlns:a16="http://schemas.microsoft.com/office/drawing/2014/main" id="{35F7272A-BA8A-4A0D-80B4-62FBDC6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培养员工清晰表达目标、校准 AI 输出、判断业务风险、优化任务模板和沉淀经验。</a:t>
            </a:r>
          </a:p>
        </p:txBody>
      </p:sp>
      <p:sp>
        <p:nvSpPr>
          <p:cNvPr id="6" name="mechanism-topline-1">
            <a:extLst xmlns:a="http://schemas.openxmlformats.org/drawingml/2006/main">
              <a:ext uri="{FF2B5EF4-FFF2-40B4-BE49-F238E27FC236}">
                <a16:creationId xmlns:a16="http://schemas.microsoft.com/office/drawing/2014/main" id="{C020AE22-4A78-4C5A-B34D-BDD7A40A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chanism-title-1">
            <a:extLst xmlns:a="http://schemas.openxmlformats.org/drawingml/2006/main">
              <a:ext uri="{FF2B5EF4-FFF2-40B4-BE49-F238E27FC236}">
                <a16:creationId xmlns:a16="http://schemas.microsoft.com/office/drawing/2014/main" id="{FCC7B61C-1673-4CDB-B46C-D389149F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2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责任边界</a:t>
            </a:r>
          </a:p>
        </p:txBody>
      </p:sp>
      <p:sp>
        <p:nvSpPr>
          <p:cNvPr id="8" name="mechanism-body-1">
            <a:extLst xmlns:a="http://schemas.openxmlformats.org/drawingml/2006/main">
              <a:ext uri="{FF2B5EF4-FFF2-40B4-BE49-F238E27FC236}">
                <a16:creationId xmlns:a16="http://schemas.microsoft.com/office/drawing/2014/main" id="{27EB6DF3-8842-449D-9FE4-DC12D74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明确哪些事项自动执行，哪些事项需要人工确认，哪些事项必须负责人审批。</a:t>
            </a:r>
          </a:p>
        </p:txBody>
      </p:sp>
      <p:sp>
        <p:nvSpPr>
          <p:cNvPr id="9" name="mechanism-topline-2">
            <a:extLst xmlns:a="http://schemas.openxmlformats.org/drawingml/2006/main">
              <a:ext uri="{FF2B5EF4-FFF2-40B4-BE49-F238E27FC236}">
                <a16:creationId xmlns:a16="http://schemas.microsoft.com/office/drawing/2014/main" id="{4ABC677F-4BDF-4F1E-BE99-962CFE96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chanism-title-2">
            <a:extLst xmlns:a="http://schemas.openxmlformats.org/drawingml/2006/main">
              <a:ext uri="{FF2B5EF4-FFF2-40B4-BE49-F238E27FC236}">
                <a16:creationId xmlns:a16="http://schemas.microsoft.com/office/drawing/2014/main" id="{4FF26EFC-18A2-4919-A573-347A1B5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2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持续迭代</a:t>
            </a:r>
          </a:p>
        </p:txBody>
      </p:sp>
      <p:sp>
        <p:nvSpPr>
          <p:cNvPr id="11" name="mechanism-body-2">
            <a:extLst xmlns:a="http://schemas.openxmlformats.org/drawingml/2006/main">
              <a:ext uri="{FF2B5EF4-FFF2-40B4-BE49-F238E27FC236}">
                <a16:creationId xmlns:a16="http://schemas.microsoft.com/office/drawing/2014/main" id="{758A9F51-2B06-4643-AC47-96743C7E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建立反馈机制，持续优化提示词、任务模板、业务规则、知识库和系统接口。</a:t>
            </a:r>
          </a:p>
        </p:txBody>
      </p:sp>
      <p:sp>
        <p:nvSpPr>
          <p:cNvPr id="12" name="mechanism-bottom">
            <a:extLst xmlns:a="http://schemas.openxmlformats.org/drawingml/2006/main">
              <a:ext uri="{FF2B5EF4-FFF2-40B4-BE49-F238E27FC236}">
                <a16:creationId xmlns:a16="http://schemas.microsoft.com/office/drawing/2014/main" id="{A9033474-85E0-45A2-A3F4-723D2ED2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9144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mechanism-bottom-text">
            <a:extLst xmlns:a="http://schemas.openxmlformats.org/drawingml/2006/main">
              <a:ext uri="{FF2B5EF4-FFF2-40B4-BE49-F238E27FC236}">
                <a16:creationId xmlns:a16="http://schemas.microsoft.com/office/drawing/2014/main" id="{026ACF82-EADC-42DA-9B67-6B94D62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AI 原生不是一次性上线，而是在真实业务中持续训练、优化和进化。</a:t>
            </a:r>
          </a:p>
        </p:txBody>
      </p:sp>
    </p:spTree>
    <p:extLst>
      <p:ext uri="{BB962C8B-B14F-4D97-AF65-F5344CB8AC3E}">
        <p14:creationId xmlns:p14="http://schemas.microsoft.com/office/powerpoint/2010/main" val="1861177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12">
            <a:extLst xmlns:a="http://schemas.openxmlformats.org/drawingml/2006/main">
              <a:ext uri="{FF2B5EF4-FFF2-40B4-BE49-F238E27FC236}">
                <a16:creationId xmlns:a16="http://schemas.microsoft.com/office/drawing/2014/main" id="{D3F9BCA4-8E83-4021-8970-1B1BF885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建议采用分场景、分阶段的推进路径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614B4F4C-0B5E-45E8-A904-9097DCC7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12</a:t>
            </a:r>
          </a:p>
        </p:txBody>
      </p:sp>
      <p:sp>
        <p:nvSpPr>
          <p:cNvPr id="3" name="phase-num-0">
            <a:extLst xmlns:a="http://schemas.openxmlformats.org/drawingml/2006/main">
              <a:ext uri="{FF2B5EF4-FFF2-40B4-BE49-F238E27FC236}">
                <a16:creationId xmlns:a16="http://schemas.microsoft.com/office/drawing/2014/main" id="{A0BDBB44-FE08-4108-8A97-F6D50ED3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01</a:t>
            </a:r>
          </a:p>
        </p:txBody>
      </p:sp>
      <p:sp>
        <p:nvSpPr>
          <p:cNvPr id="4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12D00412-2786-4E90-AA4F-D2B1AF6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0AA06003-D367-47D5-914F-FB64F4E8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选择高频场景</a:t>
            </a:r>
          </a:p>
        </p:txBody>
      </p:sp>
      <p:sp>
        <p:nvSpPr>
          <p:cNvPr id="6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3B5FCB7B-C1C2-46E0-B6A1-2AA1D1D6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从培训项目、排课、过程服务、评估报告等高频任务切入。</a:t>
            </a:r>
          </a:p>
        </p:txBody>
      </p:sp>
      <p:sp>
        <p:nvSpPr>
          <p:cNvPr id="7" name="phase-arrow-0">
            <a:extLst xmlns:a="http://schemas.openxmlformats.org/drawingml/2006/main">
              <a:ext uri="{FF2B5EF4-FFF2-40B4-BE49-F238E27FC236}">
                <a16:creationId xmlns:a16="http://schemas.microsoft.com/office/drawing/2014/main" id="{7CCA088C-0D67-4455-9583-7E286059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BCC4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B8BCC4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→</a:t>
            </a:r>
          </a:p>
        </p:txBody>
      </p:sp>
      <p:sp>
        <p:nvSpPr>
          <p:cNvPr id="8" name="phase-num-1">
            <a:extLst xmlns:a="http://schemas.openxmlformats.org/drawingml/2006/main">
              <a:ext uri="{FF2B5EF4-FFF2-40B4-BE49-F238E27FC236}">
                <a16:creationId xmlns:a16="http://schemas.microsoft.com/office/drawing/2014/main" id="{8413C53D-0309-402F-B4CF-E10448BC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02</a:t>
            </a:r>
          </a:p>
        </p:txBody>
      </p:sp>
      <p:sp>
        <p:nvSpPr>
          <p:cNvPr id="9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61D23017-2458-4665-B715-2C4EDFA1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206B5D77-2141-48D0-B367-74857BF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7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打通系统能力</a:t>
            </a:r>
          </a:p>
        </p:txBody>
      </p:sp>
      <p:sp>
        <p:nvSpPr>
          <p:cNvPr id="11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8B184118-14E4-4A16-A2FC-D2946D0A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让项目、课程、讲师、通知、审批、证书等能力可被 lucky 调用。</a:t>
            </a:r>
          </a:p>
        </p:txBody>
      </p:sp>
      <p:sp>
        <p:nvSpPr>
          <p:cNvPr id="12" name="phase-arrow-1">
            <a:extLst xmlns:a="http://schemas.openxmlformats.org/drawingml/2006/main">
              <a:ext uri="{FF2B5EF4-FFF2-40B4-BE49-F238E27FC236}">
                <a16:creationId xmlns:a16="http://schemas.microsoft.com/office/drawing/2014/main" id="{E533EA70-833A-4E45-A228-75BB009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BCC4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B8BCC4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→</a:t>
            </a:r>
          </a:p>
        </p:txBody>
      </p:sp>
      <p:sp>
        <p:nvSpPr>
          <p:cNvPr id="13" name="phase-num-2">
            <a:extLst xmlns:a="http://schemas.openxmlformats.org/drawingml/2006/main">
              <a:ext uri="{FF2B5EF4-FFF2-40B4-BE49-F238E27FC236}">
                <a16:creationId xmlns:a16="http://schemas.microsoft.com/office/drawing/2014/main" id="{F27620DA-DFCF-4EE8-9F31-5F64EBB2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03</a:t>
            </a:r>
          </a:p>
        </p:txBody>
      </p:sp>
      <p:sp>
        <p:nvSpPr>
          <p:cNvPr id="14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285E325B-E7D2-4F63-9FC2-F694D43C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DDFECFBE-C5E4-40FE-877C-6DED3801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沉淀知识规则</a:t>
            </a:r>
          </a:p>
        </p:txBody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A99F1169-508D-4B9E-A20C-453AB9CA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建设课程库、案例库、制度库、交付模板和风险清单。</a:t>
            </a:r>
          </a:p>
        </p:txBody>
      </p:sp>
      <p:sp>
        <p:nvSpPr>
          <p:cNvPr id="17" name="phase-arrow-2">
            <a:extLst xmlns:a="http://schemas.openxmlformats.org/drawingml/2006/main">
              <a:ext uri="{FF2B5EF4-FFF2-40B4-BE49-F238E27FC236}">
                <a16:creationId xmlns:a16="http://schemas.microsoft.com/office/drawing/2014/main" id="{A965E36D-E876-4799-A13F-8C5757FD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BCC4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B8BCC4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→</a:t>
            </a:r>
          </a:p>
        </p:txBody>
      </p:sp>
      <p:sp>
        <p:nvSpPr>
          <p:cNvPr id="18" name="phase-num-3">
            <a:extLst xmlns:a="http://schemas.openxmlformats.org/drawingml/2006/main">
              <a:ext uri="{FF2B5EF4-FFF2-40B4-BE49-F238E27FC236}">
                <a16:creationId xmlns:a16="http://schemas.microsoft.com/office/drawing/2014/main" id="{BE94AFFC-DF69-46A8-A75D-C93CB65D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850" b="1">
                <a:solidFill>
                  <a:srgbClr val="3D8D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04</a:t>
            </a:r>
          </a:p>
        </p:txBody>
      </p:sp>
      <p:sp>
        <p:nvSpPr>
          <p:cNvPr id="19" name="phase-rule-3">
            <a:extLst xmlns:a="http://schemas.openxmlformats.org/drawingml/2006/main">
              <a:ext uri="{FF2B5EF4-FFF2-40B4-BE49-F238E27FC236}">
                <a16:creationId xmlns:a16="http://schemas.microsoft.com/office/drawing/2014/main" id="{71210500-4825-4650-AC1C-394BEA0A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F26311AF-7595-44AB-BA37-5E55E1CA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建立协同闭环</a:t>
            </a:r>
          </a:p>
        </p:txBody>
      </p:sp>
      <p:sp>
        <p:nvSpPr>
          <p:cNvPr id="21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FF12B3BD-7349-4E86-B5BD-A3FA63C4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设置确认点、审批线、异常转交和持续反馈机制。</a:t>
            </a:r>
          </a:p>
        </p:txBody>
      </p:sp>
      <p:sp>
        <p:nvSpPr>
          <p:cNvPr id="22" name="phase-bottom">
            <a:extLst xmlns:a="http://schemas.openxmlformats.org/drawingml/2006/main">
              <a:ext uri="{FF2B5EF4-FFF2-40B4-BE49-F238E27FC236}">
                <a16:creationId xmlns:a16="http://schemas.microsoft.com/office/drawing/2014/main" id="{994D765B-9CC5-4455-9F92-6122BA97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先把一个场景跑通，再把任务模板、系统能力和组织经验复制到更多场景。</a:t>
            </a:r>
          </a:p>
        </p:txBody>
      </p:sp>
    </p:spTree>
    <p:extLst>
      <p:ext uri="{BB962C8B-B14F-4D97-AF65-F5344CB8AC3E}">
        <p14:creationId xmlns:p14="http://schemas.microsoft.com/office/powerpoint/2010/main" val="26464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9360CCE-07E6-4649-8034-F2EFC169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100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总结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5266048-4935-4710-891E-DA04359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962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4125" b="1">
                <a:solidFill>
                  <a:srgbClr val="000000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让 lucky 成为组织面向任务执行的智能业务入口</a:t>
            </a:r>
          </a:p>
        </p:txBody>
      </p:sp>
      <p:sp>
        <p:nvSpPr>
          <p:cNvPr id="3" name="close-outcomes">
            <a:extLst xmlns:a="http://schemas.openxmlformats.org/drawingml/2006/main">
              <a:ext uri="{FF2B5EF4-FFF2-40B4-BE49-F238E27FC236}">
                <a16:creationId xmlns:a16="http://schemas.microsoft.com/office/drawing/2014/main" id="{C8CACFF1-DDC0-44B1-A543-9D1FA48C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5715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业务执行更自动化</a:t>
            </a:r>
          </a:p>
          <a:p xmlns:a="http://schemas.openxmlformats.org/drawingml/2006/main">
            <a:pPr algn="l">
              <a:def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组织经验更可复用</a:t>
            </a:r>
          </a:p>
          <a:p xmlns:a="http://schemas.openxmlformats.org/drawingml/2006/main">
            <a:pPr algn="l">
              <a:def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管理决策更实时</a:t>
            </a:r>
          </a:p>
          <a:p xmlns:a="http://schemas.openxmlformats.org/drawingml/2006/main">
            <a:pPr algn="l">
              <a:def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0">
                <a:solidFill>
                  <a:srgbClr val="585858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员工更聚焦判断、创造和服务质量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F1DF2297-F766-4532-AAF8-9D687D5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271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8269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2026-08-12T03:03:59.7630000Z</dcterms:created>
  <dcterms:modified xsi:type="dcterms:W3CDTF">2026-08-12T03:03:59.7630000Z</dcterms:modified>
</coreProperties>
</file>