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slide for the internal weekly report.</a:t>
            </a:r>
          </a:p>
          <a:p>
            <a:r>
              <a:t>The visual asset is the local hero image already present in the repository.</a:t>
            </a:r>
          </a:p>
          <a:p>
            <a:r>
              <a:t>- /Users/zhanghl/Documents/GitHub/guoren-v2/src/assets/hero.png</a:t>
            </a:r>
          </a:p>
          <a:p/>
          <a:p>
            <a:r>
              <a:t>[Sources]</a:t>
            </a:r>
          </a:p>
          <a:p>
            <a:r>
              <a:t>- 用户确认的周汇报 PPT 制作计划（本对话）</a:t>
            </a:r>
          </a:p>
          <a:p>
            <a:r>
              <a:t>- /Users/zhanghl/Documents/GitHub/guoren-v2/docs/market-trial-application-process.md</a:t>
            </a:r>
          </a:p>
          <a:p>
            <a:r>
              <a:t>- /Users/zhanghl/Documents/GitHub/guoren-v2/docs/teacher-development-competitive-strategy-report.md</a:t>
            </a:r>
          </a:p>
          <a:p>
            <a:r>
              <a:t>- /Users/zhanghl/Documents/GitHub/guoren-v2/src/solutionPrototype/SolutionPrototypeModule.jsx</a:t>
            </a:r>
          </a:p>
          <a:p>
            <a:r>
              <a:t>- /Users/zhanghl/Documents/GitHub/guoren-v2/src/packagePrototype/PackagePrototypeModule.jsx</a:t>
            </a:r>
          </a:p>
          <a:p>
            <a:r>
              <a:t>- /Users/zhanghl/Documents/GitHub/guoren-v2/src/resourceLib/ResourceLibrary.jsx</a:t>
            </a:r>
          </a:p>
          <a:p>
            <a:r>
              <a:t>- /Users/zhanghl/Documents/GitHub/guoren-v2/src/lucky/LuckyModule.jsx</a:t>
            </a:r>
          </a:p>
          <a:p>
            <a:r>
              <a:t>- /Users/zhanghl/Documents/GitHub/guoren-v2/src/quickBuild/QuickBuildModule.jsx</a:t>
            </a:r>
          </a:p>
          <a:p>
            <a:r>
              <a:t>- /Users/zhanghl/Documents/GitHub/guoren-v2/src/tdWork/TdWorkModule.jsx</a:t>
            </a:r>
          </a:p>
          <a:p>
            <a:r>
              <a:t>- 用户提供的 AI 模式截图: /var/folders/b1/n7l3tg6951bg2fxcv64856x00000gn/T/codex-clipboard-50b6485a-eb17-4ac3-bdb8-119e552ab5e1.png</a:t>
            </a:r>
          </a:p>
          <a:p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summarizes the weekly progress using completion-plus-plan status language.</a:t>
            </a:r>
          </a:p>
          <a:p/>
          <a:p>
            <a:r>
              <a:t>[Sources]</a:t>
            </a:r>
          </a:p>
          <a:p>
            <a:r>
              <a:t>- 用户确认的周汇报 PPT 制作计划（本对话）</a:t>
            </a:r>
          </a:p>
          <a:p>
            <a:r>
              <a:t>- /Users/zhanghl/Documents/GitHub/guoren-v2/docs/market-trial-application-process.md</a:t>
            </a:r>
          </a:p>
          <a:p>
            <a:r>
              <a:t>- /Users/zhanghl/Documents/GitHub/guoren-v2/docs/teacher-development-competitive-strategy-report.md</a:t>
            </a:r>
          </a:p>
          <a:p>
            <a:r>
              <a:t>- /Users/zhanghl/Documents/GitHub/guoren-v2/src/solutionPrototype/SolutionPrototypeModule.jsx</a:t>
            </a:r>
          </a:p>
          <a:p>
            <a:r>
              <a:t>- /Users/zhanghl/Documents/GitHub/guoren-v2/src/packagePrototype/PackagePrototypeModule.jsx</a:t>
            </a:r>
          </a:p>
          <a:p>
            <a:r>
              <a:t>- /Users/zhanghl/Documents/GitHub/guoren-v2/src/resourceLib/ResourceLibrary.jsx</a:t>
            </a:r>
          </a:p>
          <a:p>
            <a:r>
              <a:t>- /Users/zhanghl/Documents/GitHub/guoren-v2/src/lucky/LuckyModule.jsx</a:t>
            </a:r>
          </a:p>
          <a:p>
            <a:r>
              <a:t>- /Users/zhanghl/Documents/GitHub/guoren-v2/src/quickBuild/QuickBuildModule.jsx</a:t>
            </a:r>
          </a:p>
          <a:p>
            <a:r>
              <a:t>- /Users/zhanghl/Documents/GitHub/guoren-v2/src/tdWork/TdWorkModule.jsx</a:t>
            </a:r>
          </a:p>
          <a:p>
            <a:r>
              <a:t>- 用户提供的 AI 模式截图: /var/folders/b1/n7l3tg6951bg2fxcv64856x00000gn/T/codex-clipboard-50b6485a-eb17-4ac3-bdb8-119e552ab5e1.png</a:t>
            </a:r>
          </a:p>
          <a:p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Responsibilities follow the market trial process document: solution = scenario, package = quota, tenant = customer opening.</a:t>
            </a:r>
          </a:p>
          <a:p>
            <a:r>
              <a:t>Package tier names and positioning are drawn from the package prototype module.</a:t>
            </a:r>
          </a:p>
          <a:p/>
          <a:p>
            <a:r>
              <a:t>[Sources]</a:t>
            </a:r>
          </a:p>
          <a:p>
            <a:r>
              <a:t>- 用户确认的周汇报 PPT 制作计划（本对话）</a:t>
            </a:r>
          </a:p>
          <a:p>
            <a:r>
              <a:t>- /Users/zhanghl/Documents/GitHub/guoren-v2/docs/market-trial-application-process.md</a:t>
            </a:r>
          </a:p>
          <a:p>
            <a:r>
              <a:t>- /Users/zhanghl/Documents/GitHub/guoren-v2/docs/teacher-development-competitive-strategy-report.md</a:t>
            </a:r>
          </a:p>
          <a:p>
            <a:r>
              <a:t>- /Users/zhanghl/Documents/GitHub/guoren-v2/src/solutionPrototype/SolutionPrototypeModule.jsx</a:t>
            </a:r>
          </a:p>
          <a:p>
            <a:r>
              <a:t>- /Users/zhanghl/Documents/GitHub/guoren-v2/src/packagePrototype/PackagePrototypeModule.jsx</a:t>
            </a:r>
          </a:p>
          <a:p>
            <a:r>
              <a:t>- /Users/zhanghl/Documents/GitHub/guoren-v2/src/resourceLib/ResourceLibrary.jsx</a:t>
            </a:r>
          </a:p>
          <a:p>
            <a:r>
              <a:t>- /Users/zhanghl/Documents/GitHub/guoren-v2/src/lucky/LuckyModule.jsx</a:t>
            </a:r>
          </a:p>
          <a:p>
            <a:r>
              <a:t>- /Users/zhanghl/Documents/GitHub/guoren-v2/src/quickBuild/QuickBuildModule.jsx</a:t>
            </a:r>
          </a:p>
          <a:p>
            <a:r>
              <a:t>- /Users/zhanghl/Documents/GitHub/guoren-v2/src/tdWork/TdWorkModule.jsx</a:t>
            </a:r>
          </a:p>
          <a:p>
            <a:r>
              <a:t>- 用户提供的 AI 模式截图: /var/folders/b1/n7l3tg6951bg2fxcv64856x00000gn/T/codex-clipboard-50b6485a-eb17-4ac3-bdb8-119e552ab5e1.png</a:t>
            </a:r>
          </a:p>
          <a:p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 directory mapping copy is based on the ResourceLibrary modal and store comments.</a:t>
            </a:r>
          </a:p>
          <a:p>
            <a:r>
              <a:t>Local browser copy is based on the Lucky browser picker and tdWork connector entries.</a:t>
            </a:r>
          </a:p>
          <a:p/>
          <a:p>
            <a:r>
              <a:t>[Sources]</a:t>
            </a:r>
          </a:p>
          <a:p>
            <a:r>
              <a:t>- 用户确认的周汇报 PPT 制作计划（本对话）</a:t>
            </a:r>
          </a:p>
          <a:p>
            <a:r>
              <a:t>- /Users/zhanghl/Documents/GitHub/guoren-v2/docs/market-trial-application-process.md</a:t>
            </a:r>
          </a:p>
          <a:p>
            <a:r>
              <a:t>- /Users/zhanghl/Documents/GitHub/guoren-v2/docs/teacher-development-competitive-strategy-report.md</a:t>
            </a:r>
          </a:p>
          <a:p>
            <a:r>
              <a:t>- /Users/zhanghl/Documents/GitHub/guoren-v2/src/solutionPrototype/SolutionPrototypeModule.jsx</a:t>
            </a:r>
          </a:p>
          <a:p>
            <a:r>
              <a:t>- /Users/zhanghl/Documents/GitHub/guoren-v2/src/packagePrototype/PackagePrototypeModule.jsx</a:t>
            </a:r>
          </a:p>
          <a:p>
            <a:r>
              <a:t>- /Users/zhanghl/Documents/GitHub/guoren-v2/src/resourceLib/ResourceLibrary.jsx</a:t>
            </a:r>
          </a:p>
          <a:p>
            <a:r>
              <a:t>- /Users/zhanghl/Documents/GitHub/guoren-v2/src/lucky/LuckyModule.jsx</a:t>
            </a:r>
          </a:p>
          <a:p>
            <a:r>
              <a:t>- /Users/zhanghl/Documents/GitHub/guoren-v2/src/quickBuild/QuickBuildModule.jsx</a:t>
            </a:r>
          </a:p>
          <a:p>
            <a:r>
              <a:t>- /Users/zhanghl/Documents/GitHub/guoren-v2/src/tdWork/TdWorkModule.jsx</a:t>
            </a:r>
          </a:p>
          <a:p>
            <a:r>
              <a:t>- 用户提供的 AI 模式截图: /var/folders/b1/n7l3tg6951bg2fxcv64856x00000gn/T/codex-clipboard-50b6485a-eb17-4ac3-bdb8-119e552ab5e1.png</a:t>
            </a:r>
          </a:p>
          <a:p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specific weekly progress items come from the user-provided brief.</a:t>
            </a:r>
          </a:p>
          <a:p>
            <a:r>
              <a:t>Virtual classroom strategic positioning comes from the teacher-development report.</a:t>
            </a:r>
          </a:p>
          <a:p/>
          <a:p>
            <a:r>
              <a:t>[Sources]</a:t>
            </a:r>
          </a:p>
          <a:p>
            <a:r>
              <a:t>- 用户确认的周汇报 PPT 制作计划（本对话）</a:t>
            </a:r>
          </a:p>
          <a:p>
            <a:r>
              <a:t>- /Users/zhanghl/Documents/GitHub/guoren-v2/docs/market-trial-application-process.md</a:t>
            </a:r>
          </a:p>
          <a:p>
            <a:r>
              <a:t>- /Users/zhanghl/Documents/GitHub/guoren-v2/docs/teacher-development-competitive-strategy-report.md</a:t>
            </a:r>
          </a:p>
          <a:p>
            <a:r>
              <a:t>- /Users/zhanghl/Documents/GitHub/guoren-v2/src/solutionPrototype/SolutionPrototypeModule.jsx</a:t>
            </a:r>
          </a:p>
          <a:p>
            <a:r>
              <a:t>- /Users/zhanghl/Documents/GitHub/guoren-v2/src/packagePrototype/PackagePrototypeModule.jsx</a:t>
            </a:r>
          </a:p>
          <a:p>
            <a:r>
              <a:t>- /Users/zhanghl/Documents/GitHub/guoren-v2/src/resourceLib/ResourceLibrary.jsx</a:t>
            </a:r>
          </a:p>
          <a:p>
            <a:r>
              <a:t>- /Users/zhanghl/Documents/GitHub/guoren-v2/src/lucky/LuckyModule.jsx</a:t>
            </a:r>
          </a:p>
          <a:p>
            <a:r>
              <a:t>- /Users/zhanghl/Documents/GitHub/guoren-v2/src/quickBuild/QuickBuildModule.jsx</a:t>
            </a:r>
          </a:p>
          <a:p>
            <a:r>
              <a:t>- /Users/zhanghl/Documents/GitHub/guoren-v2/src/tdWork/TdWorkModule.jsx</a:t>
            </a:r>
          </a:p>
          <a:p>
            <a:r>
              <a:t>- 用户提供的 AI 模式截图: /var/folders/b1/n7l3tg6951bg2fxcv64856x00000gn/T/codex-clipboard-50b6485a-eb17-4ac3-bdb8-119e552ab5e1.png</a:t>
            </a:r>
          </a:p>
          <a:p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classroom integration flow follows the teacher-development report's virtual classroom sample and evaluation linkage recommendations.</a:t>
            </a:r>
          </a:p>
          <a:p/>
          <a:p>
            <a:r>
              <a:t>[Sources]</a:t>
            </a:r>
          </a:p>
          <a:p>
            <a:r>
              <a:t>- 用户确认的周汇报 PPT 制作计划（本对话）</a:t>
            </a:r>
          </a:p>
          <a:p>
            <a:r>
              <a:t>- /Users/zhanghl/Documents/GitHub/guoren-v2/docs/market-trial-application-process.md</a:t>
            </a:r>
          </a:p>
          <a:p>
            <a:r>
              <a:t>- /Users/zhanghl/Documents/GitHub/guoren-v2/docs/teacher-development-competitive-strategy-report.md</a:t>
            </a:r>
          </a:p>
          <a:p>
            <a:r>
              <a:t>- /Users/zhanghl/Documents/GitHub/guoren-v2/src/solutionPrototype/SolutionPrototypeModule.jsx</a:t>
            </a:r>
          </a:p>
          <a:p>
            <a:r>
              <a:t>- /Users/zhanghl/Documents/GitHub/guoren-v2/src/packagePrototype/PackagePrototypeModule.jsx</a:t>
            </a:r>
          </a:p>
          <a:p>
            <a:r>
              <a:t>- /Users/zhanghl/Documents/GitHub/guoren-v2/src/resourceLib/ResourceLibrary.jsx</a:t>
            </a:r>
          </a:p>
          <a:p>
            <a:r>
              <a:t>- /Users/zhanghl/Documents/GitHub/guoren-v2/src/lucky/LuckyModule.jsx</a:t>
            </a:r>
          </a:p>
          <a:p>
            <a:r>
              <a:t>- /Users/zhanghl/Documents/GitHub/guoren-v2/src/quickBuild/QuickBuildModule.jsx</a:t>
            </a:r>
          </a:p>
          <a:p>
            <a:r>
              <a:t>- /Users/zhanghl/Documents/GitHub/guoren-v2/src/tdWork/TdWorkModule.jsx</a:t>
            </a:r>
          </a:p>
          <a:p>
            <a:r>
              <a:t>- 用户提供的 AI 模式截图: /var/folders/b1/n7l3tg6951bg2fxcv64856x00000gn/T/codex-clipboard-50b6485a-eb17-4ac3-bdb8-119e552ab5e1.png</a:t>
            </a:r>
          </a:p>
          <a:p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QuickBuild module copy and navigation items are based on src/quickBuild/QuickBuildModule.jsx and App.jsx.</a:t>
            </a:r>
          </a:p>
          <a:p/>
          <a:p>
            <a:r>
              <a:t>[Sources]</a:t>
            </a:r>
          </a:p>
          <a:p>
            <a:r>
              <a:t>- 用户确认的周汇报 PPT 制作计划（本对话）</a:t>
            </a:r>
          </a:p>
          <a:p>
            <a:r>
              <a:t>- /Users/zhanghl/Documents/GitHub/guoren-v2/docs/market-trial-application-process.md</a:t>
            </a:r>
          </a:p>
          <a:p>
            <a:r>
              <a:t>- /Users/zhanghl/Documents/GitHub/guoren-v2/docs/teacher-development-competitive-strategy-report.md</a:t>
            </a:r>
          </a:p>
          <a:p>
            <a:r>
              <a:t>- /Users/zhanghl/Documents/GitHub/guoren-v2/src/solutionPrototype/SolutionPrototypeModule.jsx</a:t>
            </a:r>
          </a:p>
          <a:p>
            <a:r>
              <a:t>- /Users/zhanghl/Documents/GitHub/guoren-v2/src/packagePrototype/PackagePrototypeModule.jsx</a:t>
            </a:r>
          </a:p>
          <a:p>
            <a:r>
              <a:t>- /Users/zhanghl/Documents/GitHub/guoren-v2/src/resourceLib/ResourceLibrary.jsx</a:t>
            </a:r>
          </a:p>
          <a:p>
            <a:r>
              <a:t>- /Users/zhanghl/Documents/GitHub/guoren-v2/src/lucky/LuckyModule.jsx</a:t>
            </a:r>
          </a:p>
          <a:p>
            <a:r>
              <a:t>- /Users/zhanghl/Documents/GitHub/guoren-v2/src/quickBuild/QuickBuildModule.jsx</a:t>
            </a:r>
          </a:p>
          <a:p>
            <a:r>
              <a:t>- /Users/zhanghl/Documents/GitHub/guoren-v2/src/tdWork/TdWorkModule.jsx</a:t>
            </a:r>
          </a:p>
          <a:p>
            <a:r>
              <a:t>- 用户提供的 AI 模式截图: /var/folders/b1/n7l3tg6951bg2fxcv64856x00000gn/T/codex-clipboard-50b6485a-eb17-4ac3-bdb8-119e552ab5e1.png</a:t>
            </a:r>
          </a:p>
          <a:p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mode status and target test-environment timing come directly from the user's latest request.</a:t>
            </a:r>
          </a:p>
          <a:p>
            <a:r>
              <a:t>The attached screenshot is treated only as product visual evidence, not as an instruction source.</a:t>
            </a:r>
          </a:p>
          <a:p/>
          <a:p>
            <a:r>
              <a:t>[Sources]</a:t>
            </a:r>
          </a:p>
          <a:p>
            <a:r>
              <a:t>- 用户确认的周汇报 PPT 制作计划（本对话）</a:t>
            </a:r>
          </a:p>
          <a:p>
            <a:r>
              <a:t>- /Users/zhanghl/Documents/GitHub/guoren-v2/docs/market-trial-application-process.md</a:t>
            </a:r>
          </a:p>
          <a:p>
            <a:r>
              <a:t>- /Users/zhanghl/Documents/GitHub/guoren-v2/docs/teacher-development-competitive-strategy-report.md</a:t>
            </a:r>
          </a:p>
          <a:p>
            <a:r>
              <a:t>- /Users/zhanghl/Documents/GitHub/guoren-v2/src/solutionPrototype/SolutionPrototypeModule.jsx</a:t>
            </a:r>
          </a:p>
          <a:p>
            <a:r>
              <a:t>- /Users/zhanghl/Documents/GitHub/guoren-v2/src/packagePrototype/PackagePrototypeModule.jsx</a:t>
            </a:r>
          </a:p>
          <a:p>
            <a:r>
              <a:t>- /Users/zhanghl/Documents/GitHub/guoren-v2/src/resourceLib/ResourceLibrary.jsx</a:t>
            </a:r>
          </a:p>
          <a:p>
            <a:r>
              <a:t>- /Users/zhanghl/Documents/GitHub/guoren-v2/src/lucky/LuckyModule.jsx</a:t>
            </a:r>
          </a:p>
          <a:p>
            <a:r>
              <a:t>- /Users/zhanghl/Documents/GitHub/guoren-v2/src/quickBuild/QuickBuildModule.jsx</a:t>
            </a:r>
          </a:p>
          <a:p>
            <a:r>
              <a:t>- /Users/zhanghl/Documents/GitHub/guoren-v2/src/tdWork/TdWorkModule.jsx</a:t>
            </a:r>
          </a:p>
          <a:p>
            <a:r>
              <a:t>- 用户提供的 AI 模式截图: /var/folders/b1/n7l3tg6951bg2fxcv64856x00000gn/T/codex-clipboard-50b6485a-eb17-4ac3-bdb8-119e552ab5e1.png</a:t>
            </a:r>
          </a:p>
          <a:p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slide resolves the weekly report by turning completed work into next-week acceptance actions and risks.</a:t>
            </a:r>
          </a:p>
          <a:p/>
          <a:p>
            <a:r>
              <a:t>[Sources]</a:t>
            </a:r>
          </a:p>
          <a:p>
            <a:r>
              <a:t>- 用户确认的周汇报 PPT 制作计划（本对话）</a:t>
            </a:r>
          </a:p>
          <a:p>
            <a:r>
              <a:t>- /Users/zhanghl/Documents/GitHub/guoren-v2/docs/market-trial-application-process.md</a:t>
            </a:r>
          </a:p>
          <a:p>
            <a:r>
              <a:t>- /Users/zhanghl/Documents/GitHub/guoren-v2/docs/teacher-development-competitive-strategy-report.md</a:t>
            </a:r>
          </a:p>
          <a:p>
            <a:r>
              <a:t>- /Users/zhanghl/Documents/GitHub/guoren-v2/src/solutionPrototype/SolutionPrototypeModule.jsx</a:t>
            </a:r>
          </a:p>
          <a:p>
            <a:r>
              <a:t>- /Users/zhanghl/Documents/GitHub/guoren-v2/src/packagePrototype/PackagePrototypeModule.jsx</a:t>
            </a:r>
          </a:p>
          <a:p>
            <a:r>
              <a:t>- /Users/zhanghl/Documents/GitHub/guoren-v2/src/resourceLib/ResourceLibrary.jsx</a:t>
            </a:r>
          </a:p>
          <a:p>
            <a:r>
              <a:t>- /Users/zhanghl/Documents/GitHub/guoren-v2/src/lucky/LuckyModule.jsx</a:t>
            </a:r>
          </a:p>
          <a:p>
            <a:r>
              <a:t>- /Users/zhanghl/Documents/GitHub/guoren-v2/src/quickBuild/QuickBuildModule.jsx</a:t>
            </a:r>
          </a:p>
          <a:p>
            <a:r>
              <a:t>- /Users/zhanghl/Documents/GitHub/guoren-v2/src/tdWork/TdWorkModule.jsx</a:t>
            </a:r>
          </a:p>
          <a:p>
            <a:r>
              <a:t>- 用户提供的 AI 模式截图: /var/folders/b1/n7l3tg6951bg2fxcv64856x00000gn/T/codex-clipboard-50b6485a-eb17-4ac3-bdb8-119e552ab5e1.png</a:t>
            </a:r>
          </a:p>
          <a:p>
            <a:r>
              <a:t>- No external web sources or third-party visual assets were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4572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 原生平台</a:t>
            </a:r>
            <a:endParaRPr sz="13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314450"/>
            <a:ext cx="6096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54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54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周进展汇报</a:t>
            </a:r>
            <a:endParaRPr sz="54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457450"/>
            <a:ext cx="609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解决方案/套餐、客户端模式、虚拟课堂技能、智搭上线、AI 模式研发</a:t>
            </a:r>
            <a:endParaRPr sz="210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533400" y="3543300"/>
            <a:ext cx="495300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5" name="矩形 4"/>
          <p:cNvSpPr>
            <a:spLocks noGrp="1"/>
          </p:cNvSpPr>
          <p:nvPr/>
        </p:nvSpPr>
        <p:spPr>
          <a:xfrm>
            <a:off x="533400" y="39814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57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286625" y="971550"/>
            <a:ext cx="3429000" cy="3905250"/>
          </a:xfrm>
          <a:prstGeom prst="roundRect">
            <a:avLst>
              <a:gd name="adj" fmla="val 166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7625" y="1358770"/>
            <a:ext cx="2667000" cy="2806959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124700" y="5191125"/>
            <a:ext cx="3905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本周主线：把单点能力整理成可试用、可配置、可演示的交付链路。</a:t>
            </a:r>
            <a:endParaRPr sz="165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33400" y="6362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239500" y="6362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533400" y="419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</a:t>
            </a:r>
            <a:r>
              <a:rPr lang="zh-CN" altLang="en-US"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原生平台：</a:t>
            </a:r>
            <a:r>
              <a: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本周推进从功能完善走向可复制交付</a:t>
            </a:r>
            <a:endParaRPr sz="35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06680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五条主线同步收敛：场景口径、客户端能力、虚拟课堂技能、智搭入口、AI 模式。</a:t>
            </a:r>
            <a:endParaRPr sz="16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362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39500" y="6362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2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1524000"/>
            <a:ext cx="11125200" cy="74295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79425" y="1613535"/>
            <a:ext cx="3108325" cy="4819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altLang="en-US" sz="1400">
                <a:ea typeface="宋体" charset="0"/>
                <a:sym typeface="+mn-ea"/>
              </a:rPr>
              <a:t>持续完善</a:t>
            </a:r>
            <a:r>
              <a:rPr lang="en-US" altLang="zh-CN" sz="1400">
                <a:ea typeface="宋体" charset="0"/>
                <a:sym typeface="+mn-ea"/>
              </a:rPr>
              <a:t>Token</a:t>
            </a:r>
            <a:r>
              <a:rPr lang="zh-CN" sz="1400">
                <a:ea typeface="宋体" charset="0"/>
                <a:sym typeface="+mn-ea"/>
              </a:rPr>
              <a:t>资源用量可定义、资源使用可</a:t>
            </a:r>
            <a:r>
              <a:rPr lang="zh-CN" sz="1400">
                <a:ea typeface="宋体" charset="0"/>
                <a:sym typeface="+mn-ea"/>
              </a:rPr>
              <a:t>管控：</a:t>
            </a:r>
            <a:r>
              <a:rPr sz="14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解决方案与套餐</a:t>
            </a:r>
            <a:endParaRPr sz="14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429000" y="17335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场景与资源边界拆清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：</a:t>
            </a:r>
            <a:r>
              <a:rPr lang="en-US" altLang="zh-CN" sz="1500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Token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资源用量可定义、资源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使用可控</a:t>
            </a:r>
            <a:endParaRPr lang="zh-CN" sz="1500">
              <a:solidFill>
                <a:srgbClr val="0F172A"/>
              </a:solidFill>
              <a:latin typeface="Helvetica Neue" panose="02000503000000020004"/>
              <a:ea typeface="宋体" charset="0"/>
              <a:cs typeface="Helvetica Neue" panose="020005030000000200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715250" y="1752600"/>
            <a:ext cx="990600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0" y="180022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已完成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67800" y="16954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沉淀试用开通口径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33400" y="2362200"/>
            <a:ext cx="11125200" cy="74295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71525" y="239585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补齐</a:t>
            </a:r>
            <a:r>
              <a:rPr lang="en-US" altLang="zh-CN"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workbuddy</a:t>
            </a:r>
            <a:r>
              <a:rPr lang="zh-CN"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智能体能力：</a:t>
            </a: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客户端模式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29000" y="25717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本地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知识库（隐私）</a:t>
            </a: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与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本地</a:t>
            </a: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浏览器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（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效果）</a:t>
            </a:r>
            <a:endParaRPr sz="150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715250" y="2590800"/>
            <a:ext cx="99060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10500" y="263842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联调中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067800" y="25336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补齐权限、扫描和回退体验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33400" y="3200400"/>
            <a:ext cx="11125200" cy="74295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099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视频课程生成技能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48050" y="315404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用户可以针对知识点，由智能体生成教学</a:t>
            </a:r>
            <a:r>
              <a:rPr lang="en-US" altLang="zh-CN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/</a:t>
            </a:r>
            <a:r>
              <a:rPr lang="zh-CN" altLang="en-US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培训视频：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指定</a:t>
            </a: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时长、多轮修改、进度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拖拽</a:t>
            </a: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和</a:t>
            </a: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视频</a:t>
            </a: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导出成型</a:t>
            </a:r>
            <a:endParaRPr sz="150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715250" y="3429000"/>
            <a:ext cx="990600" cy="285750"/>
          </a:xfrm>
          <a:prstGeom prst="roundRect">
            <a:avLst>
              <a:gd name="adj" fmla="val 20000"/>
            </a:avLst>
          </a:prstGeom>
          <a:solidFill>
            <a:srgbClr val="DDEFFF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810500" y="347662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完善中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67800" y="33718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做成虚拟课堂样板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33400" y="4038600"/>
            <a:ext cx="11125200" cy="74295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9785" y="404622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提高</a:t>
            </a:r>
            <a:r>
              <a:rPr lang="zh-CN"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开发交付效率：</a:t>
            </a: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智搭模块</a:t>
            </a:r>
            <a:r>
              <a:rPr lang="zh-CN"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第一版</a:t>
            </a:r>
            <a:endParaRPr lang="zh-CN"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29000" y="42481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对标豆包的妙搭：</a:t>
            </a: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独立入口与核心页面上线</a:t>
            </a:r>
            <a:endParaRPr sz="150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7715250" y="4267200"/>
            <a:ext cx="990600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810500" y="431482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已上线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067800" y="42100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用于演示轻量业务系统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533400" y="4876800"/>
            <a:ext cx="11125200" cy="74295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23570" y="4886325"/>
            <a:ext cx="265684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新增</a:t>
            </a:r>
            <a:r>
              <a:rPr sz="16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 模式</a:t>
            </a:r>
            <a:r>
              <a:rPr lang="zh-CN" sz="16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切换</a:t>
            </a:r>
            <a:r>
              <a:rPr lang="zh-CN" sz="1600" b="1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，和现在的</a:t>
            </a:r>
            <a:r>
              <a:rPr lang="en-US" altLang="zh-CN" sz="1600" b="1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AI</a:t>
            </a:r>
            <a:r>
              <a:rPr lang="zh-CN" altLang="en-US" sz="1600" b="1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原生平台可以整体切换</a:t>
            </a:r>
            <a:endParaRPr lang="zh-CN" altLang="en-US" sz="1600" b="1">
              <a:solidFill>
                <a:srgbClr val="0F172A"/>
              </a:solidFill>
              <a:latin typeface="Helvetica Neue" panose="02000503000000020004"/>
              <a:ea typeface="宋体" charset="0"/>
              <a:cs typeface="Helvetica Neue" panose="02000503000000020004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314065" y="5008880"/>
            <a:ext cx="440118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整体功能和用户体验、页面设计</a:t>
            </a: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类 WorkBuddy </a:t>
            </a:r>
            <a:r>
              <a:rPr lang="en-US"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8</a:t>
            </a:r>
            <a:r>
              <a:rPr lang="en-US" altLang="zh-CN" sz="1500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0%</a:t>
            </a:r>
            <a:r>
              <a:rPr lang="zh-CN" altLang="en-US" sz="1500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的功能复刻，不含生态</a:t>
            </a:r>
            <a:r>
              <a:rPr lang="zh-CN" altLang="en-US" sz="1500">
                <a:solidFill>
                  <a:srgbClr val="0F172A"/>
                </a:solidFill>
                <a:latin typeface="Helvetica Neue" panose="02000503000000020004"/>
                <a:ea typeface="宋体" charset="0"/>
                <a:cs typeface="Helvetica Neue" panose="02000503000000020004"/>
              </a:rPr>
              <a:t>建设</a:t>
            </a:r>
            <a:endParaRPr lang="zh-CN" altLang="en-US" sz="1500">
              <a:solidFill>
                <a:srgbClr val="0F172A"/>
              </a:solidFill>
              <a:latin typeface="Helvetica Neue" panose="02000503000000020004"/>
              <a:ea typeface="宋体" charset="0"/>
              <a:cs typeface="Helvetica Neue" panose="020005030000000200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715250" y="5105400"/>
            <a:ext cx="990600" cy="28575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810500" y="5153025"/>
            <a:ext cx="800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研发中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067800" y="50482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预计 2026-09-10 左右上测试环境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33400" y="419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方案管场景，套餐管资源边界</a:t>
            </a:r>
            <a:endParaRPr sz="35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06680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本周把试用开通和后续销售的基础口径整理成可配置对象。</a:t>
            </a:r>
            <a:endParaRPr sz="16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362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39500" y="6362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graphicFrame>
        <p:nvGraphicFramePr>
          <p:cNvPr id="23" name="表格 22"/>
          <p:cNvGraphicFramePr/>
          <p:nvPr/>
        </p:nvGraphicFramePr>
        <p:xfrm>
          <a:off x="533400" y="1657350"/>
          <a:ext cx="11125200" cy="2266952"/>
        </p:xfrm>
        <a:graphic>
          <a:graphicData uri="http://schemas.openxmlformats.org/drawingml/2006/table">
            <a:tbl>
              <a:tblPr firstRow="1" bandRow="1"/>
              <a:tblGrid>
                <a:gridCol w="1619250"/>
                <a:gridCol w="2857500"/>
                <a:gridCol w="6648450"/>
              </a:tblGrid>
              <a:tr h="5667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对象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回答的问题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本周沉淀口径</a:t>
                      </a:r>
                      <a:endParaRPr sz="1275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解决方案</a:t>
                      </a:r>
                      <a:endParaRPr sz="1200">
                        <a:solidFill>
                          <a:srgbClr val="0F172A"/>
                        </a:solidFill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客户试用什么业务场景</a:t>
                      </a:r>
                      <a:endParaRPr sz="1200">
                        <a:solidFill>
                          <a:srgbClr val="0F172A"/>
                        </a:solidFill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方案名称、适用场景、模块能力、应用清单和交付范围</a:t>
                      </a:r>
                      <a:endParaRPr sz="1200">
                        <a:solidFill>
                          <a:srgbClr val="0F172A"/>
                        </a:solidFill>
                      </a:endParaRPr>
                    </a:p>
                  </a:txBody>
                  <a:tcPr marL="76200" marR="76200" marT="47625" marB="47625"/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套餐</a:t>
                      </a:r>
                      <a:endParaRPr sz="1200">
                        <a:solidFill>
                          <a:srgbClr val="0F172A"/>
                        </a:solidFill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这个场景按什么额度试用</a:t>
                      </a:r>
                      <a:endParaRPr sz="1200">
                        <a:solidFill>
                          <a:srgbClr val="0F172A"/>
                        </a:solidFill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用户、空间、存储、AI 调用、视频播放、研讨会和证书等权益边界</a:t>
                      </a:r>
                      <a:endParaRPr sz="1200">
                        <a:solidFill>
                          <a:srgbClr val="0F172A"/>
                        </a:solidFill>
                      </a:endParaRPr>
                    </a:p>
                  </a:txBody>
                  <a:tcPr marL="76200" marR="76200" marT="47625" marB="47625"/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租户</a:t>
                      </a:r>
                      <a:endParaRPr sz="1200">
                        <a:solidFill>
                          <a:srgbClr val="0F172A"/>
                        </a:solidFill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给哪个客户实际开通</a:t>
                      </a:r>
                      <a:endParaRPr sz="1200">
                        <a:solidFill>
                          <a:srgbClr val="0F172A"/>
                        </a:solidFill>
                      </a:endParaRP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F172A"/>
                          </a:solidFill>
                        </a:rPr>
                        <a:t>客户主体、绑定套餐、服务周期、状态和客户成功负责人</a:t>
                      </a:r>
                      <a:endParaRPr sz="1200">
                        <a:solidFill>
                          <a:srgbClr val="0F172A"/>
                        </a:solidFill>
                      </a:endParaRP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533400" y="4305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套餐定位</a:t>
            </a:r>
            <a:endParaRPr sz="21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33400" y="4762500"/>
            <a:ext cx="3429000" cy="112395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49339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标准版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5276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中小规模培训项目、单校教研团队</a:t>
            </a:r>
            <a:endParaRPr sz="127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556260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开箱即用，覆盖空间、资料、研讨、问卷和证书基础流程。</a:t>
            </a:r>
            <a:endParaRPr sz="120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267200" y="4762500"/>
            <a:ext cx="3429000" cy="1123950"/>
          </a:xfrm>
          <a:prstGeom prst="roundRect">
            <a:avLst>
              <a:gd name="adj" fmla="val 5085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76750" y="49339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专业版</a:t>
            </a:r>
            <a:endParaRPr sz="18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76750" y="5276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区域培训、教研共同体、集团校</a:t>
            </a:r>
            <a:endParaRPr sz="127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76750" y="556260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支持多方案组合、主题定制和高级统计。</a:t>
            </a:r>
            <a:endParaRPr sz="120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001000" y="4762500"/>
            <a:ext cx="3429000" cy="112395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10550" y="49339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旗舰版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10550" y="52768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大型区域项目、综合数字化建设项目</a:t>
            </a:r>
            <a:endParaRPr sz="127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10550" y="556260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完整开放 AI、知识空间和成果认证能力，按项目确认交付范围。</a:t>
            </a:r>
            <a:endParaRPr sz="120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33400" y="419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客户端模式补齐智能体工作环境</a:t>
            </a:r>
            <a:endParaRPr sz="35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06680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本地文件夹解决私域资料供给，本地浏览器解决跨网页和需登录系统的操作入口。</a:t>
            </a:r>
            <a:endParaRPr sz="16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362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39500" y="6362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4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1790700"/>
            <a:ext cx="5105400" cy="3429000"/>
          </a:xfrm>
          <a:prstGeom prst="roundRect">
            <a:avLst>
              <a:gd name="adj" fmla="val 166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114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5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本地文件夹</a:t>
            </a:r>
            <a:endParaRPr sz="255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781300"/>
            <a:ext cx="400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个人库连接本机文件夹</a:t>
            </a:r>
            <a:endParaRPr sz="172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支持多个本地目录映射</a:t>
            </a:r>
            <a:endParaRPr sz="172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可设置读写或只读浏览</a:t>
            </a:r>
            <a:endParaRPr sz="172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支持手动刷新或启动时扫描</a:t>
            </a:r>
            <a:endParaRPr sz="172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857250" y="4476750"/>
            <a:ext cx="41910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矩形 8"/>
          <p:cNvSpPr>
            <a:spLocks noGrp="1"/>
          </p:cNvSpPr>
          <p:nvPr/>
        </p:nvSpPr>
        <p:spPr>
          <a:xfrm>
            <a:off x="857250" y="46672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价值：客户资料不必全部上云，也能进入智能体上下文。</a:t>
            </a:r>
            <a:endParaRPr sz="14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210300" y="1790700"/>
            <a:ext cx="5105400" cy="3429000"/>
          </a:xfrm>
          <a:prstGeom prst="roundRect">
            <a:avLst>
              <a:gd name="adj" fmla="val 166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534150" y="21145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5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本地浏览器</a:t>
            </a:r>
            <a:endParaRPr sz="255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34150" y="2781300"/>
            <a:ext cx="400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浏览器处理网页操作任务</a:t>
            </a:r>
            <a:endParaRPr sz="172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可访问需登录或验证的网站</a:t>
            </a:r>
            <a:endParaRPr sz="172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插件安装与浏览器管理入口明确</a:t>
            </a:r>
            <a:endParaRPr sz="172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def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未开启时回退云端浏览器</a:t>
            </a:r>
            <a:endParaRPr sz="172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6534150" y="4476750"/>
            <a:ext cx="41910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4" name="矩形 13"/>
          <p:cNvSpPr>
            <a:spLocks noGrp="1"/>
          </p:cNvSpPr>
          <p:nvPr/>
        </p:nvSpPr>
        <p:spPr>
          <a:xfrm>
            <a:off x="6534150" y="46672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价值：外部教务、报名、政策网页和客户系统可被纳入工作流。</a:t>
            </a:r>
            <a:endParaRPr sz="14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3400" y="561975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下周重点：稳定 Electron 文件桥接、权限提示、异常中止和操作留痕。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533400" y="419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虚拟课堂技能走向可执行课程生产</a:t>
            </a:r>
            <a:endParaRPr sz="35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06680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视频课程生成不只产出脚本，而是逐步形成可执行、可修改、可导出的视频课程链路。</a:t>
            </a:r>
            <a:endParaRPr sz="16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362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39500" y="6362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5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42950" y="2000250"/>
            <a:ext cx="2571750" cy="2495550"/>
          </a:xfrm>
          <a:prstGeom prst="roundRect">
            <a:avLst>
              <a:gd name="adj" fmla="val 229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71550" y="22098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6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26098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可执行时长</a:t>
            </a:r>
            <a:endParaRPr sz="21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3143250"/>
            <a:ext cx="2076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支持按课程目标控制执行时长，便于生成可落地的课堂流程。</a:t>
            </a:r>
            <a:endParaRPr sz="14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71550" y="4038600"/>
            <a:ext cx="1066800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4086225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已完善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3390900" y="3219450"/>
            <a:ext cx="1143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2" name="圆角矩形 11"/>
          <p:cNvSpPr>
            <a:spLocks noGrp="1"/>
          </p:cNvSpPr>
          <p:nvPr/>
        </p:nvSpPr>
        <p:spPr>
          <a:xfrm>
            <a:off x="3581400" y="2000250"/>
            <a:ext cx="2571750" cy="2495550"/>
          </a:xfrm>
          <a:prstGeom prst="roundRect">
            <a:avLst>
              <a:gd name="adj" fmla="val 229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810000" y="22098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6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10000" y="26098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多轮修改</a:t>
            </a:r>
            <a:endParaRPr sz="21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810000" y="3143250"/>
            <a:ext cx="2076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围绕课程内容、案例、试题和表达风格持续迭代。</a:t>
            </a:r>
            <a:endParaRPr sz="14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3810000" y="4038600"/>
            <a:ext cx="1066800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905250" y="4086225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已完善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6229350" y="3219450"/>
            <a:ext cx="1143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9" name="圆角矩形 18"/>
          <p:cNvSpPr>
            <a:spLocks noGrp="1"/>
          </p:cNvSpPr>
          <p:nvPr/>
        </p:nvSpPr>
        <p:spPr>
          <a:xfrm>
            <a:off x="6419850" y="2000250"/>
            <a:ext cx="2571750" cy="2495550"/>
          </a:xfrm>
          <a:prstGeom prst="roundRect">
            <a:avLst>
              <a:gd name="adj" fmla="val 2290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48450" y="22098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6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48450" y="26098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进度条</a:t>
            </a:r>
            <a:endParaRPr sz="21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48450" y="3143250"/>
            <a:ext cx="2076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生成过程有明确进度反馈，降低等待和不确定感。</a:t>
            </a:r>
            <a:endParaRPr sz="14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648450" y="4038600"/>
            <a:ext cx="106680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743700" y="4086225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联调中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9067800" y="3219450"/>
            <a:ext cx="1143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26" name="圆角矩形 25"/>
          <p:cNvSpPr>
            <a:spLocks noGrp="1"/>
          </p:cNvSpPr>
          <p:nvPr/>
        </p:nvSpPr>
        <p:spPr>
          <a:xfrm>
            <a:off x="9258300" y="2000250"/>
            <a:ext cx="2571750" cy="2495550"/>
          </a:xfrm>
          <a:prstGeom prst="roundRect">
            <a:avLst>
              <a:gd name="adj" fmla="val 2290"/>
            </a:avLst>
          </a:prstGeom>
          <a:solidFill>
            <a:srgbClr val="DDEFFF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486900" y="220980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16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486900" y="26098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视频导出</a:t>
            </a:r>
            <a:endParaRPr sz="21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486900" y="3143250"/>
            <a:ext cx="2076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4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课程脚本、虚拟课堂内容和视频产物进入交付闭环。</a:t>
            </a:r>
            <a:endParaRPr sz="14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9486900" y="4038600"/>
            <a:ext cx="1066800" cy="285750"/>
          </a:xfrm>
          <a:prstGeom prst="roundRect">
            <a:avLst>
              <a:gd name="adj" fmla="val 20000"/>
            </a:avLst>
          </a:prstGeom>
          <a:solidFill>
            <a:srgbClr val="DDEFFF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582150" y="4086225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下周推进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533400" y="5105400"/>
            <a:ext cx="11125200" cy="666750"/>
          </a:xfrm>
          <a:prstGeom prst="roundRect">
            <a:avLst>
              <a:gd name="adj" fmla="val 8571"/>
            </a:avLst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00100" y="52768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汇报口径</a:t>
            </a:r>
            <a:endParaRPr sz="165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095500" y="5286375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已把视频课程生成技能从“内容生成”推进到“可运行课程产物”的方向，后续以虚拟课堂样板检验体验。</a:t>
            </a:r>
            <a:endParaRPr sz="165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33400" y="419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课堂集成让训练记录进入教学闭环</a:t>
            </a:r>
            <a:endParaRPr sz="35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06680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案例、仿真试题和训练反馈要和空间、档案、教研活动连接起来。</a:t>
            </a:r>
            <a:endParaRPr sz="16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362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39500" y="6362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6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19431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课堂集成案例</a:t>
            </a:r>
            <a:endParaRPr sz="21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14400" y="2495550"/>
            <a:ext cx="2857500" cy="1809750"/>
          </a:xfrm>
          <a:prstGeom prst="roundRect">
            <a:avLst>
              <a:gd name="adj" fmla="val 3158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62050" y="2857500"/>
            <a:ext cx="2324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围绕一个教学主题，配置课程目标、课堂情境、案例材料和互动任务。</a:t>
            </a:r>
            <a:endParaRPr sz="165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3943350" y="3390900"/>
            <a:ext cx="5715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</a:ln>
        </p:spPr>
      </p:cxnSp>
      <p:sp>
        <p:nvSpPr>
          <p:cNvPr id="9" name="矩形 8"/>
          <p:cNvSpPr>
            <a:spLocks noGrp="1"/>
          </p:cNvSpPr>
          <p:nvPr/>
        </p:nvSpPr>
        <p:spPr>
          <a:xfrm>
            <a:off x="4648200" y="19431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仿真试题与演练</a:t>
            </a:r>
            <a:endParaRPr sz="21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648200" y="2495550"/>
            <a:ext cx="2857500" cy="1809750"/>
          </a:xfrm>
          <a:prstGeom prst="roundRect">
            <a:avLst>
              <a:gd name="adj" fmla="val 3158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95850" y="2857500"/>
            <a:ext cx="2324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生成 AI 学生提问、互动测验、突发情境和课堂决策节点。</a:t>
            </a:r>
            <a:endParaRPr sz="165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7677150" y="3390900"/>
            <a:ext cx="571500" cy="0"/>
          </a:xfrm>
          <a:prstGeom prst="straightConnector1">
            <a:avLst/>
          </a:prstGeom>
          <a:ln w="19050">
            <a:solidFill>
              <a:srgbClr val="3D8DFF"/>
            </a:solidFill>
            <a:prstDash val="solid"/>
          </a:ln>
        </p:spPr>
      </p:cxnSp>
      <p:sp>
        <p:nvSpPr>
          <p:cNvPr id="13" name="矩形 12"/>
          <p:cNvSpPr>
            <a:spLocks noGrp="1"/>
          </p:cNvSpPr>
          <p:nvPr/>
        </p:nvSpPr>
        <p:spPr>
          <a:xfrm>
            <a:off x="8382000" y="194310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记录回流</a:t>
            </a:r>
            <a:endParaRPr sz="21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382000" y="2495550"/>
            <a:ext cx="2857500" cy="1809750"/>
          </a:xfrm>
          <a:prstGeom prst="roundRect">
            <a:avLst>
              <a:gd name="adj" fmla="val 3158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29650" y="2857500"/>
            <a:ext cx="2324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训练结果沉淀为反馈、改进建议、训练记录和后续教研材料。</a:t>
            </a:r>
            <a:endParaRPr sz="165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533400" y="4876800"/>
            <a:ext cx="11125200" cy="933450"/>
          </a:xfrm>
          <a:prstGeom prst="roundRect">
            <a:avLst>
              <a:gd name="adj" fmla="val 6122"/>
            </a:avLst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0100" y="50958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联动目标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305050" y="5076825"/>
            <a:ext cx="819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72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课堂 AI 评价、虚拟课堂训练记录、教师档案、能力模型、教研空间和研习社展示形成后续闭环。</a:t>
            </a:r>
            <a:endParaRPr sz="172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33400" y="419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智搭上线让 AI 能力落成可操作应用</a:t>
            </a:r>
            <a:endParaRPr sz="35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06680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智搭把场景、知识库和工具流程从对话能力转成可看、可点、可部署的轻量应用。</a:t>
            </a:r>
            <a:endParaRPr sz="16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362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39500" y="6362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7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1714500"/>
            <a:ext cx="4000500" cy="3848100"/>
          </a:xfrm>
          <a:prstGeom prst="roundRect">
            <a:avLst>
              <a:gd name="adj" fmla="val 1485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2266950"/>
            <a:ext cx="266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6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46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智搭</a:t>
            </a:r>
            <a:endParaRPr sz="465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3067050"/>
            <a:ext cx="285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灵感落地生花，即刻智搭万物</a:t>
            </a:r>
            <a:endParaRPr sz="21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4171950"/>
            <a:ext cx="2952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入口已进入主导航，支撑新应用、导入、我的应用、部署、市场和开发者社区。</a:t>
            </a:r>
            <a:endParaRPr sz="157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257800" y="18097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入口上线</a:t>
            </a:r>
            <a:endParaRPr sz="20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57800" y="226695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主导航出现“智搭”，侧边栏包含新应用、导入、我的应用、部署。</a:t>
            </a:r>
            <a:endParaRPr sz="157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5257800" y="2838450"/>
            <a:ext cx="59055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2" name="矩形 11"/>
          <p:cNvSpPr>
            <a:spLocks noGrp="1"/>
          </p:cNvSpPr>
          <p:nvPr/>
        </p:nvSpPr>
        <p:spPr>
          <a:xfrm>
            <a:off x="5257800" y="30099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能力覆盖</a:t>
            </a:r>
            <a:endParaRPr sz="20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57800" y="346710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支持灵感探索、应用开发、AI 应用、轻型业务系统和团队协作工具等方向。</a:t>
            </a:r>
            <a:endParaRPr sz="157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5257800" y="4038600"/>
            <a:ext cx="59055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5" name="矩形 14"/>
          <p:cNvSpPr>
            <a:spLocks noGrp="1"/>
          </p:cNvSpPr>
          <p:nvPr/>
        </p:nvSpPr>
        <p:spPr>
          <a:xfrm>
            <a:off x="5257800" y="42100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0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交付价值</a:t>
            </a:r>
            <a:endParaRPr sz="20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57800" y="466725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把演示、内部工具、客户样板和轻量业务系统快速转成可操作界面。</a:t>
            </a:r>
            <a:endParaRPr sz="157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5257800" y="5238750"/>
            <a:ext cx="59055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33400" y="419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 模式研发中，预计下周四上测试环境</a:t>
            </a:r>
            <a:endParaRPr sz="35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06680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类 WorkBuddy 的工作学习入口，面向任务处理、技能调用、连接器和项目资料。</a:t>
            </a:r>
            <a:endParaRPr sz="16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362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39500" y="6362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8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1771650"/>
            <a:ext cx="4324350" cy="3543300"/>
          </a:xfrm>
          <a:prstGeom prst="roundRect">
            <a:avLst>
              <a:gd name="adj" fmla="val 1613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0955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研发状态</a:t>
            </a:r>
            <a:endParaRPr sz="21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419350" y="2095500"/>
            <a:ext cx="914400" cy="28575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514600" y="214312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研发中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25717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预计 2026-09-10 左右上测试环境</a:t>
            </a:r>
            <a:endParaRPr sz="18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857250" y="3124200"/>
            <a:ext cx="333375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857250" y="34099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能力方向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57250" y="3829050"/>
            <a:ext cx="323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新工作任务、代码开发、定时任务、空间、智能体/技能/连接器、资料库统一进入工作学习模式。</a:t>
            </a:r>
            <a:endParaRPr sz="1575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7250" y="4819650"/>
            <a:ext cx="3276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测试关注：任务入口完整性、连接器可用性、项目资料调用和测试环境稳定性。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276850" y="1771650"/>
            <a:ext cx="6381750" cy="4038600"/>
          </a:xfrm>
          <a:prstGeom prst="roundRect">
            <a:avLst>
              <a:gd name="adj" fmla="val 1415"/>
            </a:avLst>
          </a:prstGeom>
          <a:solidFill>
            <a:srgbClr val="F7F8FA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4795" y="1943100"/>
            <a:ext cx="584586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533400" y="41910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5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下周把上线能力打通成演示、测试与试用链路</a:t>
            </a:r>
            <a:endParaRPr sz="35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06680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围绕稳定性、口径、样板和 AI 模式测试四件事推进。</a:t>
            </a:r>
            <a:endParaRPr sz="16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6362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内部周会 | 2026-09-03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239500" y="6362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9</a:t>
            </a:r>
            <a:endParaRPr sz="1125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1809750"/>
            <a:ext cx="2571750" cy="209550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21145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功能联调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781300"/>
            <a:ext cx="2057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客户端权限、浏览器兜底、视频导出耗时和进度反馈。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42950" y="3524250"/>
            <a:ext cx="876300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3571875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优先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09950" y="1809750"/>
            <a:ext cx="2571750" cy="2095500"/>
          </a:xfrm>
          <a:prstGeom prst="roundRect">
            <a:avLst>
              <a:gd name="adj" fmla="val 2727"/>
            </a:avLst>
          </a:prstGeom>
          <a:solidFill>
            <a:srgbClr val="DDEFF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619500" y="21145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 模式测试环境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2781300"/>
            <a:ext cx="2057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预计 2026-09-10 左右上测试环境。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3619500" y="3524250"/>
            <a:ext cx="876300" cy="28575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714750" y="3571875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测试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286500" y="1809750"/>
            <a:ext cx="2571750" cy="209550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96050" y="21145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试用套餐口径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96050" y="2781300"/>
            <a:ext cx="2057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把解决方案、套餐、租户流程做成可复用清单。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496050" y="3524250"/>
            <a:ext cx="876300" cy="28575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91300" y="3571875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同步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163050" y="1809750"/>
            <a:ext cx="2571750" cy="209550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72600" y="21145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虚拟课堂样板</a:t>
            </a:r>
            <a:endParaRPr sz="180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72600" y="2781300"/>
            <a:ext cx="20574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用一个课程主题打通案例、试题、训练反馈和视频导出。</a:t>
            </a:r>
            <a:endParaRPr sz="135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372600" y="3524250"/>
            <a:ext cx="876300" cy="285750"/>
          </a:xfrm>
          <a:prstGeom prst="roundRect">
            <a:avLst>
              <a:gd name="adj" fmla="val 20000"/>
            </a:avLst>
          </a:prstGeom>
          <a:solidFill>
            <a:srgbClr val="DDEFF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467850" y="3571875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125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样板</a:t>
            </a:r>
            <a:endParaRPr sz="1125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44767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主要风险</a:t>
            </a:r>
            <a:endParaRPr sz="2250" b="1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533400" y="5048250"/>
            <a:ext cx="2571750" cy="55245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04850" y="52006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客户端权限稳定性</a:t>
            </a:r>
            <a:endParaRPr sz="150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3352800" y="5048250"/>
            <a:ext cx="2571750" cy="55245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524250" y="52006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 模式测试环境稳定性</a:t>
            </a:r>
            <a:endParaRPr sz="150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172200" y="5048250"/>
            <a:ext cx="2571750" cy="55245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343650" y="52006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视频导出耗时</a:t>
            </a:r>
            <a:endParaRPr sz="150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991600" y="5048250"/>
            <a:ext cx="2571750" cy="552450"/>
          </a:xfrm>
          <a:prstGeom prst="roundRect">
            <a:avLst>
              <a:gd name="adj" fmla="val 10345"/>
            </a:avLst>
          </a:prstGeom>
          <a:solidFill>
            <a:srgbClr val="F7F8FA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163050" y="52006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>
                <a:solidFill>
                  <a:srgbClr val="0F172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套餐边界口径统一</a:t>
            </a:r>
            <a:endParaRPr sz="1500">
              <a:solidFill>
                <a:srgbClr val="0F172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2211</Words>
  <Application>WPS 表格</Application>
  <PresentationFormat>Converted Presentation</PresentationFormat>
  <Paragraphs>298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张洪磊</cp:lastModifiedBy>
  <cp:revision>30</cp:revision>
  <dcterms:created xsi:type="dcterms:W3CDTF">2026-09-04T09:32:56Z</dcterms:created>
  <dcterms:modified xsi:type="dcterms:W3CDTF">2026-09-04T09:32:56Z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ADB055991DFFF8AF6B899A6A4BFEE887_42</vt:lpwstr>
  </property>
</Properties>
</file>