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5487b90557476f" /><Relationship Type="http://schemas.openxmlformats.org/officeDocument/2006/relationships/extended-properties" Target="/docProps/app.xml" Id="Rbac6cd19134641bb" /><Relationship Type="http://schemas.openxmlformats.org/officeDocument/2006/relationships/officeDocument" Target="/ppt/presentation.xml" Id="R8e50436aedf5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f670a25dc48b5"/>
  </p:sldMasterIdLst>
  <p:notesMasterIdLst>
    <p:notesMasterId xmlns:r="http://schemas.openxmlformats.org/officeDocument/2006/relationships" r:id="Rab62164cf5194ef7"/>
  </p:notesMasterIdLst>
  <p:sldIdLst>
    <p:sldId xmlns:r="http://schemas.openxmlformats.org/officeDocument/2006/relationships" id="256" r:id="R2f0d79c7139848fe"/>
    <p:sldId xmlns:r="http://schemas.openxmlformats.org/officeDocument/2006/relationships" id="257" r:id="R7c19d03e5af64aac"/>
    <p:sldId xmlns:r="http://schemas.openxmlformats.org/officeDocument/2006/relationships" id="258" r:id="R6f059787f28c4cc6"/>
    <p:sldId xmlns:r="http://schemas.openxmlformats.org/officeDocument/2006/relationships" id="259" r:id="Ra7f12f27170c4404"/>
    <p:sldId xmlns:r="http://schemas.openxmlformats.org/officeDocument/2006/relationships" id="260" r:id="R6a2924a9c4fa4079"/>
    <p:sldId xmlns:r="http://schemas.openxmlformats.org/officeDocument/2006/relationships" id="261" r:id="R0f73607d2bed444c"/>
    <p:sldId xmlns:r="http://schemas.openxmlformats.org/officeDocument/2006/relationships" id="262" r:id="R8f1bb8367017450e"/>
    <p:sldId xmlns:r="http://schemas.openxmlformats.org/officeDocument/2006/relationships" id="263" r:id="R3e5fab50c5e249fa"/>
    <p:sldId xmlns:r="http://schemas.openxmlformats.org/officeDocument/2006/relationships" id="264" r:id="R16d9a7661f5346f8"/>
    <p:sldId xmlns:r="http://schemas.openxmlformats.org/officeDocument/2006/relationships" id="265" r:id="R3f2d3906e1134ba1"/>
    <p:sldId xmlns:r="http://schemas.openxmlformats.org/officeDocument/2006/relationships" id="266" r:id="R49338baf0d43434e"/>
    <p:sldId xmlns:r="http://schemas.openxmlformats.org/officeDocument/2006/relationships" id="267" r:id="Rad3b2113e16e492a"/>
    <p:sldId xmlns:r="http://schemas.openxmlformats.org/officeDocument/2006/relationships" id="268" r:id="R45cc974cdad54463"/>
    <p:sldId xmlns:r="http://schemas.openxmlformats.org/officeDocument/2006/relationships" id="269" r:id="R74543d7b815b4736"/>
    <p:sldId xmlns:r="http://schemas.openxmlformats.org/officeDocument/2006/relationships" id="270" r:id="R0ebf13c555ae4a7a"/>
    <p:sldId xmlns:r="http://schemas.openxmlformats.org/officeDocument/2006/relationships" id="271" r:id="Re8876866e67f4637"/>
    <p:sldId xmlns:r="http://schemas.openxmlformats.org/officeDocument/2006/relationships" id="272" r:id="R1fee47434039477d"/>
    <p:sldId xmlns:r="http://schemas.openxmlformats.org/officeDocument/2006/relationships" id="273" r:id="R92eb4c20a19241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42a0620594a4a" /><Relationship Type="http://schemas.openxmlformats.org/officeDocument/2006/relationships/slideMaster" Target="/ppt/slideMasters/slideMaster1.xml" Id="Rba9f670a25dc48b5" /><Relationship Type="http://schemas.openxmlformats.org/officeDocument/2006/relationships/notesMaster" Target="/ppt/notesMasters/notesMaster1.xml" Id="Rab62164cf5194ef7" /><Relationship Type="http://schemas.openxmlformats.org/officeDocument/2006/relationships/presProps" Target="/ppt/presProps.xml" Id="Rea0591ab9ec84c46" /><Relationship Type="http://schemas.openxmlformats.org/officeDocument/2006/relationships/viewProps" Target="/ppt/viewProps.xml" Id="R34d2f2211e8443ab" /><Relationship Type="http://schemas.openxmlformats.org/officeDocument/2006/relationships/tableStyles" Target="/ppt/tableStyles.xml" Id="R9cf291f7799a4cd1" /><Relationship Type="http://schemas.openxmlformats.org/officeDocument/2006/relationships/slide" Target="/ppt/slides/slide1.xml" Id="R2f0d79c7139848fe" /><Relationship Type="http://schemas.openxmlformats.org/officeDocument/2006/relationships/slide" Target="/ppt/slides/slide2.xml" Id="R7c19d03e5af64aac" /><Relationship Type="http://schemas.openxmlformats.org/officeDocument/2006/relationships/slide" Target="/ppt/slides/slide3.xml" Id="R6f059787f28c4cc6" /><Relationship Type="http://schemas.openxmlformats.org/officeDocument/2006/relationships/slide" Target="/ppt/slides/slide4.xml" Id="Ra7f12f27170c4404" /><Relationship Type="http://schemas.openxmlformats.org/officeDocument/2006/relationships/slide" Target="/ppt/slides/slide5.xml" Id="R6a2924a9c4fa4079" /><Relationship Type="http://schemas.openxmlformats.org/officeDocument/2006/relationships/slide" Target="/ppt/slides/slide6.xml" Id="R0f73607d2bed444c" /><Relationship Type="http://schemas.openxmlformats.org/officeDocument/2006/relationships/slide" Target="/ppt/slides/slide7.xml" Id="R8f1bb8367017450e" /><Relationship Type="http://schemas.openxmlformats.org/officeDocument/2006/relationships/slide" Target="/ppt/slides/slide8.xml" Id="R3e5fab50c5e249fa" /><Relationship Type="http://schemas.openxmlformats.org/officeDocument/2006/relationships/slide" Target="/ppt/slides/slide9.xml" Id="R16d9a7661f5346f8" /><Relationship Type="http://schemas.openxmlformats.org/officeDocument/2006/relationships/slide" Target="/ppt/slides/slide10.xml" Id="R3f2d3906e1134ba1" /><Relationship Type="http://schemas.openxmlformats.org/officeDocument/2006/relationships/slide" Target="/ppt/slides/slide11.xml" Id="R49338baf0d43434e" /><Relationship Type="http://schemas.openxmlformats.org/officeDocument/2006/relationships/slide" Target="/ppt/slides/slide12.xml" Id="Rad3b2113e16e492a" /><Relationship Type="http://schemas.openxmlformats.org/officeDocument/2006/relationships/slide" Target="/ppt/slides/slide13.xml" Id="R45cc974cdad54463" /><Relationship Type="http://schemas.openxmlformats.org/officeDocument/2006/relationships/slide" Target="/ppt/slides/slide14.xml" Id="R74543d7b815b4736" /><Relationship Type="http://schemas.openxmlformats.org/officeDocument/2006/relationships/slide" Target="/ppt/slides/slide15.xml" Id="R0ebf13c555ae4a7a" /><Relationship Type="http://schemas.openxmlformats.org/officeDocument/2006/relationships/slide" Target="/ppt/slides/slide16.xml" Id="Re8876866e67f4637" /><Relationship Type="http://schemas.openxmlformats.org/officeDocument/2006/relationships/slide" Target="/ppt/slides/slide17.xml" Id="R1fee47434039477d" /><Relationship Type="http://schemas.openxmlformats.org/officeDocument/2006/relationships/slide" Target="/ppt/slides/slide18.xml" Id="R92eb4c20a192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2c5097c3e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b3abe7107423c" /><Relationship Type="http://schemas.openxmlformats.org/officeDocument/2006/relationships/notesMaster" Target="/ppt/notesMasters/notesMaster1.xml" Id="Re905fda76fef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13190862f47a8" /><Relationship Type="http://schemas.openxmlformats.org/officeDocument/2006/relationships/notesMaster" Target="/ppt/notesMasters/notesMaster1.xml" Id="R92d39e626b6a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2b35a7b0b4fc2" /><Relationship Type="http://schemas.openxmlformats.org/officeDocument/2006/relationships/notesMaster" Target="/ppt/notesMasters/notesMaster1.xml" Id="Rd4e0f2828ef949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e2e2d9c5c24874" /><Relationship Type="http://schemas.openxmlformats.org/officeDocument/2006/relationships/notesMaster" Target="/ppt/notesMasters/notesMaster1.xml" Id="R0847689a4059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12bb27412422e" /><Relationship Type="http://schemas.openxmlformats.org/officeDocument/2006/relationships/notesMaster" Target="/ppt/notesMasters/notesMaster1.xml" Id="R0b336796f605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a4c0a6c0c94fa3" /><Relationship Type="http://schemas.openxmlformats.org/officeDocument/2006/relationships/notesMaster" Target="/ppt/notesMasters/notesMaster1.xml" Id="R1090f3f9890640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1a3cc508b340ad" /><Relationship Type="http://schemas.openxmlformats.org/officeDocument/2006/relationships/notesMaster" Target="/ppt/notesMasters/notesMaster1.xml" Id="R2ef0ee119f8d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0229ca1c334a6f" /><Relationship Type="http://schemas.openxmlformats.org/officeDocument/2006/relationships/notesMaster" Target="/ppt/notesMasters/notesMaster1.xml" Id="R99fca7c3a9c54a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58069994524bf6" /><Relationship Type="http://schemas.openxmlformats.org/officeDocument/2006/relationships/notesMaster" Target="/ppt/notesMasters/notesMaster1.xml" Id="Rd4d1e65c35f04a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5570b577714edc" /><Relationship Type="http://schemas.openxmlformats.org/officeDocument/2006/relationships/notesMaster" Target="/ppt/notesMasters/notesMaster1.xml" Id="Rda9cb9a14c70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e302d710b44d48" /><Relationship Type="http://schemas.openxmlformats.org/officeDocument/2006/relationships/notesMaster" Target="/ppt/notesMasters/notesMaster1.xml" Id="R2caded3390c547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2511a38aaa423c" /><Relationship Type="http://schemas.openxmlformats.org/officeDocument/2006/relationships/notesMaster" Target="/ppt/notesMasters/notesMaster1.xml" Id="Rcf24c5051a0448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a280c3ac2c40a8" /><Relationship Type="http://schemas.openxmlformats.org/officeDocument/2006/relationships/notesMaster" Target="/ppt/notesMasters/notesMaster1.xml" Id="R47b0a008c76145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29e3136c0645aa" /><Relationship Type="http://schemas.openxmlformats.org/officeDocument/2006/relationships/notesMaster" Target="/ppt/notesMasters/notesMaster1.xml" Id="R3cf1401e3e6441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af52b7c5f6449f" /><Relationship Type="http://schemas.openxmlformats.org/officeDocument/2006/relationships/notesMaster" Target="/ppt/notesMasters/notesMaster1.xml" Id="Rea221991df8648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0adfe90c9d4f52" /><Relationship Type="http://schemas.openxmlformats.org/officeDocument/2006/relationships/notesMaster" Target="/ppt/notesMasters/notesMaster1.xml" Id="Rb93e072a2bb742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d8694df0ce432b" /><Relationship Type="http://schemas.openxmlformats.org/officeDocument/2006/relationships/notesMaster" Target="/ppt/notesMasters/notesMaster1.xml" Id="R42c9f471bd1340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ad84589d874e6b" /><Relationship Type="http://schemas.openxmlformats.org/officeDocument/2006/relationships/notesMaster" Target="/ppt/notesMasters/notesMaster1.xml" Id="Re1f3dc0175b4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49f937c40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65b80cadf44be" /><Relationship Type="http://schemas.openxmlformats.org/officeDocument/2006/relationships/slideLayout" Target="/ppt/slideLayouts/slideLayout1.xml" Id="Rc8bba84ef943493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ba84ef943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d2dad5c140c4" /><Relationship Type="http://schemas.openxmlformats.org/officeDocument/2006/relationships/notesSlide" Target="/ppt/notesSlides/notesSlide1.xml" Id="Rfb911915943e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24fe3e91418e" /><Relationship Type="http://schemas.openxmlformats.org/officeDocument/2006/relationships/notesSlide" Target="/ppt/notesSlides/notesSlide2.xml" Id="R36ef7f0ed11b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471359a764e82" /><Relationship Type="http://schemas.openxmlformats.org/officeDocument/2006/relationships/notesSlide" Target="/ppt/notesSlides/notesSlide3.xml" Id="R8e14ce6667e446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fd99c5174969" /><Relationship Type="http://schemas.openxmlformats.org/officeDocument/2006/relationships/notesSlide" Target="/ppt/notesSlides/notesSlide4.xml" Id="R668de448bb7d45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09ac1bbfc41e2" /><Relationship Type="http://schemas.openxmlformats.org/officeDocument/2006/relationships/notesSlide" Target="/ppt/notesSlides/notesSlide5.xml" Id="Rb365668a2c58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e8122c1f4b2d" /><Relationship Type="http://schemas.openxmlformats.org/officeDocument/2006/relationships/notesSlide" Target="/ppt/notesSlides/notesSlide6.xml" Id="Rddcbb21f80e844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6f1ce26114006" /><Relationship Type="http://schemas.openxmlformats.org/officeDocument/2006/relationships/notesSlide" Target="/ppt/notesSlides/notesSlide7.xml" Id="R3aa857f7d44c45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30a6e49be4ea8" /><Relationship Type="http://schemas.openxmlformats.org/officeDocument/2006/relationships/notesSlide" Target="/ppt/notesSlides/notesSlide8.xml" Id="Rc04dc087c8ec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7a168c4234005" /><Relationship Type="http://schemas.openxmlformats.org/officeDocument/2006/relationships/notesSlide" Target="/ppt/notesSlides/notesSlide9.xml" Id="R9508f5718def44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e493702aa4824" /><Relationship Type="http://schemas.openxmlformats.org/officeDocument/2006/relationships/notesSlide" Target="/ppt/notesSlides/notesSlide10.xml" Id="R71c100301b694b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78d1d1c904cb7" /><Relationship Type="http://schemas.openxmlformats.org/officeDocument/2006/relationships/notesSlide" Target="/ppt/notesSlides/notesSlide11.xml" Id="Rff43f39a36b14a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bb743a492435c" /><Relationship Type="http://schemas.openxmlformats.org/officeDocument/2006/relationships/notesSlide" Target="/ppt/notesSlides/notesSlide12.xml" Id="R93fb1d57183741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56b1314b40f2" /><Relationship Type="http://schemas.openxmlformats.org/officeDocument/2006/relationships/notesSlide" Target="/ppt/notesSlides/notesSlide13.xml" Id="R649890cd06094e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4ff0fbea4ae3" /><Relationship Type="http://schemas.openxmlformats.org/officeDocument/2006/relationships/notesSlide" Target="/ppt/notesSlides/notesSlide14.xml" Id="R1543fe9ae0ae4c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44c782794b44" /><Relationship Type="http://schemas.openxmlformats.org/officeDocument/2006/relationships/notesSlide" Target="/ppt/notesSlides/notesSlide15.xml" Id="Rc2fce96aa77547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e36667bed4891" /><Relationship Type="http://schemas.openxmlformats.org/officeDocument/2006/relationships/notesSlide" Target="/ppt/notesSlides/notesSlide16.xml" Id="Rfbec164ac2a74d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7ebea6834423" /><Relationship Type="http://schemas.openxmlformats.org/officeDocument/2006/relationships/notesSlide" Target="/ppt/notesSlides/notesSlide17.xml" Id="Rb622fbd3c8624e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e71b26bc04112" /><Relationship Type="http://schemas.openxmlformats.org/officeDocument/2006/relationships/notesSlide" Target="/ppt/notesSlides/notesSlide18.xml" Id="R7763f7776b2547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C6A9D0-D45E-49AE-8B36-F92FF0C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81050"/>
            <a:ext cx="75247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果仁培训产品蓝图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A3018DB-945D-446F-B6E3-4B916E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76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原生底座上的培训业务模式运营平台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64738-2FC1-4EF4-93BF-EA22B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90900"/>
            <a:ext cx="657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果仁不改变课程学习、研讨、评课、工作坊、客户赋能等业务本身，而是以空间为主承载体，把人员、资源、流程、数据和 Lucky 智能体组织成 AI 原生业务模式，让既有业务从项目交付走向持续运营、证据沉淀和效果增长。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60966-F492-4B27-B16D-02399CB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40114A-E347-418D-988E-57EA58F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90512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业务模式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数据闭环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C3838F-7B98-4B6B-A0FB-2783514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044901-89FD-4B60-B019-17848E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724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业务不被改写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模式 AI 原生化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632702-285F-4632-9685-D48069B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43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6FED4-C71C-4503-BD7F-ACCD0B4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041A7-3AF0-48FA-9FC7-69ED551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528DA2-0B2E-4007-8177-C906ACC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6A98F3-4650-4837-A2D8-6697E91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9FB9D9-B08E-4F46-9CCD-BC44E9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4C9826-C02F-45A0-BB64-C0E5A65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产品定位与目标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838324-C462-4C07-AFEF-6B053DE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为什么果仁关注 AI 原生业务模式，而不是改写业务定义。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D6D054-B7D2-4E1A-988B-259A445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DE51EE-5400-478D-9544-F243549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总体架构与子系统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58460-4286-4C5D-ABC2-AB15FA9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培训信息管理、培训过程运营、培训效果评估三大子系统。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49ED5-77DF-4F6E-995C-90EB299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57A412-D097-455D-AF31-F543180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业务闭环与数据模型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57CAC3-5AB9-4380-9E3F-25A104A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业务空间、活动、参与者、证据和报告如何组成 AI 原生模式。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98B8A-E2EC-4F77-A818-DDF697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16CE7-9DCD-4595-A826-B98A679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AI 原生能力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087ADC-B613-4682-9DAB-F31B942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空间方案、报名问答、研讨纪要、评课分析和组织报告。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B6C113-75E0-45DB-869F-0A7B2EC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E21889-EADA-4B47-B0BD-1BB144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交付与演进路径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092266-8FD4-4B75-9F6C-D6187A3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解决方案、套餐、租户、空间模板和阶段路线图。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936A10-B845-45B6-A5FF-DCBFF6A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770122-8A45-46A8-912C-6D24640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BC9A485-0B3C-4A39-91A9-AFDC2A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用果仁底座把培训与发展业务升级为以空间承载、AI 协同、数据闭环驱动的业务模式。</a:t>
            </a:r>
          </a:p>
        </p:txBody>
      </p:sp>
    </p:spTree>
    <p:extLst>
      <p:ext uri="{BB962C8B-B14F-4D97-AF65-F5344CB8AC3E}">
        <p14:creationId xmlns:p14="http://schemas.microsoft.com/office/powerpoint/2010/main" val="181010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C67C41-E56E-4C2D-85C1-A5C5436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B5E36B-E4B1-4A8E-B782-9CFC7B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果仁定义的是 AI 原生业务模式，而不是业务本身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F3FDA4-E9B6-4657-9B3D-29DEF1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CA37E8-8A24-40BD-AC7C-0669E5E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00F22E-AA46-412E-B23A-92659C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业务不变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55896-F103-43E4-8FE9-6DD098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0006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课程学习、研讨、评课、工作坊、客户赋能等业务已有清晰场景；果仁让这些业务进入空间、数据和 AI 协同的运营模式。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24692A-EFC7-4032-B01F-8494C78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平台目标是把既有业务的报名、参与、互动、成果、证明和报告转化为可持续运营资产。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202CDFA-5BCC-4149-AC6F-38E15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8B51A2-ED9F-41D0-9713-D3E7C93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模式资产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0D820E0-674B-4AFC-A72C-E8FAC61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沉淀发展项目、业务空间、活动类型、参与者、来源组织、专家和成果要求。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960F71-FD98-421B-A977-D1753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E9C11C-FE6A-4ED6-A8B4-59AF89C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AB3DC0-1B5D-4757-943D-B9B4561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空间承载人员、资源、流程、权限、任务、互动、成果和报告。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4A804C-8D5F-4373-B750-E983E53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C03295F-3459-46C0-BED7-A183F6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协同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869738-D6D9-45E6-9A68-B7E56A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支持空间方案、报名问答、纪要整理、评课分析和证据归档。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6CBA9F-78DB-446D-9A6E-496F99E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7DB32A-F0FB-4732-A98A-BA69779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模式迭代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D52D33-DA4A-4F9A-A136-543C4F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效果评估反哺空间模板、能力模型、组织报告、复训建议和下一轮运营。</a:t>
            </a:r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B82964-40E1-4C6C-8C9E-F9F32DC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总体架构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C52530-DAD4-4C9A-97C8-A67779B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原生业务模式以空间为载体连接业务与底座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447CA5-FFB3-4109-863A-40197E9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8E5834-DFC1-4A4B-98B3-7446C3B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D29CFE-CBE0-4CFE-92C7-B590A70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63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面向课程、研讨、评课、工作坊、客户/伙伴赋能和公开活动，业务形态不变；果仁把业务入口、空间、AI 能力和底座能力串成可运营、可度量、可复用的业务模式。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7A8AC0-A8B3-4E15-BA38-4DB4182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8C787D-DEAE-4E2D-BFC4-0123699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业务场景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32A70D23-71F8-4741-B21F-212737F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DA7CC1-1DFC-488D-BF72-1703439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3AEF9A-D967-4399-8912-424C3DF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E5DD8A2F-E467-439C-9EB7-CD39002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93F15D-48D4-4220-9B67-C1C3DAE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219FB3-A687-4897-A94A-3910454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协同层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559AD2F-73C9-4413-BD9F-D1F3E3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B25D8A-BEB5-4DD4-97EB-28812F1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CB3CDF-A8CA-4CC9-9982-537B462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果仁底座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DBD47C-829E-492D-B985-BC566CE7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1C2CE1-AD48-4553-B061-C344F4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22A5FB1-0F8B-43AB-AEB3-BDD99C7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沉淀空间资料、课程、课件、案例、评课记录、活动资料、研讨纪要和成果，支撑检索、问答与复用。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C364131-C0FE-4506-9FFD-FA7C224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786FBBF-D10A-41E0-89B0-1D56156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43029D-95E9-4500-A5F4-B7A7A2A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作为主承载体，空间让既有业务拥有人员、资源、任务、互动、证据和报告。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9FD481-2416-44C6-88C8-40A0B02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D6ADBA-C21F-4280-9316-8F1C2E7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C5C385-EDAF-4EA8-9E84-C9AD3CE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2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为管理员、主持人、讲师、专家、参与者和运营人员提供智能助手矩阵。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C435B9-B585-48F9-9F05-B1F925D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底座能力不是替代业务，而是通过空间进入业务运行现场：组织人员、资源、流程、数据和 AI。</a:t>
            </a:r>
          </a:p>
        </p:txBody>
      </p:sp>
    </p:spTree>
    <p:extLst>
      <p:ext uri="{BB962C8B-B14F-4D97-AF65-F5344CB8AC3E}">
        <p14:creationId xmlns:p14="http://schemas.microsoft.com/office/powerpoint/2010/main" val="140810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29BB91-60A3-4448-8C02-02B369C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80596C-DC9F-4CF7-832A-C06B79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三大子系统共同支撑 AI 原生业务模式运行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ABCAC4-D3D3-4904-A2DD-0BAAC1D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1FF774-98D2-4343-A4EB-5B26D24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DC9512-DE58-46DF-94F8-517A02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4A8F60-06FD-47AA-91CA-7D556F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E7EF2A-23D4-40F1-A0C7-84AA90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6C8C0B-69A4-48E1-81AB-EAB90B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19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82CDB8-D738-4E72-B31F-BE24968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在空间中配置业务目标、参与对象、来源组织、资源、规则和成果要求。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BD45B9-926A-4385-AF0F-1819DD3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D56D04-1536-4CFC-A812-9F673AF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5D5886-3299-4378-9531-5CE6FB3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209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让课程、研讨、评课、工作坊和公开活动在空间中被触达、记录和协同。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1A28A-1BE0-4425-9173-807BB08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活动中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565800-F3EC-4E9D-8BC3-4201FE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E7EA16-B014-490B-AB8E-BA61B01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按空间汇总业务结果、参与质量、组织报告、复训建议、转化线索和改进行动。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61FC7B-0366-42DF-87F3-6666BC9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活动后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4D1EE6FB-7CFA-427C-BCEC-F91F88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4EF3D742-EB42-4D82-8D65-DD66A06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F2AD04-8B74-45AE-9433-E43E22F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业务进入空间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E2706E9-3B99-4417-84ED-B969649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数据反哺模式</a:t>
            </a:r>
          </a:p>
        </p:txBody>
      </p:sp>
    </p:spTree>
    <p:extLst>
      <p:ext uri="{BB962C8B-B14F-4D97-AF65-F5344CB8AC3E}">
        <p14:creationId xmlns:p14="http://schemas.microsoft.com/office/powerpoint/2010/main" val="2551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信息管理把既有业务配置成可复用的空间模型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维护业务目标、周期、负责人、对象范围、参与者属性、启用模块和关联项目。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空间与人员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支持组织成员、外部参与者档案、来源组织、联系方式、报名渠道、导入和分组进入空间。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空间资源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按空间和参与者类型授权课程、议题、课件、案例、评课表、任务、标签和适用对象。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空间规则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配置空间报名审核、名额控制、参与条件、资料权限、证书/证明、提醒和合规边界。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输出统一业务模式台账：哪个业务进入哪个空间、谁以何种身份参与、完成什么过程、沉淀什么证据。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985812-ADB9-456F-9ED0-35289AE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847D03-BA29-461B-BBA4-B8F098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过程运营把业务现场变成 AI 可参与、可记录的空间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485809-83FA-4433-AACD-A0164F0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1173D4-C787-49B8-9036-EACE97B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39DDCBA-4C97-498C-95D1-CF3D907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C07029-E822-4178-B7F2-6F9ABD9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空间交付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BF1313-2677-4763-8177-C67B7F9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研习社、资料库、任务、问卷和账号体系接入空间，承载课程、研讨、评课、工作坊、客户赋能等业务。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E51BB19-C19B-49CC-8229-CB8FF41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BFB76A-0AC1-4947-80C5-CDF1B8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空间参与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D08118-9794-4EF8-933F-E069800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在空间内组织签到核验、发言互动、任务提交、资料授权、专家点评和阶段成果。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250B-6C69-4F98-9FFF-A2DC2AD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8F3C82-D803-441B-9A15-360F099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空间触达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9E6718-B9E3-47AA-9108-1DD20A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消息与任务提醒各类参与者，支持报名审核、空间看板、风险名单和运营台账。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72B410-3ACB-4010-B9E9-CCEDBF7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C40177-D14D-466C-838E-89B89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AI 陪伴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FDCD92-451D-407A-B00E-02017B1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活动助手在空间内答疑、生成纪要、分析评课、整理问卷和证明材料。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89248-387C-46CC-8565-BD39643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3E798-89CD-4714-A3FF-31D2A7F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关键不是创造新业务，而是让每类业务拥有一个可运营空间：可准入、可授权、可记录、可评价、可沉淀。</a:t>
            </a:r>
          </a:p>
        </p:txBody>
      </p:sp>
    </p:spTree>
    <p:extLst>
      <p:ext uri="{BB962C8B-B14F-4D97-AF65-F5344CB8AC3E}">
        <p14:creationId xmlns:p14="http://schemas.microsoft.com/office/powerpoint/2010/main" val="235758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0A572-C97E-4474-93BE-08410B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F12FB-00E8-4F15-87E8-F043590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效果评估把空间数据转化为业务模式优化依据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B1B5EF-B471-47A6-BECB-FB17E66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59E75B4-EC59-4940-96CE-C90F5C6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0B3215-8BA2-44FE-ADEC-C1ACCA3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评估框架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80E0B0-0A5B-4E4F-A065-7BA8360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64481-3B98-4077-9195-DD653EB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反应层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7EAEB-B887-49E5-9377-042126C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满意度、活动评价、讲师/专家评价、反馈问卷和问题建议。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67C1D5-F50F-414F-995D-66A5C0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DEB59B-D57C-420A-ADBE-E4176C2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BFFD77-64B1-4721-8EDD-E3B48A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知识掌握、案例理解、任务完成、观点表达、能力达成和完成率。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0AF1D1-7CA5-44B9-8BCC-0B5945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F4B743-6602-49F4-842B-2127F4C6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行为层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B9A3DF8-0563-40FE-A33A-E5C19CF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训后任务、场景应用、主管/客户评价、专家评审和同伴互评。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6A09B89-EF55-402B-8B13-17ECAF2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2261C7-DCE8-43B2-AEE3-F5D85B9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结果层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6607EA-33F6-4B58-BADD-DC9CBC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组织报告、空间复盘、转化线索、复训建议、业务改善和知识资产。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362A027-79C8-4C49-BD76-67B5DDD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01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DA5CFE-5174-40C2-A00B-D2ADA05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381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效果评估的价值，是把业务现场数据转化为个人证明、客户报告、改进建议、资源复用和模式迭代。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8A6984-5BCC-4AC5-BE08-2683926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4 层评估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648FD11-D56F-4FE3-88E8-F91F450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从空间反馈到模式优化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4B50E2-EC9D-4F5D-9E53-BA8AFB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531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4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个人、空间、项目、组织/客户四类报告</a:t>
            </a:r>
          </a:p>
        </p:txBody>
      </p:sp>
    </p:spTree>
    <p:extLst>
      <p:ext uri="{BB962C8B-B14F-4D97-AF65-F5344CB8AC3E}">
        <p14:creationId xmlns:p14="http://schemas.microsoft.com/office/powerpoint/2010/main" val="88784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E07C92-8E27-4EFC-BCB1-8C61C0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D9619A-F3A5-4A18-B9C9-74D784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原生业务模式让培训业务从项目交付走向持续运营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96ECAA-E0B8-414F-9A7F-1971FE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F3E9F8-D85E-49D0-AA62-D488DB4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DBABC2-F905-41D0-BBBD-6EAB146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4D7EC4-23DF-4FF3-956E-AD27C05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需求识别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2B267AD4-5DBE-41BD-A32E-9935AB0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D56656-9EC3-4FFF-B59F-41B3968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FCC81B-3318-4B13-BB94-16D23CB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配置空间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2C1961F0-568F-4BB7-A0FB-2559CAC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A7030-0D78-4222-84A7-C969626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30E04D-9EF1-4415-88FF-28736BA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过程参与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0DC23A62-5ACC-480E-B89D-E0F5AE4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1E0586-FE2C-4A46-8406-7237FC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CAC4F1-E112-4539-843A-C1558DF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E053247-5596-4BC3-95AF-5AC552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活动前不改变业务场景，先把目标、对象、来源组织、资源、报名审核、名额、权限和智能体配置成空间模式。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E88B94F-918A-4BE1-B269-CEEB5FA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活动中在空间记录签到、互动、点评、任务、问卷、AI 使用和运营动作；活动后沉淀证明、报告、案例和复训建议。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E76A41-9C86-46F3-A9F7-305A201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8DF815-D513-47EA-AF50-55F707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1ED7A5-8F3A-4395-B72D-085508A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62588D-DB9E-461E-B08A-531539D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46CA0E8-354A-475B-A07C-B1D5E3E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C73FD-421A-4BC8-8D7A-F43FEAF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报名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E49D92E-B869-4EBF-8DDB-FAE543A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063027-8C2B-41BF-A0D6-D4DBD03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A530434-8D23-46EF-8FC2-A1902F5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2EE751-800E-4104-9FF7-5A4BB4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B952C08-9960-469E-9A30-CA7CA76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C5F8035-996F-43CB-9C09-50AE314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评价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3C2C31F-DA14-4059-8B9E-A49A219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DC4F7B6-E1BF-458A-9474-817C7C3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成果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9047D73-7265-448E-80DE-0132584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9ABFC3-2C12-4BB9-A94B-6D0B23C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</a:t>
            </a:r>
          </a:p>
        </p:txBody>
      </p:sp>
      <p:sp>
        <p:nvSpPr>
          <p:cNvPr id="3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887AD3D-E7D5-4099-8D69-A6EB6E4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流程节点-效果改进">
            <a:extLst xmlns:a="http://schemas.openxmlformats.org/drawingml/2006/main">
              <a:ext uri="{FF2B5EF4-FFF2-40B4-BE49-F238E27FC236}">
                <a16:creationId xmlns:a16="http://schemas.microsoft.com/office/drawing/2014/main" id="{446D60A3-4A18-41F9-84B4-55C91A0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流程文本-效果改进">
            <a:extLst xmlns:a="http://schemas.openxmlformats.org/drawingml/2006/main">
              <a:ext uri="{FF2B5EF4-FFF2-40B4-BE49-F238E27FC236}">
                <a16:creationId xmlns:a16="http://schemas.microsoft.com/office/drawing/2014/main" id="{6425A14C-B7A0-4DE8-BC1A-CB8F0D8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955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效果改进</a:t>
            </a:r>
          </a:p>
        </p:txBody>
      </p:sp>
    </p:spTree>
    <p:extLst>
      <p:ext uri="{BB962C8B-B14F-4D97-AF65-F5344CB8AC3E}">
        <p14:creationId xmlns:p14="http://schemas.microsoft.com/office/powerpoint/2010/main" val="365762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7AD117-CAB3-48C6-95A0-5C2CA79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核心对象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488235-5010-4D73-8BEA-1C8BB4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核心对象模型支撑 AI 原生业务模式运行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FE147A-1788-4659-9F22-448D112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828B8-B179-492A-A2FC-4F013B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5EC397-E672-419F-BB35-BBFA066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934069-DEFA-4978-B18C-0750D2B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4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Development Program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EF3A0C-490D-49C0-9EB4-ACF7A4D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 承接目标、周期、负责人、对象范围、业务属性和启用模块。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F66FA5-ACBA-4D64-B02F-907CF0B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982A19-0272-44EE-BF3B-51175B6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Business Space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9C8134-C8E6-4D76-B576-D4263D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业务空间 承接既有业务场景，配置人员、资源、流程、权限、AI 和过程数据。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A862E1-4849-43C2-8E79-5ECC15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F82C7D-9CCF-4A3F-847B-131FEF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Participant Record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47F38-4960-4077-A690-0B1A32A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参与者记录 区分组织成员与外部参与者，记录来源组织、报名、签到、互动、任务和成果。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2C67C4C-1037-42BF-A86A-891E9B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F5F8954-C151-47EC-900A-F87A124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0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Evidence &amp; Report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7B1E8B5-102B-4751-8CC6-5CB314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证明与报告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按个人、活动、项目、来源组织生成证书/证明、效果报告和改进建议。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45B7D-99C6-4470-B44E-8C0DBA8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业务不被改写，而是被装入空间模型。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E28F72-85DA-4090-81DF-B36E28E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626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377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参与者类型、来源组织、空间权限和证据沉淀，是跨组织参与的关键扩展。</a:t>
            </a:r>
          </a:p>
        </p:txBody>
      </p:sp>
    </p:spTree>
    <p:extLst>
      <p:ext uri="{BB962C8B-B14F-4D97-AF65-F5344CB8AC3E}">
        <p14:creationId xmlns:p14="http://schemas.microsoft.com/office/powerpoint/2010/main" val="1337357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98CFD8-C6EA-470F-A7AD-FB7099E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原生能力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16BB9D-7ECA-4398-8617-91CF704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围绕业务模式覆盖活动前、中、后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5A5CE-A619-4B69-9E95-CA5CBB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64EEB8-337F-4859-BA27-24761E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75843E-1B21-4D5D-9E81-A4B4884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37AA3-FBEE-48C9-8177-BC5AB34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活动策划助手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37357F-0B13-4D9B-8083-21A1EF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生成客户培训、伙伴赋能、认证活动、公开工作坊的空间模式和报名规则建议。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4A6943-9334-4EEB-B9CB-D689A27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37416D-31F4-4F61-B7C4-20A57B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报名问答助手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A2906F-AEA7-4557-BA78-9B46D9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回答空间介绍、报名条件、日程安排、资料权限和证书获取问题。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CDB309-7B8D-47CA-9C03-B767F4A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E6F5FA2-6E78-4865-99AD-BF82037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过程分析助手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B43F07-F192-4634-BDE0-180C3B2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整理空间中的研讨观点、评课意见、参与者互动和问卷反馈，识别低活跃风险。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596EE-3583-41B3-997D-EDE1C8B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B4F22-6728-4522-9CE8-905004A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客户报告助手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70EDC53-F17B-4C23-AF33-7D808BA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汇总空间参与记录、成果材料、满意度和完成率，生成个人证明与组织报告。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D55A-B384-48F4-A8F7-2DF614A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EF3D0E-239D-4987-9A29-F9BA8C8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1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0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输出作为业务模式运营建议稿进入人工确认；参与者评价、证书/证明、组织报告和数据结论保留人工审核。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116542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899CDD-80BF-4332-9E1B-80F55C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数据与分析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5584CE-043C-484A-9CD1-997437D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数据分析验证 AI 原生业务模式是否有效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0763D6-4FA9-4D42-A46E-BB6464A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6043DA-375F-4BD8-B477-0854E9C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0403E6-143C-4CDD-B8EC-2803EB5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6893E-69D5-4FDF-8B2E-638581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空间记录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6BD117B6-183C-458E-B722-EFBA604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265274-BBBA-43AC-B535-D3BD40B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A0E22C-7383-4FC0-8049-4A99916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指标计算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48013BA5-DF49-443C-9C99-5E307D7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69E8C3-A531-4D33-8502-9B77B21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AA1ADD-83C9-440F-ABB6-3F9668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客户报告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BE25CBB-C835-42A3-BF54-B18FE85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6C392F-88ED-4785-8B68-5D51E33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DDF41F-18DA-4AAE-98CB-70AB14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改进行动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55076-5BAE-4FF7-8D99-80F40F3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既有业务的参与者、来源组织、空间、报名、签到、互动、任务、成果、问卷、证书和 AI 使用记录统一归集，形成运营数据资产。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AAEE99-F6D6-4AB5-92CC-805884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D9E1E-CF55-4FC4-BDD4-3101D3E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F91180-79E5-4755-812C-78907AF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D1DC0-1794-4D1A-A4E8-B633B6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1BD375-C2CF-4D7A-89BD-4A9B05E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6AA548E-B56A-4C5C-AB66-CA752EF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B01FE1C-68FA-47DF-B6A6-079E651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5A8804-BF92-4C65-9433-F9C16C3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628781-27E0-4DD9-80BF-638FDE6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67FA7C-3B54-437E-8933-C5136F0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来源组织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E6C09C5-44BD-4F33-B0AF-8EB84AC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704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3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指标覆盖空间报名转化、到场率、完成率、互动质量、成果质量、满意度、组织报告和模式复用价值。</a:t>
            </a:r>
          </a:p>
        </p:txBody>
      </p:sp>
    </p:spTree>
    <p:extLst>
      <p:ext uri="{BB962C8B-B14F-4D97-AF65-F5344CB8AC3E}">
        <p14:creationId xmlns:p14="http://schemas.microsoft.com/office/powerpoint/2010/main" val="148202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2602DD-880E-4969-B819-9051B52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F4A11B-6CEF-48DD-A8C2-D745976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解决方案、套餐、租户和空间把 AI 原生模式产品化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3F683C-6F34-468E-9D93-146EAE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70F9F0-1533-441B-95EE-FC63F9D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916AB-CC65-4957-BBB2-01FD799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438B06-3CE9-45DA-B46B-E1441AF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F9F9E2-F910-4FEB-B7C9-1223AF4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定义服务场景和业务价值，并沉淀空间模式：组织学习、客户培训、伙伴赋能、认证活动、跨校教师研修、公开工作坊等。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E023AE-43EE-4D9B-BA94-BEDE3F6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AA3A17-F566-48AB-B6C1-CD3E40C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6BA735-0A52-4ADA-B0F4-83ED726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定义参与者规模、空间数、活动数、资料容量、AI 调用、报名审核、证书、报表和服务等级。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8F910C-EACC-4AF0-98F1-C62EA93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9FE403-DC98-4492-BE5C-BB0D7B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B5D84-8850-469F-918B-12CFF00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承接客户主体、组织架构、业务空间、外部来源组织、数据隔离、权限边界、服务周期和客户成功运营。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47E6C4-D5BC-4C7B-BEB9-47162D6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4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解决方案定义“服务谁和解决什么”，空间定义“如何运行 AI 原生模式”，套餐定义“按什么额度交付”。</a:t>
            </a:r>
          </a:p>
        </p:txBody>
      </p:sp>
    </p:spTree>
    <p:extLst>
      <p:ext uri="{BB962C8B-B14F-4D97-AF65-F5344CB8AC3E}">
        <p14:creationId xmlns:p14="http://schemas.microsoft.com/office/powerpoint/2010/main" val="80133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37F405-E560-4260-B01E-CCDA391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ECC312-ED01-45A7-843E-C04490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场景包不是重造场景，而是沉淀可复用空间模式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71566C-5E52-4327-A64A-DB924AA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7660A1-23C5-4F58-9A91-B53934A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4C014D-1432-4E5D-ACCE-B23C3E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典型场景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1B040D-2F0D-461E-BB0F-EB68D66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231CAE-A639-4464-A06B-020E87F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组织学习 / 岗位提升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8FF9FF-DD98-4AF1-9BA1-3B5AD83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面向本组织成员，承接新人上手、制度合规、复盘会、导师制、岗位实践和案例萃取，每类场景沉淀空间模式。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B72B89-0266-4382-9831-7850F01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00E0CE-38DA-4A3D-B749-4EFA16B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对外赋能 / 伙伴发展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DB0A08-9FC2-49DF-A1C9-44F6A9A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面向客户、伙伴、外校教师和专家社群，承接认证培训、公开工作坊、跨校教师研修、产品赋能和社群共学，并以空间运营。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9EE8AA-44D7-423A-B7EC-2E5CB6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184E3D-2C69-43BC-8CB1-055247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9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面向外部参与者的活动不需要另起一套主线；平台以空间模式承载准入、权限、证据、报告和复用资产。</a:t>
            </a:r>
          </a:p>
        </p:txBody>
      </p:sp>
    </p:spTree>
    <p:extLst>
      <p:ext uri="{BB962C8B-B14F-4D97-AF65-F5344CB8AC3E}">
        <p14:creationId xmlns:p14="http://schemas.microsoft.com/office/powerpoint/2010/main" val="181187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BD627-D5F6-4040-867F-D8E10C3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实施路线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71BC9A-84E2-4699-A8A5-DF808A3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从空间闭环到模式复制，分五阶段落地培训产品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0F10E7-D2D6-409D-BD1F-E7E5912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94A347-9772-4A5A-9FF3-70503AD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AECF60-953E-472E-AFB6-21A50F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路线图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C8CEB8-9C6C-47F2-8895-4C0908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1FE599-A4AE-4D70-8EA2-0E0AFE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V1 基础闭环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1218A3-DE49-4174-A5DD-304CAAB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3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项目、业务空间、内部成员、外部参与者、报名审核、问卷、证书/证明和台账。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0E1B55-BF39-4C49-AE05-D1ADCB3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358B7-475B-4D13-9E9B-9EE18F2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V2 AI 原生增强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E04C6DD-895B-49B0-A8EF-5AADC26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66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空间方案生成、报名问答、资料问答、研讨纪要、评课分析和运营预警。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74D9F-235D-473A-BBFB-28019D8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EE9E36-68D3-4976-9F9C-D587E9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V3 效果运营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A56C8E4-02FE-40B6-879C-34CB2D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空间前/后对比、客户/伙伴组织报告、转化线索、复训建议和驾驶舱。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215A30-234C-4328-AC96-C9C95E6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285AAA-BF78-468C-A55C-59EC578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V4 场景复制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D2C58A1-6CDD-48A1-B405-679A009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66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沉淀组织学习、客户培训、伙伴赋能、认证活动、教师研修等空间模式。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30BC2-970D-4EA5-97E9-35D870B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056F5C-7429-41E2-8A3B-C5118F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V5 商业化增长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59CA98E-2248-4CF6-821F-0ED736C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套餐、资源包、运营服务、Token 流量、专家服务和渠道合作。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67FE7E-8104-4CE8-A589-D934BF4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37F77B2-B936-4488-A7D4-3C20FC5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实施重点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B43872B-21A1-4B96-B770-5CDC54C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243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先跑通一个标准业务空间，再把报名、权限、数据、智能体和模板沉淀为可复制模式。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每个阶段都保留人工审核、数据隔离、成本监控和账号有效期。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056D5F7-E528-4B5E-B6B0-18C70AC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价值：让培训与发展活动从项目制人力驱动，升级为 AI 原生业务模式。</a:t>
            </a:r>
          </a:p>
        </p:txBody>
      </p:sp>
    </p:spTree>
    <p:extLst>
      <p:ext uri="{BB962C8B-B14F-4D97-AF65-F5344CB8AC3E}">
        <p14:creationId xmlns:p14="http://schemas.microsoft.com/office/powerpoint/2010/main" val="211776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AFE91-C5DB-4806-B18F-74CF969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商业化套件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239F66D-7E13-45EA-9925-9DBBC74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 AI 原生业务模式形成“平台 + 资源 + 服务 + 算力”的组合包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42B12F-19AD-4098-ABC2-9F95C60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58A598-445F-45F7-B2D3-7E20CB2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4D457B-DCAB-4BBC-858D-BBD65D1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套件结构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6CCF7C-F039-48BB-A08E-AFB7ADD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978A75-2723-43FA-9354-84FD1E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7C8A22-2034-4C19-80E9-9A48461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8768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租户、组织、外部人员、业务空间、资料库、研习社、任务、消息、问卷、证书和发展档案等基础能力。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D1BAFD-009A-4025-B6F0-B298CED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19BBBB-F2D1-4F6E-B1F7-C645D0E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空间模式包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智能体底座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BE789E-D005-4119-BA03-324C22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768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组织学习、客户培训、伙伴赋能、认证活动、公开工作坊、教师研修等空间模式，内置报名、任务、问卷、报告和智能体。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9C2C60-6AD8-4EE3-95F9-867F3D3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E856C6-343D-4FB4-9974-826910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商业化组件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7EA9D2-067D-404B-8D57-F9D7651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847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以解决方案、套餐、空间模式、资源包、运营服务和 Token 算力组合报价，支持试用、升级和增购。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BC284-8A93-4355-83B1-A604991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442BC8-6EFA-4503-AC4D-04731F2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空间模式包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C7E572-B117-4B52-B1C7-B9FC131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57A9E2-A23E-49E7-A609-A2E8ED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DA7FCD-A8E7-4C37-ABCB-D49C21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0FB79C-2F0A-40D9-940F-4794828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智能体包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7610B1-3D6E-433E-9A8B-1146600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2A744-78F4-4A1A-82F5-3307E02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DBA1C4-0454-4335-8FFB-834B38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5BEB6B-BBE7-4AA5-BE33-483E25D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  <p:extLst>
      <p:ext uri="{BB962C8B-B14F-4D97-AF65-F5344CB8AC3E}">
        <p14:creationId xmlns:p14="http://schemas.microsoft.com/office/powerpoint/2010/main" val="1832209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治理与边界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原生业务模式需要治理空间、身份、质量和成本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权限隔离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按租户、项目、空间、活动、角色、来源组织和资料范围控制访问，活动结束后回收外部权限。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质量审核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6871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生成空间模式、报名问答、报告、证书/证明和评价建议均进入人工确认流程。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成本治理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按租户、项目、空间、活动、外部人数、智能体和模型统计 Token 消耗，支撑预警、对账和套餐设计。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数据沉淀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外部人员档案、空间参与记录、成果、证书/证明和效果报告进入档案，跨组织报告脱敏输出。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治理目标：让既有业务进入可控空间，人员可准入，资料可授权，报告可脱敏，AI 使用和商业成本可控。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69035-3F95-4EF3-AF36-FC3A12F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B5455C-532E-47E1-B5AF-F462D0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果仁培训产品最终形成“底座复用 + 空间承载 + AI 原生业务模式”的体系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FC33A9-53C3-40EF-AB16-1E76BA1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66DA6A-6915-4D1C-8581-96AE328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7E214B-B2A7-4A65-B551-08C84B6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2E8ED9-13EF-437F-8A38-FDCAADA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底座复用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B46D67-E50D-4619-9827-480C8A3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复用果仁的租户、解决方案、套餐、业务空间、资料库、Lucky、任务、问卷、证书、外部人员和统计能力。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CA60DE-F2E3-4783-A2D9-8A2BC86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1BCF2C-9067-4172-8759-2B41AA5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模式运行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FBDB2A6-32EB-436D-BD72-2B95FF8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以空间承载课程、研讨、评课、工作坊等既有业务，贯通信息管理、过程运营、效果评估、参与准入和成果沉淀。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88C326-7F23-4A87-8EAC-C8D09E4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9049C6C-4F6D-4317-8198-6DA2F13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C4016-F906-4A07-B4EB-3F42CE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用数据和 AI 把业务结果转化为个人证明、组织报告、复训建议、资源复用和模式增长。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D0D712-E1FA-48F8-8338-F9B3E2F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F0E3D5-0688-4C6B-82EB-1DADFEC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选取一个标准业务空间做 MVP：先跑通报名审核、账号体系、资料授权、过程记录、证书/证明和组织报告，再叠加智能体和效果驾驶舱。</a:t>
            </a:r>
          </a:p>
        </p:txBody>
      </p:sp>
    </p:spTree>
    <p:extLst>
      <p:ext uri="{BB962C8B-B14F-4D97-AF65-F5344CB8AC3E}">
        <p14:creationId xmlns:p14="http://schemas.microsoft.com/office/powerpoint/2010/main" val="1821108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2026-07-27T07:52:02.8120000Z</dcterms:created>
  <dcterms:modified xsi:type="dcterms:W3CDTF">2026-07-27T07:52:02.8120000Z</dcterms:modified>
</coreProperties>
</file>