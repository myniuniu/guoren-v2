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5592449ff64b5b" /><Relationship Type="http://schemas.openxmlformats.org/officeDocument/2006/relationships/extended-properties" Target="/docProps/app.xml" Id="R42dc8b58b7b44ff9" /><Relationship Type="http://schemas.openxmlformats.org/officeDocument/2006/relationships/officeDocument" Target="/ppt/presentation.xml" Id="Re6918a003b864a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27687fd0564016"/>
  </p:sldMasterIdLst>
  <p:notesMasterIdLst>
    <p:notesMasterId xmlns:r="http://schemas.openxmlformats.org/officeDocument/2006/relationships" r:id="Rcd023b9819b14630"/>
  </p:notesMasterIdLst>
  <p:sldIdLst>
    <p:sldId xmlns:r="http://schemas.openxmlformats.org/officeDocument/2006/relationships" id="256" r:id="Rfc4f989d4aab4524"/>
    <p:sldId xmlns:r="http://schemas.openxmlformats.org/officeDocument/2006/relationships" id="257" r:id="R32a7094a5ec34e4d"/>
    <p:sldId xmlns:r="http://schemas.openxmlformats.org/officeDocument/2006/relationships" id="258" r:id="R395ce75c6f474195"/>
    <p:sldId xmlns:r="http://schemas.openxmlformats.org/officeDocument/2006/relationships" id="259" r:id="R2cd2c438abb143d3"/>
    <p:sldId xmlns:r="http://schemas.openxmlformats.org/officeDocument/2006/relationships" id="260" r:id="Rc7ca4699e269426c"/>
    <p:sldId xmlns:r="http://schemas.openxmlformats.org/officeDocument/2006/relationships" id="261" r:id="R5ceb301411b044f5"/>
    <p:sldId xmlns:r="http://schemas.openxmlformats.org/officeDocument/2006/relationships" id="262" r:id="Rd97464197b20490a"/>
    <p:sldId xmlns:r="http://schemas.openxmlformats.org/officeDocument/2006/relationships" id="263" r:id="R5468504c99774839"/>
    <p:sldId xmlns:r="http://schemas.openxmlformats.org/officeDocument/2006/relationships" id="264" r:id="R1931196f5e484b86"/>
    <p:sldId xmlns:r="http://schemas.openxmlformats.org/officeDocument/2006/relationships" id="265" r:id="Rd698d73eebab4284"/>
    <p:sldId xmlns:r="http://schemas.openxmlformats.org/officeDocument/2006/relationships" id="266" r:id="Rb436d0d6278944f2"/>
    <p:sldId xmlns:r="http://schemas.openxmlformats.org/officeDocument/2006/relationships" id="267" r:id="R1254b138518f48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8fb34e4e3427c" /><Relationship Type="http://schemas.openxmlformats.org/officeDocument/2006/relationships/slideMaster" Target="/ppt/slideMasters/slideMaster1.xml" Id="R7827687fd0564016" /><Relationship Type="http://schemas.openxmlformats.org/officeDocument/2006/relationships/notesMaster" Target="/ppt/notesMasters/notesMaster1.xml" Id="Rcd023b9819b14630" /><Relationship Type="http://schemas.openxmlformats.org/officeDocument/2006/relationships/presProps" Target="/ppt/presProps.xml" Id="R113358ffa1864bd1" /><Relationship Type="http://schemas.openxmlformats.org/officeDocument/2006/relationships/tableStyles" Target="/ppt/tableStyles.xml" Id="R4d4e760cd83245a6" /><Relationship Type="http://schemas.openxmlformats.org/officeDocument/2006/relationships/slide" Target="/ppt/slides/slide1.xml" Id="Rfc4f989d4aab4524" /><Relationship Type="http://schemas.openxmlformats.org/officeDocument/2006/relationships/slide" Target="/ppt/slides/slide2.xml" Id="R32a7094a5ec34e4d" /><Relationship Type="http://schemas.openxmlformats.org/officeDocument/2006/relationships/slide" Target="/ppt/slides/slide3.xml" Id="R395ce75c6f474195" /><Relationship Type="http://schemas.openxmlformats.org/officeDocument/2006/relationships/slide" Target="/ppt/slides/slide4.xml" Id="R2cd2c438abb143d3" /><Relationship Type="http://schemas.openxmlformats.org/officeDocument/2006/relationships/slide" Target="/ppt/slides/slide5.xml" Id="Rc7ca4699e269426c" /><Relationship Type="http://schemas.openxmlformats.org/officeDocument/2006/relationships/slide" Target="/ppt/slides/slide6.xml" Id="R5ceb301411b044f5" /><Relationship Type="http://schemas.openxmlformats.org/officeDocument/2006/relationships/slide" Target="/ppt/slides/slide7.xml" Id="Rd97464197b20490a" /><Relationship Type="http://schemas.openxmlformats.org/officeDocument/2006/relationships/slide" Target="/ppt/slides/slide8.xml" Id="R5468504c99774839" /><Relationship Type="http://schemas.openxmlformats.org/officeDocument/2006/relationships/slide" Target="/ppt/slides/slide9.xml" Id="R1931196f5e484b86" /><Relationship Type="http://schemas.openxmlformats.org/officeDocument/2006/relationships/slide" Target="/ppt/slides/slide10.xml" Id="Rd698d73eebab4284" /><Relationship Type="http://schemas.openxmlformats.org/officeDocument/2006/relationships/slide" Target="/ppt/slides/slide11.xml" Id="Rb436d0d6278944f2" /><Relationship Type="http://schemas.openxmlformats.org/officeDocument/2006/relationships/slide" Target="/ppt/slides/slide12.xml" Id="R1254b138518f48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53282dbf0a48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3cf93a48784dac" /><Relationship Type="http://schemas.openxmlformats.org/officeDocument/2006/relationships/notesMaster" Target="/ppt/notesMasters/notesMaster1.xml" Id="Ra333d1297ecd46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ec95afaff84e4f" /><Relationship Type="http://schemas.openxmlformats.org/officeDocument/2006/relationships/notesMaster" Target="/ppt/notesMasters/notesMaster1.xml" Id="R657312a06d1e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6bac6c943b4fb1" /><Relationship Type="http://schemas.openxmlformats.org/officeDocument/2006/relationships/notesMaster" Target="/ppt/notesMasters/notesMaster1.xml" Id="R5e980a67c5d042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63a006921445e2" /><Relationship Type="http://schemas.openxmlformats.org/officeDocument/2006/relationships/notesMaster" Target="/ppt/notesMasters/notesMaster1.xml" Id="Rbc8cd87c82b4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5df13a04a842a2" /><Relationship Type="http://schemas.openxmlformats.org/officeDocument/2006/relationships/notesMaster" Target="/ppt/notesMasters/notesMaster1.xml" Id="R3c4bbb3f122741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3d73de292c40da" /><Relationship Type="http://schemas.openxmlformats.org/officeDocument/2006/relationships/notesMaster" Target="/ppt/notesMasters/notesMaster1.xml" Id="R956035f8322e47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0c040e33704ea6" /><Relationship Type="http://schemas.openxmlformats.org/officeDocument/2006/relationships/notesMaster" Target="/ppt/notesMasters/notesMaster1.xml" Id="R0f8cf138ef6f47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ad380b1a1444a9" /><Relationship Type="http://schemas.openxmlformats.org/officeDocument/2006/relationships/notesMaster" Target="/ppt/notesMasters/notesMaster1.xml" Id="R0e3353d9a5134a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c75977d9148b1" /><Relationship Type="http://schemas.openxmlformats.org/officeDocument/2006/relationships/notesMaster" Target="/ppt/notesMasters/notesMaster1.xml" Id="Rdf8fe27d98c941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7b825a8825475e" /><Relationship Type="http://schemas.openxmlformats.org/officeDocument/2006/relationships/notesMaster" Target="/ppt/notesMasters/notesMaster1.xml" Id="R2f00df2aae2848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df5b368e314022" /><Relationship Type="http://schemas.openxmlformats.org/officeDocument/2006/relationships/notesMaster" Target="/ppt/notesMasters/notesMaster1.xml" Id="R95e632ee8d744a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d7bb0486984a8b" /><Relationship Type="http://schemas.openxmlformats.org/officeDocument/2006/relationships/notesMaster" Target="/ppt/notesMasters/notesMaster1.xml" Id="Rc28c8b20c91f41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ceddacefa4e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cf2157f6d40a0" /><Relationship Type="http://schemas.openxmlformats.org/officeDocument/2006/relationships/slideLayout" Target="/ppt/slideLayouts/slideLayout1.xml" Id="R945b6623cc024c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5b6623cc024c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3376e35ab4e19" /><Relationship Type="http://schemas.openxmlformats.org/officeDocument/2006/relationships/notesSlide" Target="/ppt/notesSlides/notesSlide1.xml" Id="R040c085a373646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55bc4f0e24420" /><Relationship Type="http://schemas.openxmlformats.org/officeDocument/2006/relationships/notesSlide" Target="/ppt/notesSlides/notesSlide2.xml" Id="Rca5445334d3f4e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9e4c9a5a64f4d" /><Relationship Type="http://schemas.openxmlformats.org/officeDocument/2006/relationships/notesSlide" Target="/ppt/notesSlides/notesSlide3.xml" Id="Ra58e6032a3ce4d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d7edad9c348dc" /><Relationship Type="http://schemas.openxmlformats.org/officeDocument/2006/relationships/notesSlide" Target="/ppt/notesSlides/notesSlide4.xml" Id="R1710c950cb714a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cbed0242c4ba9" /><Relationship Type="http://schemas.openxmlformats.org/officeDocument/2006/relationships/notesSlide" Target="/ppt/notesSlides/notesSlide5.xml" Id="Rd5fc59683be946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7686fd2904fb7" /><Relationship Type="http://schemas.openxmlformats.org/officeDocument/2006/relationships/notesSlide" Target="/ppt/notesSlides/notesSlide6.xml" Id="R84efc220150e4f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94b11470a44c8" /><Relationship Type="http://schemas.openxmlformats.org/officeDocument/2006/relationships/notesSlide" Target="/ppt/notesSlides/notesSlide7.xml" Id="R46aef5652c7f40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59ef23db94e76" /><Relationship Type="http://schemas.openxmlformats.org/officeDocument/2006/relationships/notesSlide" Target="/ppt/notesSlides/notesSlide8.xml" Id="R287a3be375e148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cd39fa6db401a" /><Relationship Type="http://schemas.openxmlformats.org/officeDocument/2006/relationships/notesSlide" Target="/ppt/notesSlides/notesSlide9.xml" Id="R89a064b2f4e54e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c51269d8d4bda" /><Relationship Type="http://schemas.openxmlformats.org/officeDocument/2006/relationships/notesSlide" Target="/ppt/notesSlides/notesSlide10.xml" Id="Rb6c219fddc874d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c362288de4acf" /><Relationship Type="http://schemas.openxmlformats.org/officeDocument/2006/relationships/notesSlide" Target="/ppt/notesSlides/notesSlide11.xml" Id="R6349ac5b0b0545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009d93b134dce" /><Relationship Type="http://schemas.openxmlformats.org/officeDocument/2006/relationships/notesSlide" Target="/ppt/notesSlides/notesSlide12.xml" Id="R74338753f3dd45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73FA307-FFC4-44FF-BB84-83023E5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培训平台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建设方案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F91EB6B-D3A2-4FEB-9873-87510A61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培训组织、过程评价、档案沉淀、智能推荐的一体化闭环</a:t>
            </a:r>
          </a:p>
        </p:txBody>
      </p:sp>
      <p:sp>
        <p:nvSpPr>
          <p:cNvPr id="3" name="cover-panel">
            <a:extLst xmlns:a="http://schemas.openxmlformats.org/drawingml/2006/main">
              <a:ext uri="{FF2B5EF4-FFF2-40B4-BE49-F238E27FC236}">
                <a16:creationId xmlns:a16="http://schemas.microsoft.com/office/drawing/2014/main" id="{97C5F50B-6A47-4E3A-9227-4C7DD7D1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85800"/>
            <a:ext cx="4762500" cy="49530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ill-培训信息">
            <a:extLst xmlns:a="http://schemas.openxmlformats.org/drawingml/2006/main">
              <a:ext uri="{FF2B5EF4-FFF2-40B4-BE49-F238E27FC236}">
                <a16:creationId xmlns:a16="http://schemas.microsoft.com/office/drawing/2014/main" id="{0C61AEA1-928B-4FC8-BD72-0D93F395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23950"/>
            <a:ext cx="1571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ill-text-培训信息">
            <a:extLst xmlns:a="http://schemas.openxmlformats.org/drawingml/2006/main">
              <a:ext uri="{FF2B5EF4-FFF2-40B4-BE49-F238E27FC236}">
                <a16:creationId xmlns:a16="http://schemas.microsoft.com/office/drawing/2014/main" id="{12B3704D-F232-4E96-B5AC-57643B6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8110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培训信息</a:t>
            </a:r>
          </a:p>
        </p:txBody>
      </p:sp>
      <p:cxnSp>
        <p:nvCxnSpPr>
          <p:cNvPr id="168" name="connector-line"/>
          <p:cNvCxnSpPr/>
          <p:nvPr/>
        </p:nvCxnSpPr>
        <p:spPr>
          <a:xfrm xmlns:a="http://schemas.openxmlformats.org/drawingml/2006/main">
            <a:off x="8743950" y="1323975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arrow-head">
            <a:extLst xmlns:a="http://schemas.openxmlformats.org/drawingml/2006/main">
              <a:ext uri="{FF2B5EF4-FFF2-40B4-BE49-F238E27FC236}">
                <a16:creationId xmlns:a16="http://schemas.microsoft.com/office/drawing/2014/main" id="{2E609F46-8823-4FA3-BCCD-F4E2FE9B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2382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ver-note-0">
            <a:extLst xmlns:a="http://schemas.openxmlformats.org/drawingml/2006/main">
              <a:ext uri="{FF2B5EF4-FFF2-40B4-BE49-F238E27FC236}">
                <a16:creationId xmlns:a16="http://schemas.microsoft.com/office/drawing/2014/main" id="{D77A43F0-EA8D-4CEF-9818-66B3D430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2001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统一入口</a:t>
            </a:r>
          </a:p>
        </p:txBody>
      </p:sp>
      <p:sp>
        <p:nvSpPr>
          <p:cNvPr id="9" name="pill-研修活动">
            <a:extLst xmlns:a="http://schemas.openxmlformats.org/drawingml/2006/main">
              <a:ext uri="{FF2B5EF4-FFF2-40B4-BE49-F238E27FC236}">
                <a16:creationId xmlns:a16="http://schemas.microsoft.com/office/drawing/2014/main" id="{79B300B6-9425-47BB-96AB-D273D61E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1571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ill-text-研修活动">
            <a:extLst xmlns:a="http://schemas.openxmlformats.org/drawingml/2006/main">
              <a:ext uri="{FF2B5EF4-FFF2-40B4-BE49-F238E27FC236}">
                <a16:creationId xmlns:a16="http://schemas.microsoft.com/office/drawing/2014/main" id="{29307556-976E-4F2D-89C8-D5345020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4785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</a:t>
            </a:r>
          </a:p>
        </p:txBody>
      </p:sp>
      <p:cxnSp>
        <p:nvCxnSpPr>
          <p:cNvPr id="173" name="connector-line"/>
          <p:cNvCxnSpPr/>
          <p:nvPr/>
        </p:nvCxnSpPr>
        <p:spPr>
          <a:xfrm xmlns:a="http://schemas.openxmlformats.org/drawingml/2006/main">
            <a:off x="8743950" y="1990725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2" name="arrow-head">
            <a:extLst xmlns:a="http://schemas.openxmlformats.org/drawingml/2006/main">
              <a:ext uri="{FF2B5EF4-FFF2-40B4-BE49-F238E27FC236}">
                <a16:creationId xmlns:a16="http://schemas.microsoft.com/office/drawing/2014/main" id="{2ED7F2CF-D5E1-4CAA-8254-32823265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0500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cover-note-1">
            <a:extLst xmlns:a="http://schemas.openxmlformats.org/drawingml/2006/main">
              <a:ext uri="{FF2B5EF4-FFF2-40B4-BE49-F238E27FC236}">
                <a16:creationId xmlns:a16="http://schemas.microsoft.com/office/drawing/2014/main" id="{D8FFD0D4-32AD-4947-BA91-9341316C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669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过程承载</a:t>
            </a:r>
          </a:p>
        </p:txBody>
      </p:sp>
      <p:sp>
        <p:nvSpPr>
          <p:cNvPr id="14" name="pill-数据归集">
            <a:extLst xmlns:a="http://schemas.openxmlformats.org/drawingml/2006/main">
              <a:ext uri="{FF2B5EF4-FFF2-40B4-BE49-F238E27FC236}">
                <a16:creationId xmlns:a16="http://schemas.microsoft.com/office/drawing/2014/main" id="{96B64054-C8D6-4D13-9052-0CC20955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1571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pill-text-数据归集">
            <a:extLst xmlns:a="http://schemas.openxmlformats.org/drawingml/2006/main">
              <a:ext uri="{FF2B5EF4-FFF2-40B4-BE49-F238E27FC236}">
                <a16:creationId xmlns:a16="http://schemas.microsoft.com/office/drawing/2014/main" id="{48C99F28-CD0F-48C0-9EE8-8A88CD57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1460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</a:t>
            </a:r>
          </a:p>
        </p:txBody>
      </p:sp>
      <p:cxnSp>
        <p:nvCxnSpPr>
          <p:cNvPr id="178" name="connector-line"/>
          <p:cNvCxnSpPr/>
          <p:nvPr/>
        </p:nvCxnSpPr>
        <p:spPr>
          <a:xfrm xmlns:a="http://schemas.openxmlformats.org/drawingml/2006/main">
            <a:off x="8743950" y="2657475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arrow-head">
            <a:extLst xmlns:a="http://schemas.openxmlformats.org/drawingml/2006/main">
              <a:ext uri="{FF2B5EF4-FFF2-40B4-BE49-F238E27FC236}">
                <a16:creationId xmlns:a16="http://schemas.microsoft.com/office/drawing/2014/main" id="{4B6E1982-E84F-4A8D-9607-9F3C9D71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over-note-2">
            <a:extLst xmlns:a="http://schemas.openxmlformats.org/drawingml/2006/main">
              <a:ext uri="{FF2B5EF4-FFF2-40B4-BE49-F238E27FC236}">
                <a16:creationId xmlns:a16="http://schemas.microsoft.com/office/drawing/2014/main" id="{6E28D79A-380F-4C5A-9231-C6D4515F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336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自动留痕</a:t>
            </a:r>
          </a:p>
        </p:txBody>
      </p:sp>
      <p:sp>
        <p:nvSpPr>
          <p:cNvPr id="19" name="pill-培训评估">
            <a:extLst xmlns:a="http://schemas.openxmlformats.org/drawingml/2006/main">
              <a:ext uri="{FF2B5EF4-FFF2-40B4-BE49-F238E27FC236}">
                <a16:creationId xmlns:a16="http://schemas.microsoft.com/office/drawing/2014/main" id="{75B36B20-3AE0-4988-852B-E639D3B9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24200"/>
            <a:ext cx="1571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pill-text-培训评估">
            <a:extLst xmlns:a="http://schemas.openxmlformats.org/drawingml/2006/main">
              <a:ext uri="{FF2B5EF4-FFF2-40B4-BE49-F238E27FC236}">
                <a16:creationId xmlns:a16="http://schemas.microsoft.com/office/drawing/2014/main" id="{B96CA7CD-8077-466B-94BC-32DD1BE7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培训评估</a:t>
            </a:r>
          </a:p>
        </p:txBody>
      </p:sp>
      <p:cxnSp>
        <p:nvCxnSpPr>
          <p:cNvPr id="183" name="connector-line"/>
          <p:cNvCxnSpPr/>
          <p:nvPr/>
        </p:nvCxnSpPr>
        <p:spPr>
          <a:xfrm xmlns:a="http://schemas.openxmlformats.org/drawingml/2006/main">
            <a:off x="8743950" y="3324225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2" name="arrow-head">
            <a:extLst xmlns:a="http://schemas.openxmlformats.org/drawingml/2006/main">
              <a:ext uri="{FF2B5EF4-FFF2-40B4-BE49-F238E27FC236}">
                <a16:creationId xmlns:a16="http://schemas.microsoft.com/office/drawing/2014/main" id="{19902ABC-19BF-4198-B5EB-71F58647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cover-note-3">
            <a:extLst xmlns:a="http://schemas.openxmlformats.org/drawingml/2006/main">
              <a:ext uri="{FF2B5EF4-FFF2-40B4-BE49-F238E27FC236}">
                <a16:creationId xmlns:a16="http://schemas.microsoft.com/office/drawing/2014/main" id="{2689FA51-20BB-4611-8EE8-DDB2373E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004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综合分析</a:t>
            </a:r>
          </a:p>
        </p:txBody>
      </p:sp>
      <p:sp>
        <p:nvSpPr>
          <p:cNvPr id="24" name="pill-教师档案">
            <a:extLst xmlns:a="http://schemas.openxmlformats.org/drawingml/2006/main">
              <a:ext uri="{FF2B5EF4-FFF2-40B4-BE49-F238E27FC236}">
                <a16:creationId xmlns:a16="http://schemas.microsoft.com/office/drawing/2014/main" id="{CC516B3E-3526-4941-AF6C-13608791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90950"/>
            <a:ext cx="1571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pill-text-教师档案">
            <a:extLst xmlns:a="http://schemas.openxmlformats.org/drawingml/2006/main">
              <a:ext uri="{FF2B5EF4-FFF2-40B4-BE49-F238E27FC236}">
                <a16:creationId xmlns:a16="http://schemas.microsoft.com/office/drawing/2014/main" id="{E77D7D6E-D27A-4DF8-BFF3-1330392F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教师档案</a:t>
            </a:r>
          </a:p>
        </p:txBody>
      </p:sp>
      <p:cxnSp>
        <p:nvCxnSpPr>
          <p:cNvPr id="188" name="connector-line"/>
          <p:cNvCxnSpPr/>
          <p:nvPr/>
        </p:nvCxnSpPr>
        <p:spPr>
          <a:xfrm xmlns:a="http://schemas.openxmlformats.org/drawingml/2006/main">
            <a:off x="8743950" y="3990975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7" name="arrow-head">
            <a:extLst xmlns:a="http://schemas.openxmlformats.org/drawingml/2006/main">
              <a:ext uri="{FF2B5EF4-FFF2-40B4-BE49-F238E27FC236}">
                <a16:creationId xmlns:a16="http://schemas.microsoft.com/office/drawing/2014/main" id="{3C7B370C-6BEE-4C28-9E37-359F79EF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05250"/>
            <a:ext cx="1714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cover-note-4">
            <a:extLst xmlns:a="http://schemas.openxmlformats.org/drawingml/2006/main">
              <a:ext uri="{FF2B5EF4-FFF2-40B4-BE49-F238E27FC236}">
                <a16:creationId xmlns:a16="http://schemas.microsoft.com/office/drawing/2014/main" id="{CFE2CEF7-1925-4FFE-800B-57BE0A7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671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成长沉淀</a:t>
            </a:r>
          </a:p>
        </p:txBody>
      </p:sp>
      <p:sp>
        <p:nvSpPr>
          <p:cNvPr id="29" name="pill-用户推荐">
            <a:extLst xmlns:a="http://schemas.openxmlformats.org/drawingml/2006/main">
              <a:ext uri="{FF2B5EF4-FFF2-40B4-BE49-F238E27FC236}">
                <a16:creationId xmlns:a16="http://schemas.microsoft.com/office/drawing/2014/main" id="{BA6889C6-1826-4D85-8B29-580017A1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57700"/>
            <a:ext cx="1571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pill-text-用户推荐">
            <a:extLst xmlns:a="http://schemas.openxmlformats.org/drawingml/2006/main">
              <a:ext uri="{FF2B5EF4-FFF2-40B4-BE49-F238E27FC236}">
                <a16:creationId xmlns:a16="http://schemas.microsoft.com/office/drawing/2014/main" id="{CFD70EBE-ACA0-4A85-B03F-9AD27DE7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1485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用户推荐</a:t>
            </a:r>
          </a:p>
        </p:txBody>
      </p:sp>
      <p:sp>
        <p:nvSpPr>
          <p:cNvPr id="31" name="cover-note-5">
            <a:extLst xmlns:a="http://schemas.openxmlformats.org/drawingml/2006/main">
              <a:ext uri="{FF2B5EF4-FFF2-40B4-BE49-F238E27FC236}">
                <a16:creationId xmlns:a16="http://schemas.microsoft.com/office/drawing/2014/main" id="{6DE3F788-3B06-42DD-B5D0-A13F0584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339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精准服务</a:t>
            </a:r>
          </a:p>
        </p:txBody>
      </p:sp>
      <p:sp>
        <p:nvSpPr>
          <p:cNvPr id="32" name="page">
            <a:extLst xmlns:a="http://schemas.openxmlformats.org/drawingml/2006/main">
              <a:ext uri="{FF2B5EF4-FFF2-40B4-BE49-F238E27FC236}">
                <a16:creationId xmlns:a16="http://schemas.microsoft.com/office/drawing/2014/main" id="{6E4EAFAC-73A4-4583-8040-66714C8B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9929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31ADCA34-D265-4F85-B700-3FEED13B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2C5F6F-EABF-458D-9CE9-DAE3ED7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培训业务需要从活动组织升级为持续发展服务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4C7BE6-93A0-49DE-BA26-E63D58B4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F1A44D67-0555-4C44-BEDE-5A3EE603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传统培训管理以报名、签到、学习统计为主，难以完整呈现教师的参与表现、成果质量和后续发展需求。培训平台要把一次性活动转化为可追踪、可评价、可沉淀、可推荐的业务闭环。</a:t>
            </a:r>
          </a:p>
        </p:txBody>
      </p:sp>
      <p:sp>
        <p:nvSpPr>
          <p:cNvPr id="5" name="card-过程难追踪">
            <a:extLst xmlns:a="http://schemas.openxmlformats.org/drawingml/2006/main">
              <a:ext uri="{FF2B5EF4-FFF2-40B4-BE49-F238E27FC236}">
                <a16:creationId xmlns:a16="http://schemas.microsoft.com/office/drawing/2014/main" id="{6E9AF8A9-E3F1-4892-A9F2-615E9563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4290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num-01">
            <a:extLst xmlns:a="http://schemas.openxmlformats.org/drawingml/2006/main">
              <a:ext uri="{FF2B5EF4-FFF2-40B4-BE49-F238E27FC236}">
                <a16:creationId xmlns:a16="http://schemas.microsoft.com/office/drawing/2014/main" id="{352B0C91-1351-42F1-B12A-AF1E37F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um-text-01">
            <a:extLst xmlns:a="http://schemas.openxmlformats.org/drawingml/2006/main">
              <a:ext uri="{FF2B5EF4-FFF2-40B4-BE49-F238E27FC236}">
                <a16:creationId xmlns:a16="http://schemas.microsoft.com/office/drawing/2014/main" id="{B3F931E6-8DF1-45E0-8C6B-95E58BC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ard-title-过程难追踪">
            <a:extLst xmlns:a="http://schemas.openxmlformats.org/drawingml/2006/main">
              <a:ext uri="{FF2B5EF4-FFF2-40B4-BE49-F238E27FC236}">
                <a16:creationId xmlns:a16="http://schemas.microsoft.com/office/drawing/2014/main" id="{88B2643E-CFB9-4155-A364-1EB1AFB9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过程难追踪</a:t>
            </a:r>
          </a:p>
        </p:txBody>
      </p:sp>
      <p:sp>
        <p:nvSpPr>
          <p:cNvPr id="9" name="card-body-过程难追踪">
            <a:extLst xmlns:a="http://schemas.openxmlformats.org/drawingml/2006/main">
              <a:ext uri="{FF2B5EF4-FFF2-40B4-BE49-F238E27FC236}">
                <a16:creationId xmlns:a16="http://schemas.microsoft.com/office/drawing/2014/main" id="{16047A29-2DB1-4104-A9CA-83C8A526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255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线上线下活动分散，学习、互动、任务和成果数据缺少统一归集。</a:t>
            </a:r>
          </a:p>
        </p:txBody>
      </p:sp>
      <p:sp>
        <p:nvSpPr>
          <p:cNvPr id="10" name="card-评价难统一">
            <a:extLst xmlns:a="http://schemas.openxmlformats.org/drawingml/2006/main">
              <a:ext uri="{FF2B5EF4-FFF2-40B4-BE49-F238E27FC236}">
                <a16:creationId xmlns:a16="http://schemas.microsoft.com/office/drawing/2014/main" id="{F4AFB01B-67CA-4575-B38A-2295BE05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4290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num-02">
            <a:extLst xmlns:a="http://schemas.openxmlformats.org/drawingml/2006/main">
              <a:ext uri="{FF2B5EF4-FFF2-40B4-BE49-F238E27FC236}">
                <a16:creationId xmlns:a16="http://schemas.microsoft.com/office/drawing/2014/main" id="{8F5020B0-EA46-40A2-A824-1FFA5627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text-02">
            <a:extLst xmlns:a="http://schemas.openxmlformats.org/drawingml/2006/main">
              <a:ext uri="{FF2B5EF4-FFF2-40B4-BE49-F238E27FC236}">
                <a16:creationId xmlns:a16="http://schemas.microsoft.com/office/drawing/2014/main" id="{3196E838-E648-46E8-8060-539B241D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95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card-title-评价难统一">
            <a:extLst xmlns:a="http://schemas.openxmlformats.org/drawingml/2006/main">
              <a:ext uri="{FF2B5EF4-FFF2-40B4-BE49-F238E27FC236}">
                <a16:creationId xmlns:a16="http://schemas.microsoft.com/office/drawing/2014/main" id="{52196A8D-65B4-4A92-8F90-708DD468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575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评价难统一</a:t>
            </a:r>
          </a:p>
        </p:txBody>
      </p:sp>
      <p:sp>
        <p:nvSpPr>
          <p:cNvPr id="14" name="card-body-评价难统一">
            <a:extLst xmlns:a="http://schemas.openxmlformats.org/drawingml/2006/main">
              <a:ext uri="{FF2B5EF4-FFF2-40B4-BE49-F238E27FC236}">
                <a16:creationId xmlns:a16="http://schemas.microsoft.com/office/drawing/2014/main" id="{DB932B57-07F8-44AF-9D06-100E1E2C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76650"/>
            <a:ext cx="255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不同项目评价口径不一致，过程表现和成果质量难以综合呈现。</a:t>
            </a:r>
          </a:p>
        </p:txBody>
      </p:sp>
      <p:sp>
        <p:nvSpPr>
          <p:cNvPr id="15" name="card-发展难延续">
            <a:extLst xmlns:a="http://schemas.openxmlformats.org/drawingml/2006/main">
              <a:ext uri="{FF2B5EF4-FFF2-40B4-BE49-F238E27FC236}">
                <a16:creationId xmlns:a16="http://schemas.microsoft.com/office/drawing/2014/main" id="{32FC7CA2-8DC8-4C9D-9661-F5730BF8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42900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num-03">
            <a:extLst xmlns:a="http://schemas.openxmlformats.org/drawingml/2006/main">
              <a:ext uri="{FF2B5EF4-FFF2-40B4-BE49-F238E27FC236}">
                <a16:creationId xmlns:a16="http://schemas.microsoft.com/office/drawing/2014/main" id="{CE189D94-3742-4E9E-BE87-96A336D8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um-text-03">
            <a:extLst xmlns:a="http://schemas.openxmlformats.org/drawingml/2006/main">
              <a:ext uri="{FF2B5EF4-FFF2-40B4-BE49-F238E27FC236}">
                <a16:creationId xmlns:a16="http://schemas.microsoft.com/office/drawing/2014/main" id="{F830A35A-829C-4E2E-B1F9-5106C5B9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card-title-发展难延续">
            <a:extLst xmlns:a="http://schemas.openxmlformats.org/drawingml/2006/main">
              <a:ext uri="{FF2B5EF4-FFF2-40B4-BE49-F238E27FC236}">
                <a16:creationId xmlns:a16="http://schemas.microsoft.com/office/drawing/2014/main" id="{2F316C9E-8147-42B9-880F-E1A9210A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发展难延续</a:t>
            </a:r>
          </a:p>
        </p:txBody>
      </p:sp>
      <p:sp>
        <p:nvSpPr>
          <p:cNvPr id="19" name="card-body-发展难延续">
            <a:extLst xmlns:a="http://schemas.openxmlformats.org/drawingml/2006/main">
              <a:ext uri="{FF2B5EF4-FFF2-40B4-BE49-F238E27FC236}">
                <a16:creationId xmlns:a16="http://schemas.microsoft.com/office/drawing/2014/main" id="{50C4E1CD-0131-4F48-9787-42D72612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255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培训结束后缺少档案沉淀和个性化推荐，后续改进路径不清晰。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0498C36B-A59B-4C75-81B8-A7FF0236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建设方向：统一平台入口 + 全过程数据 + 评价模型 + 教师档案 + 精准推荐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CFD10D25-3DFF-454E-BF08-FE152901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9595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1C77A42A-A7B9-42B8-9076-F6C2F65C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98DBED-F286-43A8-93E0-5EE4C028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六个目标共同支撑培训平台的一体化能力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3FC8D2-FE4F-4524-BD37-4CE5DF8B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统一培训入口">
            <a:extLst xmlns:a="http://schemas.openxmlformats.org/drawingml/2006/main">
              <a:ext uri="{FF2B5EF4-FFF2-40B4-BE49-F238E27FC236}">
                <a16:creationId xmlns:a16="http://schemas.microsoft.com/office/drawing/2014/main" id="{D1C49890-6DCC-490C-B034-68987401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1">
            <a:extLst xmlns:a="http://schemas.openxmlformats.org/drawingml/2006/main">
              <a:ext uri="{FF2B5EF4-FFF2-40B4-BE49-F238E27FC236}">
                <a16:creationId xmlns:a16="http://schemas.microsoft.com/office/drawing/2014/main" id="{D35A7551-8FF0-4039-958B-722C8656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-text-01">
            <a:extLst xmlns:a="http://schemas.openxmlformats.org/drawingml/2006/main">
              <a:ext uri="{FF2B5EF4-FFF2-40B4-BE49-F238E27FC236}">
                <a16:creationId xmlns:a16="http://schemas.microsoft.com/office/drawing/2014/main" id="{0E3AE5DE-CED9-40AC-B721-C83B9081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card-title-统一培训入口">
            <a:extLst xmlns:a="http://schemas.openxmlformats.org/drawingml/2006/main">
              <a:ext uri="{FF2B5EF4-FFF2-40B4-BE49-F238E27FC236}">
                <a16:creationId xmlns:a16="http://schemas.microsoft.com/office/drawing/2014/main" id="{13D4B513-7089-48C5-B84E-3D583841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统一培训入口</a:t>
            </a:r>
          </a:p>
        </p:txBody>
      </p:sp>
      <p:sp>
        <p:nvSpPr>
          <p:cNvPr id="8" name="card-body-统一培训入口">
            <a:extLst xmlns:a="http://schemas.openxmlformats.org/drawingml/2006/main">
              <a:ext uri="{FF2B5EF4-FFF2-40B4-BE49-F238E27FC236}">
                <a16:creationId xmlns:a16="http://schemas.microsoft.com/office/drawing/2014/main" id="{4C43C7BC-EFE0-4D9E-86FB-4F6FF4CD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项目、课程、报名、审核、计划和人员组织集中管理。</a:t>
            </a:r>
          </a:p>
        </p:txBody>
      </p:sp>
      <p:sp>
        <p:nvSpPr>
          <p:cNvPr id="9" name="card-贯通研修场景">
            <a:extLst xmlns:a="http://schemas.openxmlformats.org/drawingml/2006/main">
              <a:ext uri="{FF2B5EF4-FFF2-40B4-BE49-F238E27FC236}">
                <a16:creationId xmlns:a16="http://schemas.microsoft.com/office/drawing/2014/main" id="{35E099BC-4E2E-460C-818A-79331AD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num-02">
            <a:extLst xmlns:a="http://schemas.openxmlformats.org/drawingml/2006/main">
              <a:ext uri="{FF2B5EF4-FFF2-40B4-BE49-F238E27FC236}">
                <a16:creationId xmlns:a16="http://schemas.microsoft.com/office/drawing/2014/main" id="{1D93D679-B9D1-4295-B91A-BE27A70E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-text-02">
            <a:extLst xmlns:a="http://schemas.openxmlformats.org/drawingml/2006/main">
              <a:ext uri="{FF2B5EF4-FFF2-40B4-BE49-F238E27FC236}">
                <a16:creationId xmlns:a16="http://schemas.microsoft.com/office/drawing/2014/main" id="{C7A110D9-9EF1-400F-9190-8C57D180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card-title-贯通研修场景">
            <a:extLst xmlns:a="http://schemas.openxmlformats.org/drawingml/2006/main">
              <a:ext uri="{FF2B5EF4-FFF2-40B4-BE49-F238E27FC236}">
                <a16:creationId xmlns:a16="http://schemas.microsoft.com/office/drawing/2014/main" id="{244802B2-0825-4872-8FCA-EED6DC1B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145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贯通研训场景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（研训一体化）</a:t>
            </a:r>
          </a:p>
        </p:txBody>
      </p:sp>
      <p:sp>
        <p:nvSpPr>
          <p:cNvPr id="13" name="card-body-贯通研修场景">
            <a:extLst xmlns:a="http://schemas.openxmlformats.org/drawingml/2006/main">
              <a:ext uri="{FF2B5EF4-FFF2-40B4-BE49-F238E27FC236}">
                <a16:creationId xmlns:a16="http://schemas.microsoft.com/office/drawing/2014/main" id="{F982D477-AEF5-47B1-8F6D-C53C11DC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覆盖线上学习、线下工作坊、任务活动、课题研究和成果共创。</a:t>
            </a:r>
          </a:p>
        </p:txBody>
      </p:sp>
      <p:sp>
        <p:nvSpPr>
          <p:cNvPr id="14" name="card-建立评价模型">
            <a:extLst xmlns:a="http://schemas.openxmlformats.org/drawingml/2006/main">
              <a:ext uri="{FF2B5EF4-FFF2-40B4-BE49-F238E27FC236}">
                <a16:creationId xmlns:a16="http://schemas.microsoft.com/office/drawing/2014/main" id="{FB3C5DF1-0C24-44AC-9BFD-6F8F5106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num-03">
            <a:extLst xmlns:a="http://schemas.openxmlformats.org/drawingml/2006/main">
              <a:ext uri="{FF2B5EF4-FFF2-40B4-BE49-F238E27FC236}">
                <a16:creationId xmlns:a16="http://schemas.microsoft.com/office/drawing/2014/main" id="{5CE5DB26-EF98-4A0E-8A41-FEB9E724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text-03">
            <a:extLst xmlns:a="http://schemas.openxmlformats.org/drawingml/2006/main">
              <a:ext uri="{FF2B5EF4-FFF2-40B4-BE49-F238E27FC236}">
                <a16:creationId xmlns:a16="http://schemas.microsoft.com/office/drawing/2014/main" id="{BA1635B3-AEAC-49BA-9C3E-5FF1A58E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card-title-建立评价模型">
            <a:extLst xmlns:a="http://schemas.openxmlformats.org/drawingml/2006/main">
              <a:ext uri="{FF2B5EF4-FFF2-40B4-BE49-F238E27FC236}">
                <a16:creationId xmlns:a16="http://schemas.microsoft.com/office/drawing/2014/main" id="{18C7050E-E930-462A-A987-995DD0DD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建立评价模型</a:t>
            </a:r>
          </a:p>
        </p:txBody>
      </p:sp>
      <p:sp>
        <p:nvSpPr>
          <p:cNvPr id="18" name="card-body-建立评价模型">
            <a:extLst xmlns:a="http://schemas.openxmlformats.org/drawingml/2006/main">
              <a:ext uri="{FF2B5EF4-FFF2-40B4-BE49-F238E27FC236}">
                <a16:creationId xmlns:a16="http://schemas.microsoft.com/office/drawing/2014/main" id="{B739C269-DCD6-43C7-9D6F-386FEB37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围绕参与度、完成度、学习表现、成果质量和专家评价形成综合评价。</a:t>
            </a:r>
          </a:p>
        </p:txBody>
      </p:sp>
      <p:sp>
        <p:nvSpPr>
          <p:cNvPr id="19" name="card-沉淀教师档案">
            <a:extLst xmlns:a="http://schemas.openxmlformats.org/drawingml/2006/main">
              <a:ext uri="{FF2B5EF4-FFF2-40B4-BE49-F238E27FC236}">
                <a16:creationId xmlns:a16="http://schemas.microsoft.com/office/drawing/2014/main" id="{4E80D4C6-0A3A-4C7C-9803-F972F76D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num-04">
            <a:extLst xmlns:a="http://schemas.openxmlformats.org/drawingml/2006/main">
              <a:ext uri="{FF2B5EF4-FFF2-40B4-BE49-F238E27FC236}">
                <a16:creationId xmlns:a16="http://schemas.microsoft.com/office/drawing/2014/main" id="{4E654515-1773-4A32-8AF7-C931511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um-text-04">
            <a:extLst xmlns:a="http://schemas.openxmlformats.org/drawingml/2006/main">
              <a:ext uri="{FF2B5EF4-FFF2-40B4-BE49-F238E27FC236}">
                <a16:creationId xmlns:a16="http://schemas.microsoft.com/office/drawing/2014/main" id="{C6989C52-287B-4325-95C1-20E712AF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card-title-沉淀教师档案">
            <a:extLst xmlns:a="http://schemas.openxmlformats.org/drawingml/2006/main">
              <a:ext uri="{FF2B5EF4-FFF2-40B4-BE49-F238E27FC236}">
                <a16:creationId xmlns:a16="http://schemas.microsoft.com/office/drawing/2014/main" id="{C84AD803-6AC7-4A09-8759-8B5C7ABA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沉淀教师档案</a:t>
            </a:r>
          </a:p>
        </p:txBody>
      </p:sp>
      <p:sp>
        <p:nvSpPr>
          <p:cNvPr id="23" name="card-body-沉淀教师档案">
            <a:extLst xmlns:a="http://schemas.openxmlformats.org/drawingml/2006/main">
              <a:ext uri="{FF2B5EF4-FFF2-40B4-BE49-F238E27FC236}">
                <a16:creationId xmlns:a16="http://schemas.microsoft.com/office/drawing/2014/main" id="{90BB4AC6-D671-41D9-92D1-687F8B19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自动归集与手动上传培训记录、学习过程、成果材料、评价结果和成长轨迹。</a:t>
            </a:r>
          </a:p>
        </p:txBody>
      </p:sp>
      <p:sp>
        <p:nvSpPr>
          <p:cNvPr id="24" name="card-支持个性推荐">
            <a:extLst xmlns:a="http://schemas.openxmlformats.org/drawingml/2006/main">
              <a:ext uri="{FF2B5EF4-FFF2-40B4-BE49-F238E27FC236}">
                <a16:creationId xmlns:a16="http://schemas.microsoft.com/office/drawing/2014/main" id="{C6CB85C1-A06D-4B16-A8B5-4FA74DA5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528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num-05">
            <a:extLst xmlns:a="http://schemas.openxmlformats.org/drawingml/2006/main">
              <a:ext uri="{FF2B5EF4-FFF2-40B4-BE49-F238E27FC236}">
                <a16:creationId xmlns:a16="http://schemas.microsoft.com/office/drawing/2014/main" id="{3AC817C1-B1CC-4B8A-85E9-80E38A30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um-text-05">
            <a:extLst xmlns:a="http://schemas.openxmlformats.org/drawingml/2006/main">
              <a:ext uri="{FF2B5EF4-FFF2-40B4-BE49-F238E27FC236}">
                <a16:creationId xmlns:a16="http://schemas.microsoft.com/office/drawing/2014/main" id="{F34A132B-F1A7-47F7-B493-EC646A3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card-title-支持个性推荐">
            <a:extLst xmlns:a="http://schemas.openxmlformats.org/drawingml/2006/main">
              <a:ext uri="{FF2B5EF4-FFF2-40B4-BE49-F238E27FC236}">
                <a16:creationId xmlns:a16="http://schemas.microsoft.com/office/drawing/2014/main" id="{185F7B49-1AE2-49CF-81DE-26C45B1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624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支持个性推荐</a:t>
            </a:r>
          </a:p>
        </p:txBody>
      </p:sp>
      <p:sp>
        <p:nvSpPr>
          <p:cNvPr id="28" name="card-body-支持个性推荐">
            <a:extLst xmlns:a="http://schemas.openxmlformats.org/drawingml/2006/main">
              <a:ext uri="{FF2B5EF4-FFF2-40B4-BE49-F238E27FC236}">
                <a16:creationId xmlns:a16="http://schemas.microsoft.com/office/drawing/2014/main" id="{1CA7C5D1-B39C-4979-A9BC-92E2DA3A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815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基于教师画像和评价结果推荐课程、活动、资源和发展路径。</a:t>
            </a:r>
          </a:p>
        </p:txBody>
      </p:sp>
      <p:sp>
        <p:nvSpPr>
          <p:cNvPr id="29" name="card-服务管理决策">
            <a:extLst xmlns:a="http://schemas.openxmlformats.org/drawingml/2006/main">
              <a:ext uri="{FF2B5EF4-FFF2-40B4-BE49-F238E27FC236}">
                <a16:creationId xmlns:a16="http://schemas.microsoft.com/office/drawing/2014/main" id="{2FD85264-0B5D-446C-8C31-97692636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num-06">
            <a:extLst xmlns:a="http://schemas.openxmlformats.org/drawingml/2006/main">
              <a:ext uri="{FF2B5EF4-FFF2-40B4-BE49-F238E27FC236}">
                <a16:creationId xmlns:a16="http://schemas.microsoft.com/office/drawing/2014/main" id="{A4FFE2DF-282A-4348-87F2-D5B447F9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62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num-text-06">
            <a:extLst xmlns:a="http://schemas.openxmlformats.org/drawingml/2006/main">
              <a:ext uri="{FF2B5EF4-FFF2-40B4-BE49-F238E27FC236}">
                <a16:creationId xmlns:a16="http://schemas.microsoft.com/office/drawing/2014/main" id="{48E48FE8-BD0A-47E4-9785-F0FF64C8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2" name="card-title-服务管理决策">
            <a:extLst xmlns:a="http://schemas.openxmlformats.org/drawingml/2006/main">
              <a:ext uri="{FF2B5EF4-FFF2-40B4-BE49-F238E27FC236}">
                <a16:creationId xmlns:a16="http://schemas.microsoft.com/office/drawing/2014/main" id="{60D128A5-4043-4227-B395-8BFF1C99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624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服务管理决策</a:t>
            </a:r>
          </a:p>
        </p:txBody>
      </p:sp>
      <p:sp>
        <p:nvSpPr>
          <p:cNvPr id="33" name="card-body-服务管理决策">
            <a:extLst xmlns:a="http://schemas.openxmlformats.org/drawingml/2006/main">
              <a:ext uri="{FF2B5EF4-FFF2-40B4-BE49-F238E27FC236}">
                <a16:creationId xmlns:a16="http://schemas.microsoft.com/office/drawing/2014/main" id="{A44B2E6A-75F8-4524-8070-658F8DE1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815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为管理部门、学校、培训机构和教师个人提供数据支撑。</a:t>
            </a:r>
          </a:p>
        </p:txBody>
      </p:sp>
      <p:sp>
        <p:nvSpPr>
          <p:cNvPr id="34" name="page">
            <a:extLst xmlns:a="http://schemas.openxmlformats.org/drawingml/2006/main">
              <a:ext uri="{FF2B5EF4-FFF2-40B4-BE49-F238E27FC236}">
                <a16:creationId xmlns:a16="http://schemas.microsoft.com/office/drawing/2014/main" id="{03601911-DE9F-4A25-A99C-B94E5047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1671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eyebrow">
            <a:extLst xmlns:a="http://schemas.openxmlformats.org/drawingml/2006/main">
              <a:ext uri="{FF2B5EF4-FFF2-40B4-BE49-F238E27FC236}">
                <a16:creationId xmlns:a16="http://schemas.microsoft.com/office/drawing/2014/main" id="{663907DE-6D12-4F2D-8F3E-17B411DB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81D505-02BA-4164-8810-EE631168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总体架构以子系统承载业务，以核心模块提供平台能力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0510B34-A163-404C-8887-44A03DF7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ys-label">
            <a:extLst xmlns:a="http://schemas.openxmlformats.org/drawingml/2006/main">
              <a:ext uri="{FF2B5EF4-FFF2-40B4-BE49-F238E27FC236}">
                <a16:creationId xmlns:a16="http://schemas.microsoft.com/office/drawing/2014/main" id="{0E4FEC65-4920-4060-9809-5F763A04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子系统层</a:t>
            </a:r>
          </a:p>
        </p:txBody>
      </p:sp>
      <p:sp>
        <p:nvSpPr>
          <p:cNvPr id="5" name="mod-label">
            <a:extLst xmlns:a="http://schemas.openxmlformats.org/drawingml/2006/main">
              <a:ext uri="{FF2B5EF4-FFF2-40B4-BE49-F238E27FC236}">
                <a16:creationId xmlns:a16="http://schemas.microsoft.com/office/drawing/2014/main" id="{23FE32B0-7277-4282-AB6A-B512FBD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核心模块层</a:t>
            </a:r>
          </a:p>
        </p:txBody>
      </p:sp>
      <p:sp>
        <p:nvSpPr>
          <p:cNvPr id="6" name="box-培训信息管理">
            <a:extLst xmlns:a="http://schemas.openxmlformats.org/drawingml/2006/main">
              <a:ext uri="{FF2B5EF4-FFF2-40B4-BE49-F238E27FC236}">
                <a16:creationId xmlns:a16="http://schemas.microsoft.com/office/drawing/2014/main" id="{638D8126-B1A8-4186-BC05-096F987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ox-title-培训信息管理">
            <a:extLst xmlns:a="http://schemas.openxmlformats.org/drawingml/2006/main">
              <a:ext uri="{FF2B5EF4-FFF2-40B4-BE49-F238E27FC236}">
                <a16:creationId xmlns:a16="http://schemas.microsoft.com/office/drawing/2014/main" id="{4EAFD91A-B356-4CFB-87D0-A2CAA5DD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24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培训信息管理</a:t>
            </a:r>
          </a:p>
        </p:txBody>
      </p:sp>
      <p:sp>
        <p:nvSpPr>
          <p:cNvPr id="8" name="box-body-培训信息管理">
            <a:extLst xmlns:a="http://schemas.openxmlformats.org/drawingml/2006/main">
              <a:ext uri="{FF2B5EF4-FFF2-40B4-BE49-F238E27FC236}">
                <a16:creationId xmlns:a16="http://schemas.microsoft.com/office/drawing/2014/main" id="{D017AE6F-010C-4099-8530-D950718B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项目/课程/报名/计划</a:t>
            </a:r>
          </a:p>
        </p:txBody>
      </p:sp>
      <p:cxnSp>
        <p:nvCxnSpPr>
          <p:cNvPr id="177" name="connector-line"/>
          <p:cNvCxnSpPr/>
          <p:nvPr/>
        </p:nvCxnSpPr>
        <p:spPr>
          <a:xfrm xmlns:a="http://schemas.openxmlformats.org/drawingml/2006/main">
            <a:off x="3390900" y="2305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arrow-head">
            <a:extLst xmlns:a="http://schemas.openxmlformats.org/drawingml/2006/main">
              <a:ext uri="{FF2B5EF4-FFF2-40B4-BE49-F238E27FC236}">
                <a16:creationId xmlns:a16="http://schemas.microsoft.com/office/drawing/2014/main" id="{F9E02014-F5A0-456E-BA62-651589EC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288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box-研修活动">
            <a:extLst xmlns:a="http://schemas.openxmlformats.org/drawingml/2006/main">
              <a:ext uri="{FF2B5EF4-FFF2-40B4-BE49-F238E27FC236}">
                <a16:creationId xmlns:a16="http://schemas.microsoft.com/office/drawing/2014/main" id="{7EC638E4-4FF5-4706-B7F2-96041113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box-title-研修活动">
            <a:extLst xmlns:a="http://schemas.openxmlformats.org/drawingml/2006/main">
              <a:ext uri="{FF2B5EF4-FFF2-40B4-BE49-F238E27FC236}">
                <a16:creationId xmlns:a16="http://schemas.microsoft.com/office/drawing/2014/main" id="{F099750A-B500-4762-A8FD-35607E1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24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</a:t>
            </a:r>
          </a:p>
        </p:txBody>
      </p:sp>
      <p:sp>
        <p:nvSpPr>
          <p:cNvPr id="13" name="box-body-研修活动">
            <a:extLst xmlns:a="http://schemas.openxmlformats.org/drawingml/2006/main">
              <a:ext uri="{FF2B5EF4-FFF2-40B4-BE49-F238E27FC236}">
                <a16:creationId xmlns:a16="http://schemas.microsoft.com/office/drawing/2014/main" id="{ADF1EEFA-820C-4A81-AB9A-D6810E36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线上/线下/任务/成果</a:t>
            </a:r>
          </a:p>
        </p:txBody>
      </p:sp>
      <p:cxnSp>
        <p:nvCxnSpPr>
          <p:cNvPr id="182" name="connector-line"/>
          <p:cNvCxnSpPr/>
          <p:nvPr/>
        </p:nvCxnSpPr>
        <p:spPr>
          <a:xfrm xmlns:a="http://schemas.openxmlformats.org/drawingml/2006/main">
            <a:off x="5314950" y="2305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5" name="arrow-head">
            <a:extLst xmlns:a="http://schemas.openxmlformats.org/drawingml/2006/main">
              <a:ext uri="{FF2B5EF4-FFF2-40B4-BE49-F238E27FC236}">
                <a16:creationId xmlns:a16="http://schemas.microsoft.com/office/drawing/2014/main" id="{5CA22674-FACB-471A-8527-3BD7C060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288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box-培训评估">
            <a:extLst xmlns:a="http://schemas.openxmlformats.org/drawingml/2006/main">
              <a:ext uri="{FF2B5EF4-FFF2-40B4-BE49-F238E27FC236}">
                <a16:creationId xmlns:a16="http://schemas.microsoft.com/office/drawing/2014/main" id="{42C5C833-57B7-4A1A-83B3-B63E913C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box-title-培训评估">
            <a:extLst xmlns:a="http://schemas.openxmlformats.org/drawingml/2006/main">
              <a:ext uri="{FF2B5EF4-FFF2-40B4-BE49-F238E27FC236}">
                <a16:creationId xmlns:a16="http://schemas.microsoft.com/office/drawing/2014/main" id="{AC0E414B-27E9-4C51-AD53-EB49C9C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24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培训评估</a:t>
            </a:r>
          </a:p>
        </p:txBody>
      </p:sp>
      <p:sp>
        <p:nvSpPr>
          <p:cNvPr id="18" name="box-body-培训评估">
            <a:extLst xmlns:a="http://schemas.openxmlformats.org/drawingml/2006/main">
              <a:ext uri="{FF2B5EF4-FFF2-40B4-BE49-F238E27FC236}">
                <a16:creationId xmlns:a16="http://schemas.microsoft.com/office/drawing/2014/main" id="{1FAB2DA1-30FA-4AC5-825A-208EF745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86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模型/数据/分析/报告</a:t>
            </a:r>
          </a:p>
        </p:txBody>
      </p:sp>
      <p:cxnSp>
        <p:nvCxnSpPr>
          <p:cNvPr id="187" name="connector-line"/>
          <p:cNvCxnSpPr/>
          <p:nvPr/>
        </p:nvCxnSpPr>
        <p:spPr>
          <a:xfrm xmlns:a="http://schemas.openxmlformats.org/drawingml/2006/main">
            <a:off x="7239000" y="2305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0" name="arrow-head">
            <a:extLst xmlns:a="http://schemas.openxmlformats.org/drawingml/2006/main">
              <a:ext uri="{FF2B5EF4-FFF2-40B4-BE49-F238E27FC236}">
                <a16:creationId xmlns:a16="http://schemas.microsoft.com/office/drawing/2014/main" id="{7449A8FF-1623-4369-99FE-9FDFE46E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288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box-教师档案">
            <a:extLst xmlns:a="http://schemas.openxmlformats.org/drawingml/2006/main">
              <a:ext uri="{FF2B5EF4-FFF2-40B4-BE49-F238E27FC236}">
                <a16:creationId xmlns:a16="http://schemas.microsoft.com/office/drawing/2014/main" id="{8C9D61E8-4C38-4686-9290-6BA39281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box-title-教师档案">
            <a:extLst xmlns:a="http://schemas.openxmlformats.org/drawingml/2006/main">
              <a:ext uri="{FF2B5EF4-FFF2-40B4-BE49-F238E27FC236}">
                <a16:creationId xmlns:a16="http://schemas.microsoft.com/office/drawing/2014/main" id="{922135E0-EEB3-42A5-AD8F-4DCF604C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教师档案</a:t>
            </a:r>
          </a:p>
        </p:txBody>
      </p:sp>
      <p:sp>
        <p:nvSpPr>
          <p:cNvPr id="23" name="box-body-教师档案">
            <a:extLst xmlns:a="http://schemas.openxmlformats.org/drawingml/2006/main">
              <a:ext uri="{FF2B5EF4-FFF2-40B4-BE49-F238E27FC236}">
                <a16:creationId xmlns:a16="http://schemas.microsoft.com/office/drawing/2014/main" id="{745866CC-A804-4251-B455-AED4584E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记录/结果/成果/轨迹</a:t>
            </a:r>
          </a:p>
        </p:txBody>
      </p:sp>
      <p:cxnSp>
        <p:nvCxnSpPr>
          <p:cNvPr id="192" name="connector-line"/>
          <p:cNvCxnSpPr/>
          <p:nvPr/>
        </p:nvCxnSpPr>
        <p:spPr>
          <a:xfrm xmlns:a="http://schemas.openxmlformats.org/drawingml/2006/main">
            <a:off x="9163050" y="2305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5" name="arrow-head">
            <a:extLst xmlns:a="http://schemas.openxmlformats.org/drawingml/2006/main">
              <a:ext uri="{FF2B5EF4-FFF2-40B4-BE49-F238E27FC236}">
                <a16:creationId xmlns:a16="http://schemas.microsoft.com/office/drawing/2014/main" id="{8F19067F-D610-479B-93A5-459CEE2E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288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box-用户推荐">
            <a:extLst xmlns:a="http://schemas.openxmlformats.org/drawingml/2006/main">
              <a:ext uri="{FF2B5EF4-FFF2-40B4-BE49-F238E27FC236}">
                <a16:creationId xmlns:a16="http://schemas.microsoft.com/office/drawing/2014/main" id="{62F53F64-D14A-4E91-91FF-FC2E8E6B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15621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box-title-用户推荐">
            <a:extLst xmlns:a="http://schemas.openxmlformats.org/drawingml/2006/main">
              <a:ext uri="{FF2B5EF4-FFF2-40B4-BE49-F238E27FC236}">
                <a16:creationId xmlns:a16="http://schemas.microsoft.com/office/drawing/2014/main" id="{E9DD3187-295A-4E2C-AC09-1D3883EA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24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用户推荐</a:t>
            </a:r>
          </a:p>
        </p:txBody>
      </p:sp>
      <p:sp>
        <p:nvSpPr>
          <p:cNvPr id="28" name="box-body-用户推荐">
            <a:extLst xmlns:a="http://schemas.openxmlformats.org/drawingml/2006/main">
              <a:ext uri="{FF2B5EF4-FFF2-40B4-BE49-F238E27FC236}">
                <a16:creationId xmlns:a16="http://schemas.microsoft.com/office/drawing/2014/main" id="{E1BFADB3-6832-4EE5-B147-D3D206A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86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画像/课程/活动/路径</a:t>
            </a:r>
          </a:p>
        </p:txBody>
      </p:sp>
      <p:sp>
        <p:nvSpPr>
          <p:cNvPr id="29" name="box-网络研修">
            <a:extLst xmlns:a="http://schemas.openxmlformats.org/drawingml/2006/main">
              <a:ext uri="{FF2B5EF4-FFF2-40B4-BE49-F238E27FC236}">
                <a16:creationId xmlns:a16="http://schemas.microsoft.com/office/drawing/2014/main" id="{521975FB-58BF-4723-B485-EC94806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box-title-网络研修">
            <a:extLst xmlns:a="http://schemas.openxmlformats.org/drawingml/2006/main">
              <a:ext uri="{FF2B5EF4-FFF2-40B4-BE49-F238E27FC236}">
                <a16:creationId xmlns:a16="http://schemas.microsoft.com/office/drawing/2014/main" id="{8E8B2E16-D06C-4562-8FB4-CCAC736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网络研修</a:t>
            </a:r>
          </a:p>
        </p:txBody>
      </p:sp>
      <p:sp>
        <p:nvSpPr>
          <p:cNvPr id="31" name="box-body-网络研修">
            <a:extLst xmlns:a="http://schemas.openxmlformats.org/drawingml/2006/main">
              <a:ext uri="{FF2B5EF4-FFF2-40B4-BE49-F238E27FC236}">
                <a16:creationId xmlns:a16="http://schemas.microsoft.com/office/drawing/2014/main" id="{B93AF5B4-B7E5-4B15-8F86-5902C84E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训研一体</a:t>
            </a:r>
          </a:p>
        </p:txBody>
      </p:sp>
      <p:sp>
        <p:nvSpPr>
          <p:cNvPr id="32" name="box-评价模型">
            <a:extLst xmlns:a="http://schemas.openxmlformats.org/drawingml/2006/main">
              <a:ext uri="{FF2B5EF4-FFF2-40B4-BE49-F238E27FC236}">
                <a16:creationId xmlns:a16="http://schemas.microsoft.com/office/drawing/2014/main" id="{E46931B8-1B67-4269-8DD5-A4B2323F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box-title-评价模型">
            <a:extLst xmlns:a="http://schemas.openxmlformats.org/drawingml/2006/main">
              <a:ext uri="{FF2B5EF4-FFF2-40B4-BE49-F238E27FC236}">
                <a16:creationId xmlns:a16="http://schemas.microsoft.com/office/drawing/2014/main" id="{03921A33-703D-4114-9188-A6D4F7FD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评价模型</a:t>
            </a:r>
          </a:p>
        </p:txBody>
      </p:sp>
      <p:sp>
        <p:nvSpPr>
          <p:cNvPr id="34" name="box-body-评价模型">
            <a:extLst xmlns:a="http://schemas.openxmlformats.org/drawingml/2006/main">
              <a:ext uri="{FF2B5EF4-FFF2-40B4-BE49-F238E27FC236}">
                <a16:creationId xmlns:a16="http://schemas.microsoft.com/office/drawing/2014/main" id="{7F712295-F2A0-41F4-BED3-7942F8F3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指标规则</a:t>
            </a:r>
          </a:p>
        </p:txBody>
      </p:sp>
      <p:sp>
        <p:nvSpPr>
          <p:cNvPr id="35" name="box-数据归集">
            <a:extLst xmlns:a="http://schemas.openxmlformats.org/drawingml/2006/main">
              <a:ext uri="{FF2B5EF4-FFF2-40B4-BE49-F238E27FC236}">
                <a16:creationId xmlns:a16="http://schemas.microsoft.com/office/drawing/2014/main" id="{E4D76B9F-CE9E-458E-81B8-54EC45DF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box-title-数据归集">
            <a:extLst xmlns:a="http://schemas.openxmlformats.org/drawingml/2006/main">
              <a:ext uri="{FF2B5EF4-FFF2-40B4-BE49-F238E27FC236}">
                <a16:creationId xmlns:a16="http://schemas.microsoft.com/office/drawing/2014/main" id="{FBB57D8C-84A8-4FB7-B3B5-8639E64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</a:t>
            </a:r>
          </a:p>
        </p:txBody>
      </p:sp>
      <p:sp>
        <p:nvSpPr>
          <p:cNvPr id="37" name="box-body-数据归集">
            <a:extLst xmlns:a="http://schemas.openxmlformats.org/drawingml/2006/main">
              <a:ext uri="{FF2B5EF4-FFF2-40B4-BE49-F238E27FC236}">
                <a16:creationId xmlns:a16="http://schemas.microsoft.com/office/drawing/2014/main" id="{0B22537C-CB8E-4A0D-823E-24947A42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时间窗口</a:t>
            </a:r>
          </a:p>
        </p:txBody>
      </p:sp>
      <p:sp>
        <p:nvSpPr>
          <p:cNvPr id="38" name="box-评估分析">
            <a:extLst xmlns:a="http://schemas.openxmlformats.org/drawingml/2006/main">
              <a:ext uri="{FF2B5EF4-FFF2-40B4-BE49-F238E27FC236}">
                <a16:creationId xmlns:a16="http://schemas.microsoft.com/office/drawing/2014/main" id="{3E7D5330-63FE-42BE-8763-530906D7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box-title-评估分析">
            <a:extLst xmlns:a="http://schemas.openxmlformats.org/drawingml/2006/main">
              <a:ext uri="{FF2B5EF4-FFF2-40B4-BE49-F238E27FC236}">
                <a16:creationId xmlns:a16="http://schemas.microsoft.com/office/drawing/2014/main" id="{00E159EB-2C97-4870-890C-E4B4C581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评估分析</a:t>
            </a:r>
          </a:p>
        </p:txBody>
      </p:sp>
      <p:sp>
        <p:nvSpPr>
          <p:cNvPr id="40" name="box-body-评估分析">
            <a:extLst xmlns:a="http://schemas.openxmlformats.org/drawingml/2006/main">
              <a:ext uri="{FF2B5EF4-FFF2-40B4-BE49-F238E27FC236}">
                <a16:creationId xmlns:a16="http://schemas.microsoft.com/office/drawing/2014/main" id="{135F3B38-117E-4EA0-BE8E-17F3FC2A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综合评价</a:t>
            </a:r>
          </a:p>
        </p:txBody>
      </p:sp>
      <p:sp>
        <p:nvSpPr>
          <p:cNvPr id="41" name="box-档案沉淀">
            <a:extLst xmlns:a="http://schemas.openxmlformats.org/drawingml/2006/main">
              <a:ext uri="{FF2B5EF4-FFF2-40B4-BE49-F238E27FC236}">
                <a16:creationId xmlns:a16="http://schemas.microsoft.com/office/drawing/2014/main" id="{279750A6-4CC9-44C6-BB3E-92975730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box-title-档案沉淀">
            <a:extLst xmlns:a="http://schemas.openxmlformats.org/drawingml/2006/main">
              <a:ext uri="{FF2B5EF4-FFF2-40B4-BE49-F238E27FC236}">
                <a16:creationId xmlns:a16="http://schemas.microsoft.com/office/drawing/2014/main" id="{C160781C-DD77-4EA9-8D5B-5019E71F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档案沉淀</a:t>
            </a:r>
          </a:p>
        </p:txBody>
      </p:sp>
      <p:sp>
        <p:nvSpPr>
          <p:cNvPr id="43" name="box-body-档案沉淀">
            <a:extLst xmlns:a="http://schemas.openxmlformats.org/drawingml/2006/main">
              <a:ext uri="{FF2B5EF4-FFF2-40B4-BE49-F238E27FC236}">
                <a16:creationId xmlns:a16="http://schemas.microsoft.com/office/drawing/2014/main" id="{84E1FB11-4825-4615-8B35-BE644D1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画像更新</a:t>
            </a:r>
          </a:p>
        </p:txBody>
      </p:sp>
      <p:sp>
        <p:nvSpPr>
          <p:cNvPr id="44" name="box-推荐服务">
            <a:extLst xmlns:a="http://schemas.openxmlformats.org/drawingml/2006/main">
              <a:ext uri="{FF2B5EF4-FFF2-40B4-BE49-F238E27FC236}">
                <a16:creationId xmlns:a16="http://schemas.microsoft.com/office/drawing/2014/main" id="{FFDBF642-DE89-42D5-BE7E-0B3785CA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38600"/>
            <a:ext cx="1333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box-title-推荐服务">
            <a:extLst xmlns:a="http://schemas.openxmlformats.org/drawingml/2006/main">
              <a:ext uri="{FF2B5EF4-FFF2-40B4-BE49-F238E27FC236}">
                <a16:creationId xmlns:a16="http://schemas.microsoft.com/office/drawing/2014/main" id="{07135D3A-4262-41E6-9B1A-43C29288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10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推荐服务</a:t>
            </a:r>
          </a:p>
        </p:txBody>
      </p:sp>
      <p:sp>
        <p:nvSpPr>
          <p:cNvPr id="46" name="box-body-推荐服务">
            <a:extLst xmlns:a="http://schemas.openxmlformats.org/drawingml/2006/main">
              <a:ext uri="{FF2B5EF4-FFF2-40B4-BE49-F238E27FC236}">
                <a16:creationId xmlns:a16="http://schemas.microsoft.com/office/drawing/2014/main" id="{F4CBFEB8-EFAF-4413-8114-20F46FF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720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精准推送</a:t>
            </a:r>
          </a:p>
        </p:txBody>
      </p:sp>
      <p:sp>
        <p:nvSpPr>
          <p:cNvPr id="47" name="flow">
            <a:extLst xmlns:a="http://schemas.openxmlformats.org/drawingml/2006/main">
              <a:ext uri="{FF2B5EF4-FFF2-40B4-BE49-F238E27FC236}">
                <a16:creationId xmlns:a16="http://schemas.microsoft.com/office/drawing/2014/main" id="{09E8D207-38AD-4221-A128-937CA00B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业务流：培训信息管理 → 研修活动组织 → 数据归集 → 培训评估 → 档案沉淀 → 用户推荐</a:t>
            </a:r>
          </a:p>
        </p:txBody>
      </p:sp>
      <p:sp>
        <p:nvSpPr>
          <p:cNvPr id="48" name="page">
            <a:extLst xmlns:a="http://schemas.openxmlformats.org/drawingml/2006/main">
              <a:ext uri="{FF2B5EF4-FFF2-40B4-BE49-F238E27FC236}">
                <a16:creationId xmlns:a16="http://schemas.microsoft.com/office/drawing/2014/main" id="{F8EE0384-CF71-48D5-8960-03DB08B0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8209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8BC0C849-E10D-467D-9BC6-C0147A85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B66930-9052-47B7-BEBB-5FB8310B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平台闭环让培训结果回到下一轮精准供给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786EAFC-DF44-4FB7-968B-BC55646D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oop-0">
            <a:extLst xmlns:a="http://schemas.openxmlformats.org/drawingml/2006/main">
              <a:ext uri="{FF2B5EF4-FFF2-40B4-BE49-F238E27FC236}">
                <a16:creationId xmlns:a16="http://schemas.microsoft.com/office/drawing/2014/main" id="{C7741F26-AA07-45F7-B2EB-3E5CD787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14475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DBB9E6B2-EB39-415A-9DDE-570F12E4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6687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培训信息管理</a:t>
            </a:r>
          </a:p>
        </p:txBody>
      </p:sp>
      <p:sp>
        <p:nvSpPr>
          <p:cNvPr id="6" name="loop-body-0">
            <a:extLst xmlns:a="http://schemas.openxmlformats.org/drawingml/2006/main">
              <a:ext uri="{FF2B5EF4-FFF2-40B4-BE49-F238E27FC236}">
                <a16:creationId xmlns:a16="http://schemas.microsoft.com/office/drawing/2014/main" id="{6136081B-FABA-4A0D-98AA-259BB77C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907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项目、课程、对象、周期</a:t>
            </a:r>
          </a:p>
        </p:txBody>
      </p:sp>
      <p:sp>
        <p:nvSpPr>
          <p:cNvPr id="7" name="loop-1">
            <a:extLst xmlns:a="http://schemas.openxmlformats.org/drawingml/2006/main">
              <a:ext uri="{FF2B5EF4-FFF2-40B4-BE49-F238E27FC236}">
                <a16:creationId xmlns:a16="http://schemas.microsoft.com/office/drawing/2014/main" id="{17E6A3B6-5070-4A03-93A9-9E0F852C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01" y="2347913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359D8CF4-F341-4FF9-871D-8C0F9782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451" y="2500313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研修活动组织</a:t>
            </a:r>
          </a:p>
        </p:txBody>
      </p:sp>
      <p:sp>
        <p:nvSpPr>
          <p:cNvPr id="9" name="loop-body-1">
            <a:extLst xmlns:a="http://schemas.openxmlformats.org/drawingml/2006/main">
              <a:ext uri="{FF2B5EF4-FFF2-40B4-BE49-F238E27FC236}">
                <a16:creationId xmlns:a16="http://schemas.microsoft.com/office/drawing/2014/main" id="{31DEE432-759E-4642-8628-AF617031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451" y="2824163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学习、任务、协作、成果</a:t>
            </a:r>
          </a:p>
        </p:txBody>
      </p:sp>
      <p:sp>
        <p:nvSpPr>
          <p:cNvPr id="10" name="loop-2">
            <a:extLst xmlns:a="http://schemas.openxmlformats.org/drawingml/2006/main">
              <a:ext uri="{FF2B5EF4-FFF2-40B4-BE49-F238E27FC236}">
                <a16:creationId xmlns:a16="http://schemas.microsoft.com/office/drawing/2014/main" id="{5F76C694-D6D6-4C5E-A552-C196AD9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01" y="4014788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28592D5B-89A1-4677-BDFC-F887A13A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451" y="4167188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</a:t>
            </a:r>
          </a:p>
        </p:txBody>
      </p:sp>
      <p:sp>
        <p:nvSpPr>
          <p:cNvPr id="12" name="loop-body-2">
            <a:extLst xmlns:a="http://schemas.openxmlformats.org/drawingml/2006/main">
              <a:ext uri="{FF2B5EF4-FFF2-40B4-BE49-F238E27FC236}">
                <a16:creationId xmlns:a16="http://schemas.microsoft.com/office/drawing/2014/main" id="{E4AF57B1-5DFA-4040-9E2D-93A84399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451" y="4491038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过程数据、成果数据、评价数据</a:t>
            </a:r>
          </a:p>
        </p:txBody>
      </p:sp>
      <p:sp>
        <p:nvSpPr>
          <p:cNvPr id="13" name="loop-3">
            <a:extLst xmlns:a="http://schemas.openxmlformats.org/drawingml/2006/main">
              <a:ext uri="{FF2B5EF4-FFF2-40B4-BE49-F238E27FC236}">
                <a16:creationId xmlns:a16="http://schemas.microsoft.com/office/drawing/2014/main" id="{256A439C-0F62-489C-9815-8C953514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48225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0876C58-1F1C-44D5-9255-18D8280A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006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培训评估</a:t>
            </a:r>
          </a:p>
        </p:txBody>
      </p:sp>
      <p:sp>
        <p:nvSpPr>
          <p:cNvPr id="15" name="loop-body-3">
            <a:extLst xmlns:a="http://schemas.openxmlformats.org/drawingml/2006/main">
              <a:ext uri="{FF2B5EF4-FFF2-40B4-BE49-F238E27FC236}">
                <a16:creationId xmlns:a16="http://schemas.microsoft.com/office/drawing/2014/main" id="{45C09B9B-133C-4D7C-97C0-42C511F6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244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模型计算、专家评价、报告输出</a:t>
            </a:r>
          </a:p>
        </p:txBody>
      </p:sp>
      <p:sp>
        <p:nvSpPr>
          <p:cNvPr id="16" name="loop-4">
            <a:extLst xmlns:a="http://schemas.openxmlformats.org/drawingml/2006/main">
              <a:ext uri="{FF2B5EF4-FFF2-40B4-BE49-F238E27FC236}">
                <a16:creationId xmlns:a16="http://schemas.microsoft.com/office/drawing/2014/main" id="{862776C1-6299-49D9-A5E2-98B23CBB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899" y="4014788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E2C7D635-61C8-47E5-BB7D-C0208D53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249" y="4167188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档案沉淀</a:t>
            </a:r>
          </a:p>
        </p:txBody>
      </p:sp>
      <p:sp>
        <p:nvSpPr>
          <p:cNvPr id="18" name="loop-body-4">
            <a:extLst xmlns:a="http://schemas.openxmlformats.org/drawingml/2006/main">
              <a:ext uri="{FF2B5EF4-FFF2-40B4-BE49-F238E27FC236}">
                <a16:creationId xmlns:a16="http://schemas.microsoft.com/office/drawing/2014/main" id="{80B40F1F-3185-4941-A371-FA604A6F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249" y="4491038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记录、结果、成果、轨迹</a:t>
            </a:r>
          </a:p>
        </p:txBody>
      </p:sp>
      <p:sp>
        <p:nvSpPr>
          <p:cNvPr id="19" name="loop-5">
            <a:extLst xmlns:a="http://schemas.openxmlformats.org/drawingml/2006/main">
              <a:ext uri="{FF2B5EF4-FFF2-40B4-BE49-F238E27FC236}">
                <a16:creationId xmlns:a16="http://schemas.microsoft.com/office/drawing/2014/main" id="{344D15A2-C349-476E-A7C4-2F66342B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899" y="2347913"/>
            <a:ext cx="1905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loop-title-5">
            <a:extLst xmlns:a="http://schemas.openxmlformats.org/drawingml/2006/main">
              <a:ext uri="{FF2B5EF4-FFF2-40B4-BE49-F238E27FC236}">
                <a16:creationId xmlns:a16="http://schemas.microsoft.com/office/drawing/2014/main" id="{44BF8A2F-8DD6-4363-B9A7-FCC9119B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249" y="2500313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用户推荐</a:t>
            </a:r>
          </a:p>
        </p:txBody>
      </p:sp>
      <p:sp>
        <p:nvSpPr>
          <p:cNvPr id="21" name="loop-body-5">
            <a:extLst xmlns:a="http://schemas.openxmlformats.org/drawingml/2006/main">
              <a:ext uri="{FF2B5EF4-FFF2-40B4-BE49-F238E27FC236}">
                <a16:creationId xmlns:a16="http://schemas.microsoft.com/office/drawing/2014/main" id="{10067F32-D97F-4E4E-81E6-350BAA26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249" y="2824163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课程、活动、资源、路径</a:t>
            </a:r>
          </a:p>
        </p:txBody>
      </p:sp>
      <p:sp>
        <p:nvSpPr>
          <p:cNvPr id="22" name="center">
            <a:extLst xmlns:a="http://schemas.openxmlformats.org/drawingml/2006/main">
              <a:ext uri="{FF2B5EF4-FFF2-40B4-BE49-F238E27FC236}">
                <a16:creationId xmlns:a16="http://schemas.microsoft.com/office/drawing/2014/main" id="{7FA918D8-5F84-4FAD-A902-2BBB41DC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05125"/>
            <a:ext cx="19050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center-text">
            <a:extLst xmlns:a="http://schemas.openxmlformats.org/drawingml/2006/main">
              <a:ext uri="{FF2B5EF4-FFF2-40B4-BE49-F238E27FC236}">
                <a16:creationId xmlns:a16="http://schemas.microsoft.com/office/drawing/2014/main" id="{BBB317C1-C95D-4455-8905-8A60D3B5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575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持续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发展服务</a:t>
            </a:r>
          </a:p>
        </p:txBody>
      </p:sp>
      <p:sp>
        <p:nvSpPr>
          <p:cNvPr id="24" name="bottom">
            <a:extLst xmlns:a="http://schemas.openxmlformats.org/drawingml/2006/main">
              <a:ext uri="{FF2B5EF4-FFF2-40B4-BE49-F238E27FC236}">
                <a16:creationId xmlns:a16="http://schemas.microsoft.com/office/drawing/2014/main" id="{4C23BC0C-F8BD-489E-B45F-0EC47BA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关键价值：评价发现问题，推荐推动改进，培训继续提升。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3315AD29-8337-4D6F-8EE3-9705A7B5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64" name="loop-arrow-line-1"/>
          <p:cNvCxnSpPr/>
          <p:nvPr/>
        </p:nvCxnSpPr>
        <p:spPr>
          <a:xfrm xmlns:a="http://schemas.openxmlformats.org/drawingml/2006/main">
            <a:off x="7067550" y="2324100"/>
            <a:ext cx="106680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28" name="loop-arrow-head-1">
            <a:extLst xmlns:a="http://schemas.openxmlformats.org/drawingml/2006/main">
              <a:ext uri="{FF2B5EF4-FFF2-40B4-BE49-F238E27FC236}">
                <a16:creationId xmlns:a16="http://schemas.microsoft.com/office/drawing/2014/main" id="{5D0D3CA1-3CF4-49A3-888C-83A9969A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972425" y="272415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loop-arrow-line-2">
            <a:extLst xmlns:a="http://schemas.openxmlformats.org/drawingml/2006/main">
              <a:ext uri="{FF2B5EF4-FFF2-40B4-BE49-F238E27FC236}">
                <a16:creationId xmlns:a16="http://schemas.microsoft.com/office/drawing/2014/main" id="{51BAF643-8F60-49EB-B314-0632C2D6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oop-arrow-head-2">
            <a:extLst xmlns:a="http://schemas.openxmlformats.org/drawingml/2006/main">
              <a:ext uri="{FF2B5EF4-FFF2-40B4-BE49-F238E27FC236}">
                <a16:creationId xmlns:a16="http://schemas.microsoft.com/office/drawing/2014/main" id="{D871EBC1-7886-4FF0-AC0C-AC7C19C7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982075" y="392430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68" name="loop-arrow-line-3"/>
          <p:cNvCxnSpPr/>
          <p:nvPr/>
        </p:nvCxnSpPr>
        <p:spPr>
          <a:xfrm xmlns:a="http://schemas.openxmlformats.org/drawingml/2006/main" flipH="1">
            <a:off x="7067550" y="4762500"/>
            <a:ext cx="106680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32" name="loop-arrow-head-3">
            <a:extLst xmlns:a="http://schemas.openxmlformats.org/drawingml/2006/main">
              <a:ext uri="{FF2B5EF4-FFF2-40B4-BE49-F238E27FC236}">
                <a16:creationId xmlns:a16="http://schemas.microsoft.com/office/drawing/2014/main" id="{5F78007B-4874-489B-9158-6C71F67E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>
            <a:off x="6953250" y="514350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70" name="loop-arrow-line-4"/>
          <p:cNvCxnSpPr/>
          <p:nvPr/>
        </p:nvCxnSpPr>
        <p:spPr>
          <a:xfrm xmlns:a="http://schemas.openxmlformats.org/drawingml/2006/main">
            <a:off x="4057650" y="4762500"/>
            <a:ext cx="106680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34" name="loop-arrow-head-4">
            <a:extLst xmlns:a="http://schemas.openxmlformats.org/drawingml/2006/main">
              <a:ext uri="{FF2B5EF4-FFF2-40B4-BE49-F238E27FC236}">
                <a16:creationId xmlns:a16="http://schemas.microsoft.com/office/drawing/2014/main" id="{6BCE594C-08FF-4CB4-8EB1-A470B304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3943350" y="466725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loop-arrow-line-5">
            <a:extLst xmlns:a="http://schemas.openxmlformats.org/drawingml/2006/main">
              <a:ext uri="{FF2B5EF4-FFF2-40B4-BE49-F238E27FC236}">
                <a16:creationId xmlns:a16="http://schemas.microsoft.com/office/drawing/2014/main" id="{B73D05A3-BC36-461C-B23F-197ABD1E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oop-arrow-head-5">
            <a:extLst xmlns:a="http://schemas.openxmlformats.org/drawingml/2006/main">
              <a:ext uri="{FF2B5EF4-FFF2-40B4-BE49-F238E27FC236}">
                <a16:creationId xmlns:a16="http://schemas.microsoft.com/office/drawing/2014/main" id="{88BA4C2A-0162-4D14-94D9-4DC4DFD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325755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74" name="loop-arrow-line-6"/>
          <p:cNvCxnSpPr/>
          <p:nvPr/>
        </p:nvCxnSpPr>
        <p:spPr>
          <a:xfrm xmlns:a="http://schemas.openxmlformats.org/drawingml/2006/main" flipV="1">
            <a:off x="4057650" y="2324100"/>
            <a:ext cx="106680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38" name="loop-arrow-head-6">
            <a:extLst xmlns:a="http://schemas.openxmlformats.org/drawingml/2006/main">
              <a:ext uri="{FF2B5EF4-FFF2-40B4-BE49-F238E27FC236}">
                <a16:creationId xmlns:a16="http://schemas.microsoft.com/office/drawing/2014/main" id="{7C5C646A-62F9-4BD6-8031-982E9379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048250" y="2247900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5677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032CA202-8988-4EE5-B91A-9F56E857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7BA76A-89EF-4D94-9612-6F55D0BE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五个子系统分别承担平台闭环中的关键职责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7AFB91E-8ACD-45D5-B061-378242C1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01">
            <a:extLst xmlns:a="http://schemas.openxmlformats.org/drawingml/2006/main">
              <a:ext uri="{FF2B5EF4-FFF2-40B4-BE49-F238E27FC236}">
                <a16:creationId xmlns:a16="http://schemas.microsoft.com/office/drawing/2014/main" id="{5BC6D548-5CB0-4D62-B7C6-A83069ED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ep-label-01">
            <a:extLst xmlns:a="http://schemas.openxmlformats.org/drawingml/2006/main">
              <a:ext uri="{FF2B5EF4-FFF2-40B4-BE49-F238E27FC236}">
                <a16:creationId xmlns:a16="http://schemas.microsoft.com/office/drawing/2014/main" id="{8DA09C6C-A296-4F3D-8022-9177917B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A656BE91-6CF5-4B8D-834C-616F5388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培训信息管理子系统</a:t>
            </a:r>
          </a:p>
        </p:txBody>
      </p:sp>
      <p:sp>
        <p:nvSpPr>
          <p:cNvPr id="7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F0C932BF-56F1-4774-9275-FBE0F112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统一项目、课程、报名、审核、人员和培训计划，提供平台基础业务入口。</a:t>
            </a:r>
          </a:p>
        </p:txBody>
      </p:sp>
      <p:sp>
        <p:nvSpPr>
          <p:cNvPr id="8" name="step-02">
            <a:extLst xmlns:a="http://schemas.openxmlformats.org/drawingml/2006/main">
              <a:ext uri="{FF2B5EF4-FFF2-40B4-BE49-F238E27FC236}">
                <a16:creationId xmlns:a16="http://schemas.microsoft.com/office/drawing/2014/main" id="{60BED051-E5F4-4133-8A9C-762A5BD0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ep-label-02">
            <a:extLst xmlns:a="http://schemas.openxmlformats.org/drawingml/2006/main">
              <a:ext uri="{FF2B5EF4-FFF2-40B4-BE49-F238E27FC236}">
                <a16:creationId xmlns:a16="http://schemas.microsoft.com/office/drawing/2014/main" id="{F7347359-A25F-45AF-BCBC-2A5616EC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E83AEB7C-AAC2-4189-BBC0-15EFB1AA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9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研修活动子系统</a:t>
            </a:r>
          </a:p>
        </p:txBody>
      </p:sp>
      <p:sp>
        <p:nvSpPr>
          <p:cNvPr id="11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57F14573-AF06-46E3-90CA-B8E64A44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承载线上、线下和混合式培训活动，记录学习、互动、任务和成果过程。</a:t>
            </a:r>
          </a:p>
        </p:txBody>
      </p:sp>
      <p:sp>
        <p:nvSpPr>
          <p:cNvPr id="12" name="step-03">
            <a:extLst xmlns:a="http://schemas.openxmlformats.org/drawingml/2006/main">
              <a:ext uri="{FF2B5EF4-FFF2-40B4-BE49-F238E27FC236}">
                <a16:creationId xmlns:a16="http://schemas.microsoft.com/office/drawing/2014/main" id="{4D241EEE-687F-47CB-8C34-3F868E5D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tep-label-03">
            <a:extLst xmlns:a="http://schemas.openxmlformats.org/drawingml/2006/main">
              <a:ext uri="{FF2B5EF4-FFF2-40B4-BE49-F238E27FC236}">
                <a16:creationId xmlns:a16="http://schemas.microsoft.com/office/drawing/2014/main" id="{B9372BE7-6F89-40D0-8FCA-102A0B9F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F43D9CBF-3E6D-401F-B308-11769FB5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9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培训评估子系统</a:t>
            </a:r>
          </a:p>
        </p:txBody>
      </p:sp>
      <p:sp>
        <p:nvSpPr>
          <p:cNvPr id="15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3D413355-F8FC-4B0D-A605-08412C94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基于评价模型和过程数据，形成个人、班级、项目和区域层面的评价结果。</a:t>
            </a:r>
          </a:p>
        </p:txBody>
      </p:sp>
      <p:sp>
        <p:nvSpPr>
          <p:cNvPr id="16" name="step-04">
            <a:extLst xmlns:a="http://schemas.openxmlformats.org/drawingml/2006/main">
              <a:ext uri="{FF2B5EF4-FFF2-40B4-BE49-F238E27FC236}">
                <a16:creationId xmlns:a16="http://schemas.microsoft.com/office/drawing/2014/main" id="{3234C340-A475-4484-BF93-BD67A39B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ep-label-04">
            <a:extLst xmlns:a="http://schemas.openxmlformats.org/drawingml/2006/main">
              <a:ext uri="{FF2B5EF4-FFF2-40B4-BE49-F238E27FC236}">
                <a16:creationId xmlns:a16="http://schemas.microsoft.com/office/drawing/2014/main" id="{DE9878CE-6621-4B71-92DA-6D874CA4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step-title-04">
            <a:extLst xmlns:a="http://schemas.openxmlformats.org/drawingml/2006/main">
              <a:ext uri="{FF2B5EF4-FFF2-40B4-BE49-F238E27FC236}">
                <a16:creationId xmlns:a16="http://schemas.microsoft.com/office/drawing/2014/main" id="{11B005F9-2ACB-4C0D-BE10-833ABAB0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教师档案子系统</a:t>
            </a:r>
          </a:p>
        </p:txBody>
      </p:sp>
      <p:sp>
        <p:nvSpPr>
          <p:cNvPr id="19" name="step-body-04">
            <a:extLst xmlns:a="http://schemas.openxmlformats.org/drawingml/2006/main">
              <a:ext uri="{FF2B5EF4-FFF2-40B4-BE49-F238E27FC236}">
                <a16:creationId xmlns:a16="http://schemas.microsoft.com/office/drawing/2014/main" id="{ED6EE124-FF28-421F-9008-82DA61CF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沉淀培训记录、评价结果、成果材料、学时证书和成长轨迹。</a:t>
            </a:r>
          </a:p>
        </p:txBody>
      </p:sp>
      <p:sp>
        <p:nvSpPr>
          <p:cNvPr id="20" name="step-05">
            <a:extLst xmlns:a="http://schemas.openxmlformats.org/drawingml/2006/main">
              <a:ext uri="{FF2B5EF4-FFF2-40B4-BE49-F238E27FC236}">
                <a16:creationId xmlns:a16="http://schemas.microsoft.com/office/drawing/2014/main" id="{A0835C23-E2C5-46E7-83C6-1C4D8038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52650"/>
            <a:ext cx="1924050" cy="2476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tep-label-05">
            <a:extLst xmlns:a="http://schemas.openxmlformats.org/drawingml/2006/main">
              <a:ext uri="{FF2B5EF4-FFF2-40B4-BE49-F238E27FC236}">
                <a16:creationId xmlns:a16="http://schemas.microsoft.com/office/drawing/2014/main" id="{69BFD45D-629C-4FBE-8F43-9DF722D4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0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step-title-05">
            <a:extLst xmlns:a="http://schemas.openxmlformats.org/drawingml/2006/main">
              <a:ext uri="{FF2B5EF4-FFF2-40B4-BE49-F238E27FC236}">
                <a16:creationId xmlns:a16="http://schemas.microsoft.com/office/drawing/2014/main" id="{D9102CF3-D8BA-4545-B7E1-ECF79796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用户推荐子系统</a:t>
            </a:r>
          </a:p>
        </p:txBody>
      </p:sp>
      <p:sp>
        <p:nvSpPr>
          <p:cNvPr id="23" name="step-body-05">
            <a:extLst xmlns:a="http://schemas.openxmlformats.org/drawingml/2006/main">
              <a:ext uri="{FF2B5EF4-FFF2-40B4-BE49-F238E27FC236}">
                <a16:creationId xmlns:a16="http://schemas.microsoft.com/office/drawing/2014/main" id="{9B4F8EFE-9B60-4CED-9BBC-A2224DDB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基于教师画像和评估结果，推荐课程、活动、资源和发展路径。</a:t>
            </a:r>
          </a:p>
        </p:txBody>
      </p:sp>
      <p:sp>
        <p:nvSpPr>
          <p:cNvPr id="24" name="note">
            <a:extLst xmlns:a="http://schemas.openxmlformats.org/drawingml/2006/main">
              <a:ext uri="{FF2B5EF4-FFF2-40B4-BE49-F238E27FC236}">
                <a16:creationId xmlns:a16="http://schemas.microsoft.com/office/drawing/2014/main" id="{E432C2CF-0C12-490E-98E0-2C5BE37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子系统之间通过培训业务流和数据流衔接，形成统一平台体验。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993F6B51-1AE5-4176-B1A1-E2053C12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772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62217877-5B7F-44A8-BB84-840DBB44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BD889A-0595-4EAB-88EB-31890061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培训信息管理和研修活动构成平台的业务起点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C6A3D2C-6214-45F0-A837-2C38DEB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培训信息管理">
            <a:extLst xmlns:a="http://schemas.openxmlformats.org/drawingml/2006/main">
              <a:ext uri="{FF2B5EF4-FFF2-40B4-BE49-F238E27FC236}">
                <a16:creationId xmlns:a16="http://schemas.microsoft.com/office/drawing/2014/main" id="{0E9ED783-DE05-4ECD-B1C2-0CF02799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495300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A">
            <a:extLst xmlns:a="http://schemas.openxmlformats.org/drawingml/2006/main">
              <a:ext uri="{FF2B5EF4-FFF2-40B4-BE49-F238E27FC236}">
                <a16:creationId xmlns:a16="http://schemas.microsoft.com/office/drawing/2014/main" id="{9F49AB1F-2576-4ED2-B588-97A0F4CD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-text-A">
            <a:extLst xmlns:a="http://schemas.openxmlformats.org/drawingml/2006/main">
              <a:ext uri="{FF2B5EF4-FFF2-40B4-BE49-F238E27FC236}">
                <a16:creationId xmlns:a16="http://schemas.microsoft.com/office/drawing/2014/main" id="{DF89BD61-6801-4C09-86A9-951CBA7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7" name="card-title-培训信息管理">
            <a:extLst xmlns:a="http://schemas.openxmlformats.org/drawingml/2006/main">
              <a:ext uri="{FF2B5EF4-FFF2-40B4-BE49-F238E27FC236}">
                <a16:creationId xmlns:a16="http://schemas.microsoft.com/office/drawing/2014/main" id="{2B6F5531-27AE-4034-9542-BECE9F3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培训信息管理</a:t>
            </a:r>
          </a:p>
        </p:txBody>
      </p:sp>
      <p:sp>
        <p:nvSpPr>
          <p:cNvPr id="8" name="card-body-培训信息管理">
            <a:extLst xmlns:a="http://schemas.openxmlformats.org/drawingml/2006/main">
              <a:ext uri="{FF2B5EF4-FFF2-40B4-BE49-F238E27FC236}">
                <a16:creationId xmlns:a16="http://schemas.microsoft.com/office/drawing/2014/main" id="{79BEE681-EE13-481F-B395-C1D44BDE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4076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统一管理项目、课程、报名审核、培训计划和角色权限，形成标准化培训基础数据。</a:t>
            </a:r>
          </a:p>
        </p:txBody>
      </p:sp>
      <p:sp>
        <p:nvSpPr>
          <p:cNvPr id="9" name="card-研修活动组织">
            <a:extLst xmlns:a="http://schemas.openxmlformats.org/drawingml/2006/main">
              <a:ext uri="{FF2B5EF4-FFF2-40B4-BE49-F238E27FC236}">
                <a16:creationId xmlns:a16="http://schemas.microsoft.com/office/drawing/2014/main" id="{6092E623-7389-4365-BDD3-DEC2402D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95300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num-B">
            <a:extLst xmlns:a="http://schemas.openxmlformats.org/drawingml/2006/main">
              <a:ext uri="{FF2B5EF4-FFF2-40B4-BE49-F238E27FC236}">
                <a16:creationId xmlns:a16="http://schemas.microsoft.com/office/drawing/2014/main" id="{BF42FCF2-3A4A-4CED-BB40-0ED5410B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-text-B">
            <a:extLst xmlns:a="http://schemas.openxmlformats.org/drawingml/2006/main">
              <a:ext uri="{FF2B5EF4-FFF2-40B4-BE49-F238E27FC236}">
                <a16:creationId xmlns:a16="http://schemas.microsoft.com/office/drawing/2014/main" id="{8581A1AB-0F10-47D7-A641-641623F3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2" name="card-title-研修活动组织">
            <a:extLst xmlns:a="http://schemas.openxmlformats.org/drawingml/2006/main">
              <a:ext uri="{FF2B5EF4-FFF2-40B4-BE49-F238E27FC236}">
                <a16:creationId xmlns:a16="http://schemas.microsoft.com/office/drawing/2014/main" id="{F2BFA5E4-9E18-4B6A-B673-64C6F6FF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研修活动组织</a:t>
            </a:r>
          </a:p>
        </p:txBody>
      </p:sp>
      <p:sp>
        <p:nvSpPr>
          <p:cNvPr id="13" name="card-body-研修活动组织">
            <a:extLst xmlns:a="http://schemas.openxmlformats.org/drawingml/2006/main">
              <a:ext uri="{FF2B5EF4-FFF2-40B4-BE49-F238E27FC236}">
                <a16:creationId xmlns:a16="http://schemas.microsoft.com/office/drawing/2014/main" id="{F7C662F0-8971-4F7F-9FBC-818266A4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4076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支持线下工作坊、网络研修、任务活动、作业成果和互动交流，形成全过程学习记录。</a:t>
            </a:r>
          </a:p>
        </p:txBody>
      </p:sp>
      <p:cxnSp>
        <p:nvCxnSpPr>
          <p:cNvPr id="101" name="connector-line"/>
          <p:cNvCxnSpPr/>
          <p:nvPr/>
        </p:nvCxnSpPr>
        <p:spPr>
          <a:xfrm xmlns:a="http://schemas.openxmlformats.org/drawingml/2006/main">
            <a:off x="5619750" y="3095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5" name="arrow-head">
            <a:extLst xmlns:a="http://schemas.openxmlformats.org/drawingml/2006/main">
              <a:ext uri="{FF2B5EF4-FFF2-40B4-BE49-F238E27FC236}">
                <a16:creationId xmlns:a16="http://schemas.microsoft.com/office/drawing/2014/main" id="{7E58EE05-888B-475B-95FF-A7C2F483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90850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bottom">
            <a:extLst xmlns:a="http://schemas.openxmlformats.org/drawingml/2006/main">
              <a:ext uri="{FF2B5EF4-FFF2-40B4-BE49-F238E27FC236}">
                <a16:creationId xmlns:a16="http://schemas.microsoft.com/office/drawing/2014/main" id="{10C659A3-5AF4-45D3-A84B-8334111C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基础数据进入活动组织，活动过程继续进入数据归集和培训评估。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7741E355-F625-4F9B-8CBE-C9998FE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571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2A867E24-B3C6-43DA-A897-4D7EDF53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EE8FA0-1D5B-4AB4-84C3-E4155A9F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培训评估子系统把过程数据转化为可解释结果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AD8E04-A463-4DE9-A925-F92CC0C2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rd-评价模型">
            <a:extLst xmlns:a="http://schemas.openxmlformats.org/drawingml/2006/main">
              <a:ext uri="{FF2B5EF4-FFF2-40B4-BE49-F238E27FC236}">
                <a16:creationId xmlns:a16="http://schemas.microsoft.com/office/drawing/2014/main" id="{1987B96F-86B2-4001-A9CF-0A2714FF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1">
            <a:extLst xmlns:a="http://schemas.openxmlformats.org/drawingml/2006/main">
              <a:ext uri="{FF2B5EF4-FFF2-40B4-BE49-F238E27FC236}">
                <a16:creationId xmlns:a16="http://schemas.microsoft.com/office/drawing/2014/main" id="{F8C94967-7062-4B22-AFEA-78F2F9C3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-text-01">
            <a:extLst xmlns:a="http://schemas.openxmlformats.org/drawingml/2006/main">
              <a:ext uri="{FF2B5EF4-FFF2-40B4-BE49-F238E27FC236}">
                <a16:creationId xmlns:a16="http://schemas.microsoft.com/office/drawing/2014/main" id="{41762719-BF71-410D-AFCA-B01959C4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card-title-评价模型">
            <a:extLst xmlns:a="http://schemas.openxmlformats.org/drawingml/2006/main">
              <a:ext uri="{FF2B5EF4-FFF2-40B4-BE49-F238E27FC236}">
                <a16:creationId xmlns:a16="http://schemas.microsoft.com/office/drawing/2014/main" id="{5A0BEE04-CB1A-4D47-82ED-8B262AF6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评价模型</a:t>
            </a:r>
          </a:p>
        </p:txBody>
      </p:sp>
      <p:sp>
        <p:nvSpPr>
          <p:cNvPr id="8" name="card-body-评价模型">
            <a:extLst xmlns:a="http://schemas.openxmlformats.org/drawingml/2006/main">
              <a:ext uri="{FF2B5EF4-FFF2-40B4-BE49-F238E27FC236}">
                <a16:creationId xmlns:a16="http://schemas.microsoft.com/office/drawing/2014/main" id="{131F3EFD-09EB-4A77-AB2B-90FB02D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2266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维度、指标、权重、等级标准、评价主体和模型版本。</a:t>
            </a:r>
          </a:p>
        </p:txBody>
      </p:sp>
      <p:sp>
        <p:nvSpPr>
          <p:cNvPr id="9" name="card-数据归集">
            <a:extLst xmlns:a="http://schemas.openxmlformats.org/drawingml/2006/main">
              <a:ext uri="{FF2B5EF4-FFF2-40B4-BE49-F238E27FC236}">
                <a16:creationId xmlns:a16="http://schemas.microsoft.com/office/drawing/2014/main" id="{B0548322-B6E1-469E-9F02-FA15E008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num-02">
            <a:extLst xmlns:a="http://schemas.openxmlformats.org/drawingml/2006/main">
              <a:ext uri="{FF2B5EF4-FFF2-40B4-BE49-F238E27FC236}">
                <a16:creationId xmlns:a16="http://schemas.microsoft.com/office/drawing/2014/main" id="{765C6F80-D26C-40D7-B134-F61294B9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-text-02">
            <a:extLst xmlns:a="http://schemas.openxmlformats.org/drawingml/2006/main">
              <a:ext uri="{FF2B5EF4-FFF2-40B4-BE49-F238E27FC236}">
                <a16:creationId xmlns:a16="http://schemas.microsoft.com/office/drawing/2014/main" id="{B9DB7C81-757B-4608-8E40-60AAD353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0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card-title-数据归集">
            <a:extLst xmlns:a="http://schemas.openxmlformats.org/drawingml/2006/main">
              <a:ext uri="{FF2B5EF4-FFF2-40B4-BE49-F238E27FC236}">
                <a16:creationId xmlns:a16="http://schemas.microsoft.com/office/drawing/2014/main" id="{25C7B752-12E8-4896-9062-C3323E05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</a:t>
            </a:r>
          </a:p>
        </p:txBody>
      </p:sp>
      <p:sp>
        <p:nvSpPr>
          <p:cNvPr id="13" name="card-body-数据归集">
            <a:extLst xmlns:a="http://schemas.openxmlformats.org/drawingml/2006/main">
              <a:ext uri="{FF2B5EF4-FFF2-40B4-BE49-F238E27FC236}">
                <a16:creationId xmlns:a16="http://schemas.microsoft.com/office/drawing/2014/main" id="{9BA0D3E7-27EC-4C84-A08B-7C83BB96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2266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基础数据、过程数据、成果数据、评价数据和时间窗口。</a:t>
            </a:r>
          </a:p>
        </p:txBody>
      </p:sp>
      <p:sp>
        <p:nvSpPr>
          <p:cNvPr id="14" name="card-评估分析">
            <a:extLst xmlns:a="http://schemas.openxmlformats.org/drawingml/2006/main">
              <a:ext uri="{FF2B5EF4-FFF2-40B4-BE49-F238E27FC236}">
                <a16:creationId xmlns:a16="http://schemas.microsoft.com/office/drawing/2014/main" id="{B8FCDADB-22A2-4A50-BE27-73461B3E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143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num-03">
            <a:extLst xmlns:a="http://schemas.openxmlformats.org/drawingml/2006/main">
              <a:ext uri="{FF2B5EF4-FFF2-40B4-BE49-F238E27FC236}">
                <a16:creationId xmlns:a16="http://schemas.microsoft.com/office/drawing/2014/main" id="{AA4970B8-93DF-404A-BBDA-1D2F26B8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text-03">
            <a:extLst xmlns:a="http://schemas.openxmlformats.org/drawingml/2006/main">
              <a:ext uri="{FF2B5EF4-FFF2-40B4-BE49-F238E27FC236}">
                <a16:creationId xmlns:a16="http://schemas.microsoft.com/office/drawing/2014/main" id="{3F6BA9DD-205A-492F-B6BB-6963CACD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card-title-评估分析">
            <a:extLst xmlns:a="http://schemas.openxmlformats.org/drawingml/2006/main">
              <a:ext uri="{FF2B5EF4-FFF2-40B4-BE49-F238E27FC236}">
                <a16:creationId xmlns:a16="http://schemas.microsoft.com/office/drawing/2014/main" id="{8DCBA1AA-7D54-456C-9DAF-4CFA31BD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评估分析</a:t>
            </a:r>
          </a:p>
        </p:txBody>
      </p:sp>
      <p:sp>
        <p:nvSpPr>
          <p:cNvPr id="18" name="card-body-评估分析">
            <a:extLst xmlns:a="http://schemas.openxmlformats.org/drawingml/2006/main">
              <a:ext uri="{FF2B5EF4-FFF2-40B4-BE49-F238E27FC236}">
                <a16:creationId xmlns:a16="http://schemas.microsoft.com/office/drawing/2014/main" id="{AF703233-BEC5-4C11-B9E4-3141A3E3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2266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个人评估、班级评估、项目评估、趋势分析和报告输出。</a:t>
            </a:r>
          </a:p>
        </p:txBody>
      </p:sp>
      <p:sp>
        <p:nvSpPr>
          <p:cNvPr id="19" name="output">
            <a:extLst xmlns:a="http://schemas.openxmlformats.org/drawingml/2006/main">
              <a:ext uri="{FF2B5EF4-FFF2-40B4-BE49-F238E27FC236}">
                <a16:creationId xmlns:a16="http://schemas.microsoft.com/office/drawing/2014/main" id="{61D31520-73FF-4DBD-9755-76AD142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输出：过程评价 + 结果评价 + 综合评价 + 改进建议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4F95B042-8F63-4DE3-8939-F338907E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4954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A26144D2-7039-41BC-A188-FFDBAAAE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FDE3DD-6758-4821-8517-265693FD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档案与推荐让培训成果持续发挥作用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0840F69-6C23-460F-9567-123A5096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band">
            <a:extLst xmlns:a="http://schemas.openxmlformats.org/drawingml/2006/main">
              <a:ext uri="{FF2B5EF4-FFF2-40B4-BE49-F238E27FC236}">
                <a16:creationId xmlns:a16="http://schemas.microsoft.com/office/drawing/2014/main" id="{5A14494E-4061-480F-B69B-898B127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rchive-title">
            <a:extLst xmlns:a="http://schemas.openxmlformats.org/drawingml/2006/main">
              <a:ext uri="{FF2B5EF4-FFF2-40B4-BE49-F238E27FC236}">
                <a16:creationId xmlns:a16="http://schemas.microsoft.com/office/drawing/2014/main" id="{A0E3CA9D-C59A-4E83-827A-B8FF0881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教师档案</a:t>
            </a:r>
          </a:p>
        </p:txBody>
      </p:sp>
      <p:sp>
        <p:nvSpPr>
          <p:cNvPr id="6" name="pill-培训记录">
            <a:extLst xmlns:a="http://schemas.openxmlformats.org/drawingml/2006/main">
              <a:ext uri="{FF2B5EF4-FFF2-40B4-BE49-F238E27FC236}">
                <a16:creationId xmlns:a16="http://schemas.microsoft.com/office/drawing/2014/main" id="{EF501FF7-8AA8-4596-96C1-AB3D9DF4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ill-text-培训记录">
            <a:extLst xmlns:a="http://schemas.openxmlformats.org/drawingml/2006/main">
              <a:ext uri="{FF2B5EF4-FFF2-40B4-BE49-F238E27FC236}">
                <a16:creationId xmlns:a16="http://schemas.microsoft.com/office/drawing/2014/main" id="{F4CF95F0-5832-4BEC-912E-80E813F4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培训记录</a:t>
            </a:r>
          </a:p>
        </p:txBody>
      </p:sp>
      <p:sp>
        <p:nvSpPr>
          <p:cNvPr id="8" name="pill-评价结果">
            <a:extLst xmlns:a="http://schemas.openxmlformats.org/drawingml/2006/main">
              <a:ext uri="{FF2B5EF4-FFF2-40B4-BE49-F238E27FC236}">
                <a16:creationId xmlns:a16="http://schemas.microsoft.com/office/drawing/2014/main" id="{9361375C-22E6-4994-87DC-61709AA0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ill-text-评价结果">
            <a:extLst xmlns:a="http://schemas.openxmlformats.org/drawingml/2006/main">
              <a:ext uri="{FF2B5EF4-FFF2-40B4-BE49-F238E27FC236}">
                <a16:creationId xmlns:a16="http://schemas.microsoft.com/office/drawing/2014/main" id="{0BC40DFF-7C52-49F2-B197-0461A8ED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评价结果</a:t>
            </a:r>
          </a:p>
        </p:txBody>
      </p:sp>
      <p:sp>
        <p:nvSpPr>
          <p:cNvPr id="10" name="pill-成果材料">
            <a:extLst xmlns:a="http://schemas.openxmlformats.org/drawingml/2006/main">
              <a:ext uri="{FF2B5EF4-FFF2-40B4-BE49-F238E27FC236}">
                <a16:creationId xmlns:a16="http://schemas.microsoft.com/office/drawing/2014/main" id="{3058D407-2F5D-4E6E-9CBA-1CFD1468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ill-text-成果材料">
            <a:extLst xmlns:a="http://schemas.openxmlformats.org/drawingml/2006/main">
              <a:ext uri="{FF2B5EF4-FFF2-40B4-BE49-F238E27FC236}">
                <a16:creationId xmlns:a16="http://schemas.microsoft.com/office/drawing/2014/main" id="{A9D7991E-C8C6-4CE4-9B03-56317396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成果材料</a:t>
            </a:r>
          </a:p>
        </p:txBody>
      </p:sp>
      <p:sp>
        <p:nvSpPr>
          <p:cNvPr id="12" name="pill-成长轨迹">
            <a:extLst xmlns:a="http://schemas.openxmlformats.org/drawingml/2006/main">
              <a:ext uri="{FF2B5EF4-FFF2-40B4-BE49-F238E27FC236}">
                <a16:creationId xmlns:a16="http://schemas.microsoft.com/office/drawing/2014/main" id="{5806E965-9BF2-469D-8D24-B5638BC0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pill-text-成长轨迹">
            <a:extLst xmlns:a="http://schemas.openxmlformats.org/drawingml/2006/main">
              <a:ext uri="{FF2B5EF4-FFF2-40B4-BE49-F238E27FC236}">
                <a16:creationId xmlns:a16="http://schemas.microsoft.com/office/drawing/2014/main" id="{8F14C81A-80E5-49F4-87B5-328886F4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成长轨迹</a:t>
            </a:r>
          </a:p>
        </p:txBody>
      </p:sp>
      <p:cxnSp>
        <p:nvCxnSpPr>
          <p:cNvPr id="134" name="connector-line"/>
          <p:cNvCxnSpPr/>
          <p:nvPr/>
        </p:nvCxnSpPr>
        <p:spPr>
          <a:xfrm xmlns:a="http://schemas.openxmlformats.org/drawingml/2006/main">
            <a:off x="4000500" y="36004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5" name="arrow-head">
            <a:extLst xmlns:a="http://schemas.openxmlformats.org/drawingml/2006/main">
              <a:ext uri="{FF2B5EF4-FFF2-40B4-BE49-F238E27FC236}">
                <a16:creationId xmlns:a16="http://schemas.microsoft.com/office/drawing/2014/main" id="{34A28BB3-6B2B-46C1-B4B7-1AB61966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2476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center-band">
            <a:extLst xmlns:a="http://schemas.openxmlformats.org/drawingml/2006/main">
              <a:ext uri="{FF2B5EF4-FFF2-40B4-BE49-F238E27FC236}">
                <a16:creationId xmlns:a16="http://schemas.microsoft.com/office/drawing/2014/main" id="{B405C816-3859-4E5F-8241-3BC266F4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portrait">
            <a:extLst xmlns:a="http://schemas.openxmlformats.org/drawingml/2006/main">
              <a:ext uri="{FF2B5EF4-FFF2-40B4-BE49-F238E27FC236}">
                <a16:creationId xmlns:a16="http://schemas.microsoft.com/office/drawing/2014/main" id="{F64EAAE6-8842-493C-B639-1DDCB19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教师画像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与能力诊断</a:t>
            </a:r>
          </a:p>
        </p:txBody>
      </p:sp>
      <p:cxnSp>
        <p:nvCxnSpPr>
          <p:cNvPr id="138" name="connector-line"/>
          <p:cNvCxnSpPr/>
          <p:nvPr/>
        </p:nvCxnSpPr>
        <p:spPr>
          <a:xfrm xmlns:a="http://schemas.openxmlformats.org/drawingml/2006/main">
            <a:off x="7334250" y="36004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9" name="arrow-head">
            <a:extLst xmlns:a="http://schemas.openxmlformats.org/drawingml/2006/main">
              <a:ext uri="{FF2B5EF4-FFF2-40B4-BE49-F238E27FC236}">
                <a16:creationId xmlns:a16="http://schemas.microsoft.com/office/drawing/2014/main" id="{340A62C4-DD1B-4F5B-9A9F-2B5CD665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86150"/>
            <a:ext cx="2476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right-band">
            <a:extLst xmlns:a="http://schemas.openxmlformats.org/drawingml/2006/main">
              <a:ext uri="{FF2B5EF4-FFF2-40B4-BE49-F238E27FC236}">
                <a16:creationId xmlns:a16="http://schemas.microsoft.com/office/drawing/2014/main" id="{40F96317-3F9E-4E05-8DE8-BCC6AF05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857500" cy="3143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recommend-title">
            <a:extLst xmlns:a="http://schemas.openxmlformats.org/drawingml/2006/main">
              <a:ext uri="{FF2B5EF4-FFF2-40B4-BE49-F238E27FC236}">
                <a16:creationId xmlns:a16="http://schemas.microsoft.com/office/drawing/2014/main" id="{B9CECB96-C232-43BF-9050-0AC21A71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推荐服务</a:t>
            </a:r>
          </a:p>
        </p:txBody>
      </p:sp>
      <p:sp>
        <p:nvSpPr>
          <p:cNvPr id="22" name="pill-推荐课程">
            <a:extLst xmlns:a="http://schemas.openxmlformats.org/drawingml/2006/main">
              <a:ext uri="{FF2B5EF4-FFF2-40B4-BE49-F238E27FC236}">
                <a16:creationId xmlns:a16="http://schemas.microsoft.com/office/drawing/2014/main" id="{200289A7-2002-4873-AD29-67593A7B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2057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pill-text-推荐课程">
            <a:extLst xmlns:a="http://schemas.openxmlformats.org/drawingml/2006/main">
              <a:ext uri="{FF2B5EF4-FFF2-40B4-BE49-F238E27FC236}">
                <a16:creationId xmlns:a16="http://schemas.microsoft.com/office/drawing/2014/main" id="{B07FF850-60DD-48FE-9325-FBC5A19A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推荐课程</a:t>
            </a:r>
          </a:p>
        </p:txBody>
      </p:sp>
      <p:sp>
        <p:nvSpPr>
          <p:cNvPr id="24" name="pill-推荐活动">
            <a:extLst xmlns:a="http://schemas.openxmlformats.org/drawingml/2006/main">
              <a:ext uri="{FF2B5EF4-FFF2-40B4-BE49-F238E27FC236}">
                <a16:creationId xmlns:a16="http://schemas.microsoft.com/office/drawing/2014/main" id="{59525BBA-7EA3-46B4-826D-48E0E5E2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48050"/>
            <a:ext cx="2057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pill-text-推荐活动">
            <a:extLst xmlns:a="http://schemas.openxmlformats.org/drawingml/2006/main">
              <a:ext uri="{FF2B5EF4-FFF2-40B4-BE49-F238E27FC236}">
                <a16:creationId xmlns:a16="http://schemas.microsoft.com/office/drawing/2014/main" id="{890E14BB-34F9-426E-9B76-5803626C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推荐活动</a:t>
            </a:r>
          </a:p>
        </p:txBody>
      </p:sp>
      <p:sp>
        <p:nvSpPr>
          <p:cNvPr id="26" name="pill-推荐资源">
            <a:extLst xmlns:a="http://schemas.openxmlformats.org/drawingml/2006/main">
              <a:ext uri="{FF2B5EF4-FFF2-40B4-BE49-F238E27FC236}">
                <a16:creationId xmlns:a16="http://schemas.microsoft.com/office/drawing/2014/main" id="{48102536-8DEF-4C1C-B1B8-EBBE621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2057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pill-text-推荐资源">
            <a:extLst xmlns:a="http://schemas.openxmlformats.org/drawingml/2006/main">
              <a:ext uri="{FF2B5EF4-FFF2-40B4-BE49-F238E27FC236}">
                <a16:creationId xmlns:a16="http://schemas.microsoft.com/office/drawing/2014/main" id="{0A807E87-70AA-4E04-8CEE-71772CAA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62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推荐资源</a:t>
            </a:r>
          </a:p>
        </p:txBody>
      </p:sp>
      <p:sp>
        <p:nvSpPr>
          <p:cNvPr id="28" name="pill-推荐路径">
            <a:extLst xmlns:a="http://schemas.openxmlformats.org/drawingml/2006/main">
              <a:ext uri="{FF2B5EF4-FFF2-40B4-BE49-F238E27FC236}">
                <a16:creationId xmlns:a16="http://schemas.microsoft.com/office/drawing/2014/main" id="{09380704-8B80-49C0-A1ED-FAFE541A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62450"/>
            <a:ext cx="2057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pill-text-推荐路径">
            <a:extLst xmlns:a="http://schemas.openxmlformats.org/drawingml/2006/main">
              <a:ext uri="{FF2B5EF4-FFF2-40B4-BE49-F238E27FC236}">
                <a16:creationId xmlns:a16="http://schemas.microsoft.com/office/drawing/2014/main" id="{80C81357-045F-4775-BE52-1710CD1B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19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推荐路径</a:t>
            </a:r>
          </a:p>
        </p:txBody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75F532E1-FC19-42EB-B7E6-53B4AB97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180369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65C0CA40-B499-4A3F-9441-F5649CCE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FEF7A-76AA-4F54-9330-AE4B708A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六个核心模块提供可复用的平台能力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07E7F5F-3260-4BC2-9555-919FD096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-网络研修模块">
            <a:extLst xmlns:a="http://schemas.openxmlformats.org/drawingml/2006/main">
              <a:ext uri="{FF2B5EF4-FFF2-40B4-BE49-F238E27FC236}">
                <a16:creationId xmlns:a16="http://schemas.microsoft.com/office/drawing/2014/main" id="{ADEDA108-C6F1-4994-A450-4D07DF7E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box-title-网络研修模块">
            <a:extLst xmlns:a="http://schemas.openxmlformats.org/drawingml/2006/main">
              <a:ext uri="{FF2B5EF4-FFF2-40B4-BE49-F238E27FC236}">
                <a16:creationId xmlns:a16="http://schemas.microsoft.com/office/drawing/2014/main" id="{C64FEDCB-95CC-40B4-93DE-70F84E86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网络研修模块</a:t>
            </a:r>
          </a:p>
        </p:txBody>
      </p:sp>
      <p:sp>
        <p:nvSpPr>
          <p:cNvPr id="6" name="box-body-网络研修模块">
            <a:extLst xmlns:a="http://schemas.openxmlformats.org/drawingml/2006/main">
              <a:ext uri="{FF2B5EF4-FFF2-40B4-BE49-F238E27FC236}">
                <a16:creationId xmlns:a16="http://schemas.microsoft.com/office/drawing/2014/main" id="{CB525D8B-7447-4F30-A15D-E70915E6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训研一体化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在线学习、任务实践、协同研究、成果共创</a:t>
            </a:r>
          </a:p>
        </p:txBody>
      </p:sp>
      <p:sp>
        <p:nvSpPr>
          <p:cNvPr id="7" name="box-评价模型模块">
            <a:extLst xmlns:a="http://schemas.openxmlformats.org/drawingml/2006/main">
              <a:ext uri="{FF2B5EF4-FFF2-40B4-BE49-F238E27FC236}">
                <a16:creationId xmlns:a16="http://schemas.microsoft.com/office/drawing/2014/main" id="{6BC6EAE0-F963-4788-9512-5CEE52C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box-title-评价模型模块">
            <a:extLst xmlns:a="http://schemas.openxmlformats.org/drawingml/2006/main">
              <a:ext uri="{FF2B5EF4-FFF2-40B4-BE49-F238E27FC236}">
                <a16:creationId xmlns:a16="http://schemas.microsoft.com/office/drawing/2014/main" id="{8D5141A0-6CE5-4FAB-9557-BE71F14F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71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评价模型模块</a:t>
            </a:r>
          </a:p>
        </p:txBody>
      </p:sp>
      <p:sp>
        <p:nvSpPr>
          <p:cNvPr id="9" name="box-body-评价模型模块">
            <a:extLst xmlns:a="http://schemas.openxmlformats.org/drawingml/2006/main">
              <a:ext uri="{FF2B5EF4-FFF2-40B4-BE49-F238E27FC236}">
                <a16:creationId xmlns:a16="http://schemas.microsoft.com/office/drawing/2014/main" id="{6C0EB9CD-1C12-4BF4-9B6D-2E3CF4FB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统一评价标准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评价维度、指标体系、权重规则、等级标准</a:t>
            </a:r>
          </a:p>
        </p:txBody>
      </p:sp>
      <p:sp>
        <p:nvSpPr>
          <p:cNvPr id="10" name="box-数据归集模块">
            <a:extLst xmlns:a="http://schemas.openxmlformats.org/drawingml/2006/main">
              <a:ext uri="{FF2B5EF4-FFF2-40B4-BE49-F238E27FC236}">
                <a16:creationId xmlns:a16="http://schemas.microsoft.com/office/drawing/2014/main" id="{37794A2C-CD4E-47F2-B2D1-BCCE9D59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box-title-数据归集模块">
            <a:extLst xmlns:a="http://schemas.openxmlformats.org/drawingml/2006/main">
              <a:ext uri="{FF2B5EF4-FFF2-40B4-BE49-F238E27FC236}">
                <a16:creationId xmlns:a16="http://schemas.microsoft.com/office/drawing/2014/main" id="{2CCFBF70-6773-4FB2-B87F-F3EBB175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数据归集模块</a:t>
            </a:r>
          </a:p>
        </p:txBody>
      </p:sp>
      <p:sp>
        <p:nvSpPr>
          <p:cNvPr id="12" name="box-body-数据归集模块">
            <a:extLst xmlns:a="http://schemas.openxmlformats.org/drawingml/2006/main">
              <a:ext uri="{FF2B5EF4-FFF2-40B4-BE49-F238E27FC236}">
                <a16:creationId xmlns:a16="http://schemas.microsoft.com/office/drawing/2014/main" id="{256C8026-4CE3-417D-9AB6-83AD9EBD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全过程留痕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时间窗口、过程数据、成果数据、评价数据</a:t>
            </a:r>
          </a:p>
        </p:txBody>
      </p:sp>
      <p:sp>
        <p:nvSpPr>
          <p:cNvPr id="13" name="box-评估分析模块">
            <a:extLst xmlns:a="http://schemas.openxmlformats.org/drawingml/2006/main">
              <a:ext uri="{FF2B5EF4-FFF2-40B4-BE49-F238E27FC236}">
                <a16:creationId xmlns:a16="http://schemas.microsoft.com/office/drawing/2014/main" id="{F1336F41-1369-40BD-A675-D3671BFB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box-title-评估分析模块">
            <a:extLst xmlns:a="http://schemas.openxmlformats.org/drawingml/2006/main">
              <a:ext uri="{FF2B5EF4-FFF2-40B4-BE49-F238E27FC236}">
                <a16:creationId xmlns:a16="http://schemas.microsoft.com/office/drawing/2014/main" id="{F117C9BC-02F7-4300-88E7-D734F1D8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评估分析模块</a:t>
            </a:r>
          </a:p>
        </p:txBody>
      </p:sp>
      <p:sp>
        <p:nvSpPr>
          <p:cNvPr id="15" name="box-body-评估分析模块">
            <a:extLst xmlns:a="http://schemas.openxmlformats.org/drawingml/2006/main">
              <a:ext uri="{FF2B5EF4-FFF2-40B4-BE49-F238E27FC236}">
                <a16:creationId xmlns:a16="http://schemas.microsoft.com/office/drawing/2014/main" id="{5378498B-A20D-43E2-8AB9-CDD94AB6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质量分析输出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综合评价、趋势分析、报表统计、结果反馈</a:t>
            </a:r>
          </a:p>
        </p:txBody>
      </p:sp>
      <p:sp>
        <p:nvSpPr>
          <p:cNvPr id="16" name="box-档案沉淀模块">
            <a:extLst xmlns:a="http://schemas.openxmlformats.org/drawingml/2006/main">
              <a:ext uri="{FF2B5EF4-FFF2-40B4-BE49-F238E27FC236}">
                <a16:creationId xmlns:a16="http://schemas.microsoft.com/office/drawing/2014/main" id="{47040320-0373-456B-A209-BDF9E294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box-title-档案沉淀模块">
            <a:extLst xmlns:a="http://schemas.openxmlformats.org/drawingml/2006/main">
              <a:ext uri="{FF2B5EF4-FFF2-40B4-BE49-F238E27FC236}">
                <a16:creationId xmlns:a16="http://schemas.microsoft.com/office/drawing/2014/main" id="{92066375-A426-46D8-80CF-CF7ABF57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档案沉淀模块</a:t>
            </a:r>
          </a:p>
        </p:txBody>
      </p:sp>
      <p:sp>
        <p:nvSpPr>
          <p:cNvPr id="18" name="box-body-档案沉淀模块">
            <a:extLst xmlns:a="http://schemas.openxmlformats.org/drawingml/2006/main">
              <a:ext uri="{FF2B5EF4-FFF2-40B4-BE49-F238E27FC236}">
                <a16:creationId xmlns:a16="http://schemas.microsoft.com/office/drawing/2014/main" id="{DCB98720-017E-41E9-AD4B-5076E43C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成长资产沉淀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记录归档、证据归集、成果沉淀、画像更新</a:t>
            </a:r>
          </a:p>
        </p:txBody>
      </p:sp>
      <p:sp>
        <p:nvSpPr>
          <p:cNvPr id="19" name="box-推荐服务模块">
            <a:extLst xmlns:a="http://schemas.openxmlformats.org/drawingml/2006/main">
              <a:ext uri="{FF2B5EF4-FFF2-40B4-BE49-F238E27FC236}">
                <a16:creationId xmlns:a16="http://schemas.microsoft.com/office/drawing/2014/main" id="{19C61468-56C3-478A-A294-835C46C2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3143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box-title-推荐服务模块">
            <a:extLst xmlns:a="http://schemas.openxmlformats.org/drawingml/2006/main">
              <a:ext uri="{FF2B5EF4-FFF2-40B4-BE49-F238E27FC236}">
                <a16:creationId xmlns:a16="http://schemas.microsoft.com/office/drawing/2014/main" id="{7FE56DE9-A01B-4A6B-B05E-4B6466AF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243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推荐服务模块</a:t>
            </a:r>
          </a:p>
        </p:txBody>
      </p:sp>
      <p:sp>
        <p:nvSpPr>
          <p:cNvPr id="21" name="box-body-推荐服务模块">
            <a:extLst xmlns:a="http://schemas.openxmlformats.org/drawingml/2006/main">
              <a:ext uri="{FF2B5EF4-FFF2-40B4-BE49-F238E27FC236}">
                <a16:creationId xmlns:a16="http://schemas.microsoft.com/office/drawing/2014/main" id="{A3812E01-DB35-4FC0-BBA7-D6581532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862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精准发展服务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能力诊断、内容推荐、路径推荐、精准推送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FF5A2E69-21CD-4BF1-9D07-43BE7FA6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95385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eyebrow">
            <a:extLst xmlns:a="http://schemas.openxmlformats.org/drawingml/2006/main">
              <a:ext uri="{FF2B5EF4-FFF2-40B4-BE49-F238E27FC236}">
                <a16:creationId xmlns:a16="http://schemas.microsoft.com/office/drawing/2014/main" id="{A79D7F1C-3DD3-40A2-A3D3-3E50EFA7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BD49E7-50E4-4AB7-8C1F-BF92DD2E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数据流转贯穿项目创建到推荐服务的完整链路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2883828-BF14-4B12-B34F-D7EE51B7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in-a">
            <a:extLst xmlns:a="http://schemas.openxmlformats.org/drawingml/2006/main">
              <a:ext uri="{FF2B5EF4-FFF2-40B4-BE49-F238E27FC236}">
                <a16:creationId xmlns:a16="http://schemas.microsoft.com/office/drawing/2014/main" id="{BF2A9CE0-2C3A-4B3E-9F28-CBDAEF4B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业务实施链路</a:t>
            </a:r>
          </a:p>
        </p:txBody>
      </p:sp>
      <p:sp>
        <p:nvSpPr>
          <p:cNvPr id="5" name="chain-b">
            <a:extLst xmlns:a="http://schemas.openxmlformats.org/drawingml/2006/main">
              <a:ext uri="{FF2B5EF4-FFF2-40B4-BE49-F238E27FC236}">
                <a16:creationId xmlns:a16="http://schemas.microsoft.com/office/drawing/2014/main" id="{8C50BE9F-C7F1-41EF-81E2-869CB03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评价沉淀链路</a:t>
            </a:r>
          </a:p>
        </p:txBody>
      </p:sp>
      <p:sp>
        <p:nvSpPr>
          <p:cNvPr id="6" name="data-top-0">
            <a:extLst xmlns:a="http://schemas.openxmlformats.org/drawingml/2006/main">
              <a:ext uri="{FF2B5EF4-FFF2-40B4-BE49-F238E27FC236}">
                <a16:creationId xmlns:a16="http://schemas.microsoft.com/office/drawing/2014/main" id="{74DD03C0-8783-4FF6-BFFA-B0DF1CF3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data-top-num-0">
            <a:extLst xmlns:a="http://schemas.openxmlformats.org/drawingml/2006/main">
              <a:ext uri="{FF2B5EF4-FFF2-40B4-BE49-F238E27FC236}">
                <a16:creationId xmlns:a16="http://schemas.microsoft.com/office/drawing/2014/main" id="{3A8EF9C2-4140-46C8-A1DC-C57FACD2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data-top-title-0">
            <a:extLst xmlns:a="http://schemas.openxmlformats.org/drawingml/2006/main">
              <a:ext uri="{FF2B5EF4-FFF2-40B4-BE49-F238E27FC236}">
                <a16:creationId xmlns:a16="http://schemas.microsoft.com/office/drawing/2014/main" id="{9C54930B-73CA-424E-8DC2-802A0DA9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项目创建</a:t>
            </a:r>
          </a:p>
        </p:txBody>
      </p:sp>
      <p:cxnSp>
        <p:nvCxnSpPr>
          <p:cNvPr id="315" name="connector-line"/>
          <p:cNvCxnSpPr/>
          <p:nvPr/>
        </p:nvCxnSpPr>
        <p:spPr>
          <a:xfrm xmlns:a="http://schemas.openxmlformats.org/drawingml/2006/main">
            <a:off x="2381250" y="28194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arrow-head">
            <a:extLst xmlns:a="http://schemas.openxmlformats.org/drawingml/2006/main">
              <a:ext uri="{FF2B5EF4-FFF2-40B4-BE49-F238E27FC236}">
                <a16:creationId xmlns:a16="http://schemas.microsoft.com/office/drawing/2014/main" id="{53E9650B-6B0B-42F5-9395-FA07858E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33675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data-top-1">
            <a:extLst xmlns:a="http://schemas.openxmlformats.org/drawingml/2006/main">
              <a:ext uri="{FF2B5EF4-FFF2-40B4-BE49-F238E27FC236}">
                <a16:creationId xmlns:a16="http://schemas.microsoft.com/office/drawing/2014/main" id="{665D2CA3-56C7-4B3A-9229-53217963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data-top-num-1">
            <a:extLst xmlns:a="http://schemas.openxmlformats.org/drawingml/2006/main">
              <a:ext uri="{FF2B5EF4-FFF2-40B4-BE49-F238E27FC236}">
                <a16:creationId xmlns:a16="http://schemas.microsoft.com/office/drawing/2014/main" id="{9BAE74B7-69E1-4A36-BE18-A7E189C8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data-top-title-1">
            <a:extLst xmlns:a="http://schemas.openxmlformats.org/drawingml/2006/main">
              <a:ext uri="{FF2B5EF4-FFF2-40B4-BE49-F238E27FC236}">
                <a16:creationId xmlns:a16="http://schemas.microsoft.com/office/drawing/2014/main" id="{20C5A6DB-CEA2-4499-A2FC-7CF322A3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报名审核</a:t>
            </a:r>
          </a:p>
        </p:txBody>
      </p:sp>
      <p:cxnSp>
        <p:nvCxnSpPr>
          <p:cNvPr id="320" name="connector-line"/>
          <p:cNvCxnSpPr/>
          <p:nvPr/>
        </p:nvCxnSpPr>
        <p:spPr>
          <a:xfrm xmlns:a="http://schemas.openxmlformats.org/drawingml/2006/main">
            <a:off x="4648200" y="28194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5" name="arrow-head">
            <a:extLst xmlns:a="http://schemas.openxmlformats.org/drawingml/2006/main">
              <a:ext uri="{FF2B5EF4-FFF2-40B4-BE49-F238E27FC236}">
                <a16:creationId xmlns:a16="http://schemas.microsoft.com/office/drawing/2014/main" id="{E3CB62F9-5C9B-43F0-B06B-7FE4DE0E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33675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data-top-2">
            <a:extLst xmlns:a="http://schemas.openxmlformats.org/drawingml/2006/main">
              <a:ext uri="{FF2B5EF4-FFF2-40B4-BE49-F238E27FC236}">
                <a16:creationId xmlns:a16="http://schemas.microsoft.com/office/drawing/2014/main" id="{78A285CB-00AC-4156-B94F-66D7F7D1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data-top-num-2">
            <a:extLst xmlns:a="http://schemas.openxmlformats.org/drawingml/2006/main">
              <a:ext uri="{FF2B5EF4-FFF2-40B4-BE49-F238E27FC236}">
                <a16:creationId xmlns:a16="http://schemas.microsoft.com/office/drawing/2014/main" id="{10E4035C-4284-4414-BCFA-4C83610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data-top-title-2">
            <a:extLst xmlns:a="http://schemas.openxmlformats.org/drawingml/2006/main">
              <a:ext uri="{FF2B5EF4-FFF2-40B4-BE49-F238E27FC236}">
                <a16:creationId xmlns:a16="http://schemas.microsoft.com/office/drawing/2014/main" id="{B5BDAE77-FB12-4D66-A873-6B8B389A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研修实施</a:t>
            </a:r>
          </a:p>
        </p:txBody>
      </p:sp>
      <p:cxnSp>
        <p:nvCxnSpPr>
          <p:cNvPr id="325" name="connector-line"/>
          <p:cNvCxnSpPr/>
          <p:nvPr/>
        </p:nvCxnSpPr>
        <p:spPr>
          <a:xfrm xmlns:a="http://schemas.openxmlformats.org/drawingml/2006/main">
            <a:off x="6915150" y="28194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0" name="arrow-head">
            <a:extLst xmlns:a="http://schemas.openxmlformats.org/drawingml/2006/main">
              <a:ext uri="{FF2B5EF4-FFF2-40B4-BE49-F238E27FC236}">
                <a16:creationId xmlns:a16="http://schemas.microsoft.com/office/drawing/2014/main" id="{3CDDE484-4EBE-48C6-B6B3-7B98EA5F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33675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data-top-3">
            <a:extLst xmlns:a="http://schemas.openxmlformats.org/drawingml/2006/main">
              <a:ext uri="{FF2B5EF4-FFF2-40B4-BE49-F238E27FC236}">
                <a16:creationId xmlns:a16="http://schemas.microsoft.com/office/drawing/2014/main" id="{77D42A6F-5D83-4FC4-A274-1A18506A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data-top-num-3">
            <a:extLst xmlns:a="http://schemas.openxmlformats.org/drawingml/2006/main">
              <a:ext uri="{FF2B5EF4-FFF2-40B4-BE49-F238E27FC236}">
                <a16:creationId xmlns:a16="http://schemas.microsoft.com/office/drawing/2014/main" id="{EC9ACFB1-B904-4D95-BDBA-919BD86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data-top-title-3">
            <a:extLst xmlns:a="http://schemas.openxmlformats.org/drawingml/2006/main">
              <a:ext uri="{FF2B5EF4-FFF2-40B4-BE49-F238E27FC236}">
                <a16:creationId xmlns:a16="http://schemas.microsoft.com/office/drawing/2014/main" id="{A80998C3-4AE3-4001-8806-DC8F081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过程采集</a:t>
            </a:r>
          </a:p>
        </p:txBody>
      </p:sp>
      <p:cxnSp>
        <p:nvCxnSpPr>
          <p:cNvPr id="330" name="connector-line"/>
          <p:cNvCxnSpPr/>
          <p:nvPr/>
        </p:nvCxnSpPr>
        <p:spPr>
          <a:xfrm xmlns:a="http://schemas.openxmlformats.org/drawingml/2006/main">
            <a:off x="9182100" y="28194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5" name="arrow-head">
            <a:extLst xmlns:a="http://schemas.openxmlformats.org/drawingml/2006/main">
              <a:ext uri="{FF2B5EF4-FFF2-40B4-BE49-F238E27FC236}">
                <a16:creationId xmlns:a16="http://schemas.microsoft.com/office/drawing/2014/main" id="{D12C6595-3B0B-4F25-A74A-52534E0A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33675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data-top-4">
            <a:extLst xmlns:a="http://schemas.openxmlformats.org/drawingml/2006/main">
              <a:ext uri="{FF2B5EF4-FFF2-40B4-BE49-F238E27FC236}">
                <a16:creationId xmlns:a16="http://schemas.microsoft.com/office/drawing/2014/main" id="{94A022C0-A034-430D-8AB2-F421E259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data-top-num-4">
            <a:extLst xmlns:a="http://schemas.openxmlformats.org/drawingml/2006/main">
              <a:ext uri="{FF2B5EF4-FFF2-40B4-BE49-F238E27FC236}">
                <a16:creationId xmlns:a16="http://schemas.microsoft.com/office/drawing/2014/main" id="{AD3572B7-8496-4C8A-8D92-373D54F0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8" name="data-top-title-4">
            <a:extLst xmlns:a="http://schemas.openxmlformats.org/drawingml/2006/main">
              <a:ext uri="{FF2B5EF4-FFF2-40B4-BE49-F238E27FC236}">
                <a16:creationId xmlns:a16="http://schemas.microsoft.com/office/drawing/2014/main" id="{E27036C3-AF51-4E69-917B-E2DB68C8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0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成果归集</a:t>
            </a:r>
          </a:p>
        </p:txBody>
      </p:sp>
      <p:cxnSp>
        <p:nvCxnSpPr>
          <p:cNvPr id="335" name="connector-line"/>
          <p:cNvCxnSpPr/>
          <p:nvPr/>
        </p:nvCxnSpPr>
        <p:spPr>
          <a:xfrm xmlns:a="http://schemas.openxmlformats.org/drawingml/2006/main">
            <a:off x="6096000" y="33718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30" name="arrow-head">
            <a:extLst xmlns:a="http://schemas.openxmlformats.org/drawingml/2006/main">
              <a:ext uri="{FF2B5EF4-FFF2-40B4-BE49-F238E27FC236}">
                <a16:creationId xmlns:a16="http://schemas.microsoft.com/office/drawing/2014/main" id="{D05793BC-894A-4BB6-BBB9-CE130D2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95700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handoff">
            <a:extLst xmlns:a="http://schemas.openxmlformats.org/drawingml/2006/main">
              <a:ext uri="{FF2B5EF4-FFF2-40B4-BE49-F238E27FC236}">
                <a16:creationId xmlns:a16="http://schemas.microsoft.com/office/drawing/2014/main" id="{6523C949-5007-4432-AE8E-D7E672C9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进入评价链路</a:t>
            </a:r>
          </a:p>
        </p:txBody>
      </p:sp>
      <p:sp>
        <p:nvSpPr>
          <p:cNvPr id="32" name="data-bottom-0">
            <a:extLst xmlns:a="http://schemas.openxmlformats.org/drawingml/2006/main">
              <a:ext uri="{FF2B5EF4-FFF2-40B4-BE49-F238E27FC236}">
                <a16:creationId xmlns:a16="http://schemas.microsoft.com/office/drawing/2014/main" id="{F7BEDD1C-0390-4CFF-A4EB-0329623B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data-bottom-num-0">
            <a:extLst xmlns:a="http://schemas.openxmlformats.org/drawingml/2006/main">
              <a:ext uri="{FF2B5EF4-FFF2-40B4-BE49-F238E27FC236}">
                <a16:creationId xmlns:a16="http://schemas.microsoft.com/office/drawing/2014/main" id="{8AF32433-3550-4D16-A041-7A1CCAF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4" name="data-bottom-title-0">
            <a:extLst xmlns:a="http://schemas.openxmlformats.org/drawingml/2006/main">
              <a:ext uri="{FF2B5EF4-FFF2-40B4-BE49-F238E27FC236}">
                <a16:creationId xmlns:a16="http://schemas.microsoft.com/office/drawing/2014/main" id="{558144F8-D45D-424D-98E1-66A0826E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模型计算</a:t>
            </a:r>
          </a:p>
        </p:txBody>
      </p:sp>
      <p:cxnSp>
        <p:nvCxnSpPr>
          <p:cNvPr id="341" name="connector-line"/>
          <p:cNvCxnSpPr/>
          <p:nvPr/>
        </p:nvCxnSpPr>
        <p:spPr>
          <a:xfrm xmlns:a="http://schemas.openxmlformats.org/drawingml/2006/main">
            <a:off x="2381250" y="4762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6" name="arrow-head">
            <a:extLst xmlns:a="http://schemas.openxmlformats.org/drawingml/2006/main">
              <a:ext uri="{FF2B5EF4-FFF2-40B4-BE49-F238E27FC236}">
                <a16:creationId xmlns:a16="http://schemas.microsoft.com/office/drawing/2014/main" id="{668546DB-A2A9-44FF-943D-673D7F15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76775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data-bottom-1">
            <a:extLst xmlns:a="http://schemas.openxmlformats.org/drawingml/2006/main">
              <a:ext uri="{FF2B5EF4-FFF2-40B4-BE49-F238E27FC236}">
                <a16:creationId xmlns:a16="http://schemas.microsoft.com/office/drawing/2014/main" id="{032E7FD9-5505-4C64-94C7-522C928A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data-bottom-num-1">
            <a:extLst xmlns:a="http://schemas.openxmlformats.org/drawingml/2006/main">
              <a:ext uri="{FF2B5EF4-FFF2-40B4-BE49-F238E27FC236}">
                <a16:creationId xmlns:a16="http://schemas.microsoft.com/office/drawing/2014/main" id="{9E696D08-04EB-4D44-AB9E-CB75A1C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9" name="data-bottom-title-1">
            <a:extLst xmlns:a="http://schemas.openxmlformats.org/drawingml/2006/main">
              <a:ext uri="{FF2B5EF4-FFF2-40B4-BE49-F238E27FC236}">
                <a16:creationId xmlns:a16="http://schemas.microsoft.com/office/drawing/2014/main" id="{1FDA82B7-03D5-4942-9CCD-54CBA85B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434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专家评价</a:t>
            </a:r>
          </a:p>
        </p:txBody>
      </p:sp>
      <p:cxnSp>
        <p:nvCxnSpPr>
          <p:cNvPr id="346" name="connector-line"/>
          <p:cNvCxnSpPr/>
          <p:nvPr/>
        </p:nvCxnSpPr>
        <p:spPr>
          <a:xfrm xmlns:a="http://schemas.openxmlformats.org/drawingml/2006/main">
            <a:off x="4648200" y="4762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1" name="arrow-head">
            <a:extLst xmlns:a="http://schemas.openxmlformats.org/drawingml/2006/main">
              <a:ext uri="{FF2B5EF4-FFF2-40B4-BE49-F238E27FC236}">
                <a16:creationId xmlns:a16="http://schemas.microsoft.com/office/drawing/2014/main" id="{B0783912-77DB-4634-9777-0CA802A4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76775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data-bottom-2">
            <a:extLst xmlns:a="http://schemas.openxmlformats.org/drawingml/2006/main">
              <a:ext uri="{FF2B5EF4-FFF2-40B4-BE49-F238E27FC236}">
                <a16:creationId xmlns:a16="http://schemas.microsoft.com/office/drawing/2014/main" id="{A29D2317-FBE1-479A-84B5-4ED3954C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3" name="data-bottom-num-2">
            <a:extLst xmlns:a="http://schemas.openxmlformats.org/drawingml/2006/main">
              <a:ext uri="{FF2B5EF4-FFF2-40B4-BE49-F238E27FC236}">
                <a16:creationId xmlns:a16="http://schemas.microsoft.com/office/drawing/2014/main" id="{4F085288-5641-4A95-9A84-7301CE46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4" name="data-bottom-title-2">
            <a:extLst xmlns:a="http://schemas.openxmlformats.org/drawingml/2006/main">
              <a:ext uri="{FF2B5EF4-FFF2-40B4-BE49-F238E27FC236}">
                <a16:creationId xmlns:a16="http://schemas.microsoft.com/office/drawing/2014/main" id="{9F0EEB11-9A84-4778-A789-EA4C4222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434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综合分析</a:t>
            </a:r>
          </a:p>
        </p:txBody>
      </p:sp>
      <p:cxnSp>
        <p:nvCxnSpPr>
          <p:cNvPr id="351" name="connector-line"/>
          <p:cNvCxnSpPr/>
          <p:nvPr/>
        </p:nvCxnSpPr>
        <p:spPr>
          <a:xfrm xmlns:a="http://schemas.openxmlformats.org/drawingml/2006/main">
            <a:off x="6915150" y="4762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6" name="arrow-head">
            <a:extLst xmlns:a="http://schemas.openxmlformats.org/drawingml/2006/main">
              <a:ext uri="{FF2B5EF4-FFF2-40B4-BE49-F238E27FC236}">
                <a16:creationId xmlns:a16="http://schemas.microsoft.com/office/drawing/2014/main" id="{112110D2-3A05-40B5-9F3F-5ECFD440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76775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data-bottom-3">
            <a:extLst xmlns:a="http://schemas.openxmlformats.org/drawingml/2006/main">
              <a:ext uri="{FF2B5EF4-FFF2-40B4-BE49-F238E27FC236}">
                <a16:creationId xmlns:a16="http://schemas.microsoft.com/office/drawing/2014/main" id="{C698BE11-D8C3-41DE-8C83-494E4AC9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8" name="data-bottom-num-3">
            <a:extLst xmlns:a="http://schemas.openxmlformats.org/drawingml/2006/main">
              <a:ext uri="{FF2B5EF4-FFF2-40B4-BE49-F238E27FC236}">
                <a16:creationId xmlns:a16="http://schemas.microsoft.com/office/drawing/2014/main" id="{0D69DCAE-2549-4E16-9D1E-18B0A1B3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9" name="data-bottom-title-3">
            <a:extLst xmlns:a="http://schemas.openxmlformats.org/drawingml/2006/main">
              <a:ext uri="{FF2B5EF4-FFF2-40B4-BE49-F238E27FC236}">
                <a16:creationId xmlns:a16="http://schemas.microsoft.com/office/drawing/2014/main" id="{3A613807-82B5-4AA1-A2EF-E78BDD64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档案沉淀</a:t>
            </a:r>
          </a:p>
        </p:txBody>
      </p:sp>
      <p:cxnSp>
        <p:nvCxnSpPr>
          <p:cNvPr id="356" name="connector-line"/>
          <p:cNvCxnSpPr/>
          <p:nvPr/>
        </p:nvCxnSpPr>
        <p:spPr>
          <a:xfrm xmlns:a="http://schemas.openxmlformats.org/drawingml/2006/main">
            <a:off x="9182100" y="47625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1" name="arrow-head">
            <a:extLst xmlns:a="http://schemas.openxmlformats.org/drawingml/2006/main">
              <a:ext uri="{FF2B5EF4-FFF2-40B4-BE49-F238E27FC236}">
                <a16:creationId xmlns:a16="http://schemas.microsoft.com/office/drawing/2014/main" id="{EFA6DB46-3852-4F09-9865-9B6E28AF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76775"/>
            <a:ext cx="1714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data-bottom-4">
            <a:extLst xmlns:a="http://schemas.openxmlformats.org/drawingml/2006/main">
              <a:ext uri="{FF2B5EF4-FFF2-40B4-BE49-F238E27FC236}">
                <a16:creationId xmlns:a16="http://schemas.microsoft.com/office/drawing/2014/main" id="{4D855EDC-D53D-423D-B3F8-6F75AD0C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43400"/>
            <a:ext cx="16954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3" name="data-bottom-num-4">
            <a:extLst xmlns:a="http://schemas.openxmlformats.org/drawingml/2006/main">
              <a:ext uri="{FF2B5EF4-FFF2-40B4-BE49-F238E27FC236}">
                <a16:creationId xmlns:a16="http://schemas.microsoft.com/office/drawing/2014/main" id="{02B5313F-E03A-4FC9-BB23-DB0A3321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76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4" name="data-bottom-title-4">
            <a:extLst xmlns:a="http://schemas.openxmlformats.org/drawingml/2006/main">
              <a:ext uri="{FF2B5EF4-FFF2-40B4-BE49-F238E27FC236}">
                <a16:creationId xmlns:a16="http://schemas.microsoft.com/office/drawing/2014/main" id="{FCD4BB6C-950F-4BE6-8E6F-EAF15333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434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画像推荐</a:t>
            </a:r>
          </a:p>
        </p:txBody>
      </p:sp>
      <p:sp>
        <p:nvSpPr>
          <p:cNvPr id="55" name="note">
            <a:extLst xmlns:a="http://schemas.openxmlformats.org/drawingml/2006/main">
              <a:ext uri="{FF2B5EF4-FFF2-40B4-BE49-F238E27FC236}">
                <a16:creationId xmlns:a16="http://schemas.microsoft.com/office/drawing/2014/main" id="{CA39C500-0C3E-4226-BE40-DBE2546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重点：按培训周期、阶段任务、评价节点和统计周期组织数据，保证评价可追溯。</a:t>
            </a:r>
          </a:p>
        </p:txBody>
      </p:sp>
      <p:sp>
        <p:nvSpPr>
          <p:cNvPr id="56" name="page">
            <a:extLst xmlns:a="http://schemas.openxmlformats.org/drawingml/2006/main">
              <a:ext uri="{FF2B5EF4-FFF2-40B4-BE49-F238E27FC236}">
                <a16:creationId xmlns:a16="http://schemas.microsoft.com/office/drawing/2014/main" id="{C2085D4A-2485-4E28-880F-99ABC970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7696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B7EF0E99-250E-4CB1-9A29-68D75352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培训平台建设方案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C243EC-72A7-4893-905A-3CFC618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分阶段建设，先形成业务闭环，再持续优化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3B6B8A0-A5AE-4433-87B0-C745B967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0" name="connector-line"/>
          <p:cNvCxnSpPr/>
          <p:nvPr/>
        </p:nvCxnSpPr>
        <p:spPr>
          <a:xfrm xmlns:a="http://schemas.openxmlformats.org/drawingml/2006/main">
            <a:off x="6667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phase-dot-0">
            <a:extLst xmlns:a="http://schemas.openxmlformats.org/drawingml/2006/main">
              <a:ext uri="{FF2B5EF4-FFF2-40B4-BE49-F238E27FC236}">
                <a16:creationId xmlns:a16="http://schemas.microsoft.com/office/drawing/2014/main" id="{A2D4003B-EF4E-451B-B4DD-93984793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1A175BC6-A00B-47D6-A6AA-2A54CFE8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第一阶段</a:t>
            </a:r>
          </a:p>
        </p:txBody>
      </p:sp>
      <p:sp>
        <p:nvSpPr>
          <p:cNvPr id="7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5B0A0CD0-EE1E-4D3B-A22E-EA40C855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基础平台与培训管理</a:t>
            </a:r>
          </a:p>
        </p:txBody>
      </p:sp>
      <p:cxnSp>
        <p:nvCxnSpPr>
          <p:cNvPr id="134" name="connector-line"/>
          <p:cNvCxnSpPr/>
          <p:nvPr/>
        </p:nvCxnSpPr>
        <p:spPr>
          <a:xfrm xmlns:a="http://schemas.openxmlformats.org/drawingml/2006/main">
            <a:off x="28765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phase-dot-1">
            <a:extLst xmlns:a="http://schemas.openxmlformats.org/drawingml/2006/main">
              <a:ext uri="{FF2B5EF4-FFF2-40B4-BE49-F238E27FC236}">
                <a16:creationId xmlns:a16="http://schemas.microsoft.com/office/drawing/2014/main" id="{39EC1707-39DA-4371-B542-5C4C9308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FF926BBA-EBDC-4F44-97BB-D706C637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第二阶段</a:t>
            </a:r>
          </a:p>
        </p:txBody>
      </p:sp>
      <p:sp>
        <p:nvSpPr>
          <p:cNvPr id="11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9F05F4C5-6C9F-49A2-9169-FF2069B1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研修活动与网络研修</a:t>
            </a:r>
          </a:p>
        </p:txBody>
      </p:sp>
      <p:cxnSp>
        <p:nvCxnSpPr>
          <p:cNvPr id="138" name="connector-line"/>
          <p:cNvCxnSpPr/>
          <p:nvPr/>
        </p:nvCxnSpPr>
        <p:spPr>
          <a:xfrm xmlns:a="http://schemas.openxmlformats.org/drawingml/2006/main">
            <a:off x="50863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3" name="phase-dot-2">
            <a:extLst xmlns:a="http://schemas.openxmlformats.org/drawingml/2006/main">
              <a:ext uri="{FF2B5EF4-FFF2-40B4-BE49-F238E27FC236}">
                <a16:creationId xmlns:a16="http://schemas.microsoft.com/office/drawing/2014/main" id="{DD0F50FB-0EBB-45E7-A0F4-7327012A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0753A8F6-0191-49D1-A67D-C976865E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第三阶段</a:t>
            </a:r>
          </a:p>
        </p:txBody>
      </p:sp>
      <p:sp>
        <p:nvSpPr>
          <p:cNvPr id="15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3EDACAD2-8029-4525-8041-8EC02EC0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数据归集与培训评估</a:t>
            </a:r>
          </a:p>
        </p:txBody>
      </p:sp>
      <p:cxnSp>
        <p:nvCxnSpPr>
          <p:cNvPr id="142" name="connector-line"/>
          <p:cNvCxnSpPr/>
          <p:nvPr/>
        </p:nvCxnSpPr>
        <p:spPr>
          <a:xfrm xmlns:a="http://schemas.openxmlformats.org/drawingml/2006/main">
            <a:off x="72961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phase-dot-3">
            <a:extLst xmlns:a="http://schemas.openxmlformats.org/drawingml/2006/main">
              <a:ext uri="{FF2B5EF4-FFF2-40B4-BE49-F238E27FC236}">
                <a16:creationId xmlns:a16="http://schemas.microsoft.com/office/drawing/2014/main" id="{8D96C6B5-205A-475E-A0CA-8EF1FDE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36E79C49-B31D-4836-8020-2FF76B7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第四阶段</a:t>
            </a:r>
          </a:p>
        </p:txBody>
      </p:sp>
      <p:sp>
        <p:nvSpPr>
          <p:cNvPr id="19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B2C9B165-AC0D-4D42-A027-2717D444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教师档案与推荐服务</a:t>
            </a:r>
          </a:p>
        </p:txBody>
      </p:sp>
      <p:cxnSp>
        <p:nvCxnSpPr>
          <p:cNvPr id="146" name="connector-line"/>
          <p:cNvCxnSpPr/>
          <p:nvPr/>
        </p:nvCxnSpPr>
        <p:spPr>
          <a:xfrm xmlns:a="http://schemas.openxmlformats.org/drawingml/2006/main">
            <a:off x="9505950" y="325755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1" name="phase-dot-4">
            <a:extLst xmlns:a="http://schemas.openxmlformats.org/drawingml/2006/main">
              <a:ext uri="{FF2B5EF4-FFF2-40B4-BE49-F238E27FC236}">
                <a16:creationId xmlns:a16="http://schemas.microsoft.com/office/drawing/2014/main" id="{2BA0729A-F2EE-4EF1-821E-2200B354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hase-label-4">
            <a:extLst xmlns:a="http://schemas.openxmlformats.org/drawingml/2006/main">
              <a:ext uri="{FF2B5EF4-FFF2-40B4-BE49-F238E27FC236}">
                <a16:creationId xmlns:a16="http://schemas.microsoft.com/office/drawing/2014/main" id="{74FE2231-C0F1-4490-820C-C15CB3A4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第五阶段</a:t>
            </a:r>
          </a:p>
        </p:txBody>
      </p:sp>
      <p:sp>
        <p:nvSpPr>
          <p:cNvPr id="23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D873BD1E-0F2B-49E3-BFFC-286A17D6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试点运行与持续优化</a:t>
            </a:r>
          </a:p>
        </p:txBody>
      </p:sp>
      <p:sp>
        <p:nvSpPr>
          <p:cNvPr id="24" name="outcomes">
            <a:extLst xmlns:a="http://schemas.openxmlformats.org/drawingml/2006/main">
              <a:ext uri="{FF2B5EF4-FFF2-40B4-BE49-F238E27FC236}">
                <a16:creationId xmlns:a16="http://schemas.microsoft.com/office/drawing/2014/main" id="{90EE5C67-D7D4-4357-9323-43C18C0B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0477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outcomes-text">
            <a:extLst xmlns:a="http://schemas.openxmlformats.org/drawingml/2006/main">
              <a:ext uri="{FF2B5EF4-FFF2-40B4-BE49-F238E27FC236}">
                <a16:creationId xmlns:a16="http://schemas.microsoft.com/office/drawing/2014/main" id="{C6A4C7AB-60F2-4607-B2D0-E12341BD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86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预期成效：培训管理统一、过程透明、评价科学、档案完整、推荐精准、决策有据。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6E9F1C88-3673-458B-B35A-70F49792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1892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2026-07-28T01:46:35.7810000Z</dcterms:created>
  <dcterms:modified xsi:type="dcterms:W3CDTF">2026-07-28T01:46:35.7810000Z</dcterms:modified>
</coreProperties>
</file>