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bdced111ea4e1b" /><Relationship Type="http://schemas.openxmlformats.org/officeDocument/2006/relationships/extended-properties" Target="/docProps/app.xml" Id="R4ca929e1d0b84d82" /><Relationship Type="http://schemas.openxmlformats.org/officeDocument/2006/relationships/officeDocument" Target="/ppt/presentation.xml" Id="Rfa300da0408d42d3" /></Relationships>
</file>

<file path=ppt/presentation.xml><?xml version="1.0" encoding="utf-8"?>
<p:presentation xmlns:p="http://schemas.openxmlformats.org/presentationml/2006/main">
  <p:sldMasterIdLst>
    <p:sldMasterId xmlns:r="http://schemas.openxmlformats.org/officeDocument/2006/relationships" id="2147483648" r:id="R27680d3f606a4522"/>
  </p:sldMasterIdLst>
  <p:notesMasterIdLst>
    <p:notesMasterId xmlns:r="http://schemas.openxmlformats.org/officeDocument/2006/relationships" r:id="R0b95e447c6e941d7"/>
  </p:notesMasterIdLst>
  <p:sldIdLst>
    <p:sldId xmlns:r="http://schemas.openxmlformats.org/officeDocument/2006/relationships" id="256" r:id="Rc73ce3660bfc4614"/>
    <p:sldId xmlns:r="http://schemas.openxmlformats.org/officeDocument/2006/relationships" id="257" r:id="Rfa70ab735bdb42e4"/>
    <p:sldId xmlns:r="http://schemas.openxmlformats.org/officeDocument/2006/relationships" id="258" r:id="R9d70f941be934b90"/>
    <p:sldId xmlns:r="http://schemas.openxmlformats.org/officeDocument/2006/relationships" id="259" r:id="R840d9d08a0304c98"/>
    <p:sldId xmlns:r="http://schemas.openxmlformats.org/officeDocument/2006/relationships" id="260" r:id="Rd2f47f5439774260"/>
    <p:sldId xmlns:r="http://schemas.openxmlformats.org/officeDocument/2006/relationships" id="261" r:id="Rd4965b291e7e4edb"/>
    <p:sldId xmlns:r="http://schemas.openxmlformats.org/officeDocument/2006/relationships" id="262" r:id="R8428b8958481426b"/>
    <p:sldId xmlns:r="http://schemas.openxmlformats.org/officeDocument/2006/relationships" id="263" r:id="R1964b7c0118348df"/>
    <p:sldId xmlns:r="http://schemas.openxmlformats.org/officeDocument/2006/relationships" id="264" r:id="R9de2f9df63174427"/>
    <p:sldId xmlns:r="http://schemas.openxmlformats.org/officeDocument/2006/relationships" id="265" r:id="Rc1f1a650543f4376"/>
    <p:sldId xmlns:r="http://schemas.openxmlformats.org/officeDocument/2006/relationships" id="266" r:id="Rd6aba45fcf8f4457"/>
    <p:sldId xmlns:r="http://schemas.openxmlformats.org/officeDocument/2006/relationships" id="267" r:id="R2f157fcb73e440d0"/>
    <p:sldId xmlns:r="http://schemas.openxmlformats.org/officeDocument/2006/relationships" id="268" r:id="R96bcd33e29c84559"/>
    <p:sldId xmlns:r="http://schemas.openxmlformats.org/officeDocument/2006/relationships" id="269" r:id="R0d4d451a5e754cab"/>
    <p:sldId xmlns:r="http://schemas.openxmlformats.org/officeDocument/2006/relationships" id="270" r:id="R460cd89484e348c2"/>
    <p:sldId xmlns:r="http://schemas.openxmlformats.org/officeDocument/2006/relationships" id="271" r:id="Rb730248604144d95"/>
    <p:sldId xmlns:r="http://schemas.openxmlformats.org/officeDocument/2006/relationships" id="272" r:id="Rc753124157e64a86"/>
    <p:sldId xmlns:r="http://schemas.openxmlformats.org/officeDocument/2006/relationships" id="273" r:id="Rf122cf60160d4adf"/>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4d6e7b9198544ee3" /><Relationship Type="http://schemas.openxmlformats.org/officeDocument/2006/relationships/slideMaster" Target="/ppt/slideMasters/slideMaster1.xml" Id="R27680d3f606a4522" /><Relationship Type="http://schemas.openxmlformats.org/officeDocument/2006/relationships/notesMaster" Target="/ppt/notesMasters/notesMaster1.xml" Id="R0b95e447c6e941d7" /><Relationship Type="http://schemas.openxmlformats.org/officeDocument/2006/relationships/presProps" Target="/ppt/presProps.xml" Id="R029375e92b9541bb" /><Relationship Type="http://schemas.openxmlformats.org/officeDocument/2006/relationships/viewProps" Target="/ppt/viewProps.xml" Id="R71073d1f35854ecf" /><Relationship Type="http://schemas.openxmlformats.org/officeDocument/2006/relationships/tableStyles" Target="/ppt/tableStyles.xml" Id="R952985c1fd444197" /><Relationship Type="http://schemas.openxmlformats.org/officeDocument/2006/relationships/slide" Target="/ppt/slides/slide1.xml" Id="Rc73ce3660bfc4614" /><Relationship Type="http://schemas.openxmlformats.org/officeDocument/2006/relationships/slide" Target="/ppt/slides/slide2.xml" Id="Rfa70ab735bdb42e4" /><Relationship Type="http://schemas.openxmlformats.org/officeDocument/2006/relationships/slide" Target="/ppt/slides/slide3.xml" Id="R9d70f941be934b90" /><Relationship Type="http://schemas.openxmlformats.org/officeDocument/2006/relationships/slide" Target="/ppt/slides/slide4.xml" Id="R840d9d08a0304c98" /><Relationship Type="http://schemas.openxmlformats.org/officeDocument/2006/relationships/slide" Target="/ppt/slides/slide5.xml" Id="Rd2f47f5439774260" /><Relationship Type="http://schemas.openxmlformats.org/officeDocument/2006/relationships/slide" Target="/ppt/slides/slide6.xml" Id="Rd4965b291e7e4edb" /><Relationship Type="http://schemas.openxmlformats.org/officeDocument/2006/relationships/slide" Target="/ppt/slides/slide7.xml" Id="R8428b8958481426b" /><Relationship Type="http://schemas.openxmlformats.org/officeDocument/2006/relationships/slide" Target="/ppt/slides/slide8.xml" Id="R1964b7c0118348df" /><Relationship Type="http://schemas.openxmlformats.org/officeDocument/2006/relationships/slide" Target="/ppt/slides/slide9.xml" Id="R9de2f9df63174427" /><Relationship Type="http://schemas.openxmlformats.org/officeDocument/2006/relationships/slide" Target="/ppt/slides/slide10.xml" Id="Rc1f1a650543f4376" /><Relationship Type="http://schemas.openxmlformats.org/officeDocument/2006/relationships/slide" Target="/ppt/slides/slide11.xml" Id="Rd6aba45fcf8f4457" /><Relationship Type="http://schemas.openxmlformats.org/officeDocument/2006/relationships/slide" Target="/ppt/slides/slide12.xml" Id="R2f157fcb73e440d0" /><Relationship Type="http://schemas.openxmlformats.org/officeDocument/2006/relationships/slide" Target="/ppt/slides/slide13.xml" Id="R96bcd33e29c84559" /><Relationship Type="http://schemas.openxmlformats.org/officeDocument/2006/relationships/slide" Target="/ppt/slides/slide14.xml" Id="R0d4d451a5e754cab" /><Relationship Type="http://schemas.openxmlformats.org/officeDocument/2006/relationships/slide" Target="/ppt/slides/slide15.xml" Id="R460cd89484e348c2" /><Relationship Type="http://schemas.openxmlformats.org/officeDocument/2006/relationships/slide" Target="/ppt/slides/slide16.xml" Id="Rb730248604144d95" /><Relationship Type="http://schemas.openxmlformats.org/officeDocument/2006/relationships/slide" Target="/ppt/slides/slide17.xml" Id="Rc753124157e64a86" /><Relationship Type="http://schemas.openxmlformats.org/officeDocument/2006/relationships/slide" Target="/ppt/slides/slide18.xml" Id="Rf122cf60160d4a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a79789116e48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c52079f4d64c1b" /><Relationship Type="http://schemas.openxmlformats.org/officeDocument/2006/relationships/notesMaster" Target="/ppt/notesMasters/notesMaster1.xml" Id="R09e9eb50a68e49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ab92b870564063" /><Relationship Type="http://schemas.openxmlformats.org/officeDocument/2006/relationships/notesMaster" Target="/ppt/notesMasters/notesMaster1.xml" Id="R69f6343a928b4e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bb7b04c3ae4096" /><Relationship Type="http://schemas.openxmlformats.org/officeDocument/2006/relationships/notesMaster" Target="/ppt/notesMasters/notesMaster1.xml" Id="Raed310bdbcb544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9f4588ebd745ac" /><Relationship Type="http://schemas.openxmlformats.org/officeDocument/2006/relationships/notesMaster" Target="/ppt/notesMasters/notesMaster1.xml" Id="R9293a5fbe0b74e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1b5fa790fb43f4" /><Relationship Type="http://schemas.openxmlformats.org/officeDocument/2006/relationships/notesMaster" Target="/ppt/notesMasters/notesMaster1.xml" Id="Rf71f4debe10344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9c12b718364ce2" /><Relationship Type="http://schemas.openxmlformats.org/officeDocument/2006/relationships/notesMaster" Target="/ppt/notesMasters/notesMaster1.xml" Id="R1f4ac7ccf66c4d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ef2f57793c477e" /><Relationship Type="http://schemas.openxmlformats.org/officeDocument/2006/relationships/notesMaster" Target="/ppt/notesMasters/notesMaster1.xml" Id="Rc6cf864d86d74d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d96cf5b2914530" /><Relationship Type="http://schemas.openxmlformats.org/officeDocument/2006/relationships/notesMaster" Target="/ppt/notesMasters/notesMaster1.xml" Id="R73171b65580b4c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1a63a0ad7c4cfd" /><Relationship Type="http://schemas.openxmlformats.org/officeDocument/2006/relationships/notesMaster" Target="/ppt/notesMasters/notesMaster1.xml" Id="Rbda23ba8e71b43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7d737b454074981" /><Relationship Type="http://schemas.openxmlformats.org/officeDocument/2006/relationships/notesMaster" Target="/ppt/notesMasters/notesMaster1.xml" Id="R2574ef9c763049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bd612bfd8e4a7b" /><Relationship Type="http://schemas.openxmlformats.org/officeDocument/2006/relationships/notesMaster" Target="/ppt/notesMasters/notesMaster1.xml" Id="R8406596c6654481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90e346cb6de4dbf" /><Relationship Type="http://schemas.openxmlformats.org/officeDocument/2006/relationships/notesMaster" Target="/ppt/notesMasters/notesMaster1.xml" Id="R1ebf5ffe0b6347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210b7dd168b4455" /><Relationship Type="http://schemas.openxmlformats.org/officeDocument/2006/relationships/notesMaster" Target="/ppt/notesMasters/notesMaster1.xml" Id="R7a978ba4ff3a4ae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1acfb1942ee4636" /><Relationship Type="http://schemas.openxmlformats.org/officeDocument/2006/relationships/notesMaster" Target="/ppt/notesMasters/notesMaster1.xml" Id="Rb6f65fa514304ca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24bf241b8cd4efd" /><Relationship Type="http://schemas.openxmlformats.org/officeDocument/2006/relationships/notesMaster" Target="/ppt/notesMasters/notesMaster1.xml" Id="R8903c53976724d0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b7fbf19f4754b7f" /><Relationship Type="http://schemas.openxmlformats.org/officeDocument/2006/relationships/notesMaster" Target="/ppt/notesMasters/notesMaster1.xml" Id="Rdc294cb01a9e454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d0fbfe0ddbe4f97" /><Relationship Type="http://schemas.openxmlformats.org/officeDocument/2006/relationships/notesMaster" Target="/ppt/notesMasters/notesMaster1.xml" Id="R5bb45eae87e2485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a666b7524f3428d" /><Relationship Type="http://schemas.openxmlformats.org/officeDocument/2006/relationships/notesMaster" Target="/ppt/notesMasters/notesMaster1.xml" Id="Raeb8f243f53947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58427e3b0845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9b6c636d5141f2" /><Relationship Type="http://schemas.openxmlformats.org/officeDocument/2006/relationships/slideLayout" Target="/ppt/slideLayouts/slideLayout1.xml" Id="R790291b2772b422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0291b2772b42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da2555cb75f4a1b" /><Relationship Type="http://schemas.openxmlformats.org/officeDocument/2006/relationships/notesSlide" Target="/ppt/notesSlides/notesSlide1.xml" Id="R884950e47e3e4b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7182a2341cb4be6" /><Relationship Type="http://schemas.openxmlformats.org/officeDocument/2006/relationships/notesSlide" Target="/ppt/notesSlides/notesSlide2.xml" Id="R89cfe709d3354f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216f5713444451d" /><Relationship Type="http://schemas.openxmlformats.org/officeDocument/2006/relationships/notesSlide" Target="/ppt/notesSlides/notesSlide3.xml" Id="R8cb8fb60280640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2460cc409864057" /><Relationship Type="http://schemas.openxmlformats.org/officeDocument/2006/relationships/notesSlide" Target="/ppt/notesSlides/notesSlide4.xml" Id="R9afa7de1a8a049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d5d01684f4f463f" /><Relationship Type="http://schemas.openxmlformats.org/officeDocument/2006/relationships/notesSlide" Target="/ppt/notesSlides/notesSlide5.xml" Id="R237cc8d0b8fd47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5352ae369594815" /><Relationship Type="http://schemas.openxmlformats.org/officeDocument/2006/relationships/notesSlide" Target="/ppt/notesSlides/notesSlide6.xml" Id="Rb5f801ec308b4a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702d5d87b504e5f" /><Relationship Type="http://schemas.openxmlformats.org/officeDocument/2006/relationships/notesSlide" Target="/ppt/notesSlides/notesSlide7.xml" Id="R552ce0394feb41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854fa46894040b2" /><Relationship Type="http://schemas.openxmlformats.org/officeDocument/2006/relationships/notesSlide" Target="/ppt/notesSlides/notesSlide8.xml" Id="R9e82eacc43f843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dd39d0a125f42ad" /><Relationship Type="http://schemas.openxmlformats.org/officeDocument/2006/relationships/notesSlide" Target="/ppt/notesSlides/notesSlide9.xml" Id="Rdfc87ac7e4554ad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04494bda96f4f89" /><Relationship Type="http://schemas.openxmlformats.org/officeDocument/2006/relationships/notesSlide" Target="/ppt/notesSlides/notesSlide10.xml" Id="R407c9872d83a4ef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1666f747ad1434e" /><Relationship Type="http://schemas.openxmlformats.org/officeDocument/2006/relationships/notesSlide" Target="/ppt/notesSlides/notesSlide11.xml" Id="R98ecc5eb625e48f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9e1804b8c0c4c1e" /><Relationship Type="http://schemas.openxmlformats.org/officeDocument/2006/relationships/notesSlide" Target="/ppt/notesSlides/notesSlide12.xml" Id="Rcea1931d8f4441b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ada97f30ef4414e" /><Relationship Type="http://schemas.openxmlformats.org/officeDocument/2006/relationships/notesSlide" Target="/ppt/notesSlides/notesSlide13.xml" Id="Rc783f9ac3a7749d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6c005d9d858445b" /><Relationship Type="http://schemas.openxmlformats.org/officeDocument/2006/relationships/notesSlide" Target="/ppt/notesSlides/notesSlide14.xml" Id="R2bcee3d288a74ce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3edaa6f46624a43" /><Relationship Type="http://schemas.openxmlformats.org/officeDocument/2006/relationships/notesSlide" Target="/ppt/notesSlides/notesSlide15.xml" Id="R15ad8235f12446d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ae347e78a1144fe" /><Relationship Type="http://schemas.openxmlformats.org/officeDocument/2006/relationships/notesSlide" Target="/ppt/notesSlides/notesSlide16.xml" Id="R3bd80a27c009426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70e696e605048ea" /><Relationship Type="http://schemas.openxmlformats.org/officeDocument/2006/relationships/notesSlide" Target="/ppt/notesSlides/notesSlide17.xml" Id="R2cbb743b9db2406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b33128782b849f8" /><Relationship Type="http://schemas.openxmlformats.org/officeDocument/2006/relationships/notesSlide" Target="/ppt/notesSlides/notesSlide18.xml" Id="R5b50fdb23696405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45C6A9D0-D45E-49AE-8B36-F92FF0CF734E}"/>
              </a:ext>
            </a:extLst>
          </p:cNvPr>
          <p:cNvSpPr>
            <a:spLocks xmlns:a="http://schemas.openxmlformats.org/drawingml/2006/main" noGrp="1"/>
          </p:cNvSpPr>
          <p:nvPr/>
        </p:nvSpPr>
        <p:spPr>
          <a:xfrm xmlns:a="http://schemas.openxmlformats.org/drawingml/2006/main">
            <a:off x="390525" y="781050"/>
            <a:ext cx="7524750" cy="1504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4350" b="1">
                <a:solidFill>
                  <a:srgbClr val="000000"/>
                </a:solidFill>
                <a:latin typeface="PingFang SC"/>
                <a:ea typeface="PingFang SC"/>
                <a:cs typeface="PingFang SC"/>
              </a:defRPr>
            </a:pPr>
            <a:r>
              <a:t>果仁培训产品蓝图</a:t>
            </a:r>
          </a:p>
          <a:p xmlns:a="http://schemas.openxmlformats.org/drawingml/2006/main">
            <a:pPr algn="l">
              <a:buNone/>
              <a:defRPr sz="4350" b="1">
                <a:solidFill>
                  <a:srgbClr val="000000"/>
                </a:solidFill>
                <a:latin typeface="PingFang SC"/>
                <a:ea typeface="PingFang SC"/>
                <a:cs typeface="PingFang SC"/>
              </a:defRPr>
            </a:pPr>
            <a:r>
              <a:t>三大子系统架构</a:t>
            </a:r>
          </a:p>
        </p:txBody>
      </p:sp>
      <p:sp>
        <p:nvSpPr>
          <p:cNvPr id="3" name="矩形 2">
            <a:extLst xmlns:a="http://schemas.openxmlformats.org/drawingml/2006/main">
              <a:ext uri="{FF2B5EF4-FFF2-40B4-BE49-F238E27FC236}">
                <a16:creationId xmlns:a16="http://schemas.microsoft.com/office/drawing/2014/main" id="{AA3018DB-945D-446F-B6E3-4B916EC775CD}"/>
              </a:ext>
            </a:extLst>
          </p:cNvPr>
          <p:cNvSpPr>
            <a:spLocks xmlns:a="http://schemas.openxmlformats.org/drawingml/2006/main" noGrp="1"/>
          </p:cNvSpPr>
          <p:nvPr/>
        </p:nvSpPr>
        <p:spPr>
          <a:xfrm xmlns:a="http://schemas.openxmlformats.org/drawingml/2006/main">
            <a:off x="409575" y="2476500"/>
            <a:ext cx="4762500" cy="419100"/>
          </a:xfrm>
          <a:prstGeom xmlns:a="http://schemas.openxmlformats.org/drawingml/2006/main" prst="rect">
            <a:avLst/>
          </a:prstGeom>
        </p:spPr>
        <p:txBody>
          <a:bodyPr xmlns:a="http://schemas.openxmlformats.org/drawingml/2006/main" lIns="0" tIns="0" rIns="0" bIns="0" anchor="ctr">
            <a:normAutofit fontScale="95345"/>
          </a:bodyPr>
          <a:lstStyle xmlns:a="http://schemas.openxmlformats.org/drawingml/2006/main"/>
          <a:p xmlns:a="http://schemas.openxmlformats.org/drawingml/2006/main">
            <a:pPr algn="l">
              <a:buNone/>
              <a:defRPr sz="2100" b="1">
                <a:solidFill>
                  <a:srgbClr val="555555"/>
                </a:solidFill>
                <a:latin typeface="PingFang SC"/>
                <a:ea typeface="PingFang SC"/>
                <a:cs typeface="PingFang SC"/>
              </a:defRPr>
            </a:pPr>
            <a:r>
              <a:t>AI 原生底座上的内外训业务空间运营平台</a:t>
            </a:r>
          </a:p>
        </p:txBody>
      </p:sp>
      <p:sp>
        <p:nvSpPr>
          <p:cNvPr id="4" name="矩形 3">
            <a:extLst xmlns:a="http://schemas.openxmlformats.org/drawingml/2006/main">
              <a:ext uri="{FF2B5EF4-FFF2-40B4-BE49-F238E27FC236}">
                <a16:creationId xmlns:a16="http://schemas.microsoft.com/office/drawing/2014/main" id="{C3464738-2FC1-4EF4-93BF-EA22B9C87DC9}"/>
              </a:ext>
            </a:extLst>
          </p:cNvPr>
          <p:cNvSpPr>
            <a:spLocks xmlns:a="http://schemas.openxmlformats.org/drawingml/2006/main" noGrp="1"/>
          </p:cNvSpPr>
          <p:nvPr/>
        </p:nvSpPr>
        <p:spPr>
          <a:xfrm xmlns:a="http://schemas.openxmlformats.org/drawingml/2006/main">
            <a:off x="409575" y="3390900"/>
            <a:ext cx="6572250" cy="1257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000000"/>
                </a:solidFill>
                <a:latin typeface="PingFang SC"/>
                <a:ea typeface="PingFang SC"/>
                <a:cs typeface="PingFang SC"/>
              </a:defRPr>
            </a:pPr>
            <a:r>
              <a:t>以空间作为各类业务的主承载体，统一承载本组织成员与外部非本组织人员参与课程、研讨、评课、工作坊、客户/伙伴培训和公开活动；资料库、Lucky、任务、问卷、证书和报告都围绕空间形成运营闭环。</a:t>
            </a:r>
          </a:p>
        </p:txBody>
      </p:sp>
      <p:sp>
        <p:nvSpPr>
          <p:cNvPr id="5" name="矩形 4">
            <a:extLst xmlns:a="http://schemas.openxmlformats.org/drawingml/2006/main">
              <a:ext uri="{FF2B5EF4-FFF2-40B4-BE49-F238E27FC236}">
                <a16:creationId xmlns:a16="http://schemas.microsoft.com/office/drawing/2014/main" id="{98660966-F492-4B27-B16D-02399CB94256}"/>
              </a:ext>
            </a:extLst>
          </p:cNvPr>
          <p:cNvSpPr>
            <a:spLocks xmlns:a="http://schemas.openxmlformats.org/drawingml/2006/main" noGrp="1"/>
          </p:cNvSpPr>
          <p:nvPr/>
        </p:nvSpPr>
        <p:spPr>
          <a:xfrm xmlns:a="http://schemas.openxmlformats.org/drawingml/2006/main">
            <a:off x="8229600" y="781050"/>
            <a:ext cx="3562350" cy="4772025"/>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6" name="矩形 5">
            <a:extLst xmlns:a="http://schemas.openxmlformats.org/drawingml/2006/main">
              <a:ext uri="{FF2B5EF4-FFF2-40B4-BE49-F238E27FC236}">
                <a16:creationId xmlns:a16="http://schemas.microsoft.com/office/drawing/2014/main" id="{9440114A-E347-418D-988E-57EA58F7F9F7}"/>
              </a:ext>
            </a:extLst>
          </p:cNvPr>
          <p:cNvSpPr>
            <a:spLocks xmlns:a="http://schemas.openxmlformats.org/drawingml/2006/main" noGrp="1"/>
          </p:cNvSpPr>
          <p:nvPr/>
        </p:nvSpPr>
        <p:spPr>
          <a:xfrm xmlns:a="http://schemas.openxmlformats.org/drawingml/2006/main">
            <a:off x="8572500" y="1219200"/>
            <a:ext cx="2905125" cy="22669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3300" b="1">
                <a:solidFill>
                  <a:srgbClr val="FFFFFF"/>
                </a:solidFill>
                <a:latin typeface="PingFang SC"/>
                <a:ea typeface="PingFang SC"/>
                <a:cs typeface="PingFang SC"/>
              </a:defRPr>
            </a:pPr>
            <a:r>
              <a:t>空间</a:t>
            </a:r>
          </a:p>
          <a:p xmlns:a="http://schemas.openxmlformats.org/drawingml/2006/main">
            <a:pPr algn="l">
              <a:buNone/>
              <a:defRPr sz="3300" b="1">
                <a:solidFill>
                  <a:srgbClr val="FFFFFF"/>
                </a:solidFill>
                <a:latin typeface="PingFang SC"/>
                <a:ea typeface="PingFang SC"/>
                <a:cs typeface="PingFang SC"/>
              </a:defRPr>
            </a:pPr>
            <a:r>
              <a:t>内训</a:t>
            </a:r>
          </a:p>
          <a:p xmlns:a="http://schemas.openxmlformats.org/drawingml/2006/main">
            <a:pPr algn="l">
              <a:buNone/>
              <a:defRPr sz="3300" b="1">
                <a:solidFill>
                  <a:srgbClr val="FFFFFF"/>
                </a:solidFill>
                <a:latin typeface="PingFang SC"/>
                <a:ea typeface="PingFang SC"/>
                <a:cs typeface="PingFang SC"/>
              </a:defRPr>
            </a:pPr>
            <a:r>
              <a:t>外训</a:t>
            </a:r>
          </a:p>
          <a:p xmlns:a="http://schemas.openxmlformats.org/drawingml/2006/main">
            <a:pPr algn="l">
              <a:buNone/>
              <a:defRPr sz="3300" b="1">
                <a:solidFill>
                  <a:srgbClr val="FFFFFF"/>
                </a:solidFill>
                <a:latin typeface="PingFang SC"/>
                <a:ea typeface="PingFang SC"/>
                <a:cs typeface="PingFang SC"/>
              </a:defRPr>
            </a:pPr>
            <a:r>
              <a:t>资料库</a:t>
            </a:r>
          </a:p>
        </p:txBody>
      </p:sp>
      <p:sp>
        <p:nvSpPr>
          <p:cNvPr id="7" name="矩形 6">
            <a:extLst xmlns:a="http://schemas.openxmlformats.org/drawingml/2006/main">
              <a:ext uri="{FF2B5EF4-FFF2-40B4-BE49-F238E27FC236}">
                <a16:creationId xmlns:a16="http://schemas.microsoft.com/office/drawing/2014/main" id="{22C3838F-7B98-4B6B-A0FB-2783514D3B4C}"/>
              </a:ext>
            </a:extLst>
          </p:cNvPr>
          <p:cNvSpPr>
            <a:spLocks xmlns:a="http://schemas.openxmlformats.org/drawingml/2006/main" noGrp="1"/>
          </p:cNvSpPr>
          <p:nvPr/>
        </p:nvSpPr>
        <p:spPr>
          <a:xfrm xmlns:a="http://schemas.openxmlformats.org/drawingml/2006/main">
            <a:off x="8572500" y="3895725"/>
            <a:ext cx="272415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8" name="矩形 7">
            <a:extLst xmlns:a="http://schemas.openxmlformats.org/drawingml/2006/main">
              <a:ext uri="{FF2B5EF4-FFF2-40B4-BE49-F238E27FC236}">
                <a16:creationId xmlns:a16="http://schemas.microsoft.com/office/drawing/2014/main" id="{90044901-89FD-4B60-B019-17848E6F392F}"/>
              </a:ext>
            </a:extLst>
          </p:cNvPr>
          <p:cNvSpPr>
            <a:spLocks xmlns:a="http://schemas.openxmlformats.org/drawingml/2006/main" noGrp="1"/>
          </p:cNvSpPr>
          <p:nvPr/>
        </p:nvSpPr>
        <p:spPr>
          <a:xfrm xmlns:a="http://schemas.openxmlformats.org/drawingml/2006/main">
            <a:off x="8572500" y="4210050"/>
            <a:ext cx="2724150" cy="819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a:solidFill>
                  <a:srgbClr val="FFFFFF"/>
                </a:solidFill>
                <a:latin typeface="PingFang SC"/>
                <a:ea typeface="PingFang SC"/>
                <a:cs typeface="PingFang SC"/>
              </a:defRPr>
            </a:pPr>
            <a:r>
              <a:t>空间承载业务运行</a:t>
            </a:r>
          </a:p>
          <a:p xmlns:a="http://schemas.openxmlformats.org/drawingml/2006/main">
            <a:pPr algn="l">
              <a:buNone/>
              <a:defRPr sz="1800" b="0">
                <a:solidFill>
                  <a:srgbClr val="FFFFFF"/>
                </a:solidFill>
                <a:latin typeface="PingFang SC"/>
                <a:ea typeface="PingFang SC"/>
                <a:cs typeface="PingFang SC"/>
              </a:defRPr>
            </a:pPr>
            <a:r>
              <a:t>数据沉淀业务结果</a:t>
            </a:r>
          </a:p>
        </p:txBody>
      </p:sp>
      <p:sp>
        <p:nvSpPr>
          <p:cNvPr id="9" name="矩形 8">
            <a:extLst xmlns:a="http://schemas.openxmlformats.org/drawingml/2006/main">
              <a:ext uri="{FF2B5EF4-FFF2-40B4-BE49-F238E27FC236}">
                <a16:creationId xmlns:a16="http://schemas.microsoft.com/office/drawing/2014/main" id="{6A632702-285F-4632-9685-D48069B049BB}"/>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01</a:t>
            </a:r>
          </a:p>
        </p:txBody>
      </p:sp>
    </p:spTree>
    <p:extLst>
      <p:ext uri="{BB962C8B-B14F-4D97-AF65-F5344CB8AC3E}">
        <p14:creationId xmlns:p14="http://schemas.microsoft.com/office/powerpoint/2010/main" val="16443546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矩形 2">
            <a:extLst xmlns:a="http://schemas.openxmlformats.org/drawingml/2006/main">
              <a:ext uri="{FF2B5EF4-FFF2-40B4-BE49-F238E27FC236}">
                <a16:creationId xmlns:a16="http://schemas.microsoft.com/office/drawing/2014/main" id="{22E6FED4-C71C-4503-BD7F-ACCD0B495CEA}"/>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300" b="1">
                <a:solidFill>
                  <a:srgbClr val="000000"/>
                </a:solidFill>
                <a:latin typeface="PingFang SC"/>
                <a:ea typeface="PingFang SC"/>
                <a:cs typeface="PingFang SC"/>
              </a:defRPr>
            </a:pPr>
            <a:r>
              <a:t>目录</a:t>
            </a:r>
          </a:p>
        </p:txBody>
      </p:sp>
      <p:sp>
        <p:nvSpPr>
          <p:cNvPr id="4" name="矩形 3">
            <a:extLst xmlns:a="http://schemas.openxmlformats.org/drawingml/2006/main">
              <a:ext uri="{FF2B5EF4-FFF2-40B4-BE49-F238E27FC236}">
                <a16:creationId xmlns:a16="http://schemas.microsoft.com/office/drawing/2014/main" id="{2D2041A7-3AF0-48FA-9FC7-69ED55123ACB}"/>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F7528DA2-0B2E-4007-8177-C906ACC8F521}"/>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02</a:t>
            </a:r>
          </a:p>
        </p:txBody>
      </p:sp>
      <p:sp>
        <p:nvSpPr>
          <p:cNvPr id="6" name="矩形 5">
            <a:extLst xmlns:a="http://schemas.openxmlformats.org/drawingml/2006/main">
              <a:ext uri="{FF2B5EF4-FFF2-40B4-BE49-F238E27FC236}">
                <a16:creationId xmlns:a16="http://schemas.microsoft.com/office/drawing/2014/main" id="{966A98F3-4650-4837-A2D8-6697E9134533}"/>
              </a:ext>
            </a:extLst>
          </p:cNvPr>
          <p:cNvSpPr>
            <a:spLocks xmlns:a="http://schemas.openxmlformats.org/drawingml/2006/main" noGrp="1"/>
          </p:cNvSpPr>
          <p:nvPr/>
        </p:nvSpPr>
        <p:spPr>
          <a:xfrm xmlns:a="http://schemas.openxmlformats.org/drawingml/2006/main">
            <a:off x="390525" y="1885950"/>
            <a:ext cx="1714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555555"/>
                </a:solidFill>
                <a:latin typeface="PingFang SC"/>
                <a:ea typeface="PingFang SC"/>
                <a:cs typeface="PingFang SC"/>
              </a:defRPr>
            </a:pPr>
            <a:r>
              <a:t>汇报结构</a:t>
            </a:r>
          </a:p>
        </p:txBody>
      </p:sp>
      <p:sp>
        <p:nvSpPr>
          <p:cNvPr id="7" name="矩形 6">
            <a:extLst xmlns:a="http://schemas.openxmlformats.org/drawingml/2006/main">
              <a:ext uri="{FF2B5EF4-FFF2-40B4-BE49-F238E27FC236}">
                <a16:creationId xmlns:a16="http://schemas.microsoft.com/office/drawing/2014/main" id="{C09FB9D9-B08E-4F46-9CCD-BC44E919BF68}"/>
              </a:ext>
            </a:extLst>
          </p:cNvPr>
          <p:cNvSpPr>
            <a:spLocks xmlns:a="http://schemas.openxmlformats.org/drawingml/2006/main" noGrp="1"/>
          </p:cNvSpPr>
          <p:nvPr/>
        </p:nvSpPr>
        <p:spPr>
          <a:xfrm xmlns:a="http://schemas.openxmlformats.org/drawingml/2006/main">
            <a:off x="390525" y="2343150"/>
            <a:ext cx="3429000" cy="1162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8" name="矩形 7">
            <a:extLst xmlns:a="http://schemas.openxmlformats.org/drawingml/2006/main">
              <a:ext uri="{FF2B5EF4-FFF2-40B4-BE49-F238E27FC236}">
                <a16:creationId xmlns:a16="http://schemas.microsoft.com/office/drawing/2014/main" id="{2F4C9826-C02F-45A0-BB64-C0E5A65DD392}"/>
              </a:ext>
            </a:extLst>
          </p:cNvPr>
          <p:cNvSpPr>
            <a:spLocks xmlns:a="http://schemas.openxmlformats.org/drawingml/2006/main" noGrp="1"/>
          </p:cNvSpPr>
          <p:nvPr/>
        </p:nvSpPr>
        <p:spPr>
          <a:xfrm xmlns:a="http://schemas.openxmlformats.org/drawingml/2006/main">
            <a:off x="619125" y="2571750"/>
            <a:ext cx="2971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950" b="1">
                <a:solidFill>
                  <a:srgbClr val="000000"/>
                </a:solidFill>
                <a:latin typeface="PingFang SC"/>
                <a:ea typeface="PingFang SC"/>
                <a:cs typeface="PingFang SC"/>
              </a:defRPr>
            </a:pPr>
            <a:r>
              <a:t>01  产品定位与目标</a:t>
            </a:r>
          </a:p>
        </p:txBody>
      </p:sp>
      <p:sp>
        <p:nvSpPr>
          <p:cNvPr id="9" name="矩形 8">
            <a:extLst xmlns:a="http://schemas.openxmlformats.org/drawingml/2006/main">
              <a:ext uri="{FF2B5EF4-FFF2-40B4-BE49-F238E27FC236}">
                <a16:creationId xmlns:a16="http://schemas.microsoft.com/office/drawing/2014/main" id="{EF838324-C462-4C07-AFEF-6B053DE9AC0C}"/>
              </a:ext>
            </a:extLst>
          </p:cNvPr>
          <p:cNvSpPr>
            <a:spLocks xmlns:a="http://schemas.openxmlformats.org/drawingml/2006/main" noGrp="1"/>
          </p:cNvSpPr>
          <p:nvPr/>
        </p:nvSpPr>
        <p:spPr>
          <a:xfrm xmlns:a="http://schemas.openxmlformats.org/drawingml/2006/main">
            <a:off x="619125" y="3028950"/>
            <a:ext cx="2971800" cy="285750"/>
          </a:xfrm>
          <a:prstGeom xmlns:a="http://schemas.openxmlformats.org/drawingml/2006/main" prst="rect">
            <a:avLst/>
          </a:prstGeom>
        </p:spPr>
        <p:txBody>
          <a:bodyPr xmlns:a="http://schemas.openxmlformats.org/drawingml/2006/main" lIns="0" tIns="0" rIns="0" bIns="0" anchor="t">
            <a:normAutofit fontScale="69444"/>
          </a:bodyPr>
          <a:lstStyle xmlns:a="http://schemas.openxmlformats.org/drawingml/2006/main"/>
          <a:p xmlns:a="http://schemas.openxmlformats.org/drawingml/2006/main">
            <a:pPr algn="l">
              <a:buNone/>
              <a:defRPr sz="1350" b="0">
                <a:solidFill>
                  <a:srgbClr val="000000"/>
                </a:solidFill>
                <a:latin typeface="PingFang SC"/>
                <a:ea typeface="PingFang SC"/>
                <a:cs typeface="PingFang SC"/>
              </a:defRPr>
            </a:pPr>
            <a:r>
              <a:t>为什么以果仁和空间承载内训与外训，核心价值和目标对象。</a:t>
            </a:r>
          </a:p>
        </p:txBody>
      </p:sp>
      <p:sp>
        <p:nvSpPr>
          <p:cNvPr id="10" name="矩形 9">
            <a:extLst xmlns:a="http://schemas.openxmlformats.org/drawingml/2006/main">
              <a:ext uri="{FF2B5EF4-FFF2-40B4-BE49-F238E27FC236}">
                <a16:creationId xmlns:a16="http://schemas.microsoft.com/office/drawing/2014/main" id="{1ED6D054-B7D2-4E1A-988B-259A445EFA93}"/>
              </a:ext>
            </a:extLst>
          </p:cNvPr>
          <p:cNvSpPr>
            <a:spLocks xmlns:a="http://schemas.openxmlformats.org/drawingml/2006/main" noGrp="1"/>
          </p:cNvSpPr>
          <p:nvPr/>
        </p:nvSpPr>
        <p:spPr>
          <a:xfrm xmlns:a="http://schemas.openxmlformats.org/drawingml/2006/main">
            <a:off x="4381500" y="2343150"/>
            <a:ext cx="3429000" cy="1162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1" name="矩形 10">
            <a:extLst xmlns:a="http://schemas.openxmlformats.org/drawingml/2006/main">
              <a:ext uri="{FF2B5EF4-FFF2-40B4-BE49-F238E27FC236}">
                <a16:creationId xmlns:a16="http://schemas.microsoft.com/office/drawing/2014/main" id="{12DE51EE-5400-478D-9544-F243549A4B59}"/>
              </a:ext>
            </a:extLst>
          </p:cNvPr>
          <p:cNvSpPr>
            <a:spLocks xmlns:a="http://schemas.openxmlformats.org/drawingml/2006/main" noGrp="1"/>
          </p:cNvSpPr>
          <p:nvPr/>
        </p:nvSpPr>
        <p:spPr>
          <a:xfrm xmlns:a="http://schemas.openxmlformats.org/drawingml/2006/main">
            <a:off x="4610100" y="2571750"/>
            <a:ext cx="2971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950" b="1">
                <a:solidFill>
                  <a:srgbClr val="000000"/>
                </a:solidFill>
                <a:latin typeface="PingFang SC"/>
                <a:ea typeface="PingFang SC"/>
                <a:cs typeface="PingFang SC"/>
              </a:defRPr>
            </a:pPr>
            <a:r>
              <a:t>02  总体架构与子系统</a:t>
            </a:r>
          </a:p>
        </p:txBody>
      </p:sp>
      <p:sp>
        <p:nvSpPr>
          <p:cNvPr id="12" name="矩形 11">
            <a:extLst xmlns:a="http://schemas.openxmlformats.org/drawingml/2006/main">
              <a:ext uri="{FF2B5EF4-FFF2-40B4-BE49-F238E27FC236}">
                <a16:creationId xmlns:a16="http://schemas.microsoft.com/office/drawing/2014/main" id="{E7058460-4286-4C5D-ABC2-AB15FA92A557}"/>
              </a:ext>
            </a:extLst>
          </p:cNvPr>
          <p:cNvSpPr>
            <a:spLocks xmlns:a="http://schemas.openxmlformats.org/drawingml/2006/main" noGrp="1"/>
          </p:cNvSpPr>
          <p:nvPr/>
        </p:nvSpPr>
        <p:spPr>
          <a:xfrm xmlns:a="http://schemas.openxmlformats.org/drawingml/2006/main">
            <a:off x="4610100" y="3028950"/>
            <a:ext cx="2971800" cy="285750"/>
          </a:xfrm>
          <a:prstGeom xmlns:a="http://schemas.openxmlformats.org/drawingml/2006/main" prst="rect">
            <a:avLst/>
          </a:prstGeom>
        </p:spPr>
        <p:txBody>
          <a:bodyPr xmlns:a="http://schemas.openxmlformats.org/drawingml/2006/main" lIns="0" tIns="0" rIns="0" bIns="0" anchor="t">
            <a:normAutofit fontScale="69444"/>
          </a:bodyPr>
          <a:lstStyle xmlns:a="http://schemas.openxmlformats.org/drawingml/2006/main"/>
          <a:p xmlns:a="http://schemas.openxmlformats.org/drawingml/2006/main">
            <a:pPr algn="l">
              <a:buNone/>
              <a:defRPr sz="1350" b="0">
                <a:solidFill>
                  <a:srgbClr val="000000"/>
                </a:solidFill>
                <a:latin typeface="PingFang SC"/>
                <a:ea typeface="PingFang SC"/>
                <a:cs typeface="PingFang SC"/>
              </a:defRPr>
            </a:pPr>
            <a:r>
              <a:t>培训信息管理、培训过程运营、培训效果评估三大子系统。</a:t>
            </a:r>
          </a:p>
        </p:txBody>
      </p:sp>
      <p:sp>
        <p:nvSpPr>
          <p:cNvPr id="13" name="矩形 12">
            <a:extLst xmlns:a="http://schemas.openxmlformats.org/drawingml/2006/main">
              <a:ext uri="{FF2B5EF4-FFF2-40B4-BE49-F238E27FC236}">
                <a16:creationId xmlns:a16="http://schemas.microsoft.com/office/drawing/2014/main" id="{CF249ED5-77DF-4F6E-995C-90EB2995FAA6}"/>
              </a:ext>
            </a:extLst>
          </p:cNvPr>
          <p:cNvSpPr>
            <a:spLocks xmlns:a="http://schemas.openxmlformats.org/drawingml/2006/main" noGrp="1"/>
          </p:cNvSpPr>
          <p:nvPr/>
        </p:nvSpPr>
        <p:spPr>
          <a:xfrm xmlns:a="http://schemas.openxmlformats.org/drawingml/2006/main">
            <a:off x="8372475" y="2343150"/>
            <a:ext cx="3429000" cy="1162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4" name="矩形 13">
            <a:extLst xmlns:a="http://schemas.openxmlformats.org/drawingml/2006/main">
              <a:ext uri="{FF2B5EF4-FFF2-40B4-BE49-F238E27FC236}">
                <a16:creationId xmlns:a16="http://schemas.microsoft.com/office/drawing/2014/main" id="{A057A412-D097-455D-AF31-F543180DA0C0}"/>
              </a:ext>
            </a:extLst>
          </p:cNvPr>
          <p:cNvSpPr>
            <a:spLocks xmlns:a="http://schemas.openxmlformats.org/drawingml/2006/main" noGrp="1"/>
          </p:cNvSpPr>
          <p:nvPr/>
        </p:nvSpPr>
        <p:spPr>
          <a:xfrm xmlns:a="http://schemas.openxmlformats.org/drawingml/2006/main">
            <a:off x="8601075" y="2571750"/>
            <a:ext cx="2971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950" b="1">
                <a:solidFill>
                  <a:srgbClr val="000000"/>
                </a:solidFill>
                <a:latin typeface="PingFang SC"/>
                <a:ea typeface="PingFang SC"/>
                <a:cs typeface="PingFang SC"/>
              </a:defRPr>
            </a:pPr>
            <a:r>
              <a:t>03  业务闭环与数据模型</a:t>
            </a:r>
          </a:p>
        </p:txBody>
      </p:sp>
      <p:sp>
        <p:nvSpPr>
          <p:cNvPr id="15" name="矩形 14">
            <a:extLst xmlns:a="http://schemas.openxmlformats.org/drawingml/2006/main">
              <a:ext uri="{FF2B5EF4-FFF2-40B4-BE49-F238E27FC236}">
                <a16:creationId xmlns:a16="http://schemas.microsoft.com/office/drawing/2014/main" id="{1757CAC3-5AB9-4380-9E3F-25A104A26CC1}"/>
              </a:ext>
            </a:extLst>
          </p:cNvPr>
          <p:cNvSpPr>
            <a:spLocks xmlns:a="http://schemas.openxmlformats.org/drawingml/2006/main" noGrp="1"/>
          </p:cNvSpPr>
          <p:nvPr/>
        </p:nvSpPr>
        <p:spPr>
          <a:xfrm xmlns:a="http://schemas.openxmlformats.org/drawingml/2006/main">
            <a:off x="8601075" y="3028950"/>
            <a:ext cx="2971800" cy="285750"/>
          </a:xfrm>
          <a:prstGeom xmlns:a="http://schemas.openxmlformats.org/drawingml/2006/main" prst="rect">
            <a:avLst/>
          </a:prstGeom>
        </p:spPr>
        <p:txBody>
          <a:bodyPr xmlns:a="http://schemas.openxmlformats.org/drawingml/2006/main" lIns="0" tIns="0" rIns="0" bIns="0" anchor="t">
            <a:normAutofit fontScale="69444"/>
          </a:bodyPr>
          <a:lstStyle xmlns:a="http://schemas.openxmlformats.org/drawingml/2006/main"/>
          <a:p xmlns:a="http://schemas.openxmlformats.org/drawingml/2006/main">
            <a:pPr algn="l">
              <a:buNone/>
              <a:defRPr sz="1350" b="0">
                <a:solidFill>
                  <a:srgbClr val="000000"/>
                </a:solidFill>
                <a:latin typeface="PingFang SC"/>
                <a:ea typeface="PingFang SC"/>
                <a:cs typeface="PingFang SC"/>
              </a:defRPr>
            </a:pPr>
            <a:r>
              <a:t>业务空间、活动、内部成员、外部参与者、记录和报告如何贯通。</a:t>
            </a:r>
          </a:p>
        </p:txBody>
      </p:sp>
      <p:sp>
        <p:nvSpPr>
          <p:cNvPr id="16" name="矩形 15">
            <a:extLst xmlns:a="http://schemas.openxmlformats.org/drawingml/2006/main">
              <a:ext uri="{FF2B5EF4-FFF2-40B4-BE49-F238E27FC236}">
                <a16:creationId xmlns:a16="http://schemas.microsoft.com/office/drawing/2014/main" id="{60998B8A-E2EC-4F77-A818-DDF69759C7D1}"/>
              </a:ext>
            </a:extLst>
          </p:cNvPr>
          <p:cNvSpPr>
            <a:spLocks xmlns:a="http://schemas.openxmlformats.org/drawingml/2006/main" noGrp="1"/>
          </p:cNvSpPr>
          <p:nvPr/>
        </p:nvSpPr>
        <p:spPr>
          <a:xfrm xmlns:a="http://schemas.openxmlformats.org/drawingml/2006/main">
            <a:off x="390525" y="4114800"/>
            <a:ext cx="3429000" cy="1162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7" name="矩形 16">
            <a:extLst xmlns:a="http://schemas.openxmlformats.org/drawingml/2006/main">
              <a:ext uri="{FF2B5EF4-FFF2-40B4-BE49-F238E27FC236}">
                <a16:creationId xmlns:a16="http://schemas.microsoft.com/office/drawing/2014/main" id="{F2516CE7-9DCD-4595-A826-B98A679A290C}"/>
              </a:ext>
            </a:extLst>
          </p:cNvPr>
          <p:cNvSpPr>
            <a:spLocks xmlns:a="http://schemas.openxmlformats.org/drawingml/2006/main" noGrp="1"/>
          </p:cNvSpPr>
          <p:nvPr/>
        </p:nvSpPr>
        <p:spPr>
          <a:xfrm xmlns:a="http://schemas.openxmlformats.org/drawingml/2006/main">
            <a:off x="619125" y="4343400"/>
            <a:ext cx="2971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950" b="1">
                <a:solidFill>
                  <a:srgbClr val="000000"/>
                </a:solidFill>
                <a:latin typeface="PingFang SC"/>
                <a:ea typeface="PingFang SC"/>
                <a:cs typeface="PingFang SC"/>
              </a:defRPr>
            </a:pPr>
            <a:r>
              <a:t>04  AI 原生能力</a:t>
            </a:r>
          </a:p>
        </p:txBody>
      </p:sp>
      <p:sp>
        <p:nvSpPr>
          <p:cNvPr id="18" name="矩形 17">
            <a:extLst xmlns:a="http://schemas.openxmlformats.org/drawingml/2006/main">
              <a:ext uri="{FF2B5EF4-FFF2-40B4-BE49-F238E27FC236}">
                <a16:creationId xmlns:a16="http://schemas.microsoft.com/office/drawing/2014/main" id="{A2087ADC-B613-4682-9DAB-F31B942A0096}"/>
              </a:ext>
            </a:extLst>
          </p:cNvPr>
          <p:cNvSpPr>
            <a:spLocks xmlns:a="http://schemas.openxmlformats.org/drawingml/2006/main" noGrp="1"/>
          </p:cNvSpPr>
          <p:nvPr/>
        </p:nvSpPr>
        <p:spPr>
          <a:xfrm xmlns:a="http://schemas.openxmlformats.org/drawingml/2006/main">
            <a:off x="619125" y="4800600"/>
            <a:ext cx="2971800" cy="285750"/>
          </a:xfrm>
          <a:prstGeom xmlns:a="http://schemas.openxmlformats.org/drawingml/2006/main" prst="rect">
            <a:avLst/>
          </a:prstGeom>
        </p:spPr>
        <p:txBody>
          <a:bodyPr xmlns:a="http://schemas.openxmlformats.org/drawingml/2006/main" lIns="0" tIns="0" rIns="0" bIns="0" anchor="t">
            <a:normAutofit fontScale="69444"/>
          </a:bodyPr>
          <a:lstStyle xmlns:a="http://schemas.openxmlformats.org/drawingml/2006/main"/>
          <a:p xmlns:a="http://schemas.openxmlformats.org/drawingml/2006/main">
            <a:pPr algn="l">
              <a:buNone/>
              <a:defRPr sz="1350" b="0">
                <a:solidFill>
                  <a:srgbClr val="000000"/>
                </a:solidFill>
                <a:latin typeface="PingFang SC"/>
                <a:ea typeface="PingFang SC"/>
                <a:cs typeface="PingFang SC"/>
              </a:defRPr>
            </a:pPr>
            <a:r>
              <a:t>外训方案、报名问答、研讨纪要、评课分析和客户报告。</a:t>
            </a:r>
          </a:p>
        </p:txBody>
      </p:sp>
      <p:sp>
        <p:nvSpPr>
          <p:cNvPr id="19" name="矩形 18">
            <a:extLst xmlns:a="http://schemas.openxmlformats.org/drawingml/2006/main">
              <a:ext uri="{FF2B5EF4-FFF2-40B4-BE49-F238E27FC236}">
                <a16:creationId xmlns:a16="http://schemas.microsoft.com/office/drawing/2014/main" id="{5FB6C113-75E0-45DB-869F-0A7B2EC76431}"/>
              </a:ext>
            </a:extLst>
          </p:cNvPr>
          <p:cNvSpPr>
            <a:spLocks xmlns:a="http://schemas.openxmlformats.org/drawingml/2006/main" noGrp="1"/>
          </p:cNvSpPr>
          <p:nvPr/>
        </p:nvSpPr>
        <p:spPr>
          <a:xfrm xmlns:a="http://schemas.openxmlformats.org/drawingml/2006/main">
            <a:off x="4381500" y="4114800"/>
            <a:ext cx="3429000" cy="1162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20" name="矩形 19">
            <a:extLst xmlns:a="http://schemas.openxmlformats.org/drawingml/2006/main">
              <a:ext uri="{FF2B5EF4-FFF2-40B4-BE49-F238E27FC236}">
                <a16:creationId xmlns:a16="http://schemas.microsoft.com/office/drawing/2014/main" id="{0AE21889-EADA-4B47-B0BD-1BB14458A983}"/>
              </a:ext>
            </a:extLst>
          </p:cNvPr>
          <p:cNvSpPr>
            <a:spLocks xmlns:a="http://schemas.openxmlformats.org/drawingml/2006/main" noGrp="1"/>
          </p:cNvSpPr>
          <p:nvPr/>
        </p:nvSpPr>
        <p:spPr>
          <a:xfrm xmlns:a="http://schemas.openxmlformats.org/drawingml/2006/main">
            <a:off x="4610100" y="4343400"/>
            <a:ext cx="2971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950" b="1">
                <a:solidFill>
                  <a:srgbClr val="000000"/>
                </a:solidFill>
                <a:latin typeface="PingFang SC"/>
                <a:ea typeface="PingFang SC"/>
                <a:cs typeface="PingFang SC"/>
              </a:defRPr>
            </a:pPr>
            <a:r>
              <a:t>05  交付与演进路径</a:t>
            </a:r>
          </a:p>
        </p:txBody>
      </p:sp>
      <p:sp>
        <p:nvSpPr>
          <p:cNvPr id="21" name="矩形 20">
            <a:extLst xmlns:a="http://schemas.openxmlformats.org/drawingml/2006/main">
              <a:ext uri="{FF2B5EF4-FFF2-40B4-BE49-F238E27FC236}">
                <a16:creationId xmlns:a16="http://schemas.microsoft.com/office/drawing/2014/main" id="{6D092266-8FD4-4B75-9F6C-D6187A3A83A7}"/>
              </a:ext>
            </a:extLst>
          </p:cNvPr>
          <p:cNvSpPr>
            <a:spLocks xmlns:a="http://schemas.openxmlformats.org/drawingml/2006/main" noGrp="1"/>
          </p:cNvSpPr>
          <p:nvPr/>
        </p:nvSpPr>
        <p:spPr>
          <a:xfrm xmlns:a="http://schemas.openxmlformats.org/drawingml/2006/main">
            <a:off x="4610100" y="4800600"/>
            <a:ext cx="2971800" cy="285750"/>
          </a:xfrm>
          <a:prstGeom xmlns:a="http://schemas.openxmlformats.org/drawingml/2006/main" prst="rect">
            <a:avLst/>
          </a:prstGeom>
        </p:spPr>
        <p:txBody>
          <a:bodyPr xmlns:a="http://schemas.openxmlformats.org/drawingml/2006/main" lIns="0" tIns="0" rIns="0" bIns="0" anchor="t">
            <a:normAutofit fontScale="73903"/>
          </a:bodyPr>
          <a:lstStyle xmlns:a="http://schemas.openxmlformats.org/drawingml/2006/main"/>
          <a:p xmlns:a="http://schemas.openxmlformats.org/drawingml/2006/main">
            <a:pPr algn="l">
              <a:buNone/>
              <a:defRPr sz="1350" b="0">
                <a:solidFill>
                  <a:srgbClr val="000000"/>
                </a:solidFill>
                <a:latin typeface="PingFang SC"/>
                <a:ea typeface="PingFang SC"/>
                <a:cs typeface="PingFang SC"/>
              </a:defRPr>
            </a:pPr>
            <a:r>
              <a:t>解决方案、套餐、租户、外训场景包和阶段路线图。</a:t>
            </a:r>
          </a:p>
        </p:txBody>
      </p:sp>
      <p:sp>
        <p:nvSpPr>
          <p:cNvPr id="22" name="矩形 21">
            <a:extLst xmlns:a="http://schemas.openxmlformats.org/drawingml/2006/main">
              <a:ext uri="{FF2B5EF4-FFF2-40B4-BE49-F238E27FC236}">
                <a16:creationId xmlns:a16="http://schemas.microsoft.com/office/drawing/2014/main" id="{61936A10-B845-45B6-A5FF-DCBFF6A08496}"/>
              </a:ext>
            </a:extLst>
          </p:cNvPr>
          <p:cNvSpPr>
            <a:spLocks xmlns:a="http://schemas.openxmlformats.org/drawingml/2006/main" noGrp="1"/>
          </p:cNvSpPr>
          <p:nvPr/>
        </p:nvSpPr>
        <p:spPr>
          <a:xfrm xmlns:a="http://schemas.openxmlformats.org/drawingml/2006/main">
            <a:off x="8372475" y="4114800"/>
            <a:ext cx="3429000" cy="1162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23" name="矩形 22">
            <a:extLst xmlns:a="http://schemas.openxmlformats.org/drawingml/2006/main">
              <a:ext uri="{FF2B5EF4-FFF2-40B4-BE49-F238E27FC236}">
                <a16:creationId xmlns:a16="http://schemas.microsoft.com/office/drawing/2014/main" id="{28770122-8A45-46A8-912C-6D246401D3D4}"/>
              </a:ext>
            </a:extLst>
          </p:cNvPr>
          <p:cNvSpPr>
            <a:spLocks xmlns:a="http://schemas.openxmlformats.org/drawingml/2006/main" noGrp="1"/>
          </p:cNvSpPr>
          <p:nvPr/>
        </p:nvSpPr>
        <p:spPr>
          <a:xfrm xmlns:a="http://schemas.openxmlformats.org/drawingml/2006/main">
            <a:off x="8601075" y="4343400"/>
            <a:ext cx="2971800" cy="3048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950" b="1">
                <a:solidFill>
                  <a:srgbClr val="FF6B35"/>
                </a:solidFill>
                <a:latin typeface="PingFang SC"/>
                <a:ea typeface="PingFang SC"/>
                <a:cs typeface="PingFang SC"/>
              </a:defRPr>
            </a:pPr>
            <a:r>
              <a:t>主线</a:t>
            </a:r>
          </a:p>
        </p:txBody>
      </p:sp>
      <p:sp>
        <p:nvSpPr>
          <p:cNvPr id="24" name="矩形 23">
            <a:extLst xmlns:a="http://schemas.openxmlformats.org/drawingml/2006/main">
              <a:ext uri="{FF2B5EF4-FFF2-40B4-BE49-F238E27FC236}">
                <a16:creationId xmlns:a16="http://schemas.microsoft.com/office/drawing/2014/main" id="{5BC9A485-0B3C-4A39-91A9-AFDC2A14E387}"/>
              </a:ext>
            </a:extLst>
          </p:cNvPr>
          <p:cNvSpPr>
            <a:spLocks xmlns:a="http://schemas.openxmlformats.org/drawingml/2006/main" noGrp="1"/>
          </p:cNvSpPr>
          <p:nvPr/>
        </p:nvSpPr>
        <p:spPr>
          <a:xfrm xmlns:a="http://schemas.openxmlformats.org/drawingml/2006/main">
            <a:off x="8601075" y="4800600"/>
            <a:ext cx="2971800" cy="342900"/>
          </a:xfrm>
          <a:prstGeom xmlns:a="http://schemas.openxmlformats.org/drawingml/2006/main" prst="rect">
            <a:avLst/>
          </a:prstGeom>
        </p:spPr>
        <p:txBody>
          <a:bodyPr xmlns:a="http://schemas.openxmlformats.org/drawingml/2006/main" lIns="0" tIns="0" rIns="0" bIns="0" anchor="t">
            <a:normAutofit fontScale="83333"/>
          </a:bodyPr>
          <a:lstStyle xmlns:a="http://schemas.openxmlformats.org/drawingml/2006/main"/>
          <a:p xmlns:a="http://schemas.openxmlformats.org/drawingml/2006/main">
            <a:pPr algn="l">
              <a:buNone/>
              <a:defRPr sz="1350" b="0">
                <a:solidFill>
                  <a:srgbClr val="FFFFFF"/>
                </a:solidFill>
                <a:latin typeface="PingFang SC"/>
                <a:ea typeface="PingFang SC"/>
                <a:cs typeface="PingFang SC"/>
              </a:defRPr>
            </a:pPr>
            <a:r>
              <a:t>用果仁底座把培训从组织内部课程交付升级为以空间承载的内外部发展活动运营体系。</a:t>
            </a:r>
          </a:p>
        </p:txBody>
      </p:sp>
    </p:spTree>
    <p:extLst>
      <p:ext uri="{BB962C8B-B14F-4D97-AF65-F5344CB8AC3E}">
        <p14:creationId xmlns:p14="http://schemas.microsoft.com/office/powerpoint/2010/main" val="18101001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5DC67C41-E56E-4C2D-85C1-A5C54367DCBA}"/>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产品定位</a:t>
            </a:r>
          </a:p>
        </p:txBody>
      </p:sp>
      <p:sp>
        <p:nvSpPr>
          <p:cNvPr id="3" name="矩形 2">
            <a:extLst xmlns:a="http://schemas.openxmlformats.org/drawingml/2006/main">
              <a:ext uri="{FF2B5EF4-FFF2-40B4-BE49-F238E27FC236}">
                <a16:creationId xmlns:a16="http://schemas.microsoft.com/office/drawing/2014/main" id="{F1B5E36B-E4B1-4A8E-B782-9CFC7BEAF216}"/>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a:solidFill>
                  <a:srgbClr val="000000"/>
                </a:solidFill>
                <a:latin typeface="PingFang SC"/>
                <a:ea typeface="PingFang SC"/>
                <a:cs typeface="PingFang SC"/>
              </a:defRPr>
            </a:pPr>
            <a:r>
              <a:t>果仁培训平台重新定义培训：空间承载内训、外训和泛发展活动</a:t>
            </a:r>
          </a:p>
        </p:txBody>
      </p:sp>
      <p:sp>
        <p:nvSpPr>
          <p:cNvPr id="4" name="矩形 3">
            <a:extLst xmlns:a="http://schemas.openxmlformats.org/drawingml/2006/main">
              <a:ext uri="{FF2B5EF4-FFF2-40B4-BE49-F238E27FC236}">
                <a16:creationId xmlns:a16="http://schemas.microsoft.com/office/drawing/2014/main" id="{E4F3FDA4-E9B6-4657-9B3D-29DEF124DAB0}"/>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BBCA37E8-8A24-40BD-AC7C-0669E5E3B5F6}"/>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03</a:t>
            </a:r>
          </a:p>
        </p:txBody>
      </p:sp>
      <p:sp>
        <p:nvSpPr>
          <p:cNvPr id="6" name="矩形 5">
            <a:extLst xmlns:a="http://schemas.openxmlformats.org/drawingml/2006/main">
              <a:ext uri="{FF2B5EF4-FFF2-40B4-BE49-F238E27FC236}">
                <a16:creationId xmlns:a16="http://schemas.microsoft.com/office/drawing/2014/main" id="{8800F22E-AA46-412E-B23A-92659C136B79}"/>
              </a:ext>
            </a:extLst>
          </p:cNvPr>
          <p:cNvSpPr>
            <a:spLocks xmlns:a="http://schemas.openxmlformats.org/drawingml/2006/main" noGrp="1"/>
          </p:cNvSpPr>
          <p:nvPr/>
        </p:nvSpPr>
        <p:spPr>
          <a:xfrm xmlns:a="http://schemas.openxmlformats.org/drawingml/2006/main">
            <a:off x="390525" y="1943100"/>
            <a:ext cx="20955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555555"/>
                </a:solidFill>
                <a:latin typeface="PingFang SC"/>
                <a:ea typeface="PingFang SC"/>
                <a:cs typeface="PingFang SC"/>
              </a:defRPr>
            </a:pPr>
            <a:r>
              <a:t>培训外延</a:t>
            </a:r>
          </a:p>
        </p:txBody>
      </p:sp>
      <p:sp>
        <p:nvSpPr>
          <p:cNvPr id="7" name="矩形 6">
            <a:extLst xmlns:a="http://schemas.openxmlformats.org/drawingml/2006/main">
              <a:ext uri="{FF2B5EF4-FFF2-40B4-BE49-F238E27FC236}">
                <a16:creationId xmlns:a16="http://schemas.microsoft.com/office/drawing/2014/main" id="{F7155896-F103-43E4-8FE9-6DD098420876}"/>
              </a:ext>
            </a:extLst>
          </p:cNvPr>
          <p:cNvSpPr>
            <a:spLocks xmlns:a="http://schemas.openxmlformats.org/drawingml/2006/main" noGrp="1"/>
          </p:cNvSpPr>
          <p:nvPr/>
        </p:nvSpPr>
        <p:spPr>
          <a:xfrm xmlns:a="http://schemas.openxmlformats.org/drawingml/2006/main">
            <a:off x="390525" y="2381250"/>
            <a:ext cx="5000625" cy="1257300"/>
          </a:xfrm>
          <a:prstGeom xmlns:a="http://schemas.openxmlformats.org/drawingml/2006/main" prst="rect">
            <a:avLst/>
          </a:prstGeom>
        </p:spPr>
        <p:txBody>
          <a:bodyPr xmlns:a="http://schemas.openxmlformats.org/drawingml/2006/main" lIns="0" tIns="0" rIns="0" bIns="0" anchor="t">
            <a:normAutofit fontScale="91667"/>
          </a:bodyPr>
          <a:lstStyle xmlns:a="http://schemas.openxmlformats.org/drawingml/2006/main"/>
          <a:p xmlns:a="http://schemas.openxmlformats.org/drawingml/2006/main">
            <a:pPr algn="l">
              <a:buNone/>
              <a:defRPr sz="2250" b="1">
                <a:solidFill>
                  <a:srgbClr val="000000"/>
                </a:solidFill>
                <a:latin typeface="PingFang SC"/>
                <a:ea typeface="PingFang SC"/>
                <a:cs typeface="PingFang SC"/>
              </a:defRPr>
            </a:pPr>
            <a:r>
              <a:t>培训外延覆盖本组织成员发展，也覆盖外部非本组织人员参训；外训指客户、伙伴、学员、外校教师、专家社群等外部人员进入平台空间参与发展活动。</a:t>
            </a:r>
          </a:p>
        </p:txBody>
      </p:sp>
      <p:sp>
        <p:nvSpPr>
          <p:cNvPr id="8" name="矩形 7">
            <a:extLst xmlns:a="http://schemas.openxmlformats.org/drawingml/2006/main">
              <a:ext uri="{FF2B5EF4-FFF2-40B4-BE49-F238E27FC236}">
                <a16:creationId xmlns:a16="http://schemas.microsoft.com/office/drawing/2014/main" id="{0124692A-EFC7-4032-B01F-8494C785C3D8}"/>
              </a:ext>
            </a:extLst>
          </p:cNvPr>
          <p:cNvSpPr>
            <a:spLocks xmlns:a="http://schemas.openxmlformats.org/drawingml/2006/main" noGrp="1"/>
          </p:cNvSpPr>
          <p:nvPr/>
        </p:nvSpPr>
        <p:spPr>
          <a:xfrm xmlns:a="http://schemas.openxmlformats.org/drawingml/2006/main">
            <a:off x="390525" y="4171950"/>
            <a:ext cx="5000625"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555555"/>
                </a:solidFill>
                <a:latin typeface="PingFang SC"/>
                <a:ea typeface="PingFang SC"/>
                <a:cs typeface="PingFang SC"/>
              </a:defRPr>
            </a:pPr>
            <a:r>
              <a:t>平台目标是把内外部参与者在空间中的报名、参与、互动、成果、证明和报告转化为可运营资产。</a:t>
            </a:r>
          </a:p>
        </p:txBody>
      </p:sp>
      <p:sp>
        <p:nvSpPr>
          <p:cNvPr id="9" name="矩形 8">
            <a:extLst xmlns:a="http://schemas.openxmlformats.org/drawingml/2006/main">
              <a:ext uri="{FF2B5EF4-FFF2-40B4-BE49-F238E27FC236}">
                <a16:creationId xmlns:a16="http://schemas.microsoft.com/office/drawing/2014/main" id="{E202CDFA-5BCC-4149-AC6F-38E1501FD715}"/>
              </a:ext>
            </a:extLst>
          </p:cNvPr>
          <p:cNvSpPr>
            <a:spLocks xmlns:a="http://schemas.openxmlformats.org/drawingml/2006/main" noGrp="1"/>
          </p:cNvSpPr>
          <p:nvPr/>
        </p:nvSpPr>
        <p:spPr>
          <a:xfrm xmlns:a="http://schemas.openxmlformats.org/drawingml/2006/main">
            <a:off x="6286500" y="1971675"/>
            <a:ext cx="2476500" cy="12954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E28B51A2-ED9F-41D0-9713-D3E7C936E29F}"/>
              </a:ext>
            </a:extLst>
          </p:cNvPr>
          <p:cNvSpPr>
            <a:spLocks xmlns:a="http://schemas.openxmlformats.org/drawingml/2006/main" noGrp="1"/>
          </p:cNvSpPr>
          <p:nvPr/>
        </p:nvSpPr>
        <p:spPr>
          <a:xfrm xmlns:a="http://schemas.openxmlformats.org/drawingml/2006/main">
            <a:off x="6515100" y="2200275"/>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875" b="1">
                <a:solidFill>
                  <a:srgbClr val="000000"/>
                </a:solidFill>
                <a:latin typeface="PingFang SC"/>
                <a:ea typeface="PingFang SC"/>
                <a:cs typeface="PingFang SC"/>
              </a:defRPr>
            </a:pPr>
            <a:r>
              <a:t>活动资产</a:t>
            </a:r>
          </a:p>
        </p:txBody>
      </p:sp>
      <p:sp>
        <p:nvSpPr>
          <p:cNvPr id="11" name="矩形 10">
            <a:extLst xmlns:a="http://schemas.openxmlformats.org/drawingml/2006/main">
              <a:ext uri="{FF2B5EF4-FFF2-40B4-BE49-F238E27FC236}">
                <a16:creationId xmlns:a16="http://schemas.microsoft.com/office/drawing/2014/main" id="{A0D820E0-674B-4AFC-A72C-E8FAC6134F39}"/>
              </a:ext>
            </a:extLst>
          </p:cNvPr>
          <p:cNvSpPr>
            <a:spLocks xmlns:a="http://schemas.openxmlformats.org/drawingml/2006/main" noGrp="1"/>
          </p:cNvSpPr>
          <p:nvPr/>
        </p:nvSpPr>
        <p:spPr>
          <a:xfrm xmlns:a="http://schemas.openxmlformats.org/drawingml/2006/main">
            <a:off x="6515100" y="2657475"/>
            <a:ext cx="2019300" cy="419100"/>
          </a:xfrm>
          <a:prstGeom xmlns:a="http://schemas.openxmlformats.org/drawingml/2006/main" prst="rect">
            <a:avLst/>
          </a:prstGeom>
        </p:spPr>
        <p:txBody>
          <a:bodyPr xmlns:a="http://schemas.openxmlformats.org/drawingml/2006/main" lIns="0" tIns="0" rIns="0" bIns="0" anchor="t">
            <a:normAutofit fontScale="67901"/>
          </a:bodyPr>
          <a:lstStyle xmlns:a="http://schemas.openxmlformats.org/drawingml/2006/main"/>
          <a:p xmlns:a="http://schemas.openxmlformats.org/drawingml/2006/main">
            <a:pPr algn="l">
              <a:buNone/>
              <a:defRPr sz="1350" b="0">
                <a:solidFill>
                  <a:srgbClr val="000000"/>
                </a:solidFill>
                <a:latin typeface="PingFang SC"/>
                <a:ea typeface="PingFang SC"/>
                <a:cs typeface="PingFang SC"/>
              </a:defRPr>
            </a:pPr>
            <a:r>
              <a:t>发展项目、业务空间、活动类型、内部/外部参与者、来源组织、主持人、专家和成果要求统一沉淀。</a:t>
            </a:r>
          </a:p>
        </p:txBody>
      </p:sp>
      <p:sp>
        <p:nvSpPr>
          <p:cNvPr id="12" name="矩形 11">
            <a:extLst xmlns:a="http://schemas.openxmlformats.org/drawingml/2006/main">
              <a:ext uri="{FF2B5EF4-FFF2-40B4-BE49-F238E27FC236}">
                <a16:creationId xmlns:a16="http://schemas.microsoft.com/office/drawing/2014/main" id="{2A960F71-FD98-421B-A977-D1753B0EB9C3}"/>
              </a:ext>
            </a:extLst>
          </p:cNvPr>
          <p:cNvSpPr>
            <a:spLocks xmlns:a="http://schemas.openxmlformats.org/drawingml/2006/main" noGrp="1"/>
          </p:cNvSpPr>
          <p:nvPr/>
        </p:nvSpPr>
        <p:spPr>
          <a:xfrm xmlns:a="http://schemas.openxmlformats.org/drawingml/2006/main">
            <a:off x="9315450" y="1971675"/>
            <a:ext cx="2476500" cy="12954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68E9C11C-FE6A-4ED6-A8B4-59AF89C89E45}"/>
              </a:ext>
            </a:extLst>
          </p:cNvPr>
          <p:cNvSpPr>
            <a:spLocks xmlns:a="http://schemas.openxmlformats.org/drawingml/2006/main" noGrp="1"/>
          </p:cNvSpPr>
          <p:nvPr/>
        </p:nvSpPr>
        <p:spPr>
          <a:xfrm xmlns:a="http://schemas.openxmlformats.org/drawingml/2006/main">
            <a:off x="9544050" y="2200275"/>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875" b="1">
                <a:solidFill>
                  <a:srgbClr val="000000"/>
                </a:solidFill>
                <a:latin typeface="PingFang SC"/>
                <a:ea typeface="PingFang SC"/>
                <a:cs typeface="PingFang SC"/>
              </a:defRPr>
            </a:pPr>
            <a:r>
              <a:t>过程参与</a:t>
            </a:r>
          </a:p>
        </p:txBody>
      </p:sp>
      <p:sp>
        <p:nvSpPr>
          <p:cNvPr id="14" name="矩形 13">
            <a:extLst xmlns:a="http://schemas.openxmlformats.org/drawingml/2006/main">
              <a:ext uri="{FF2B5EF4-FFF2-40B4-BE49-F238E27FC236}">
                <a16:creationId xmlns:a16="http://schemas.microsoft.com/office/drawing/2014/main" id="{CCAB3DC0-1B5D-4757-943D-B9B45616A187}"/>
              </a:ext>
            </a:extLst>
          </p:cNvPr>
          <p:cNvSpPr>
            <a:spLocks xmlns:a="http://schemas.openxmlformats.org/drawingml/2006/main" noGrp="1"/>
          </p:cNvSpPr>
          <p:nvPr/>
        </p:nvSpPr>
        <p:spPr>
          <a:xfrm xmlns:a="http://schemas.openxmlformats.org/drawingml/2006/main">
            <a:off x="9544050" y="2657475"/>
            <a:ext cx="2019300" cy="419100"/>
          </a:xfrm>
          <a:prstGeom xmlns:a="http://schemas.openxmlformats.org/drawingml/2006/main" prst="rect">
            <a:avLst/>
          </a:prstGeom>
        </p:spPr>
        <p:txBody>
          <a:bodyPr xmlns:a="http://schemas.openxmlformats.org/drawingml/2006/main" lIns="0" tIns="0" rIns="0" bIns="0" anchor="t">
            <a:normAutofit fontScale="67901"/>
          </a:bodyPr>
          <a:lstStyle xmlns:a="http://schemas.openxmlformats.org/drawingml/2006/main"/>
          <a:p xmlns:a="http://schemas.openxmlformats.org/drawingml/2006/main">
            <a:pPr algn="l">
              <a:buNone/>
              <a:defRPr sz="1350" b="0">
                <a:solidFill>
                  <a:srgbClr val="000000"/>
                </a:solidFill>
                <a:latin typeface="PingFang SC"/>
                <a:ea typeface="PingFang SC"/>
                <a:cs typeface="PingFang SC"/>
              </a:defRPr>
            </a:pPr>
            <a:r>
              <a:t>空间是主要业务载体，承载报名审核、成员、资料、任务、研讨、评课、互动、成果和报告。</a:t>
            </a:r>
          </a:p>
        </p:txBody>
      </p:sp>
      <p:sp>
        <p:nvSpPr>
          <p:cNvPr id="15" name="矩形 14">
            <a:extLst xmlns:a="http://schemas.openxmlformats.org/drawingml/2006/main">
              <a:ext uri="{FF2B5EF4-FFF2-40B4-BE49-F238E27FC236}">
                <a16:creationId xmlns:a16="http://schemas.microsoft.com/office/drawing/2014/main" id="{994A804C-8D5F-4373-B750-E983E534C3FE}"/>
              </a:ext>
            </a:extLst>
          </p:cNvPr>
          <p:cNvSpPr>
            <a:spLocks xmlns:a="http://schemas.openxmlformats.org/drawingml/2006/main" noGrp="1"/>
          </p:cNvSpPr>
          <p:nvPr/>
        </p:nvSpPr>
        <p:spPr>
          <a:xfrm xmlns:a="http://schemas.openxmlformats.org/drawingml/2006/main">
            <a:off x="6286500" y="3762375"/>
            <a:ext cx="2476500" cy="12954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6" name="矩形 15">
            <a:extLst xmlns:a="http://schemas.openxmlformats.org/drawingml/2006/main">
              <a:ext uri="{FF2B5EF4-FFF2-40B4-BE49-F238E27FC236}">
                <a16:creationId xmlns:a16="http://schemas.microsoft.com/office/drawing/2014/main" id="{3C03295F-3459-46C0-BED7-A183F6139F93}"/>
              </a:ext>
            </a:extLst>
          </p:cNvPr>
          <p:cNvSpPr>
            <a:spLocks xmlns:a="http://schemas.openxmlformats.org/drawingml/2006/main" noGrp="1"/>
          </p:cNvSpPr>
          <p:nvPr/>
        </p:nvSpPr>
        <p:spPr>
          <a:xfrm xmlns:a="http://schemas.openxmlformats.org/drawingml/2006/main">
            <a:off x="6515100" y="3990975"/>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875" b="1">
                <a:solidFill>
                  <a:srgbClr val="000000"/>
                </a:solidFill>
                <a:latin typeface="PingFang SC"/>
                <a:ea typeface="PingFang SC"/>
                <a:cs typeface="PingFang SC"/>
              </a:defRPr>
            </a:pPr>
            <a:r>
              <a:t>智能辅助</a:t>
            </a:r>
          </a:p>
        </p:txBody>
      </p:sp>
      <p:sp>
        <p:nvSpPr>
          <p:cNvPr id="17" name="矩形 16">
            <a:extLst xmlns:a="http://schemas.openxmlformats.org/drawingml/2006/main">
              <a:ext uri="{FF2B5EF4-FFF2-40B4-BE49-F238E27FC236}">
                <a16:creationId xmlns:a16="http://schemas.microsoft.com/office/drawing/2014/main" id="{18869738-D6D9-45E6-9A68-B7E56AC73EFE}"/>
              </a:ext>
            </a:extLst>
          </p:cNvPr>
          <p:cNvSpPr>
            <a:spLocks xmlns:a="http://schemas.openxmlformats.org/drawingml/2006/main" noGrp="1"/>
          </p:cNvSpPr>
          <p:nvPr/>
        </p:nvSpPr>
        <p:spPr>
          <a:xfrm xmlns:a="http://schemas.openxmlformats.org/drawingml/2006/main">
            <a:off x="6515100" y="4448175"/>
            <a:ext cx="2019300" cy="419100"/>
          </a:xfrm>
          <a:prstGeom xmlns:a="http://schemas.openxmlformats.org/drawingml/2006/main" prst="rect">
            <a:avLst/>
          </a:prstGeom>
        </p:spPr>
        <p:txBody>
          <a:bodyPr xmlns:a="http://schemas.openxmlformats.org/drawingml/2006/main" lIns="0" tIns="0" rIns="0" bIns="0" anchor="t">
            <a:normAutofit fontScale="67901"/>
          </a:bodyPr>
          <a:lstStyle xmlns:a="http://schemas.openxmlformats.org/drawingml/2006/main"/>
          <a:p xmlns:a="http://schemas.openxmlformats.org/drawingml/2006/main">
            <a:pPr algn="l">
              <a:buNone/>
              <a:defRPr sz="1350" b="0">
                <a:solidFill>
                  <a:srgbClr val="000000"/>
                </a:solidFill>
                <a:latin typeface="PingFang SC"/>
                <a:ea typeface="PingFang SC"/>
                <a:cs typeface="PingFang SC"/>
              </a:defRPr>
            </a:pPr>
            <a:r>
              <a:t>Lucky 支持外训方案、报名问答、纪要整理、评课分析和成长证据归档。</a:t>
            </a:r>
          </a:p>
        </p:txBody>
      </p:sp>
      <p:sp>
        <p:nvSpPr>
          <p:cNvPr id="18" name="矩形 17">
            <a:extLst xmlns:a="http://schemas.openxmlformats.org/drawingml/2006/main">
              <a:ext uri="{FF2B5EF4-FFF2-40B4-BE49-F238E27FC236}">
                <a16:creationId xmlns:a16="http://schemas.microsoft.com/office/drawing/2014/main" id="{EC6CBA9F-78DB-446D-9A6E-496F99EE6820}"/>
              </a:ext>
            </a:extLst>
          </p:cNvPr>
          <p:cNvSpPr>
            <a:spLocks xmlns:a="http://schemas.openxmlformats.org/drawingml/2006/main" noGrp="1"/>
          </p:cNvSpPr>
          <p:nvPr/>
        </p:nvSpPr>
        <p:spPr>
          <a:xfrm xmlns:a="http://schemas.openxmlformats.org/drawingml/2006/main">
            <a:off x="9315450" y="3762375"/>
            <a:ext cx="2476500" cy="12954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9" name="矩形 18">
            <a:extLst xmlns:a="http://schemas.openxmlformats.org/drawingml/2006/main">
              <a:ext uri="{FF2B5EF4-FFF2-40B4-BE49-F238E27FC236}">
                <a16:creationId xmlns:a16="http://schemas.microsoft.com/office/drawing/2014/main" id="{417DB32A-F0FB-4732-A98A-BA69779CE3B3}"/>
              </a:ext>
            </a:extLst>
          </p:cNvPr>
          <p:cNvSpPr>
            <a:spLocks xmlns:a="http://schemas.openxmlformats.org/drawingml/2006/main" noGrp="1"/>
          </p:cNvSpPr>
          <p:nvPr/>
        </p:nvSpPr>
        <p:spPr>
          <a:xfrm xmlns:a="http://schemas.openxmlformats.org/drawingml/2006/main">
            <a:off x="9544050" y="3990975"/>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875" b="1">
                <a:solidFill>
                  <a:srgbClr val="000000"/>
                </a:solidFill>
                <a:latin typeface="PingFang SC"/>
                <a:ea typeface="PingFang SC"/>
                <a:cs typeface="PingFang SC"/>
              </a:defRPr>
            </a:pPr>
            <a:r>
              <a:t>发展闭环</a:t>
            </a:r>
          </a:p>
        </p:txBody>
      </p:sp>
      <p:sp>
        <p:nvSpPr>
          <p:cNvPr id="20" name="矩形 19">
            <a:extLst xmlns:a="http://schemas.openxmlformats.org/drawingml/2006/main">
              <a:ext uri="{FF2B5EF4-FFF2-40B4-BE49-F238E27FC236}">
                <a16:creationId xmlns:a16="http://schemas.microsoft.com/office/drawing/2014/main" id="{67D52D33-DA4A-4F9A-A136-543C4F181B4E}"/>
              </a:ext>
            </a:extLst>
          </p:cNvPr>
          <p:cNvSpPr>
            <a:spLocks xmlns:a="http://schemas.openxmlformats.org/drawingml/2006/main" noGrp="1"/>
          </p:cNvSpPr>
          <p:nvPr/>
        </p:nvSpPr>
        <p:spPr>
          <a:xfrm xmlns:a="http://schemas.openxmlformats.org/drawingml/2006/main">
            <a:off x="9544050" y="4448175"/>
            <a:ext cx="2019300" cy="419100"/>
          </a:xfrm>
          <a:prstGeom xmlns:a="http://schemas.openxmlformats.org/drawingml/2006/main" prst="rect">
            <a:avLst/>
          </a:prstGeom>
        </p:spPr>
        <p:txBody>
          <a:bodyPr xmlns:a="http://schemas.openxmlformats.org/drawingml/2006/main" lIns="0" tIns="0" rIns="0" bIns="0" anchor="t">
            <a:normAutofit fontScale="67901"/>
          </a:bodyPr>
          <a:lstStyle xmlns:a="http://schemas.openxmlformats.org/drawingml/2006/main"/>
          <a:p xmlns:a="http://schemas.openxmlformats.org/drawingml/2006/main">
            <a:pPr algn="l">
              <a:buNone/>
              <a:defRPr sz="1350" b="0">
                <a:solidFill>
                  <a:srgbClr val="000000"/>
                </a:solidFill>
                <a:latin typeface="PingFang SC"/>
                <a:ea typeface="PingFang SC"/>
                <a:cs typeface="PingFang SC"/>
              </a:defRPr>
            </a:pPr>
            <a:r>
              <a:t>效果评估反哺空间模板、能力模型、外部组织报告、复训建议和下一轮发展计划。</a:t>
            </a:r>
          </a:p>
        </p:txBody>
      </p:sp>
    </p:spTree>
    <p:extLst>
      <p:ext uri="{BB962C8B-B14F-4D97-AF65-F5344CB8AC3E}">
        <p14:creationId xmlns:p14="http://schemas.microsoft.com/office/powerpoint/2010/main" val="19053283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22B82964-40E1-4C6C-8C9E-F9F32DC6374F}"/>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总体架构</a:t>
            </a:r>
          </a:p>
        </p:txBody>
      </p:sp>
      <p:sp>
        <p:nvSpPr>
          <p:cNvPr id="3" name="矩形 2">
            <a:extLst xmlns:a="http://schemas.openxmlformats.org/drawingml/2006/main">
              <a:ext uri="{FF2B5EF4-FFF2-40B4-BE49-F238E27FC236}">
                <a16:creationId xmlns:a16="http://schemas.microsoft.com/office/drawing/2014/main" id="{DBC52530-DAD4-4C9A-97C8-A67779B4FF09}"/>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75" b="1">
                <a:solidFill>
                  <a:srgbClr val="000000"/>
                </a:solidFill>
                <a:latin typeface="PingFang SC"/>
                <a:ea typeface="PingFang SC"/>
                <a:cs typeface="PingFang SC"/>
              </a:defRPr>
            </a:pPr>
            <a:r>
              <a:t>空间成为内外训发展活动的统一业务载体</a:t>
            </a:r>
          </a:p>
        </p:txBody>
      </p:sp>
      <p:sp>
        <p:nvSpPr>
          <p:cNvPr id="4" name="矩形 3">
            <a:extLst xmlns:a="http://schemas.openxmlformats.org/drawingml/2006/main">
              <a:ext uri="{FF2B5EF4-FFF2-40B4-BE49-F238E27FC236}">
                <a16:creationId xmlns:a16="http://schemas.microsoft.com/office/drawing/2014/main" id="{9E447CA5-FFB3-4109-863A-40197E951657}"/>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208E5834-DFC1-4A4B-98B3-7446C3B6B53A}"/>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04</a:t>
            </a:r>
          </a:p>
        </p:txBody>
      </p:sp>
      <p:sp>
        <p:nvSpPr>
          <p:cNvPr id="6" name="矩形 5">
            <a:extLst xmlns:a="http://schemas.openxmlformats.org/drawingml/2006/main">
              <a:ext uri="{FF2B5EF4-FFF2-40B4-BE49-F238E27FC236}">
                <a16:creationId xmlns:a16="http://schemas.microsoft.com/office/drawing/2014/main" id="{8BD29CFE-CBE0-4CFE-92C7-B590A70F82FD}"/>
              </a:ext>
            </a:extLst>
          </p:cNvPr>
          <p:cNvSpPr>
            <a:spLocks xmlns:a="http://schemas.openxmlformats.org/drawingml/2006/main" noGrp="1"/>
          </p:cNvSpPr>
          <p:nvPr/>
        </p:nvSpPr>
        <p:spPr>
          <a:xfrm xmlns:a="http://schemas.openxmlformats.org/drawingml/2006/main">
            <a:off x="685800" y="1981200"/>
            <a:ext cx="10096500" cy="685800"/>
          </a:xfrm>
          <a:prstGeom xmlns:a="http://schemas.openxmlformats.org/drawingml/2006/main" prst="rect">
            <a:avLst/>
          </a:prstGeom>
        </p:spPr>
        <p:txBody>
          <a:bodyPr xmlns:a="http://schemas.openxmlformats.org/drawingml/2006/main" lIns="0" tIns="0" rIns="0" bIns="0" anchor="ctr">
            <a:normAutofit fontScale="89759"/>
          </a:bodyPr>
          <a:lstStyle xmlns:a="http://schemas.openxmlformats.org/drawingml/2006/main"/>
          <a:p xmlns:a="http://schemas.openxmlformats.org/drawingml/2006/main">
            <a:pPr algn="ctr">
              <a:buNone/>
              <a:defRPr sz="2475" b="1">
                <a:solidFill>
                  <a:srgbClr val="000000"/>
                </a:solidFill>
                <a:latin typeface="PingFang SC"/>
                <a:ea typeface="PingFang SC"/>
                <a:cs typeface="PingFang SC"/>
              </a:defRPr>
            </a:pPr>
            <a:r>
              <a:t>面向内训、外训、课程、研讨、评课、工作坊和客户/伙伴培训，先创建业务空间，再在空间内组织参与者、来源组织、内容、过程、AI、数据和商业化交付。</a:t>
            </a:r>
          </a:p>
        </p:txBody>
      </p:sp>
      <p:sp>
        <p:nvSpPr>
          <p:cNvPr id="7" name="矩形 6">
            <a:extLst xmlns:a="http://schemas.openxmlformats.org/drawingml/2006/main">
              <a:ext uri="{FF2B5EF4-FFF2-40B4-BE49-F238E27FC236}">
                <a16:creationId xmlns:a16="http://schemas.microsoft.com/office/drawing/2014/main" id="{257A8AC0-A8B3-4E15-BA38-4DB418237774}"/>
              </a:ext>
            </a:extLst>
          </p:cNvPr>
          <p:cNvSpPr>
            <a:spLocks xmlns:a="http://schemas.openxmlformats.org/drawingml/2006/main" noGrp="1"/>
          </p:cNvSpPr>
          <p:nvPr/>
        </p:nvSpPr>
        <p:spPr>
          <a:xfrm xmlns:a="http://schemas.openxmlformats.org/drawingml/2006/main">
            <a:off x="895350" y="3200400"/>
            <a:ext cx="1714500" cy="5524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8" name="矩形 7">
            <a:extLst xmlns:a="http://schemas.openxmlformats.org/drawingml/2006/main">
              <a:ext uri="{FF2B5EF4-FFF2-40B4-BE49-F238E27FC236}">
                <a16:creationId xmlns:a16="http://schemas.microsoft.com/office/drawing/2014/main" id="{A28C787D-DEAE-4E2D-BFC4-012369904181}"/>
              </a:ext>
            </a:extLst>
          </p:cNvPr>
          <p:cNvSpPr>
            <a:spLocks xmlns:a="http://schemas.openxmlformats.org/drawingml/2006/main" noGrp="1"/>
          </p:cNvSpPr>
          <p:nvPr/>
        </p:nvSpPr>
        <p:spPr>
          <a:xfrm xmlns:a="http://schemas.openxmlformats.org/drawingml/2006/main">
            <a:off x="990600" y="3257550"/>
            <a:ext cx="1524000" cy="4381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725" b="1">
                <a:solidFill>
                  <a:srgbClr val="000000"/>
                </a:solidFill>
                <a:latin typeface="PingFang SC"/>
                <a:ea typeface="PingFang SC"/>
                <a:cs typeface="PingFang SC"/>
              </a:defRPr>
            </a:pPr>
            <a:r>
              <a:t>业务入口</a:t>
            </a:r>
          </a:p>
        </p:txBody>
      </p:sp>
      <p:sp>
        <p:nvSpPr>
          <p:cNvPr id="9" name="右箭头 8">
            <a:extLst xmlns:a="http://schemas.openxmlformats.org/drawingml/2006/main">
              <a:ext uri="{FF2B5EF4-FFF2-40B4-BE49-F238E27FC236}">
                <a16:creationId xmlns:a16="http://schemas.microsoft.com/office/drawing/2014/main" id="{32A70D23-71F8-4741-B21F-212737F2F883}"/>
              </a:ext>
            </a:extLst>
          </p:cNvPr>
          <p:cNvSpPr>
            <a:spLocks xmlns:a="http://schemas.openxmlformats.org/drawingml/2006/main" noGrp="1"/>
          </p:cNvSpPr>
          <p:nvPr/>
        </p:nvSpPr>
        <p:spPr>
          <a:xfrm xmlns:a="http://schemas.openxmlformats.org/drawingml/2006/main">
            <a:off x="2914650" y="3305175"/>
            <a:ext cx="704850" cy="342900"/>
          </a:xfrm>
          <a:prstGeom xmlns:a="http://schemas.openxmlformats.org/drawingml/2006/main" prst="rightArrow">
            <a:avLst/>
          </a:prstGeom>
          <a:solidFill xmlns:a="http://schemas.openxmlformats.org/drawingml/2006/main">
            <a:srgbClr val="B8BCC4"/>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C6DA7CC1-1DFC-488D-BF72-170343993B80}"/>
              </a:ext>
            </a:extLst>
          </p:cNvPr>
          <p:cNvSpPr>
            <a:spLocks xmlns:a="http://schemas.openxmlformats.org/drawingml/2006/main" noGrp="1"/>
          </p:cNvSpPr>
          <p:nvPr/>
        </p:nvSpPr>
        <p:spPr>
          <a:xfrm xmlns:a="http://schemas.openxmlformats.org/drawingml/2006/main">
            <a:off x="3924300" y="3200400"/>
            <a:ext cx="1524000" cy="5524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1" name="矩形 10">
            <a:extLst xmlns:a="http://schemas.openxmlformats.org/drawingml/2006/main">
              <a:ext uri="{FF2B5EF4-FFF2-40B4-BE49-F238E27FC236}">
                <a16:creationId xmlns:a16="http://schemas.microsoft.com/office/drawing/2014/main" id="{993AEF9A-D967-4399-8912-424C3DF6B43C}"/>
              </a:ext>
            </a:extLst>
          </p:cNvPr>
          <p:cNvSpPr>
            <a:spLocks xmlns:a="http://schemas.openxmlformats.org/drawingml/2006/main" noGrp="1"/>
          </p:cNvSpPr>
          <p:nvPr/>
        </p:nvSpPr>
        <p:spPr>
          <a:xfrm xmlns:a="http://schemas.openxmlformats.org/drawingml/2006/main">
            <a:off x="4019550" y="3257550"/>
            <a:ext cx="1333500" cy="4381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725" b="1">
                <a:solidFill>
                  <a:srgbClr val="000000"/>
                </a:solidFill>
                <a:latin typeface="PingFang SC"/>
                <a:ea typeface="PingFang SC"/>
                <a:cs typeface="PingFang SC"/>
              </a:defRPr>
            </a:pPr>
            <a:r>
              <a:t>业务空间</a:t>
            </a:r>
          </a:p>
        </p:txBody>
      </p:sp>
      <p:sp>
        <p:nvSpPr>
          <p:cNvPr id="12" name="右箭头 11">
            <a:extLst xmlns:a="http://schemas.openxmlformats.org/drawingml/2006/main">
              <a:ext uri="{FF2B5EF4-FFF2-40B4-BE49-F238E27FC236}">
                <a16:creationId xmlns:a16="http://schemas.microsoft.com/office/drawing/2014/main" id="{E5DD8A2F-E467-439C-9EB7-CD390029DCE6}"/>
              </a:ext>
            </a:extLst>
          </p:cNvPr>
          <p:cNvSpPr>
            <a:spLocks xmlns:a="http://schemas.openxmlformats.org/drawingml/2006/main" noGrp="1"/>
          </p:cNvSpPr>
          <p:nvPr/>
        </p:nvSpPr>
        <p:spPr>
          <a:xfrm xmlns:a="http://schemas.openxmlformats.org/drawingml/2006/main">
            <a:off x="5753100" y="3305175"/>
            <a:ext cx="704850" cy="342900"/>
          </a:xfrm>
          <a:prstGeom xmlns:a="http://schemas.openxmlformats.org/drawingml/2006/main" prst="rightArrow">
            <a:avLst/>
          </a:prstGeom>
          <a:solidFill xmlns:a="http://schemas.openxmlformats.org/drawingml/2006/main">
            <a:srgbClr val="B8BCC4"/>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FA93F15D-48D4-4220-9B67-C1C3DAEE1D2B}"/>
              </a:ext>
            </a:extLst>
          </p:cNvPr>
          <p:cNvSpPr>
            <a:spLocks xmlns:a="http://schemas.openxmlformats.org/drawingml/2006/main" noGrp="1"/>
          </p:cNvSpPr>
          <p:nvPr/>
        </p:nvSpPr>
        <p:spPr>
          <a:xfrm xmlns:a="http://schemas.openxmlformats.org/drawingml/2006/main">
            <a:off x="6762750" y="3200400"/>
            <a:ext cx="2000250" cy="552450"/>
          </a:xfrm>
          <a:prstGeom xmlns:a="http://schemas.openxmlformats.org/drawingml/2006/main" prst="rect">
            <a:avLst/>
          </a:prstGeom>
          <a:solidFill xmlns:a="http://schemas.openxmlformats.org/drawingml/2006/main">
            <a:srgbClr val="000000"/>
          </a:solidFill>
          <a:ln xmlns:a="http://schemas.openxmlformats.org/drawingml/2006/main" w="9525">
            <a:solidFill>
              <a:srgbClr val="B8BCC4"/>
            </a:solidFill>
            <a:prstDash val="solid"/>
          </a:ln>
        </p:spPr>
      </p:sp>
      <p:sp>
        <p:nvSpPr>
          <p:cNvPr id="14" name="矩形 13">
            <a:extLst xmlns:a="http://schemas.openxmlformats.org/drawingml/2006/main">
              <a:ext uri="{FF2B5EF4-FFF2-40B4-BE49-F238E27FC236}">
                <a16:creationId xmlns:a16="http://schemas.microsoft.com/office/drawing/2014/main" id="{4C219FB3-A687-4897-A94A-39104546B3B4}"/>
              </a:ext>
            </a:extLst>
          </p:cNvPr>
          <p:cNvSpPr>
            <a:spLocks xmlns:a="http://schemas.openxmlformats.org/drawingml/2006/main" noGrp="1"/>
          </p:cNvSpPr>
          <p:nvPr/>
        </p:nvSpPr>
        <p:spPr>
          <a:xfrm xmlns:a="http://schemas.openxmlformats.org/drawingml/2006/main">
            <a:off x="6858000" y="3257550"/>
            <a:ext cx="1809750" cy="4381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725" b="1">
                <a:solidFill>
                  <a:srgbClr val="FFFFFF"/>
                </a:solidFill>
                <a:latin typeface="PingFang SC"/>
                <a:ea typeface="PingFang SC"/>
                <a:cs typeface="PingFang SC"/>
              </a:defRPr>
            </a:pPr>
            <a:r>
              <a:t>AI 能力层</a:t>
            </a:r>
          </a:p>
        </p:txBody>
      </p:sp>
      <p:sp>
        <p:nvSpPr>
          <p:cNvPr id="15" name="右箭头 14">
            <a:extLst xmlns:a="http://schemas.openxmlformats.org/drawingml/2006/main">
              <a:ext uri="{FF2B5EF4-FFF2-40B4-BE49-F238E27FC236}">
                <a16:creationId xmlns:a16="http://schemas.microsoft.com/office/drawing/2014/main" id="{7559AD2F-73C9-4413-BD9F-D1F3E362BEE8}"/>
              </a:ext>
            </a:extLst>
          </p:cNvPr>
          <p:cNvSpPr>
            <a:spLocks xmlns:a="http://schemas.openxmlformats.org/drawingml/2006/main" noGrp="1"/>
          </p:cNvSpPr>
          <p:nvPr/>
        </p:nvSpPr>
        <p:spPr>
          <a:xfrm xmlns:a="http://schemas.openxmlformats.org/drawingml/2006/main">
            <a:off x="9067800" y="3305175"/>
            <a:ext cx="704850" cy="342900"/>
          </a:xfrm>
          <a:prstGeom xmlns:a="http://schemas.openxmlformats.org/drawingml/2006/main" prst="rightArrow">
            <a:avLst/>
          </a:prstGeom>
          <a:solidFill xmlns:a="http://schemas.openxmlformats.org/drawingml/2006/main">
            <a:srgbClr val="B8BCC4"/>
          </a:solidFill>
          <a:ln xmlns:a="http://schemas.openxmlformats.org/drawingml/2006/main" w="0">
            <a:noFill/>
            <a:prstDash val="solid"/>
          </a:ln>
        </p:spPr>
      </p:sp>
      <p:sp>
        <p:nvSpPr>
          <p:cNvPr id="16" name="矩形 15">
            <a:extLst xmlns:a="http://schemas.openxmlformats.org/drawingml/2006/main">
              <a:ext uri="{FF2B5EF4-FFF2-40B4-BE49-F238E27FC236}">
                <a16:creationId xmlns:a16="http://schemas.microsoft.com/office/drawing/2014/main" id="{DBB25D8A-BEB5-4DD4-97EB-28812F16B0AE}"/>
              </a:ext>
            </a:extLst>
          </p:cNvPr>
          <p:cNvSpPr>
            <a:spLocks xmlns:a="http://schemas.openxmlformats.org/drawingml/2006/main" noGrp="1"/>
          </p:cNvSpPr>
          <p:nvPr/>
        </p:nvSpPr>
        <p:spPr>
          <a:xfrm xmlns:a="http://schemas.openxmlformats.org/drawingml/2006/main">
            <a:off x="10077450" y="3200400"/>
            <a:ext cx="1714500" cy="552450"/>
          </a:xfrm>
          <a:prstGeom xmlns:a="http://schemas.openxmlformats.org/drawingml/2006/main" prst="rect">
            <a:avLst/>
          </a:prstGeom>
          <a:solidFill xmlns:a="http://schemas.openxmlformats.org/drawingml/2006/main">
            <a:srgbClr val="FF6B35"/>
          </a:solidFill>
          <a:ln xmlns:a="http://schemas.openxmlformats.org/drawingml/2006/main" w="9525">
            <a:noFill/>
            <a:prstDash val="solid"/>
          </a:ln>
        </p:spPr>
      </p:sp>
      <p:sp>
        <p:nvSpPr>
          <p:cNvPr id="17" name="矩形 16">
            <a:extLst xmlns:a="http://schemas.openxmlformats.org/drawingml/2006/main">
              <a:ext uri="{FF2B5EF4-FFF2-40B4-BE49-F238E27FC236}">
                <a16:creationId xmlns:a16="http://schemas.microsoft.com/office/drawing/2014/main" id="{11CB3CDF-A8CA-4CC9-9982-537B4620E919}"/>
              </a:ext>
            </a:extLst>
          </p:cNvPr>
          <p:cNvSpPr>
            <a:spLocks xmlns:a="http://schemas.openxmlformats.org/drawingml/2006/main" noGrp="1"/>
          </p:cNvSpPr>
          <p:nvPr/>
        </p:nvSpPr>
        <p:spPr>
          <a:xfrm xmlns:a="http://schemas.openxmlformats.org/drawingml/2006/main">
            <a:off x="10172700" y="3257550"/>
            <a:ext cx="1524000" cy="4381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650" b="1">
                <a:solidFill>
                  <a:srgbClr val="FFFFFF"/>
                </a:solidFill>
                <a:latin typeface="PingFang SC"/>
                <a:ea typeface="PingFang SC"/>
                <a:cs typeface="PingFang SC"/>
              </a:defRPr>
            </a:pPr>
            <a:r>
              <a:t>果仁底座</a:t>
            </a:r>
          </a:p>
        </p:txBody>
      </p:sp>
      <p:sp>
        <p:nvSpPr>
          <p:cNvPr id="18" name="矩形 17">
            <a:extLst xmlns:a="http://schemas.openxmlformats.org/drawingml/2006/main">
              <a:ext uri="{FF2B5EF4-FFF2-40B4-BE49-F238E27FC236}">
                <a16:creationId xmlns:a16="http://schemas.microsoft.com/office/drawing/2014/main" id="{48DBD47C-829E-492D-B985-BC566CE7B821}"/>
              </a:ext>
            </a:extLst>
          </p:cNvPr>
          <p:cNvSpPr>
            <a:spLocks xmlns:a="http://schemas.openxmlformats.org/drawingml/2006/main" noGrp="1"/>
          </p:cNvSpPr>
          <p:nvPr/>
        </p:nvSpPr>
        <p:spPr>
          <a:xfrm xmlns:a="http://schemas.openxmlformats.org/drawingml/2006/main">
            <a:off x="390525" y="4476750"/>
            <a:ext cx="3238500" cy="10668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9" name="矩形 18">
            <a:extLst xmlns:a="http://schemas.openxmlformats.org/drawingml/2006/main">
              <a:ext uri="{FF2B5EF4-FFF2-40B4-BE49-F238E27FC236}">
                <a16:creationId xmlns:a16="http://schemas.microsoft.com/office/drawing/2014/main" id="{1A1C2CE1-AD48-4553-B061-C344F4707F94}"/>
              </a:ext>
            </a:extLst>
          </p:cNvPr>
          <p:cNvSpPr>
            <a:spLocks xmlns:a="http://schemas.openxmlformats.org/drawingml/2006/main" noGrp="1"/>
          </p:cNvSpPr>
          <p:nvPr/>
        </p:nvSpPr>
        <p:spPr>
          <a:xfrm xmlns:a="http://schemas.openxmlformats.org/drawingml/2006/main">
            <a:off x="619125" y="4705350"/>
            <a:ext cx="2781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800" b="1">
                <a:solidFill>
                  <a:srgbClr val="000000"/>
                </a:solidFill>
                <a:latin typeface="PingFang SC"/>
                <a:ea typeface="PingFang SC"/>
                <a:cs typeface="PingFang SC"/>
              </a:defRPr>
            </a:pPr>
            <a:r>
              <a:t>资料库</a:t>
            </a:r>
          </a:p>
        </p:txBody>
      </p:sp>
      <p:sp>
        <p:nvSpPr>
          <p:cNvPr id="20" name="矩形 19">
            <a:extLst xmlns:a="http://schemas.openxmlformats.org/drawingml/2006/main">
              <a:ext uri="{FF2B5EF4-FFF2-40B4-BE49-F238E27FC236}">
                <a16:creationId xmlns:a16="http://schemas.microsoft.com/office/drawing/2014/main" id="{422A5FB1-0F8B-43AB-AEB3-BDD99C7DFB24}"/>
              </a:ext>
            </a:extLst>
          </p:cNvPr>
          <p:cNvSpPr>
            <a:spLocks xmlns:a="http://schemas.openxmlformats.org/drawingml/2006/main" noGrp="1"/>
          </p:cNvSpPr>
          <p:nvPr/>
        </p:nvSpPr>
        <p:spPr>
          <a:xfrm xmlns:a="http://schemas.openxmlformats.org/drawingml/2006/main">
            <a:off x="619125" y="5162550"/>
            <a:ext cx="2781300" cy="190500"/>
          </a:xfrm>
          <a:prstGeom xmlns:a="http://schemas.openxmlformats.org/drawingml/2006/main" prst="rect">
            <a:avLst/>
          </a:prstGeom>
        </p:spPr>
        <p:txBody>
          <a:bodyPr xmlns:a="http://schemas.openxmlformats.org/drawingml/2006/main" lIns="0" tIns="0" rIns="0" bIns="0" anchor="t">
            <a:normAutofit fontScale="49020"/>
          </a:bodyPr>
          <a:lstStyle xmlns:a="http://schemas.openxmlformats.org/drawingml/2006/main"/>
          <a:p xmlns:a="http://schemas.openxmlformats.org/drawingml/2006/main">
            <a:pPr algn="l">
              <a:buNone/>
              <a:defRPr sz="1275" b="0">
                <a:solidFill>
                  <a:srgbClr val="000000"/>
                </a:solidFill>
                <a:latin typeface="PingFang SC"/>
                <a:ea typeface="PingFang SC"/>
                <a:cs typeface="PingFang SC"/>
              </a:defRPr>
            </a:pPr>
            <a:r>
              <a:t>沉淀空间资料、课程、课件、案例、评课记录、外训资料、研讨纪要和成果，支撑检索、问答与复用。</a:t>
            </a:r>
          </a:p>
        </p:txBody>
      </p:sp>
      <p:sp>
        <p:nvSpPr>
          <p:cNvPr id="21" name="矩形 20">
            <a:extLst xmlns:a="http://schemas.openxmlformats.org/drawingml/2006/main">
              <a:ext uri="{FF2B5EF4-FFF2-40B4-BE49-F238E27FC236}">
                <a16:creationId xmlns:a16="http://schemas.microsoft.com/office/drawing/2014/main" id="{FC364131-C0FE-4506-9FFD-FA7C224DDD3D}"/>
              </a:ext>
            </a:extLst>
          </p:cNvPr>
          <p:cNvSpPr>
            <a:spLocks xmlns:a="http://schemas.openxmlformats.org/drawingml/2006/main" noGrp="1"/>
          </p:cNvSpPr>
          <p:nvPr/>
        </p:nvSpPr>
        <p:spPr>
          <a:xfrm xmlns:a="http://schemas.openxmlformats.org/drawingml/2006/main">
            <a:off x="4476750" y="4476750"/>
            <a:ext cx="3238500" cy="10668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2" name="矩形 21">
            <a:extLst xmlns:a="http://schemas.openxmlformats.org/drawingml/2006/main">
              <a:ext uri="{FF2B5EF4-FFF2-40B4-BE49-F238E27FC236}">
                <a16:creationId xmlns:a16="http://schemas.microsoft.com/office/drawing/2014/main" id="{E786FBBF-D10A-41E0-89B0-1D561565B786}"/>
              </a:ext>
            </a:extLst>
          </p:cNvPr>
          <p:cNvSpPr>
            <a:spLocks xmlns:a="http://schemas.openxmlformats.org/drawingml/2006/main" noGrp="1"/>
          </p:cNvSpPr>
          <p:nvPr/>
        </p:nvSpPr>
        <p:spPr>
          <a:xfrm xmlns:a="http://schemas.openxmlformats.org/drawingml/2006/main">
            <a:off x="4705350" y="4705350"/>
            <a:ext cx="2781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800" b="1">
                <a:solidFill>
                  <a:srgbClr val="000000"/>
                </a:solidFill>
                <a:latin typeface="PingFang SC"/>
                <a:ea typeface="PingFang SC"/>
                <a:cs typeface="PingFang SC"/>
              </a:defRPr>
            </a:pPr>
            <a:r>
              <a:t>空间</a:t>
            </a:r>
          </a:p>
        </p:txBody>
      </p:sp>
      <p:sp>
        <p:nvSpPr>
          <p:cNvPr id="23" name="矩形 22">
            <a:extLst xmlns:a="http://schemas.openxmlformats.org/drawingml/2006/main">
              <a:ext uri="{FF2B5EF4-FFF2-40B4-BE49-F238E27FC236}">
                <a16:creationId xmlns:a16="http://schemas.microsoft.com/office/drawing/2014/main" id="{C843029D-95E9-4500-A5F4-B7A7A2A6906D}"/>
              </a:ext>
            </a:extLst>
          </p:cNvPr>
          <p:cNvSpPr>
            <a:spLocks xmlns:a="http://schemas.openxmlformats.org/drawingml/2006/main" noGrp="1"/>
          </p:cNvSpPr>
          <p:nvPr/>
        </p:nvSpPr>
        <p:spPr>
          <a:xfrm xmlns:a="http://schemas.openxmlformats.org/drawingml/2006/main">
            <a:off x="4705350" y="5162550"/>
            <a:ext cx="2781300" cy="190500"/>
          </a:xfrm>
          <a:prstGeom xmlns:a="http://schemas.openxmlformats.org/drawingml/2006/main" prst="rect">
            <a:avLst/>
          </a:prstGeom>
        </p:spPr>
        <p:txBody>
          <a:bodyPr xmlns:a="http://schemas.openxmlformats.org/drawingml/2006/main" lIns="0" tIns="0" rIns="0" bIns="0" anchor="t">
            <a:normAutofit fontScale="49020"/>
          </a:bodyPr>
          <a:lstStyle xmlns:a="http://schemas.openxmlformats.org/drawingml/2006/main"/>
          <a:p xmlns:a="http://schemas.openxmlformats.org/drawingml/2006/main">
            <a:pPr algn="l">
              <a:buNone/>
              <a:defRPr sz="1275" b="0">
                <a:solidFill>
                  <a:srgbClr val="000000"/>
                </a:solidFill>
                <a:latin typeface="PingFang SC"/>
                <a:ea typeface="PingFang SC"/>
                <a:cs typeface="PingFang SC"/>
              </a:defRPr>
            </a:pPr>
            <a:r>
              <a:t>作为主承载体，承载内训、外训、研讨、评课、客户培训等业务的人员、资源、任务、互动和报告。</a:t>
            </a:r>
          </a:p>
        </p:txBody>
      </p:sp>
      <p:sp>
        <p:nvSpPr>
          <p:cNvPr id="24" name="矩形 23">
            <a:extLst xmlns:a="http://schemas.openxmlformats.org/drawingml/2006/main">
              <a:ext uri="{FF2B5EF4-FFF2-40B4-BE49-F238E27FC236}">
                <a16:creationId xmlns:a16="http://schemas.microsoft.com/office/drawing/2014/main" id="{7A9FD481-2416-44C6-88C8-40A0B02E2E4F}"/>
              </a:ext>
            </a:extLst>
          </p:cNvPr>
          <p:cNvSpPr>
            <a:spLocks xmlns:a="http://schemas.openxmlformats.org/drawingml/2006/main" noGrp="1"/>
          </p:cNvSpPr>
          <p:nvPr/>
        </p:nvSpPr>
        <p:spPr>
          <a:xfrm xmlns:a="http://schemas.openxmlformats.org/drawingml/2006/main">
            <a:off x="8562975" y="4476750"/>
            <a:ext cx="3238500" cy="106680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25" name="矩形 24">
            <a:extLst xmlns:a="http://schemas.openxmlformats.org/drawingml/2006/main">
              <a:ext uri="{FF2B5EF4-FFF2-40B4-BE49-F238E27FC236}">
                <a16:creationId xmlns:a16="http://schemas.microsoft.com/office/drawing/2014/main" id="{91D6ADBA-C21F-4280-9316-8F1C2E7046A5}"/>
              </a:ext>
            </a:extLst>
          </p:cNvPr>
          <p:cNvSpPr>
            <a:spLocks xmlns:a="http://schemas.openxmlformats.org/drawingml/2006/main" noGrp="1"/>
          </p:cNvSpPr>
          <p:nvPr/>
        </p:nvSpPr>
        <p:spPr>
          <a:xfrm xmlns:a="http://schemas.openxmlformats.org/drawingml/2006/main">
            <a:off x="8791575" y="4705350"/>
            <a:ext cx="2781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800" b="1">
                <a:solidFill>
                  <a:srgbClr val="FF6B35"/>
                </a:solidFill>
                <a:latin typeface="PingFang SC"/>
                <a:ea typeface="PingFang SC"/>
                <a:cs typeface="PingFang SC"/>
              </a:defRPr>
            </a:pPr>
            <a:r>
              <a:t>Lucky</a:t>
            </a:r>
          </a:p>
        </p:txBody>
      </p:sp>
      <p:sp>
        <p:nvSpPr>
          <p:cNvPr id="26" name="矩形 25">
            <a:extLst xmlns:a="http://schemas.openxmlformats.org/drawingml/2006/main">
              <a:ext uri="{FF2B5EF4-FFF2-40B4-BE49-F238E27FC236}">
                <a16:creationId xmlns:a16="http://schemas.microsoft.com/office/drawing/2014/main" id="{CDC5C385-EDAF-4EA8-9E84-C9AD3CEAC982}"/>
              </a:ext>
            </a:extLst>
          </p:cNvPr>
          <p:cNvSpPr>
            <a:spLocks xmlns:a="http://schemas.openxmlformats.org/drawingml/2006/main" noGrp="1"/>
          </p:cNvSpPr>
          <p:nvPr/>
        </p:nvSpPr>
        <p:spPr>
          <a:xfrm xmlns:a="http://schemas.openxmlformats.org/drawingml/2006/main">
            <a:off x="8791575" y="5162550"/>
            <a:ext cx="2781300" cy="190500"/>
          </a:xfrm>
          <a:prstGeom xmlns:a="http://schemas.openxmlformats.org/drawingml/2006/main" prst="rect">
            <a:avLst/>
          </a:prstGeom>
        </p:spPr>
        <p:txBody>
          <a:bodyPr xmlns:a="http://schemas.openxmlformats.org/drawingml/2006/main" lIns="0" tIns="0" rIns="0" bIns="0" anchor="t">
            <a:normAutofit fontScale="49020"/>
          </a:bodyPr>
          <a:lstStyle xmlns:a="http://schemas.openxmlformats.org/drawingml/2006/main"/>
          <a:p xmlns:a="http://schemas.openxmlformats.org/drawingml/2006/main">
            <a:pPr algn="l">
              <a:buNone/>
              <a:defRPr sz="1275" b="0">
                <a:solidFill>
                  <a:srgbClr val="FFFFFF"/>
                </a:solidFill>
                <a:latin typeface="PingFang SC"/>
                <a:ea typeface="PingFang SC"/>
                <a:cs typeface="PingFang SC"/>
              </a:defRPr>
            </a:pPr>
            <a:r>
              <a:t>为管理员、主持人、讲师、专家、内部成员、外部参与者和运营人员提供智能助手矩阵。</a:t>
            </a:r>
          </a:p>
        </p:txBody>
      </p:sp>
      <p:sp>
        <p:nvSpPr>
          <p:cNvPr id="27" name="矩形 26">
            <a:extLst xmlns:a="http://schemas.openxmlformats.org/drawingml/2006/main">
              <a:ext uri="{FF2B5EF4-FFF2-40B4-BE49-F238E27FC236}">
                <a16:creationId xmlns:a16="http://schemas.microsoft.com/office/drawing/2014/main" id="{FBC435B9-B585-48F9-9F05-B1F925D5DFF6}"/>
              </a:ext>
            </a:extLst>
          </p:cNvPr>
          <p:cNvSpPr>
            <a:spLocks xmlns:a="http://schemas.openxmlformats.org/drawingml/2006/main" noGrp="1"/>
          </p:cNvSpPr>
          <p:nvPr/>
        </p:nvSpPr>
        <p:spPr>
          <a:xfrm xmlns:a="http://schemas.openxmlformats.org/drawingml/2006/main">
            <a:off x="1104900" y="5867400"/>
            <a:ext cx="9982200" cy="3048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650" b="1">
                <a:solidFill>
                  <a:srgbClr val="000000"/>
                </a:solidFill>
                <a:latin typeface="PingFang SC"/>
                <a:ea typeface="PingFang SC"/>
                <a:cs typeface="PingFang SC"/>
              </a:defRPr>
            </a:pPr>
            <a:r>
              <a:t>底座能力通过空间被业务复用：每类业务都以空间组织人员、资源、流程、数据和 AI。</a:t>
            </a:r>
          </a:p>
        </p:txBody>
      </p:sp>
    </p:spTree>
    <p:extLst>
      <p:ext uri="{BB962C8B-B14F-4D97-AF65-F5344CB8AC3E}">
        <p14:creationId xmlns:p14="http://schemas.microsoft.com/office/powerpoint/2010/main" val="14081029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7729BB91-60A3-4448-8C02-02B369C6651C}"/>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子系统架构</a:t>
            </a:r>
          </a:p>
        </p:txBody>
      </p:sp>
      <p:sp>
        <p:nvSpPr>
          <p:cNvPr id="3" name="矩形 2">
            <a:extLst xmlns:a="http://schemas.openxmlformats.org/drawingml/2006/main">
              <a:ext uri="{FF2B5EF4-FFF2-40B4-BE49-F238E27FC236}">
                <a16:creationId xmlns:a16="http://schemas.microsoft.com/office/drawing/2014/main" id="{3280596C-DC9F-4CF7-832A-C06B7971D85F}"/>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a:solidFill>
                  <a:srgbClr val="000000"/>
                </a:solidFill>
                <a:latin typeface="PingFang SC"/>
                <a:ea typeface="PingFang SC"/>
                <a:cs typeface="PingFang SC"/>
              </a:defRPr>
            </a:pPr>
            <a:r>
              <a:t>空间连接内外训的信息管理、过程运营和效果评估</a:t>
            </a:r>
          </a:p>
        </p:txBody>
      </p:sp>
      <p:sp>
        <p:nvSpPr>
          <p:cNvPr id="4" name="矩形 3">
            <a:extLst xmlns:a="http://schemas.openxmlformats.org/drawingml/2006/main">
              <a:ext uri="{FF2B5EF4-FFF2-40B4-BE49-F238E27FC236}">
                <a16:creationId xmlns:a16="http://schemas.microsoft.com/office/drawing/2014/main" id="{3CABCAC4-D3D3-4904-A2DD-0BAAC1D0FD8E}"/>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5B1FF774-98D2-4343-A4EB-5B26D24E6093}"/>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05</a:t>
            </a:r>
          </a:p>
        </p:txBody>
      </p:sp>
      <p:sp>
        <p:nvSpPr>
          <p:cNvPr id="6" name="矩形 5">
            <a:extLst xmlns:a="http://schemas.openxmlformats.org/drawingml/2006/main">
              <a:ext uri="{FF2B5EF4-FFF2-40B4-BE49-F238E27FC236}">
                <a16:creationId xmlns:a16="http://schemas.microsoft.com/office/drawing/2014/main" id="{7EDC9512-DE58-46DF-94F8-517A02618267}"/>
              </a:ext>
            </a:extLst>
          </p:cNvPr>
          <p:cNvSpPr>
            <a:spLocks xmlns:a="http://schemas.openxmlformats.org/drawingml/2006/main" noGrp="1"/>
          </p:cNvSpPr>
          <p:nvPr/>
        </p:nvSpPr>
        <p:spPr>
          <a:xfrm xmlns:a="http://schemas.openxmlformats.org/drawingml/2006/main">
            <a:off x="628650" y="2266950"/>
            <a:ext cx="2476500" cy="27622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7" name="矩形 6">
            <a:extLst xmlns:a="http://schemas.openxmlformats.org/drawingml/2006/main">
              <a:ext uri="{FF2B5EF4-FFF2-40B4-BE49-F238E27FC236}">
                <a16:creationId xmlns:a16="http://schemas.microsoft.com/office/drawing/2014/main" id="{194A8F60-06FD-47AA-91CA-7D556F533083}"/>
              </a:ext>
            </a:extLst>
          </p:cNvPr>
          <p:cNvSpPr>
            <a:spLocks xmlns:a="http://schemas.openxmlformats.org/drawingml/2006/main" noGrp="1"/>
          </p:cNvSpPr>
          <p:nvPr/>
        </p:nvSpPr>
        <p:spPr>
          <a:xfrm xmlns:a="http://schemas.openxmlformats.org/drawingml/2006/main">
            <a:off x="4857750" y="2266950"/>
            <a:ext cx="2476500" cy="27622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8" name="矩形 7">
            <a:extLst xmlns:a="http://schemas.openxmlformats.org/drawingml/2006/main">
              <a:ext uri="{FF2B5EF4-FFF2-40B4-BE49-F238E27FC236}">
                <a16:creationId xmlns:a16="http://schemas.microsoft.com/office/drawing/2014/main" id="{DAE7EF2A-23D4-40F1-A0C7-84AA90DE1A92}"/>
              </a:ext>
            </a:extLst>
          </p:cNvPr>
          <p:cNvSpPr>
            <a:spLocks xmlns:a="http://schemas.openxmlformats.org/drawingml/2006/main" noGrp="1"/>
          </p:cNvSpPr>
          <p:nvPr/>
        </p:nvSpPr>
        <p:spPr>
          <a:xfrm xmlns:a="http://schemas.openxmlformats.org/drawingml/2006/main">
            <a:off x="9086850" y="2266950"/>
            <a:ext cx="2476500" cy="27622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9" name="矩形 8">
            <a:extLst xmlns:a="http://schemas.openxmlformats.org/drawingml/2006/main">
              <a:ext uri="{FF2B5EF4-FFF2-40B4-BE49-F238E27FC236}">
                <a16:creationId xmlns:a16="http://schemas.microsoft.com/office/drawing/2014/main" id="{FF6C8C0B-69A4-48E1-81AB-EAB90B94ECAC}"/>
              </a:ext>
            </a:extLst>
          </p:cNvPr>
          <p:cNvSpPr>
            <a:spLocks xmlns:a="http://schemas.openxmlformats.org/drawingml/2006/main" noGrp="1"/>
          </p:cNvSpPr>
          <p:nvPr/>
        </p:nvSpPr>
        <p:spPr>
          <a:xfrm xmlns:a="http://schemas.openxmlformats.org/drawingml/2006/main">
            <a:off x="857250" y="2571750"/>
            <a:ext cx="20193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025" b="1">
                <a:solidFill>
                  <a:srgbClr val="000000"/>
                </a:solidFill>
                <a:latin typeface="PingFang SC"/>
                <a:ea typeface="PingFang SC"/>
                <a:cs typeface="PingFang SC"/>
              </a:defRPr>
            </a:pPr>
            <a:r>
              <a:t>培训信息管理</a:t>
            </a:r>
          </a:p>
        </p:txBody>
      </p:sp>
      <p:sp>
        <p:nvSpPr>
          <p:cNvPr id="10" name="矩形 9">
            <a:extLst xmlns:a="http://schemas.openxmlformats.org/drawingml/2006/main">
              <a:ext uri="{FF2B5EF4-FFF2-40B4-BE49-F238E27FC236}">
                <a16:creationId xmlns:a16="http://schemas.microsoft.com/office/drawing/2014/main" id="{4F82CDB8-D738-4E72-B31F-BE2496899403}"/>
              </a:ext>
            </a:extLst>
          </p:cNvPr>
          <p:cNvSpPr>
            <a:spLocks xmlns:a="http://schemas.openxmlformats.org/drawingml/2006/main" noGrp="1"/>
          </p:cNvSpPr>
          <p:nvPr/>
        </p:nvSpPr>
        <p:spPr>
          <a:xfrm xmlns:a="http://schemas.openxmlformats.org/drawingml/2006/main">
            <a:off x="866775" y="3181350"/>
            <a:ext cx="2000250" cy="1066800"/>
          </a:xfrm>
          <a:prstGeom xmlns:a="http://schemas.openxmlformats.org/drawingml/2006/main" prst="rect">
            <a:avLst/>
          </a:prstGeom>
        </p:spPr>
        <p:txBody>
          <a:bodyPr xmlns:a="http://schemas.openxmlformats.org/drawingml/2006/main" lIns="0" tIns="0" rIns="0" bIns="0" anchor="t">
            <a:normAutofit fontScale="98246"/>
          </a:bodyPr>
          <a:lstStyle xmlns:a="http://schemas.openxmlformats.org/drawingml/2006/main"/>
          <a:p xmlns:a="http://schemas.openxmlformats.org/drawingml/2006/main">
            <a:pPr algn="ctr">
              <a:buNone/>
              <a:defRPr sz="1425" b="0">
                <a:solidFill>
                  <a:srgbClr val="000000"/>
                </a:solidFill>
                <a:latin typeface="PingFang SC"/>
                <a:ea typeface="PingFang SC"/>
                <a:cs typeface="PingFang SC"/>
              </a:defRPr>
            </a:pPr>
            <a:r>
              <a:t>在空间中管理项目、活动类型、内部/外部参与对象、来源组织、报名审核、资源、规则和成果要求。</a:t>
            </a:r>
          </a:p>
        </p:txBody>
      </p:sp>
      <p:sp>
        <p:nvSpPr>
          <p:cNvPr id="11" name="矩形 10">
            <a:extLst xmlns:a="http://schemas.openxmlformats.org/drawingml/2006/main">
              <a:ext uri="{FF2B5EF4-FFF2-40B4-BE49-F238E27FC236}">
                <a16:creationId xmlns:a16="http://schemas.microsoft.com/office/drawing/2014/main" id="{F7BD45B9-926A-4385-AF0F-1819DD3ADCB2}"/>
              </a:ext>
            </a:extLst>
          </p:cNvPr>
          <p:cNvSpPr>
            <a:spLocks xmlns:a="http://schemas.openxmlformats.org/drawingml/2006/main" noGrp="1"/>
          </p:cNvSpPr>
          <p:nvPr/>
        </p:nvSpPr>
        <p:spPr>
          <a:xfrm xmlns:a="http://schemas.openxmlformats.org/drawingml/2006/main">
            <a:off x="1028700" y="4457700"/>
            <a:ext cx="16764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555555"/>
                </a:solidFill>
                <a:latin typeface="PingFang SC"/>
                <a:ea typeface="PingFang SC"/>
                <a:cs typeface="PingFang SC"/>
              </a:defRPr>
            </a:pPr>
            <a:r>
              <a:t>活动前</a:t>
            </a:r>
          </a:p>
        </p:txBody>
      </p:sp>
      <p:sp>
        <p:nvSpPr>
          <p:cNvPr id="12" name="矩形 11">
            <a:extLst xmlns:a="http://schemas.openxmlformats.org/drawingml/2006/main">
              <a:ext uri="{FF2B5EF4-FFF2-40B4-BE49-F238E27FC236}">
                <a16:creationId xmlns:a16="http://schemas.microsoft.com/office/drawing/2014/main" id="{DBD56D04-1536-4CFC-A812-9F673AF35448}"/>
              </a:ext>
            </a:extLst>
          </p:cNvPr>
          <p:cNvSpPr>
            <a:spLocks xmlns:a="http://schemas.openxmlformats.org/drawingml/2006/main" noGrp="1"/>
          </p:cNvSpPr>
          <p:nvPr/>
        </p:nvSpPr>
        <p:spPr>
          <a:xfrm xmlns:a="http://schemas.openxmlformats.org/drawingml/2006/main">
            <a:off x="5276850" y="2571750"/>
            <a:ext cx="1638300" cy="361950"/>
          </a:xfrm>
          <a:prstGeom xmlns:a="http://schemas.openxmlformats.org/drawingml/2006/main" prst="rect">
            <a:avLst/>
          </a:prstGeom>
        </p:spPr>
        <p:txBody>
          <a:bodyPr xmlns:a="http://schemas.openxmlformats.org/drawingml/2006/main" lIns="0" tIns="0" rIns="0" bIns="0" anchor="t">
            <a:normAutofit fontScale="90811"/>
          </a:bodyPr>
          <a:lstStyle xmlns:a="http://schemas.openxmlformats.org/drawingml/2006/main"/>
          <a:p xmlns:a="http://schemas.openxmlformats.org/drawingml/2006/main">
            <a:pPr algn="ctr">
              <a:buNone/>
              <a:defRPr sz="2325" b="1">
                <a:solidFill>
                  <a:srgbClr val="000000"/>
                </a:solidFill>
                <a:latin typeface="PingFang SC"/>
                <a:ea typeface="PingFang SC"/>
                <a:cs typeface="PingFang SC"/>
              </a:defRPr>
            </a:pPr>
            <a:r>
              <a:t>培训过程运营</a:t>
            </a:r>
          </a:p>
        </p:txBody>
      </p:sp>
      <p:sp>
        <p:nvSpPr>
          <p:cNvPr id="13" name="矩形 12">
            <a:extLst xmlns:a="http://schemas.openxmlformats.org/drawingml/2006/main">
              <a:ext uri="{FF2B5EF4-FFF2-40B4-BE49-F238E27FC236}">
                <a16:creationId xmlns:a16="http://schemas.microsoft.com/office/drawing/2014/main" id="{E15D5886-3299-4378-9531-5CE6FB3CA16D}"/>
              </a:ext>
            </a:extLst>
          </p:cNvPr>
          <p:cNvSpPr>
            <a:spLocks xmlns:a="http://schemas.openxmlformats.org/drawingml/2006/main" noGrp="1"/>
          </p:cNvSpPr>
          <p:nvPr/>
        </p:nvSpPr>
        <p:spPr>
          <a:xfrm xmlns:a="http://schemas.openxmlformats.org/drawingml/2006/main">
            <a:off x="5095875" y="3181350"/>
            <a:ext cx="2095500" cy="1066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a:solidFill>
                  <a:srgbClr val="000000"/>
                </a:solidFill>
                <a:latin typeface="PingFang SC"/>
                <a:ea typeface="PingFang SC"/>
                <a:cs typeface="PingFang SC"/>
              </a:defRPr>
            </a:pPr>
            <a:r>
              <a:t>空间承载课程学习、研讨会、评课、工作坊、外训通知、签到核验、任务作业和互动提醒。</a:t>
            </a:r>
          </a:p>
        </p:txBody>
      </p:sp>
      <p:sp>
        <p:nvSpPr>
          <p:cNvPr id="14" name="矩形 13">
            <a:extLst xmlns:a="http://schemas.openxmlformats.org/drawingml/2006/main">
              <a:ext uri="{FF2B5EF4-FFF2-40B4-BE49-F238E27FC236}">
                <a16:creationId xmlns:a16="http://schemas.microsoft.com/office/drawing/2014/main" id="{E931A28A-1BE0-4425-9173-807BB08FA555}"/>
              </a:ext>
            </a:extLst>
          </p:cNvPr>
          <p:cNvSpPr>
            <a:spLocks xmlns:a="http://schemas.openxmlformats.org/drawingml/2006/main" noGrp="1"/>
          </p:cNvSpPr>
          <p:nvPr/>
        </p:nvSpPr>
        <p:spPr>
          <a:xfrm xmlns:a="http://schemas.openxmlformats.org/drawingml/2006/main">
            <a:off x="5257800" y="4457700"/>
            <a:ext cx="16764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555555"/>
                </a:solidFill>
                <a:latin typeface="PingFang SC"/>
                <a:ea typeface="PingFang SC"/>
                <a:cs typeface="PingFang SC"/>
              </a:defRPr>
            </a:pPr>
            <a:r>
              <a:t>活动中</a:t>
            </a:r>
          </a:p>
        </p:txBody>
      </p:sp>
      <p:sp>
        <p:nvSpPr>
          <p:cNvPr id="15" name="矩形 14">
            <a:extLst xmlns:a="http://schemas.openxmlformats.org/drawingml/2006/main">
              <a:ext uri="{FF2B5EF4-FFF2-40B4-BE49-F238E27FC236}">
                <a16:creationId xmlns:a16="http://schemas.microsoft.com/office/drawing/2014/main" id="{FC565800-F3EC-4E9D-8BC3-4201FE3D5F32}"/>
              </a:ext>
            </a:extLst>
          </p:cNvPr>
          <p:cNvSpPr>
            <a:spLocks xmlns:a="http://schemas.openxmlformats.org/drawingml/2006/main" noGrp="1"/>
          </p:cNvSpPr>
          <p:nvPr/>
        </p:nvSpPr>
        <p:spPr>
          <a:xfrm xmlns:a="http://schemas.openxmlformats.org/drawingml/2006/main">
            <a:off x="9429750" y="2571750"/>
            <a:ext cx="17907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025" b="1">
                <a:solidFill>
                  <a:srgbClr val="000000"/>
                </a:solidFill>
                <a:latin typeface="PingFang SC"/>
                <a:ea typeface="PingFang SC"/>
                <a:cs typeface="PingFang SC"/>
              </a:defRPr>
            </a:pPr>
            <a:r>
              <a:t>培训效果评估</a:t>
            </a:r>
          </a:p>
        </p:txBody>
      </p:sp>
      <p:sp>
        <p:nvSpPr>
          <p:cNvPr id="16" name="矩形 15">
            <a:extLst xmlns:a="http://schemas.openxmlformats.org/drawingml/2006/main">
              <a:ext uri="{FF2B5EF4-FFF2-40B4-BE49-F238E27FC236}">
                <a16:creationId xmlns:a16="http://schemas.microsoft.com/office/drawing/2014/main" id="{17E7EA16-B014-490B-AB8E-BA61B01214A7}"/>
              </a:ext>
            </a:extLst>
          </p:cNvPr>
          <p:cNvSpPr>
            <a:spLocks xmlns:a="http://schemas.openxmlformats.org/drawingml/2006/main" noGrp="1"/>
          </p:cNvSpPr>
          <p:nvPr/>
        </p:nvSpPr>
        <p:spPr>
          <a:xfrm xmlns:a="http://schemas.openxmlformats.org/drawingml/2006/main">
            <a:off x="9334500" y="3181350"/>
            <a:ext cx="2000250" cy="1066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a:solidFill>
                  <a:srgbClr val="000000"/>
                </a:solidFill>
                <a:latin typeface="PingFang SC"/>
                <a:ea typeface="PingFang SC"/>
                <a:cs typeface="PingFang SC"/>
              </a:defRPr>
            </a:pPr>
            <a:r>
              <a:t>按空间汇总参与度、互动质量、成果质量、组织报告、复训建议、转化线索和行为改进。</a:t>
            </a:r>
          </a:p>
        </p:txBody>
      </p:sp>
      <p:sp>
        <p:nvSpPr>
          <p:cNvPr id="17" name="矩形 16">
            <a:extLst xmlns:a="http://schemas.openxmlformats.org/drawingml/2006/main">
              <a:ext uri="{FF2B5EF4-FFF2-40B4-BE49-F238E27FC236}">
                <a16:creationId xmlns:a16="http://schemas.microsoft.com/office/drawing/2014/main" id="{0B61FC7B-0366-42DF-87F3-6666BC99DBF2}"/>
              </a:ext>
            </a:extLst>
          </p:cNvPr>
          <p:cNvSpPr>
            <a:spLocks xmlns:a="http://schemas.openxmlformats.org/drawingml/2006/main" noGrp="1"/>
          </p:cNvSpPr>
          <p:nvPr/>
        </p:nvSpPr>
        <p:spPr>
          <a:xfrm xmlns:a="http://schemas.openxmlformats.org/drawingml/2006/main">
            <a:off x="9486900" y="4457700"/>
            <a:ext cx="16764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555555"/>
                </a:solidFill>
                <a:latin typeface="PingFang SC"/>
                <a:ea typeface="PingFang SC"/>
                <a:cs typeface="PingFang SC"/>
              </a:defRPr>
            </a:pPr>
            <a:r>
              <a:t>活动后</a:t>
            </a:r>
          </a:p>
        </p:txBody>
      </p:sp>
      <p:sp>
        <p:nvSpPr>
          <p:cNvPr id="18" name="右箭头 17">
            <a:extLst xmlns:a="http://schemas.openxmlformats.org/drawingml/2006/main">
              <a:ext uri="{FF2B5EF4-FFF2-40B4-BE49-F238E27FC236}">
                <a16:creationId xmlns:a16="http://schemas.microsoft.com/office/drawing/2014/main" id="{4D1EE6FB-7CFA-427C-BCEC-F91F8844F7EE}"/>
              </a:ext>
            </a:extLst>
          </p:cNvPr>
          <p:cNvSpPr>
            <a:spLocks xmlns:a="http://schemas.openxmlformats.org/drawingml/2006/main" noGrp="1"/>
          </p:cNvSpPr>
          <p:nvPr/>
        </p:nvSpPr>
        <p:spPr>
          <a:xfrm xmlns:a="http://schemas.openxmlformats.org/drawingml/2006/main">
            <a:off x="3429000" y="3343275"/>
            <a:ext cx="1066800" cy="381000"/>
          </a:xfrm>
          <a:prstGeom xmlns:a="http://schemas.openxmlformats.org/drawingml/2006/main" prst="rightArrow">
            <a:avLst/>
          </a:prstGeom>
          <a:solidFill xmlns:a="http://schemas.openxmlformats.org/drawingml/2006/main">
            <a:srgbClr val="000000"/>
          </a:solidFill>
          <a:ln xmlns:a="http://schemas.openxmlformats.org/drawingml/2006/main" w="0">
            <a:noFill/>
            <a:prstDash val="solid"/>
          </a:ln>
        </p:spPr>
      </p:sp>
      <p:sp>
        <p:nvSpPr>
          <p:cNvPr id="19" name="右箭头 18">
            <a:extLst xmlns:a="http://schemas.openxmlformats.org/drawingml/2006/main">
              <a:ext uri="{FF2B5EF4-FFF2-40B4-BE49-F238E27FC236}">
                <a16:creationId xmlns:a16="http://schemas.microsoft.com/office/drawing/2014/main" id="{4EF3D742-EB42-4D82-8D65-DD66A060B042}"/>
              </a:ext>
            </a:extLst>
          </p:cNvPr>
          <p:cNvSpPr>
            <a:spLocks xmlns:a="http://schemas.openxmlformats.org/drawingml/2006/main" noGrp="1"/>
          </p:cNvSpPr>
          <p:nvPr/>
        </p:nvSpPr>
        <p:spPr>
          <a:xfrm xmlns:a="http://schemas.openxmlformats.org/drawingml/2006/main">
            <a:off x="7658100" y="3343275"/>
            <a:ext cx="1066800" cy="381000"/>
          </a:xfrm>
          <a:prstGeom xmlns:a="http://schemas.openxmlformats.org/drawingml/2006/main" prst="rightArrow">
            <a:avLst/>
          </a:prstGeom>
          <a:solidFill xmlns:a="http://schemas.openxmlformats.org/drawingml/2006/main">
            <a:srgbClr val="000000"/>
          </a:solidFill>
          <a:ln xmlns:a="http://schemas.openxmlformats.org/drawingml/2006/main" w="0">
            <a:noFill/>
            <a:prstDash val="solid"/>
          </a:ln>
        </p:spPr>
      </p:sp>
      <p:sp>
        <p:nvSpPr>
          <p:cNvPr id="20" name="矩形 19">
            <a:extLst xmlns:a="http://schemas.openxmlformats.org/drawingml/2006/main">
              <a:ext uri="{FF2B5EF4-FFF2-40B4-BE49-F238E27FC236}">
                <a16:creationId xmlns:a16="http://schemas.microsoft.com/office/drawing/2014/main" id="{86F2AD04-8B74-45AE-9433-E43E22FD0707}"/>
              </a:ext>
            </a:extLst>
          </p:cNvPr>
          <p:cNvSpPr>
            <a:spLocks xmlns:a="http://schemas.openxmlformats.org/drawingml/2006/main" noGrp="1"/>
          </p:cNvSpPr>
          <p:nvPr/>
        </p:nvSpPr>
        <p:spPr>
          <a:xfrm xmlns:a="http://schemas.openxmlformats.org/drawingml/2006/main">
            <a:off x="3362325" y="3829050"/>
            <a:ext cx="12001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b="0">
                <a:solidFill>
                  <a:srgbClr val="555555"/>
                </a:solidFill>
                <a:latin typeface="PingFang SC"/>
                <a:ea typeface="PingFang SC"/>
                <a:cs typeface="PingFang SC"/>
              </a:defRPr>
            </a:pPr>
            <a:r>
              <a:t>信息进入空间</a:t>
            </a:r>
          </a:p>
        </p:txBody>
      </p:sp>
      <p:sp>
        <p:nvSpPr>
          <p:cNvPr id="21" name="矩形 20">
            <a:extLst xmlns:a="http://schemas.openxmlformats.org/drawingml/2006/main">
              <a:ext uri="{FF2B5EF4-FFF2-40B4-BE49-F238E27FC236}">
                <a16:creationId xmlns:a16="http://schemas.microsoft.com/office/drawing/2014/main" id="{5E2706E9-3B99-4417-84ED-B969649305E6}"/>
              </a:ext>
            </a:extLst>
          </p:cNvPr>
          <p:cNvSpPr>
            <a:spLocks xmlns:a="http://schemas.openxmlformats.org/drawingml/2006/main" noGrp="1"/>
          </p:cNvSpPr>
          <p:nvPr/>
        </p:nvSpPr>
        <p:spPr>
          <a:xfrm xmlns:a="http://schemas.openxmlformats.org/drawingml/2006/main">
            <a:off x="7591425" y="3829050"/>
            <a:ext cx="12001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b="0">
                <a:solidFill>
                  <a:srgbClr val="555555"/>
                </a:solidFill>
                <a:latin typeface="PingFang SC"/>
                <a:ea typeface="PingFang SC"/>
                <a:cs typeface="PingFang SC"/>
              </a:defRPr>
            </a:pPr>
            <a:r>
              <a:t>数据反哺业务</a:t>
            </a:r>
          </a:p>
        </p:txBody>
      </p:sp>
    </p:spTree>
    <p:extLst>
      <p:ext uri="{BB962C8B-B14F-4D97-AF65-F5344CB8AC3E}">
        <p14:creationId xmlns:p14="http://schemas.microsoft.com/office/powerpoint/2010/main" val="2551549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53F92383-4772-4372-A565-B1AE0ABEF208}"/>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培训信息管理</a:t>
            </a:r>
          </a:p>
        </p:txBody>
      </p:sp>
      <p:sp>
        <p:nvSpPr>
          <p:cNvPr id="3" name="矩形 2">
            <a:extLst xmlns:a="http://schemas.openxmlformats.org/drawingml/2006/main">
              <a:ext uri="{FF2B5EF4-FFF2-40B4-BE49-F238E27FC236}">
                <a16:creationId xmlns:a16="http://schemas.microsoft.com/office/drawing/2014/main" id="{955D6AF1-D74B-4EFE-BFF4-B42093F30E5E}"/>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75" b="1">
                <a:solidFill>
                  <a:srgbClr val="000000"/>
                </a:solidFill>
                <a:latin typeface="PingFang SC"/>
                <a:ea typeface="PingFang SC"/>
                <a:cs typeface="PingFang SC"/>
              </a:defRPr>
            </a:pPr>
            <a:r>
              <a:t>信息管理子系统把业务空间配置成标准化活动资产</a:t>
            </a:r>
          </a:p>
        </p:txBody>
      </p:sp>
      <p:sp>
        <p:nvSpPr>
          <p:cNvPr id="4" name="矩形 3">
            <a:extLst xmlns:a="http://schemas.openxmlformats.org/drawingml/2006/main">
              <a:ext uri="{FF2B5EF4-FFF2-40B4-BE49-F238E27FC236}">
                <a16:creationId xmlns:a16="http://schemas.microsoft.com/office/drawing/2014/main" id="{8BD0548E-E020-4C7E-BA14-562FBAA97550}"/>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F48C33D6-62F9-44CC-9C7A-68BD1F77D89F}"/>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06</a:t>
            </a:r>
          </a:p>
        </p:txBody>
      </p:sp>
      <p:sp>
        <p:nvSpPr>
          <p:cNvPr id="6" name="矩形 5">
            <a:extLst xmlns:a="http://schemas.openxmlformats.org/drawingml/2006/main">
              <a:ext uri="{FF2B5EF4-FFF2-40B4-BE49-F238E27FC236}">
                <a16:creationId xmlns:a16="http://schemas.microsoft.com/office/drawing/2014/main" id="{FBBFF39D-AFDE-4475-953A-8E28706B4A56}"/>
              </a:ext>
            </a:extLst>
          </p:cNvPr>
          <p:cNvSpPr>
            <a:spLocks xmlns:a="http://schemas.openxmlformats.org/drawingml/2006/main" noGrp="1"/>
          </p:cNvSpPr>
          <p:nvPr/>
        </p:nvSpPr>
        <p:spPr>
          <a:xfrm xmlns:a="http://schemas.openxmlformats.org/drawingml/2006/main">
            <a:off x="390525" y="1962150"/>
            <a:ext cx="5334000" cy="13525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7" name="矩形 6">
            <a:extLst xmlns:a="http://schemas.openxmlformats.org/drawingml/2006/main">
              <a:ext uri="{FF2B5EF4-FFF2-40B4-BE49-F238E27FC236}">
                <a16:creationId xmlns:a16="http://schemas.microsoft.com/office/drawing/2014/main" id="{293BCEDB-EB05-42CA-B786-4AC6984B713B}"/>
              </a:ext>
            </a:extLst>
          </p:cNvPr>
          <p:cNvSpPr>
            <a:spLocks xmlns:a="http://schemas.openxmlformats.org/drawingml/2006/main" noGrp="1"/>
          </p:cNvSpPr>
          <p:nvPr/>
        </p:nvSpPr>
        <p:spPr>
          <a:xfrm xmlns:a="http://schemas.openxmlformats.org/drawingml/2006/main">
            <a:off x="619125" y="21907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业务空间</a:t>
            </a:r>
          </a:p>
        </p:txBody>
      </p:sp>
      <p:sp>
        <p:nvSpPr>
          <p:cNvPr id="8" name="矩形 7">
            <a:extLst xmlns:a="http://schemas.openxmlformats.org/drawingml/2006/main">
              <a:ext uri="{FF2B5EF4-FFF2-40B4-BE49-F238E27FC236}">
                <a16:creationId xmlns:a16="http://schemas.microsoft.com/office/drawing/2014/main" id="{86906E12-F90C-4636-BF0C-F3144CE3275E}"/>
              </a:ext>
            </a:extLst>
          </p:cNvPr>
          <p:cNvSpPr>
            <a:spLocks xmlns:a="http://schemas.openxmlformats.org/drawingml/2006/main" noGrp="1"/>
          </p:cNvSpPr>
          <p:nvPr/>
        </p:nvSpPr>
        <p:spPr>
          <a:xfrm xmlns:a="http://schemas.openxmlformats.org/drawingml/2006/main">
            <a:off x="619125" y="2647950"/>
            <a:ext cx="4876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PingFang SC"/>
                <a:ea typeface="PingFang SC"/>
                <a:cs typeface="PingFang SC"/>
              </a:defRPr>
            </a:pPr>
            <a:r>
              <a:t>维护空间目标、周期、负责人、对象范围、内训/外训属性、启用模块和关联项目。</a:t>
            </a:r>
          </a:p>
        </p:txBody>
      </p:sp>
      <p:sp>
        <p:nvSpPr>
          <p:cNvPr id="9" name="矩形 8">
            <a:extLst xmlns:a="http://schemas.openxmlformats.org/drawingml/2006/main">
              <a:ext uri="{FF2B5EF4-FFF2-40B4-BE49-F238E27FC236}">
                <a16:creationId xmlns:a16="http://schemas.microsoft.com/office/drawing/2014/main" id="{31F5564E-BCCC-4A1C-9E43-FFB1945E3FD1}"/>
              </a:ext>
            </a:extLst>
          </p:cNvPr>
          <p:cNvSpPr>
            <a:spLocks xmlns:a="http://schemas.openxmlformats.org/drawingml/2006/main" noGrp="1"/>
          </p:cNvSpPr>
          <p:nvPr/>
        </p:nvSpPr>
        <p:spPr>
          <a:xfrm xmlns:a="http://schemas.openxmlformats.org/drawingml/2006/main">
            <a:off x="6457950" y="1962150"/>
            <a:ext cx="5334000" cy="13525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0" name="矩形 9">
            <a:extLst xmlns:a="http://schemas.openxmlformats.org/drawingml/2006/main">
              <a:ext uri="{FF2B5EF4-FFF2-40B4-BE49-F238E27FC236}">
                <a16:creationId xmlns:a16="http://schemas.microsoft.com/office/drawing/2014/main" id="{5738BAB9-0D28-40EA-B606-C6E77E0708BB}"/>
              </a:ext>
            </a:extLst>
          </p:cNvPr>
          <p:cNvSpPr>
            <a:spLocks xmlns:a="http://schemas.openxmlformats.org/drawingml/2006/main" noGrp="1"/>
          </p:cNvSpPr>
          <p:nvPr/>
        </p:nvSpPr>
        <p:spPr>
          <a:xfrm xmlns:a="http://schemas.openxmlformats.org/drawingml/2006/main">
            <a:off x="6686550" y="21907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空间与人员</a:t>
            </a:r>
          </a:p>
        </p:txBody>
      </p:sp>
      <p:sp>
        <p:nvSpPr>
          <p:cNvPr id="11" name="矩形 10">
            <a:extLst xmlns:a="http://schemas.openxmlformats.org/drawingml/2006/main">
              <a:ext uri="{FF2B5EF4-FFF2-40B4-BE49-F238E27FC236}">
                <a16:creationId xmlns:a16="http://schemas.microsoft.com/office/drawing/2014/main" id="{3E65A6DE-5A01-4A86-BFB2-76B105F8F698}"/>
              </a:ext>
            </a:extLst>
          </p:cNvPr>
          <p:cNvSpPr>
            <a:spLocks xmlns:a="http://schemas.openxmlformats.org/drawingml/2006/main" noGrp="1"/>
          </p:cNvSpPr>
          <p:nvPr/>
        </p:nvSpPr>
        <p:spPr>
          <a:xfrm xmlns:a="http://schemas.openxmlformats.org/drawingml/2006/main">
            <a:off x="6686550" y="2647950"/>
            <a:ext cx="4876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PingFang SC"/>
                <a:ea typeface="PingFang SC"/>
                <a:cs typeface="PingFang SC"/>
              </a:defRPr>
            </a:pPr>
            <a:r>
              <a:t>支持内部成员、外部人员档案、来源组织、联系方式、报名渠道、导入和分组进入空间。</a:t>
            </a:r>
          </a:p>
        </p:txBody>
      </p:sp>
      <p:sp>
        <p:nvSpPr>
          <p:cNvPr id="12" name="矩形 11">
            <a:extLst xmlns:a="http://schemas.openxmlformats.org/drawingml/2006/main">
              <a:ext uri="{FF2B5EF4-FFF2-40B4-BE49-F238E27FC236}">
                <a16:creationId xmlns:a16="http://schemas.microsoft.com/office/drawing/2014/main" id="{E657AABA-92E8-4DBA-B6A5-0F3DDAB24EE9}"/>
              </a:ext>
            </a:extLst>
          </p:cNvPr>
          <p:cNvSpPr>
            <a:spLocks xmlns:a="http://schemas.openxmlformats.org/drawingml/2006/main" noGrp="1"/>
          </p:cNvSpPr>
          <p:nvPr/>
        </p:nvSpPr>
        <p:spPr>
          <a:xfrm xmlns:a="http://schemas.openxmlformats.org/drawingml/2006/main">
            <a:off x="390525" y="3676650"/>
            <a:ext cx="5334000" cy="13525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3" name="矩形 12">
            <a:extLst xmlns:a="http://schemas.openxmlformats.org/drawingml/2006/main">
              <a:ext uri="{FF2B5EF4-FFF2-40B4-BE49-F238E27FC236}">
                <a16:creationId xmlns:a16="http://schemas.microsoft.com/office/drawing/2014/main" id="{F2486FDF-5CDA-44E4-9CD3-F0824E1BFA19}"/>
              </a:ext>
            </a:extLst>
          </p:cNvPr>
          <p:cNvSpPr>
            <a:spLocks xmlns:a="http://schemas.openxmlformats.org/drawingml/2006/main" noGrp="1"/>
          </p:cNvSpPr>
          <p:nvPr/>
        </p:nvSpPr>
        <p:spPr>
          <a:xfrm xmlns:a="http://schemas.openxmlformats.org/drawingml/2006/main">
            <a:off x="619125" y="39052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空间资源</a:t>
            </a:r>
          </a:p>
        </p:txBody>
      </p:sp>
      <p:sp>
        <p:nvSpPr>
          <p:cNvPr id="14" name="矩形 13">
            <a:extLst xmlns:a="http://schemas.openxmlformats.org/drawingml/2006/main">
              <a:ext uri="{FF2B5EF4-FFF2-40B4-BE49-F238E27FC236}">
                <a16:creationId xmlns:a16="http://schemas.microsoft.com/office/drawing/2014/main" id="{49460BA9-CAA7-4ACF-A888-2B3B6E42A9D3}"/>
              </a:ext>
            </a:extLst>
          </p:cNvPr>
          <p:cNvSpPr>
            <a:spLocks xmlns:a="http://schemas.openxmlformats.org/drawingml/2006/main" noGrp="1"/>
          </p:cNvSpPr>
          <p:nvPr/>
        </p:nvSpPr>
        <p:spPr>
          <a:xfrm xmlns:a="http://schemas.openxmlformats.org/drawingml/2006/main">
            <a:off x="619125" y="4362450"/>
            <a:ext cx="4876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PingFang SC"/>
                <a:ea typeface="PingFang SC"/>
                <a:cs typeface="PingFang SC"/>
              </a:defRPr>
            </a:pPr>
            <a:r>
              <a:t>按空间和参与者类型授权课程、议题、课件、案例、评课表、任务、标签和适用对象。</a:t>
            </a:r>
          </a:p>
        </p:txBody>
      </p:sp>
      <p:sp>
        <p:nvSpPr>
          <p:cNvPr id="15" name="矩形 14">
            <a:extLst xmlns:a="http://schemas.openxmlformats.org/drawingml/2006/main">
              <a:ext uri="{FF2B5EF4-FFF2-40B4-BE49-F238E27FC236}">
                <a16:creationId xmlns:a16="http://schemas.microsoft.com/office/drawing/2014/main" id="{6D60747C-9F01-4653-BA19-EFE786B9BCE2}"/>
              </a:ext>
            </a:extLst>
          </p:cNvPr>
          <p:cNvSpPr>
            <a:spLocks xmlns:a="http://schemas.openxmlformats.org/drawingml/2006/main" noGrp="1"/>
          </p:cNvSpPr>
          <p:nvPr/>
        </p:nvSpPr>
        <p:spPr>
          <a:xfrm xmlns:a="http://schemas.openxmlformats.org/drawingml/2006/main">
            <a:off x="6457950" y="3676650"/>
            <a:ext cx="5334000" cy="13525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6" name="矩形 15">
            <a:extLst xmlns:a="http://schemas.openxmlformats.org/drawingml/2006/main">
              <a:ext uri="{FF2B5EF4-FFF2-40B4-BE49-F238E27FC236}">
                <a16:creationId xmlns:a16="http://schemas.microsoft.com/office/drawing/2014/main" id="{729D9C91-D8B1-492D-9A16-FD8E348E5818}"/>
              </a:ext>
            </a:extLst>
          </p:cNvPr>
          <p:cNvSpPr>
            <a:spLocks xmlns:a="http://schemas.openxmlformats.org/drawingml/2006/main" noGrp="1"/>
          </p:cNvSpPr>
          <p:nvPr/>
        </p:nvSpPr>
        <p:spPr>
          <a:xfrm xmlns:a="http://schemas.openxmlformats.org/drawingml/2006/main">
            <a:off x="6686550" y="39052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FF6B35"/>
                </a:solidFill>
                <a:latin typeface="PingFang SC"/>
                <a:ea typeface="PingFang SC"/>
                <a:cs typeface="PingFang SC"/>
              </a:defRPr>
            </a:pPr>
            <a:r>
              <a:t>空间规则</a:t>
            </a:r>
          </a:p>
        </p:txBody>
      </p:sp>
      <p:sp>
        <p:nvSpPr>
          <p:cNvPr id="17" name="矩形 16">
            <a:extLst xmlns:a="http://schemas.openxmlformats.org/drawingml/2006/main">
              <a:ext uri="{FF2B5EF4-FFF2-40B4-BE49-F238E27FC236}">
                <a16:creationId xmlns:a16="http://schemas.microsoft.com/office/drawing/2014/main" id="{8EA3B50A-B27C-4231-A8E4-053ABAA6B373}"/>
              </a:ext>
            </a:extLst>
          </p:cNvPr>
          <p:cNvSpPr>
            <a:spLocks xmlns:a="http://schemas.openxmlformats.org/drawingml/2006/main" noGrp="1"/>
          </p:cNvSpPr>
          <p:nvPr/>
        </p:nvSpPr>
        <p:spPr>
          <a:xfrm xmlns:a="http://schemas.openxmlformats.org/drawingml/2006/main">
            <a:off x="6686550" y="4362450"/>
            <a:ext cx="4876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FFFFFF"/>
                </a:solidFill>
                <a:latin typeface="PingFang SC"/>
                <a:ea typeface="PingFang SC"/>
                <a:cs typeface="PingFang SC"/>
              </a:defRPr>
            </a:pPr>
            <a:r>
              <a:t>配置空间报名审核、名额控制、参与条件、资料权限、证书/证明、提醒和数据边界。</a:t>
            </a:r>
          </a:p>
        </p:txBody>
      </p:sp>
      <p:sp>
        <p:nvSpPr>
          <p:cNvPr id="18" name="矩形 17">
            <a:extLst xmlns:a="http://schemas.openxmlformats.org/drawingml/2006/main">
              <a:ext uri="{FF2B5EF4-FFF2-40B4-BE49-F238E27FC236}">
                <a16:creationId xmlns:a16="http://schemas.microsoft.com/office/drawing/2014/main" id="{3F9CE01D-188B-44E9-819E-128499D964CD}"/>
              </a:ext>
            </a:extLst>
          </p:cNvPr>
          <p:cNvSpPr>
            <a:spLocks xmlns:a="http://schemas.openxmlformats.org/drawingml/2006/main" noGrp="1"/>
          </p:cNvSpPr>
          <p:nvPr/>
        </p:nvSpPr>
        <p:spPr>
          <a:xfrm xmlns:a="http://schemas.openxmlformats.org/drawingml/2006/main">
            <a:off x="390525" y="5476875"/>
            <a:ext cx="11401425" cy="5143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9" name="矩形 18">
            <a:extLst xmlns:a="http://schemas.openxmlformats.org/drawingml/2006/main">
              <a:ext uri="{FF2B5EF4-FFF2-40B4-BE49-F238E27FC236}">
                <a16:creationId xmlns:a16="http://schemas.microsoft.com/office/drawing/2014/main" id="{95A41E37-AFEA-426B-AD7D-E3B3F985DB36}"/>
              </a:ext>
            </a:extLst>
          </p:cNvPr>
          <p:cNvSpPr>
            <a:spLocks xmlns:a="http://schemas.openxmlformats.org/drawingml/2006/main" noGrp="1"/>
          </p:cNvSpPr>
          <p:nvPr/>
        </p:nvSpPr>
        <p:spPr>
          <a:xfrm xmlns:a="http://schemas.openxmlformats.org/drawingml/2006/main">
            <a:off x="666750" y="5600700"/>
            <a:ext cx="10839450" cy="2667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000000"/>
                </a:solidFill>
                <a:latin typeface="PingFang SC"/>
                <a:ea typeface="PingFang SC"/>
                <a:cs typeface="PingFang SC"/>
              </a:defRPr>
            </a:pPr>
            <a:r>
              <a:t>输出统一空间台账：谁来自哪个组织、以何种身份进入哪个空间、完成什么活动、获得什么证明、沉淀什么成果。</a:t>
            </a:r>
          </a:p>
        </p:txBody>
      </p:sp>
    </p:spTree>
    <p:extLst>
      <p:ext uri="{BB962C8B-B14F-4D97-AF65-F5344CB8AC3E}">
        <p14:creationId xmlns:p14="http://schemas.microsoft.com/office/powerpoint/2010/main" val="15002576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81985812-ADB9-456F-9ED0-35289AEEBD61}"/>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培训过程运营</a:t>
            </a:r>
          </a:p>
        </p:txBody>
      </p:sp>
      <p:sp>
        <p:nvSpPr>
          <p:cNvPr id="3" name="矩形 2">
            <a:extLst xmlns:a="http://schemas.openxmlformats.org/drawingml/2006/main">
              <a:ext uri="{FF2B5EF4-FFF2-40B4-BE49-F238E27FC236}">
                <a16:creationId xmlns:a16="http://schemas.microsoft.com/office/drawing/2014/main" id="{8B847D03-BA29-461B-BBA4-B8F098603F02}"/>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75" b="1">
                <a:solidFill>
                  <a:srgbClr val="000000"/>
                </a:solidFill>
                <a:latin typeface="PingFang SC"/>
                <a:ea typeface="PingFang SC"/>
                <a:cs typeface="PingFang SC"/>
              </a:defRPr>
            </a:pPr>
            <a:r>
              <a:t>过程子系统让各类业务在空间中运行、记录和沉淀</a:t>
            </a:r>
          </a:p>
        </p:txBody>
      </p:sp>
      <p:sp>
        <p:nvSpPr>
          <p:cNvPr id="4" name="矩形 3">
            <a:extLst xmlns:a="http://schemas.openxmlformats.org/drawingml/2006/main">
              <a:ext uri="{FF2B5EF4-FFF2-40B4-BE49-F238E27FC236}">
                <a16:creationId xmlns:a16="http://schemas.microsoft.com/office/drawing/2014/main" id="{E1485809-83FA-4433-AACD-A0164F014D8C}"/>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FC1173D4-C787-49B8-9036-EACE97B2DBA6}"/>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07</a:t>
            </a:r>
          </a:p>
        </p:txBody>
      </p:sp>
      <p:sp>
        <p:nvSpPr>
          <p:cNvPr id="6" name="矩形 5">
            <a:extLst xmlns:a="http://schemas.openxmlformats.org/drawingml/2006/main">
              <a:ext uri="{FF2B5EF4-FFF2-40B4-BE49-F238E27FC236}">
                <a16:creationId xmlns:a16="http://schemas.microsoft.com/office/drawing/2014/main" id="{B39DDCBA-4C97-498C-95D1-CF3D9070590E}"/>
              </a:ext>
            </a:extLst>
          </p:cNvPr>
          <p:cNvSpPr>
            <a:spLocks xmlns:a="http://schemas.openxmlformats.org/drawingml/2006/main" noGrp="1"/>
          </p:cNvSpPr>
          <p:nvPr/>
        </p:nvSpPr>
        <p:spPr>
          <a:xfrm xmlns:a="http://schemas.openxmlformats.org/drawingml/2006/main">
            <a:off x="390525" y="1962150"/>
            <a:ext cx="5334000" cy="13525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7" name="矩形 6">
            <a:extLst xmlns:a="http://schemas.openxmlformats.org/drawingml/2006/main">
              <a:ext uri="{FF2B5EF4-FFF2-40B4-BE49-F238E27FC236}">
                <a16:creationId xmlns:a16="http://schemas.microsoft.com/office/drawing/2014/main" id="{D5C07029-E822-4178-B7F2-6F9ABD988834}"/>
              </a:ext>
            </a:extLst>
          </p:cNvPr>
          <p:cNvSpPr>
            <a:spLocks xmlns:a="http://schemas.openxmlformats.org/drawingml/2006/main" noGrp="1"/>
          </p:cNvSpPr>
          <p:nvPr/>
        </p:nvSpPr>
        <p:spPr>
          <a:xfrm xmlns:a="http://schemas.openxmlformats.org/drawingml/2006/main">
            <a:off x="619125" y="21907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空间交付</a:t>
            </a:r>
          </a:p>
        </p:txBody>
      </p:sp>
      <p:sp>
        <p:nvSpPr>
          <p:cNvPr id="8" name="矩形 7">
            <a:extLst xmlns:a="http://schemas.openxmlformats.org/drawingml/2006/main">
              <a:ext uri="{FF2B5EF4-FFF2-40B4-BE49-F238E27FC236}">
                <a16:creationId xmlns:a16="http://schemas.microsoft.com/office/drawing/2014/main" id="{89BF1313-2677-4763-8177-C67B7F91526C}"/>
              </a:ext>
            </a:extLst>
          </p:cNvPr>
          <p:cNvSpPr>
            <a:spLocks xmlns:a="http://schemas.openxmlformats.org/drawingml/2006/main" noGrp="1"/>
          </p:cNvSpPr>
          <p:nvPr/>
        </p:nvSpPr>
        <p:spPr>
          <a:xfrm xmlns:a="http://schemas.openxmlformats.org/drawingml/2006/main">
            <a:off x="619125" y="2647950"/>
            <a:ext cx="4876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PingFang SC"/>
                <a:ea typeface="PingFang SC"/>
                <a:cs typeface="PingFang SC"/>
              </a:defRPr>
            </a:pPr>
            <a:r>
              <a:t>研习社、资料库、任务、问卷和外部账号接入空间，承载内训、外训、研讨、评课等业务。</a:t>
            </a:r>
          </a:p>
        </p:txBody>
      </p:sp>
      <p:sp>
        <p:nvSpPr>
          <p:cNvPr id="9" name="矩形 8">
            <a:extLst xmlns:a="http://schemas.openxmlformats.org/drawingml/2006/main">
              <a:ext uri="{FF2B5EF4-FFF2-40B4-BE49-F238E27FC236}">
                <a16:creationId xmlns:a16="http://schemas.microsoft.com/office/drawing/2014/main" id="{8E51BB19-C19B-49CC-8229-CB8FF411C107}"/>
              </a:ext>
            </a:extLst>
          </p:cNvPr>
          <p:cNvSpPr>
            <a:spLocks xmlns:a="http://schemas.openxmlformats.org/drawingml/2006/main" noGrp="1"/>
          </p:cNvSpPr>
          <p:nvPr/>
        </p:nvSpPr>
        <p:spPr>
          <a:xfrm xmlns:a="http://schemas.openxmlformats.org/drawingml/2006/main">
            <a:off x="6457950" y="1962150"/>
            <a:ext cx="5334000" cy="13525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0" name="矩形 9">
            <a:extLst xmlns:a="http://schemas.openxmlformats.org/drawingml/2006/main">
              <a:ext uri="{FF2B5EF4-FFF2-40B4-BE49-F238E27FC236}">
                <a16:creationId xmlns:a16="http://schemas.microsoft.com/office/drawing/2014/main" id="{24BFB76A-0AC1-4947-80C5-CDF1B883BC2F}"/>
              </a:ext>
            </a:extLst>
          </p:cNvPr>
          <p:cNvSpPr>
            <a:spLocks xmlns:a="http://schemas.openxmlformats.org/drawingml/2006/main" noGrp="1"/>
          </p:cNvSpPr>
          <p:nvPr/>
        </p:nvSpPr>
        <p:spPr>
          <a:xfrm xmlns:a="http://schemas.openxmlformats.org/drawingml/2006/main">
            <a:off x="6686550" y="21907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空间参与</a:t>
            </a:r>
          </a:p>
        </p:txBody>
      </p:sp>
      <p:sp>
        <p:nvSpPr>
          <p:cNvPr id="11" name="矩形 10">
            <a:extLst xmlns:a="http://schemas.openxmlformats.org/drawingml/2006/main">
              <a:ext uri="{FF2B5EF4-FFF2-40B4-BE49-F238E27FC236}">
                <a16:creationId xmlns:a16="http://schemas.microsoft.com/office/drawing/2014/main" id="{FBD08118-9794-4EF8-933F-E069800150A9}"/>
              </a:ext>
            </a:extLst>
          </p:cNvPr>
          <p:cNvSpPr>
            <a:spLocks xmlns:a="http://schemas.openxmlformats.org/drawingml/2006/main" noGrp="1"/>
          </p:cNvSpPr>
          <p:nvPr/>
        </p:nvSpPr>
        <p:spPr>
          <a:xfrm xmlns:a="http://schemas.openxmlformats.org/drawingml/2006/main">
            <a:off x="6686550" y="2647950"/>
            <a:ext cx="4876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PingFang SC"/>
                <a:ea typeface="PingFang SC"/>
                <a:cs typeface="PingFang SC"/>
              </a:defRPr>
            </a:pPr>
            <a:r>
              <a:t>在空间内组织签到核验、发言互动、任务提交、资料授权、专家点评和阶段成果。</a:t>
            </a:r>
          </a:p>
        </p:txBody>
      </p:sp>
      <p:sp>
        <p:nvSpPr>
          <p:cNvPr id="12" name="矩形 11">
            <a:extLst xmlns:a="http://schemas.openxmlformats.org/drawingml/2006/main">
              <a:ext uri="{FF2B5EF4-FFF2-40B4-BE49-F238E27FC236}">
                <a16:creationId xmlns:a16="http://schemas.microsoft.com/office/drawing/2014/main" id="{BE7B250B-6C69-4F98-9FFF-A2DC2ADACD88}"/>
              </a:ext>
            </a:extLst>
          </p:cNvPr>
          <p:cNvSpPr>
            <a:spLocks xmlns:a="http://schemas.openxmlformats.org/drawingml/2006/main" noGrp="1"/>
          </p:cNvSpPr>
          <p:nvPr/>
        </p:nvSpPr>
        <p:spPr>
          <a:xfrm xmlns:a="http://schemas.openxmlformats.org/drawingml/2006/main">
            <a:off x="390525" y="3676650"/>
            <a:ext cx="5334000" cy="13525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3" name="矩形 12">
            <a:extLst xmlns:a="http://schemas.openxmlformats.org/drawingml/2006/main">
              <a:ext uri="{FF2B5EF4-FFF2-40B4-BE49-F238E27FC236}">
                <a16:creationId xmlns:a16="http://schemas.microsoft.com/office/drawing/2014/main" id="{3E8F3C82-D803-441B-9A15-360F099C21AE}"/>
              </a:ext>
            </a:extLst>
          </p:cNvPr>
          <p:cNvSpPr>
            <a:spLocks xmlns:a="http://schemas.openxmlformats.org/drawingml/2006/main" noGrp="1"/>
          </p:cNvSpPr>
          <p:nvPr/>
        </p:nvSpPr>
        <p:spPr>
          <a:xfrm xmlns:a="http://schemas.openxmlformats.org/drawingml/2006/main">
            <a:off x="619125" y="39052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空间触达</a:t>
            </a:r>
          </a:p>
        </p:txBody>
      </p:sp>
      <p:sp>
        <p:nvSpPr>
          <p:cNvPr id="14" name="矩形 13">
            <a:extLst xmlns:a="http://schemas.openxmlformats.org/drawingml/2006/main">
              <a:ext uri="{FF2B5EF4-FFF2-40B4-BE49-F238E27FC236}">
                <a16:creationId xmlns:a16="http://schemas.microsoft.com/office/drawing/2014/main" id="{A19E6718-B9E3-47AA-9108-1DD20AC94A84}"/>
              </a:ext>
            </a:extLst>
          </p:cNvPr>
          <p:cNvSpPr>
            <a:spLocks xmlns:a="http://schemas.openxmlformats.org/drawingml/2006/main" noGrp="1"/>
          </p:cNvSpPr>
          <p:nvPr/>
        </p:nvSpPr>
        <p:spPr>
          <a:xfrm xmlns:a="http://schemas.openxmlformats.org/drawingml/2006/main">
            <a:off x="619125" y="4362450"/>
            <a:ext cx="4876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PingFang SC"/>
                <a:ea typeface="PingFang SC"/>
                <a:cs typeface="PingFang SC"/>
              </a:defRPr>
            </a:pPr>
            <a:r>
              <a:t>消息与任务提醒内外部参与者，支持报名审核、空间看板、风险名单和运营台账。</a:t>
            </a:r>
          </a:p>
        </p:txBody>
      </p:sp>
      <p:sp>
        <p:nvSpPr>
          <p:cNvPr id="15" name="矩形 14">
            <a:extLst xmlns:a="http://schemas.openxmlformats.org/drawingml/2006/main">
              <a:ext uri="{FF2B5EF4-FFF2-40B4-BE49-F238E27FC236}">
                <a16:creationId xmlns:a16="http://schemas.microsoft.com/office/drawing/2014/main" id="{3C72B410-3ACB-4010-B9E9-CCEDBF7F5045}"/>
              </a:ext>
            </a:extLst>
          </p:cNvPr>
          <p:cNvSpPr>
            <a:spLocks xmlns:a="http://schemas.openxmlformats.org/drawingml/2006/main" noGrp="1"/>
          </p:cNvSpPr>
          <p:nvPr/>
        </p:nvSpPr>
        <p:spPr>
          <a:xfrm xmlns:a="http://schemas.openxmlformats.org/drawingml/2006/main">
            <a:off x="6457950" y="3676650"/>
            <a:ext cx="5334000" cy="13525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6" name="矩形 15">
            <a:extLst xmlns:a="http://schemas.openxmlformats.org/drawingml/2006/main">
              <a:ext uri="{FF2B5EF4-FFF2-40B4-BE49-F238E27FC236}">
                <a16:creationId xmlns:a16="http://schemas.microsoft.com/office/drawing/2014/main" id="{F3C40177-D14D-466C-838E-89B892852877}"/>
              </a:ext>
            </a:extLst>
          </p:cNvPr>
          <p:cNvSpPr>
            <a:spLocks xmlns:a="http://schemas.openxmlformats.org/drawingml/2006/main" noGrp="1"/>
          </p:cNvSpPr>
          <p:nvPr/>
        </p:nvSpPr>
        <p:spPr>
          <a:xfrm xmlns:a="http://schemas.openxmlformats.org/drawingml/2006/main">
            <a:off x="6686550" y="39052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FF6B35"/>
                </a:solidFill>
                <a:latin typeface="PingFang SC"/>
                <a:ea typeface="PingFang SC"/>
                <a:cs typeface="PingFang SC"/>
              </a:defRPr>
            </a:pPr>
            <a:r>
              <a:t>AI 陪伴</a:t>
            </a:r>
          </a:p>
        </p:txBody>
      </p:sp>
      <p:sp>
        <p:nvSpPr>
          <p:cNvPr id="17" name="矩形 16">
            <a:extLst xmlns:a="http://schemas.openxmlformats.org/drawingml/2006/main">
              <a:ext uri="{FF2B5EF4-FFF2-40B4-BE49-F238E27FC236}">
                <a16:creationId xmlns:a16="http://schemas.microsoft.com/office/drawing/2014/main" id="{46FDCD92-451D-407A-B00E-02017B19B951}"/>
              </a:ext>
            </a:extLst>
          </p:cNvPr>
          <p:cNvSpPr>
            <a:spLocks xmlns:a="http://schemas.openxmlformats.org/drawingml/2006/main" noGrp="1"/>
          </p:cNvSpPr>
          <p:nvPr/>
        </p:nvSpPr>
        <p:spPr>
          <a:xfrm xmlns:a="http://schemas.openxmlformats.org/drawingml/2006/main">
            <a:off x="6686550" y="4362450"/>
            <a:ext cx="4876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FFFFFF"/>
                </a:solidFill>
                <a:latin typeface="PingFang SC"/>
                <a:ea typeface="PingFang SC"/>
                <a:cs typeface="PingFang SC"/>
              </a:defRPr>
            </a:pPr>
            <a:r>
              <a:t>活动助手在空间内答疑、生成纪要、分析评课、整理问卷和外部人员证明材料。</a:t>
            </a:r>
          </a:p>
        </p:txBody>
      </p:sp>
      <p:sp>
        <p:nvSpPr>
          <p:cNvPr id="18" name="矩形 17">
            <a:extLst xmlns:a="http://schemas.openxmlformats.org/drawingml/2006/main">
              <a:ext uri="{FF2B5EF4-FFF2-40B4-BE49-F238E27FC236}">
                <a16:creationId xmlns:a16="http://schemas.microsoft.com/office/drawing/2014/main" id="{8DB89248-387C-46CC-8565-BD39643BEFE8}"/>
              </a:ext>
            </a:extLst>
          </p:cNvPr>
          <p:cNvSpPr>
            <a:spLocks xmlns:a="http://schemas.openxmlformats.org/drawingml/2006/main" noGrp="1"/>
          </p:cNvSpPr>
          <p:nvPr/>
        </p:nvSpPr>
        <p:spPr>
          <a:xfrm xmlns:a="http://schemas.openxmlformats.org/drawingml/2006/main">
            <a:off x="390525" y="5476875"/>
            <a:ext cx="11401425" cy="5143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9" name="矩形 18">
            <a:extLst xmlns:a="http://schemas.openxmlformats.org/drawingml/2006/main">
              <a:ext uri="{FF2B5EF4-FFF2-40B4-BE49-F238E27FC236}">
                <a16:creationId xmlns:a16="http://schemas.microsoft.com/office/drawing/2014/main" id="{E973E798-89CD-4714-A3FF-31D2A7F57EA6}"/>
              </a:ext>
            </a:extLst>
          </p:cNvPr>
          <p:cNvSpPr>
            <a:spLocks xmlns:a="http://schemas.openxmlformats.org/drawingml/2006/main" noGrp="1"/>
          </p:cNvSpPr>
          <p:nvPr/>
        </p:nvSpPr>
        <p:spPr>
          <a:xfrm xmlns:a="http://schemas.openxmlformats.org/drawingml/2006/main">
            <a:off x="666750" y="5600700"/>
            <a:ext cx="10839450" cy="2667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000000"/>
                </a:solidFill>
                <a:latin typeface="PingFang SC"/>
                <a:ea typeface="PingFang SC"/>
                <a:cs typeface="PingFang SC"/>
              </a:defRPr>
            </a:pPr>
            <a:r>
              <a:t>关键是让每类业务都有一个可运营空间：可准入、可授权、可触达、可记录、可评价、可沉淀。</a:t>
            </a:r>
          </a:p>
        </p:txBody>
      </p:sp>
    </p:spTree>
    <p:extLst>
      <p:ext uri="{BB962C8B-B14F-4D97-AF65-F5344CB8AC3E}">
        <p14:creationId xmlns:p14="http://schemas.microsoft.com/office/powerpoint/2010/main" val="2357589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8DF0A572-C97E-4474-93BE-08410BF5A915}"/>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培训效果评估</a:t>
            </a:r>
          </a:p>
        </p:txBody>
      </p:sp>
      <p:sp>
        <p:nvSpPr>
          <p:cNvPr id="3" name="矩形 2">
            <a:extLst xmlns:a="http://schemas.openxmlformats.org/drawingml/2006/main">
              <a:ext uri="{FF2B5EF4-FFF2-40B4-BE49-F238E27FC236}">
                <a16:creationId xmlns:a16="http://schemas.microsoft.com/office/drawing/2014/main" id="{43CF12FB-00E8-4F15-87E8-F04359022C3B}"/>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00" b="1">
                <a:solidFill>
                  <a:srgbClr val="000000"/>
                </a:solidFill>
                <a:latin typeface="PingFang SC"/>
                <a:ea typeface="PingFang SC"/>
                <a:cs typeface="PingFang SC"/>
              </a:defRPr>
            </a:pPr>
            <a:r>
              <a:t>效果子系统把空间结果转化为个人证明和组织报告</a:t>
            </a:r>
          </a:p>
        </p:txBody>
      </p:sp>
      <p:sp>
        <p:nvSpPr>
          <p:cNvPr id="4" name="矩形 3">
            <a:extLst xmlns:a="http://schemas.openxmlformats.org/drawingml/2006/main">
              <a:ext uri="{FF2B5EF4-FFF2-40B4-BE49-F238E27FC236}">
                <a16:creationId xmlns:a16="http://schemas.microsoft.com/office/drawing/2014/main" id="{3EB1B5EF-B471-47A6-BECB-FB17E661AA99}"/>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959E75B4-EC59-4940-96CE-C90F5C62B25E}"/>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08</a:t>
            </a:r>
          </a:p>
        </p:txBody>
      </p:sp>
      <p:sp>
        <p:nvSpPr>
          <p:cNvPr id="6" name="矩形 5">
            <a:extLst xmlns:a="http://schemas.openxmlformats.org/drawingml/2006/main">
              <a:ext uri="{FF2B5EF4-FFF2-40B4-BE49-F238E27FC236}">
                <a16:creationId xmlns:a16="http://schemas.microsoft.com/office/drawing/2014/main" id="{F00B3215-8BA2-44FE-ADEC-C1ACCA314C2E}"/>
              </a:ext>
            </a:extLst>
          </p:cNvPr>
          <p:cNvSpPr>
            <a:spLocks xmlns:a="http://schemas.openxmlformats.org/drawingml/2006/main" noGrp="1"/>
          </p:cNvSpPr>
          <p:nvPr/>
        </p:nvSpPr>
        <p:spPr>
          <a:xfrm xmlns:a="http://schemas.openxmlformats.org/drawingml/2006/main">
            <a:off x="390525" y="1866900"/>
            <a:ext cx="1714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555555"/>
                </a:solidFill>
                <a:latin typeface="PingFang SC"/>
                <a:ea typeface="PingFang SC"/>
                <a:cs typeface="PingFang SC"/>
              </a:defRPr>
            </a:pPr>
            <a:r>
              <a:t>评估框架</a:t>
            </a:r>
          </a:p>
        </p:txBody>
      </p:sp>
      <p:sp>
        <p:nvSpPr>
          <p:cNvPr id="7" name="矩形 6">
            <a:extLst xmlns:a="http://schemas.openxmlformats.org/drawingml/2006/main">
              <a:ext uri="{FF2B5EF4-FFF2-40B4-BE49-F238E27FC236}">
                <a16:creationId xmlns:a16="http://schemas.microsoft.com/office/drawing/2014/main" id="{1380E0B0-0A5B-4E4F-A065-7BA836091680}"/>
              </a:ext>
            </a:extLst>
          </p:cNvPr>
          <p:cNvSpPr>
            <a:spLocks xmlns:a="http://schemas.openxmlformats.org/drawingml/2006/main" noGrp="1"/>
          </p:cNvSpPr>
          <p:nvPr/>
        </p:nvSpPr>
        <p:spPr>
          <a:xfrm xmlns:a="http://schemas.openxmlformats.org/drawingml/2006/main">
            <a:off x="390525" y="2362200"/>
            <a:ext cx="2476500" cy="21907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8" name="矩形 7">
            <a:extLst xmlns:a="http://schemas.openxmlformats.org/drawingml/2006/main">
              <a:ext uri="{FF2B5EF4-FFF2-40B4-BE49-F238E27FC236}">
                <a16:creationId xmlns:a16="http://schemas.microsoft.com/office/drawing/2014/main" id="{7BC64481-3B98-4077-9195-DD653EB42457}"/>
              </a:ext>
            </a:extLst>
          </p:cNvPr>
          <p:cNvSpPr>
            <a:spLocks xmlns:a="http://schemas.openxmlformats.org/drawingml/2006/main" noGrp="1"/>
          </p:cNvSpPr>
          <p:nvPr/>
        </p:nvSpPr>
        <p:spPr>
          <a:xfrm xmlns:a="http://schemas.openxmlformats.org/drawingml/2006/main">
            <a:off x="619125" y="2590800"/>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025" b="1">
                <a:solidFill>
                  <a:srgbClr val="000000"/>
                </a:solidFill>
                <a:latin typeface="PingFang SC"/>
                <a:ea typeface="PingFang SC"/>
                <a:cs typeface="PingFang SC"/>
              </a:defRPr>
            </a:pPr>
            <a:r>
              <a:t>反应层</a:t>
            </a:r>
          </a:p>
        </p:txBody>
      </p:sp>
      <p:sp>
        <p:nvSpPr>
          <p:cNvPr id="9" name="矩形 8">
            <a:extLst xmlns:a="http://schemas.openxmlformats.org/drawingml/2006/main">
              <a:ext uri="{FF2B5EF4-FFF2-40B4-BE49-F238E27FC236}">
                <a16:creationId xmlns:a16="http://schemas.microsoft.com/office/drawing/2014/main" id="{0BE7EAEB-B887-49E5-9377-042126C3E293}"/>
              </a:ext>
            </a:extLst>
          </p:cNvPr>
          <p:cNvSpPr>
            <a:spLocks xmlns:a="http://schemas.openxmlformats.org/drawingml/2006/main" noGrp="1"/>
          </p:cNvSpPr>
          <p:nvPr/>
        </p:nvSpPr>
        <p:spPr>
          <a:xfrm xmlns:a="http://schemas.openxmlformats.org/drawingml/2006/main">
            <a:off x="619125" y="3048000"/>
            <a:ext cx="2019300" cy="1314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000000"/>
                </a:solidFill>
                <a:latin typeface="PingFang SC"/>
                <a:ea typeface="PingFang SC"/>
                <a:cs typeface="PingFang SC"/>
              </a:defRPr>
            </a:pPr>
            <a:r>
              <a:t>满意度、活动评价、讲师/专家评价、反馈问卷和问题建议。</a:t>
            </a:r>
          </a:p>
        </p:txBody>
      </p:sp>
      <p:sp>
        <p:nvSpPr>
          <p:cNvPr id="10" name="矩形 9">
            <a:extLst xmlns:a="http://schemas.openxmlformats.org/drawingml/2006/main">
              <a:ext uri="{FF2B5EF4-FFF2-40B4-BE49-F238E27FC236}">
                <a16:creationId xmlns:a16="http://schemas.microsoft.com/office/drawing/2014/main" id="{3E67C1D5-F50F-414F-995D-66A5C02A8066}"/>
              </a:ext>
            </a:extLst>
          </p:cNvPr>
          <p:cNvSpPr>
            <a:spLocks xmlns:a="http://schemas.openxmlformats.org/drawingml/2006/main" noGrp="1"/>
          </p:cNvSpPr>
          <p:nvPr/>
        </p:nvSpPr>
        <p:spPr>
          <a:xfrm xmlns:a="http://schemas.openxmlformats.org/drawingml/2006/main">
            <a:off x="3248025" y="2362200"/>
            <a:ext cx="2476500" cy="21907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1" name="矩形 10">
            <a:extLst xmlns:a="http://schemas.openxmlformats.org/drawingml/2006/main">
              <a:ext uri="{FF2B5EF4-FFF2-40B4-BE49-F238E27FC236}">
                <a16:creationId xmlns:a16="http://schemas.microsoft.com/office/drawing/2014/main" id="{82DEB59B-D57C-420A-ADBE-E4176C27AE2D}"/>
              </a:ext>
            </a:extLst>
          </p:cNvPr>
          <p:cNvSpPr>
            <a:spLocks xmlns:a="http://schemas.openxmlformats.org/drawingml/2006/main" noGrp="1"/>
          </p:cNvSpPr>
          <p:nvPr/>
        </p:nvSpPr>
        <p:spPr>
          <a:xfrm xmlns:a="http://schemas.openxmlformats.org/drawingml/2006/main">
            <a:off x="3476625" y="2590800"/>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875" b="1">
                <a:solidFill>
                  <a:srgbClr val="000000"/>
                </a:solidFill>
                <a:latin typeface="PingFang SC"/>
                <a:ea typeface="PingFang SC"/>
                <a:cs typeface="PingFang SC"/>
              </a:defRPr>
            </a:pPr>
            <a:r>
              <a:t>学习层</a:t>
            </a:r>
          </a:p>
        </p:txBody>
      </p:sp>
      <p:sp>
        <p:nvSpPr>
          <p:cNvPr id="12" name="矩形 11">
            <a:extLst xmlns:a="http://schemas.openxmlformats.org/drawingml/2006/main">
              <a:ext uri="{FF2B5EF4-FFF2-40B4-BE49-F238E27FC236}">
                <a16:creationId xmlns:a16="http://schemas.microsoft.com/office/drawing/2014/main" id="{99BFFD77-64B1-4721-8EDD-E3B48A8B38CF}"/>
              </a:ext>
            </a:extLst>
          </p:cNvPr>
          <p:cNvSpPr>
            <a:spLocks xmlns:a="http://schemas.openxmlformats.org/drawingml/2006/main" noGrp="1"/>
          </p:cNvSpPr>
          <p:nvPr/>
        </p:nvSpPr>
        <p:spPr>
          <a:xfrm xmlns:a="http://schemas.openxmlformats.org/drawingml/2006/main">
            <a:off x="3476625" y="3048000"/>
            <a:ext cx="2019300" cy="1314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a:solidFill>
                  <a:srgbClr val="000000"/>
                </a:solidFill>
                <a:latin typeface="PingFang SC"/>
                <a:ea typeface="PingFang SC"/>
                <a:cs typeface="PingFang SC"/>
              </a:defRPr>
            </a:pPr>
            <a:r>
              <a:t>知识掌握、案例理解、任务完成、观点表达、能力达成和完成率。</a:t>
            </a:r>
          </a:p>
        </p:txBody>
      </p:sp>
      <p:sp>
        <p:nvSpPr>
          <p:cNvPr id="13" name="矩形 12">
            <a:extLst xmlns:a="http://schemas.openxmlformats.org/drawingml/2006/main">
              <a:ext uri="{FF2B5EF4-FFF2-40B4-BE49-F238E27FC236}">
                <a16:creationId xmlns:a16="http://schemas.microsoft.com/office/drawing/2014/main" id="{F60AF1D1-7CA5-44B9-8BCC-0B59453E73CC}"/>
              </a:ext>
            </a:extLst>
          </p:cNvPr>
          <p:cNvSpPr>
            <a:spLocks xmlns:a="http://schemas.openxmlformats.org/drawingml/2006/main" noGrp="1"/>
          </p:cNvSpPr>
          <p:nvPr/>
        </p:nvSpPr>
        <p:spPr>
          <a:xfrm xmlns:a="http://schemas.openxmlformats.org/drawingml/2006/main">
            <a:off x="6105525" y="2362200"/>
            <a:ext cx="2476500" cy="21907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4" name="矩形 13">
            <a:extLst xmlns:a="http://schemas.openxmlformats.org/drawingml/2006/main">
              <a:ext uri="{FF2B5EF4-FFF2-40B4-BE49-F238E27FC236}">
                <a16:creationId xmlns:a16="http://schemas.microsoft.com/office/drawing/2014/main" id="{B6F4B743-6602-49F4-842B-2127F4C6D1B9}"/>
              </a:ext>
            </a:extLst>
          </p:cNvPr>
          <p:cNvSpPr>
            <a:spLocks xmlns:a="http://schemas.openxmlformats.org/drawingml/2006/main" noGrp="1"/>
          </p:cNvSpPr>
          <p:nvPr/>
        </p:nvSpPr>
        <p:spPr>
          <a:xfrm xmlns:a="http://schemas.openxmlformats.org/drawingml/2006/main">
            <a:off x="6334125" y="2590800"/>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025" b="1">
                <a:solidFill>
                  <a:srgbClr val="000000"/>
                </a:solidFill>
                <a:latin typeface="PingFang SC"/>
                <a:ea typeface="PingFang SC"/>
                <a:cs typeface="PingFang SC"/>
              </a:defRPr>
            </a:pPr>
            <a:r>
              <a:t>行为层</a:t>
            </a:r>
          </a:p>
        </p:txBody>
      </p:sp>
      <p:sp>
        <p:nvSpPr>
          <p:cNvPr id="15" name="矩形 14">
            <a:extLst xmlns:a="http://schemas.openxmlformats.org/drawingml/2006/main">
              <a:ext uri="{FF2B5EF4-FFF2-40B4-BE49-F238E27FC236}">
                <a16:creationId xmlns:a16="http://schemas.microsoft.com/office/drawing/2014/main" id="{4B9A3DF8-0563-40FE-A33A-E5C19CF10CBA}"/>
              </a:ext>
            </a:extLst>
          </p:cNvPr>
          <p:cNvSpPr>
            <a:spLocks xmlns:a="http://schemas.openxmlformats.org/drawingml/2006/main" noGrp="1"/>
          </p:cNvSpPr>
          <p:nvPr/>
        </p:nvSpPr>
        <p:spPr>
          <a:xfrm xmlns:a="http://schemas.openxmlformats.org/drawingml/2006/main">
            <a:off x="6334125" y="3048000"/>
            <a:ext cx="2019300" cy="1314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000000"/>
                </a:solidFill>
                <a:latin typeface="PingFang SC"/>
                <a:ea typeface="PingFang SC"/>
                <a:cs typeface="PingFang SC"/>
              </a:defRPr>
            </a:pPr>
            <a:r>
              <a:t>训后任务、场景应用、主管/客户评价、专家评审和同伴互评。</a:t>
            </a:r>
          </a:p>
        </p:txBody>
      </p:sp>
      <p:sp>
        <p:nvSpPr>
          <p:cNvPr id="16" name="矩形 15">
            <a:extLst xmlns:a="http://schemas.openxmlformats.org/drawingml/2006/main">
              <a:ext uri="{FF2B5EF4-FFF2-40B4-BE49-F238E27FC236}">
                <a16:creationId xmlns:a16="http://schemas.microsoft.com/office/drawing/2014/main" id="{E6A09B89-EF55-402B-8B13-17ECAF2AB9BC}"/>
              </a:ext>
            </a:extLst>
          </p:cNvPr>
          <p:cNvSpPr>
            <a:spLocks xmlns:a="http://schemas.openxmlformats.org/drawingml/2006/main" noGrp="1"/>
          </p:cNvSpPr>
          <p:nvPr/>
        </p:nvSpPr>
        <p:spPr>
          <a:xfrm xmlns:a="http://schemas.openxmlformats.org/drawingml/2006/main">
            <a:off x="8963025" y="2362200"/>
            <a:ext cx="2476500" cy="21907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7" name="矩形 16">
            <a:extLst xmlns:a="http://schemas.openxmlformats.org/drawingml/2006/main">
              <a:ext uri="{FF2B5EF4-FFF2-40B4-BE49-F238E27FC236}">
                <a16:creationId xmlns:a16="http://schemas.microsoft.com/office/drawing/2014/main" id="{0A2261C7-DCE8-43B2-AEE3-F5D85B95D22C}"/>
              </a:ext>
            </a:extLst>
          </p:cNvPr>
          <p:cNvSpPr>
            <a:spLocks xmlns:a="http://schemas.openxmlformats.org/drawingml/2006/main" noGrp="1"/>
          </p:cNvSpPr>
          <p:nvPr/>
        </p:nvSpPr>
        <p:spPr>
          <a:xfrm xmlns:a="http://schemas.openxmlformats.org/drawingml/2006/main">
            <a:off x="9191625" y="2590800"/>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025" b="1">
                <a:solidFill>
                  <a:srgbClr val="FF6B35"/>
                </a:solidFill>
                <a:latin typeface="PingFang SC"/>
                <a:ea typeface="PingFang SC"/>
                <a:cs typeface="PingFang SC"/>
              </a:defRPr>
            </a:pPr>
            <a:r>
              <a:t>结果层</a:t>
            </a:r>
          </a:p>
        </p:txBody>
      </p:sp>
      <p:sp>
        <p:nvSpPr>
          <p:cNvPr id="18" name="矩形 17">
            <a:extLst xmlns:a="http://schemas.openxmlformats.org/drawingml/2006/main">
              <a:ext uri="{FF2B5EF4-FFF2-40B4-BE49-F238E27FC236}">
                <a16:creationId xmlns:a16="http://schemas.microsoft.com/office/drawing/2014/main" id="{166607EA-33F6-4B58-BADD-DC9CBCF48043}"/>
              </a:ext>
            </a:extLst>
          </p:cNvPr>
          <p:cNvSpPr>
            <a:spLocks xmlns:a="http://schemas.openxmlformats.org/drawingml/2006/main" noGrp="1"/>
          </p:cNvSpPr>
          <p:nvPr/>
        </p:nvSpPr>
        <p:spPr>
          <a:xfrm xmlns:a="http://schemas.openxmlformats.org/drawingml/2006/main">
            <a:off x="9191625" y="3048000"/>
            <a:ext cx="2019300" cy="1314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FFFFFF"/>
                </a:solidFill>
                <a:latin typeface="PingFang SC"/>
                <a:ea typeface="PingFang SC"/>
                <a:cs typeface="PingFang SC"/>
              </a:defRPr>
            </a:pPr>
            <a:r>
              <a:t>客户/伙伴组织报告、空间复盘、转化线索、复训建议、业务改善和知识资产。</a:t>
            </a:r>
          </a:p>
        </p:txBody>
      </p:sp>
      <p:sp>
        <p:nvSpPr>
          <p:cNvPr id="19" name="矩形 18">
            <a:extLst xmlns:a="http://schemas.openxmlformats.org/drawingml/2006/main">
              <a:ext uri="{FF2B5EF4-FFF2-40B4-BE49-F238E27FC236}">
                <a16:creationId xmlns:a16="http://schemas.microsoft.com/office/drawing/2014/main" id="{D362A027-79C8-4C49-BD76-67B5DDDA41B5}"/>
              </a:ext>
            </a:extLst>
          </p:cNvPr>
          <p:cNvSpPr>
            <a:spLocks xmlns:a="http://schemas.openxmlformats.org/drawingml/2006/main" noGrp="1"/>
          </p:cNvSpPr>
          <p:nvPr/>
        </p:nvSpPr>
        <p:spPr>
          <a:xfrm xmlns:a="http://schemas.openxmlformats.org/drawingml/2006/main">
            <a:off x="390525" y="5219700"/>
            <a:ext cx="11401425" cy="8572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20" name="矩形 19">
            <a:extLst xmlns:a="http://schemas.openxmlformats.org/drawingml/2006/main">
              <a:ext uri="{FF2B5EF4-FFF2-40B4-BE49-F238E27FC236}">
                <a16:creationId xmlns:a16="http://schemas.microsoft.com/office/drawing/2014/main" id="{96DA5CFE-5174-40C2-A00B-D2ADA053556B}"/>
              </a:ext>
            </a:extLst>
          </p:cNvPr>
          <p:cNvSpPr>
            <a:spLocks xmlns:a="http://schemas.openxmlformats.org/drawingml/2006/main" noGrp="1"/>
          </p:cNvSpPr>
          <p:nvPr/>
        </p:nvSpPr>
        <p:spPr>
          <a:xfrm xmlns:a="http://schemas.openxmlformats.org/drawingml/2006/main">
            <a:off x="685800" y="5410200"/>
            <a:ext cx="7381875" cy="457200"/>
          </a:xfrm>
          <a:prstGeom xmlns:a="http://schemas.openxmlformats.org/drawingml/2006/main" prst="rect">
            <a:avLst/>
          </a:prstGeom>
        </p:spPr>
        <p:txBody>
          <a:bodyPr xmlns:a="http://schemas.openxmlformats.org/drawingml/2006/main" lIns="0" tIns="0" rIns="0" bIns="0" anchor="ctr">
            <a:normAutofit fontScale="83333"/>
          </a:bodyPr>
          <a:lstStyle xmlns:a="http://schemas.openxmlformats.org/drawingml/2006/main"/>
          <a:p xmlns:a="http://schemas.openxmlformats.org/drawingml/2006/main">
            <a:pPr algn="l">
              <a:buNone/>
              <a:defRPr sz="1800" b="1">
                <a:solidFill>
                  <a:srgbClr val="FFFFFF"/>
                </a:solidFill>
                <a:latin typeface="PingFang SC"/>
                <a:ea typeface="PingFang SC"/>
                <a:cs typeface="PingFang SC"/>
              </a:defRPr>
            </a:pPr>
            <a:r>
              <a:t>效果评估的价值，是把空间中的活动结论转化为个人证明、客户报告、改进建议、资源复用和持续运营。</a:t>
            </a:r>
          </a:p>
        </p:txBody>
      </p:sp>
      <p:sp>
        <p:nvSpPr>
          <p:cNvPr id="21" name="矩形 20">
            <a:extLst xmlns:a="http://schemas.openxmlformats.org/drawingml/2006/main">
              <a:ext uri="{FF2B5EF4-FFF2-40B4-BE49-F238E27FC236}">
                <a16:creationId xmlns:a16="http://schemas.microsoft.com/office/drawing/2014/main" id="{2A8A6984-5BCC-4AC5-BE08-2683926B8F68}"/>
              </a:ext>
            </a:extLst>
          </p:cNvPr>
          <p:cNvSpPr>
            <a:spLocks xmlns:a="http://schemas.openxmlformats.org/drawingml/2006/main" noGrp="1"/>
          </p:cNvSpPr>
          <p:nvPr/>
        </p:nvSpPr>
        <p:spPr>
          <a:xfrm xmlns:a="http://schemas.openxmlformats.org/drawingml/2006/main">
            <a:off x="8420100" y="5391150"/>
            <a:ext cx="1238250" cy="323850"/>
          </a:xfrm>
          <a:prstGeom xmlns:a="http://schemas.openxmlformats.org/drawingml/2006/main" prst="rect">
            <a:avLst/>
          </a:prstGeom>
        </p:spPr>
        <p:txBody>
          <a:bodyPr xmlns:a="http://schemas.openxmlformats.org/drawingml/2006/main" lIns="0" tIns="0" rIns="0" bIns="0" anchor="ctr">
            <a:normAutofit fontScale="97701"/>
          </a:bodyPr>
          <a:lstStyle xmlns:a="http://schemas.openxmlformats.org/drawingml/2006/main"/>
          <a:p xmlns:a="http://schemas.openxmlformats.org/drawingml/2006/main">
            <a:pPr algn="ctr">
              <a:buNone/>
              <a:defRPr sz="2175" b="1">
                <a:solidFill>
                  <a:srgbClr val="FF6B35"/>
                </a:solidFill>
                <a:latin typeface="PingFang SC"/>
                <a:ea typeface="PingFang SC"/>
                <a:cs typeface="PingFang SC"/>
              </a:defRPr>
            </a:pPr>
            <a:r>
              <a:t>4 层评估</a:t>
            </a:r>
          </a:p>
        </p:txBody>
      </p:sp>
      <p:sp>
        <p:nvSpPr>
          <p:cNvPr id="22" name="矩形 21">
            <a:extLst xmlns:a="http://schemas.openxmlformats.org/drawingml/2006/main">
              <a:ext uri="{FF2B5EF4-FFF2-40B4-BE49-F238E27FC236}">
                <a16:creationId xmlns:a16="http://schemas.microsoft.com/office/drawing/2014/main" id="{C648FD11-D56F-4FE3-88E8-F91F450F995A}"/>
              </a:ext>
            </a:extLst>
          </p:cNvPr>
          <p:cNvSpPr>
            <a:spLocks xmlns:a="http://schemas.openxmlformats.org/drawingml/2006/main" noGrp="1"/>
          </p:cNvSpPr>
          <p:nvPr/>
        </p:nvSpPr>
        <p:spPr>
          <a:xfrm xmlns:a="http://schemas.openxmlformats.org/drawingml/2006/main">
            <a:off x="9505950" y="5391150"/>
            <a:ext cx="2114550" cy="323850"/>
          </a:xfrm>
          <a:prstGeom xmlns:a="http://schemas.openxmlformats.org/drawingml/2006/main" prst="rect">
            <a:avLst/>
          </a:prstGeom>
        </p:spPr>
        <p:txBody>
          <a:bodyPr xmlns:a="http://schemas.openxmlformats.org/drawingml/2006/main" lIns="0" tIns="0" rIns="0" bIns="0" anchor="ctr">
            <a:normAutofit fontScale="94412"/>
          </a:bodyPr>
          <a:lstStyle xmlns:a="http://schemas.openxmlformats.org/drawingml/2006/main"/>
          <a:p xmlns:a="http://schemas.openxmlformats.org/drawingml/2006/main">
            <a:pPr algn="ctr">
              <a:buNone/>
              <a:defRPr sz="1575" b="1">
                <a:solidFill>
                  <a:srgbClr val="FF6B35"/>
                </a:solidFill>
                <a:latin typeface="PingFang SC"/>
                <a:ea typeface="PingFang SC"/>
                <a:cs typeface="PingFang SC"/>
              </a:defRPr>
            </a:pPr>
            <a:r>
              <a:t>从空间反馈到内外训改进</a:t>
            </a:r>
          </a:p>
        </p:txBody>
      </p:sp>
      <p:sp>
        <p:nvSpPr>
          <p:cNvPr id="23" name="矩形 22">
            <a:extLst xmlns:a="http://schemas.openxmlformats.org/drawingml/2006/main">
              <a:ext uri="{FF2B5EF4-FFF2-40B4-BE49-F238E27FC236}">
                <a16:creationId xmlns:a16="http://schemas.microsoft.com/office/drawing/2014/main" id="{324B50E2-EC9D-4F5D-9E53-BA8AFB9E3672}"/>
              </a:ext>
            </a:extLst>
          </p:cNvPr>
          <p:cNvSpPr>
            <a:spLocks xmlns:a="http://schemas.openxmlformats.org/drawingml/2006/main" noGrp="1"/>
          </p:cNvSpPr>
          <p:nvPr/>
        </p:nvSpPr>
        <p:spPr>
          <a:xfrm xmlns:a="http://schemas.openxmlformats.org/drawingml/2006/main">
            <a:off x="8420100" y="5753100"/>
            <a:ext cx="2971800" cy="209550"/>
          </a:xfrm>
          <a:prstGeom xmlns:a="http://schemas.openxmlformats.org/drawingml/2006/main" prst="rect">
            <a:avLst/>
          </a:prstGeom>
        </p:spPr>
        <p:txBody>
          <a:bodyPr xmlns:a="http://schemas.openxmlformats.org/drawingml/2006/main" lIns="0" tIns="0" rIns="0" bIns="0" anchor="ctr">
            <a:normAutofit fontScale="97464"/>
          </a:bodyPr>
          <a:lstStyle xmlns:a="http://schemas.openxmlformats.org/drawingml/2006/main"/>
          <a:p xmlns:a="http://schemas.openxmlformats.org/drawingml/2006/main">
            <a:pPr algn="ctr">
              <a:buNone/>
              <a:defRPr sz="1350" b="0">
                <a:solidFill>
                  <a:srgbClr val="FFFFFF"/>
                </a:solidFill>
                <a:latin typeface="PingFang SC"/>
                <a:ea typeface="PingFang SC"/>
                <a:cs typeface="PingFang SC"/>
              </a:defRPr>
            </a:pPr>
            <a:r>
              <a:t>个人、空间、项目、组织/客户四类报告</a:t>
            </a:r>
          </a:p>
        </p:txBody>
      </p:sp>
    </p:spTree>
    <p:extLst>
      <p:ext uri="{BB962C8B-B14F-4D97-AF65-F5344CB8AC3E}">
        <p14:creationId xmlns:p14="http://schemas.microsoft.com/office/powerpoint/2010/main" val="8878482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E5E07C92-8E27-4EFC-BCB1-8C61C02E5948}"/>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业务闭环</a:t>
            </a:r>
          </a:p>
        </p:txBody>
      </p:sp>
      <p:sp>
        <p:nvSpPr>
          <p:cNvPr id="3" name="矩形 2">
            <a:extLst xmlns:a="http://schemas.openxmlformats.org/drawingml/2006/main">
              <a:ext uri="{FF2B5EF4-FFF2-40B4-BE49-F238E27FC236}">
                <a16:creationId xmlns:a16="http://schemas.microsoft.com/office/drawing/2014/main" id="{74D9619A-F3A5-4A18-B9C9-74D784651FC5}"/>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a:solidFill>
                  <a:srgbClr val="000000"/>
                </a:solidFill>
                <a:latin typeface="PingFang SC"/>
                <a:ea typeface="PingFang SC"/>
                <a:cs typeface="PingFang SC"/>
              </a:defRPr>
            </a:pPr>
            <a:r>
              <a:t>空间让内外训活动从需求到改进形成可复制链路</a:t>
            </a:r>
          </a:p>
        </p:txBody>
      </p:sp>
      <p:sp>
        <p:nvSpPr>
          <p:cNvPr id="4" name="矩形 3">
            <a:extLst xmlns:a="http://schemas.openxmlformats.org/drawingml/2006/main">
              <a:ext uri="{FF2B5EF4-FFF2-40B4-BE49-F238E27FC236}">
                <a16:creationId xmlns:a16="http://schemas.microsoft.com/office/drawing/2014/main" id="{9B96ECAA-E0B8-414F-9A7F-1971FE3A0ADC}"/>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9AF3E9F8-D85E-49D0-AA62-D488DB4C5D54}"/>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09</a:t>
            </a:r>
          </a:p>
        </p:txBody>
      </p:sp>
      <p:sp>
        <p:nvSpPr>
          <p:cNvPr id="6" name="矩形 5">
            <a:extLst xmlns:a="http://schemas.openxmlformats.org/drawingml/2006/main">
              <a:ext uri="{FF2B5EF4-FFF2-40B4-BE49-F238E27FC236}">
                <a16:creationId xmlns:a16="http://schemas.microsoft.com/office/drawing/2014/main" id="{0CDBABC2-F905-41D0-BBBD-6EAB146BE5EE}"/>
              </a:ext>
            </a:extLst>
          </p:cNvPr>
          <p:cNvSpPr>
            <a:spLocks xmlns:a="http://schemas.openxmlformats.org/drawingml/2006/main" noGrp="1"/>
          </p:cNvSpPr>
          <p:nvPr/>
        </p:nvSpPr>
        <p:spPr>
          <a:xfrm xmlns:a="http://schemas.openxmlformats.org/drawingml/2006/main">
            <a:off x="523875" y="2238375"/>
            <a:ext cx="1695450" cy="666750"/>
          </a:xfrm>
          <a:prstGeom xmlns:a="http://schemas.openxmlformats.org/drawingml/2006/main" prst="rect">
            <a:avLst/>
          </a:prstGeom>
          <a:solidFill xmlns:a="http://schemas.openxmlformats.org/drawingml/2006/main">
            <a:srgbClr val="000000"/>
          </a:solidFill>
          <a:ln xmlns:a="http://schemas.openxmlformats.org/drawingml/2006/main" w="9525">
            <a:solidFill>
              <a:srgbClr val="B8BCC4"/>
            </a:solidFill>
            <a:prstDash val="solid"/>
          </a:ln>
        </p:spPr>
      </p:sp>
      <p:sp>
        <p:nvSpPr>
          <p:cNvPr id="7" name="矩形 6">
            <a:extLst xmlns:a="http://schemas.openxmlformats.org/drawingml/2006/main">
              <a:ext uri="{FF2B5EF4-FFF2-40B4-BE49-F238E27FC236}">
                <a16:creationId xmlns:a16="http://schemas.microsoft.com/office/drawing/2014/main" id="{994D7EC4-23DF-4FF3-956E-AD27C053A905}"/>
              </a:ext>
            </a:extLst>
          </p:cNvPr>
          <p:cNvSpPr>
            <a:spLocks xmlns:a="http://schemas.openxmlformats.org/drawingml/2006/main" noGrp="1"/>
          </p:cNvSpPr>
          <p:nvPr/>
        </p:nvSpPr>
        <p:spPr>
          <a:xfrm xmlns:a="http://schemas.openxmlformats.org/drawingml/2006/main">
            <a:off x="600075" y="2295525"/>
            <a:ext cx="1543050" cy="5524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725" b="1">
                <a:solidFill>
                  <a:srgbClr val="FFFFFF"/>
                </a:solidFill>
                <a:latin typeface="PingFang SC"/>
                <a:ea typeface="PingFang SC"/>
                <a:cs typeface="PingFang SC"/>
              </a:defRPr>
            </a:pPr>
            <a:r>
              <a:rPr sz="1725" b="1">
                <a:solidFill>
                  <a:srgbClr val="FFFFFF"/>
                </a:solidFill>
                <a:latin typeface="PingFang SC"/>
                <a:ea typeface="PingFang SC"/>
                <a:cs typeface="PingFang SC"/>
              </a:rPr>
              <a:t>需求识别</a:t>
            </a:r>
          </a:p>
        </p:txBody>
      </p:sp>
      <p:sp>
        <p:nvSpPr>
          <p:cNvPr id="8" name="右箭头 7">
            <a:extLst xmlns:a="http://schemas.openxmlformats.org/drawingml/2006/main">
              <a:ext uri="{FF2B5EF4-FFF2-40B4-BE49-F238E27FC236}">
                <a16:creationId xmlns:a16="http://schemas.microsoft.com/office/drawing/2014/main" id="{2B267AD4-5DBE-41BD-A32E-9935AB0779B0}"/>
              </a:ext>
            </a:extLst>
          </p:cNvPr>
          <p:cNvSpPr>
            <a:spLocks xmlns:a="http://schemas.openxmlformats.org/drawingml/2006/main" noGrp="1"/>
          </p:cNvSpPr>
          <p:nvPr/>
        </p:nvSpPr>
        <p:spPr>
          <a:xfrm xmlns:a="http://schemas.openxmlformats.org/drawingml/2006/main">
            <a:off x="2428875" y="2400300"/>
            <a:ext cx="476250" cy="342900"/>
          </a:xfrm>
          <a:prstGeom xmlns:a="http://schemas.openxmlformats.org/drawingml/2006/main" prst="rightArrow">
            <a:avLst/>
          </a:prstGeom>
          <a:solidFill xmlns:a="http://schemas.openxmlformats.org/drawingml/2006/main">
            <a:srgbClr val="B8BCC4"/>
          </a:solidFill>
          <a:ln xmlns:a="http://schemas.openxmlformats.org/drawingml/2006/main" w="0">
            <a:noFill/>
            <a:prstDash val="solid"/>
          </a:ln>
        </p:spPr>
      </p:sp>
      <p:sp>
        <p:nvSpPr>
          <p:cNvPr id="9" name="矩形 8">
            <a:extLst xmlns:a="http://schemas.openxmlformats.org/drawingml/2006/main">
              <a:ext uri="{FF2B5EF4-FFF2-40B4-BE49-F238E27FC236}">
                <a16:creationId xmlns:a16="http://schemas.microsoft.com/office/drawing/2014/main" id="{B6D56656-9EC3-4FFF-B59F-41B39687C552}"/>
              </a:ext>
            </a:extLst>
          </p:cNvPr>
          <p:cNvSpPr>
            <a:spLocks xmlns:a="http://schemas.openxmlformats.org/drawingml/2006/main" noGrp="1"/>
          </p:cNvSpPr>
          <p:nvPr/>
        </p:nvSpPr>
        <p:spPr>
          <a:xfrm xmlns:a="http://schemas.openxmlformats.org/drawingml/2006/main">
            <a:off x="2857500" y="2238375"/>
            <a:ext cx="1695450" cy="666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0" name="矩形 9">
            <a:extLst xmlns:a="http://schemas.openxmlformats.org/drawingml/2006/main">
              <a:ext uri="{FF2B5EF4-FFF2-40B4-BE49-F238E27FC236}">
                <a16:creationId xmlns:a16="http://schemas.microsoft.com/office/drawing/2014/main" id="{20FCC81B-3318-4B13-BB94-16D23CB5962A}"/>
              </a:ext>
            </a:extLst>
          </p:cNvPr>
          <p:cNvSpPr>
            <a:spLocks xmlns:a="http://schemas.openxmlformats.org/drawingml/2006/main" noGrp="1"/>
          </p:cNvSpPr>
          <p:nvPr/>
        </p:nvSpPr>
        <p:spPr>
          <a:xfrm xmlns:a="http://schemas.openxmlformats.org/drawingml/2006/main">
            <a:off x="2933700" y="2295525"/>
            <a:ext cx="1543050" cy="5524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725" b="1">
                <a:solidFill>
                  <a:srgbClr val="000000"/>
                </a:solidFill>
                <a:latin typeface="PingFang SC"/>
                <a:ea typeface="PingFang SC"/>
                <a:cs typeface="PingFang SC"/>
              </a:defRPr>
            </a:pPr>
            <a:r>
              <a:rPr sz="1725" b="1">
                <a:solidFill>
                  <a:srgbClr val="000000"/>
                </a:solidFill>
                <a:latin typeface="PingFang SC"/>
                <a:ea typeface="PingFang SC"/>
                <a:cs typeface="PingFang SC"/>
              </a:rPr>
              <a:t>设计空间</a:t>
            </a:r>
          </a:p>
        </p:txBody>
      </p:sp>
      <p:sp>
        <p:nvSpPr>
          <p:cNvPr id="11" name="右箭头 10">
            <a:extLst xmlns:a="http://schemas.openxmlformats.org/drawingml/2006/main">
              <a:ext uri="{FF2B5EF4-FFF2-40B4-BE49-F238E27FC236}">
                <a16:creationId xmlns:a16="http://schemas.microsoft.com/office/drawing/2014/main" id="{2C1961F0-568F-4BB7-A0FB-2559CAC45723}"/>
              </a:ext>
            </a:extLst>
          </p:cNvPr>
          <p:cNvSpPr>
            <a:spLocks xmlns:a="http://schemas.openxmlformats.org/drawingml/2006/main" noGrp="1"/>
          </p:cNvSpPr>
          <p:nvPr/>
        </p:nvSpPr>
        <p:spPr>
          <a:xfrm xmlns:a="http://schemas.openxmlformats.org/drawingml/2006/main">
            <a:off x="4762500" y="2400300"/>
            <a:ext cx="476250" cy="342900"/>
          </a:xfrm>
          <a:prstGeom xmlns:a="http://schemas.openxmlformats.org/drawingml/2006/main" prst="rightArrow">
            <a:avLst/>
          </a:prstGeom>
          <a:solidFill xmlns:a="http://schemas.openxmlformats.org/drawingml/2006/main">
            <a:srgbClr val="B8BCC4"/>
          </a:solidFill>
          <a:ln xmlns:a="http://schemas.openxmlformats.org/drawingml/2006/main" w="0">
            <a:noFill/>
            <a:prstDash val="solid"/>
          </a:ln>
        </p:spPr>
      </p:sp>
      <p:sp>
        <p:nvSpPr>
          <p:cNvPr id="12" name="矩形 11">
            <a:extLst xmlns:a="http://schemas.openxmlformats.org/drawingml/2006/main">
              <a:ext uri="{FF2B5EF4-FFF2-40B4-BE49-F238E27FC236}">
                <a16:creationId xmlns:a16="http://schemas.microsoft.com/office/drawing/2014/main" id="{001A7030-0D78-4222-84A7-C969626E8E97}"/>
              </a:ext>
            </a:extLst>
          </p:cNvPr>
          <p:cNvSpPr>
            <a:spLocks xmlns:a="http://schemas.openxmlformats.org/drawingml/2006/main" noGrp="1"/>
          </p:cNvSpPr>
          <p:nvPr/>
        </p:nvSpPr>
        <p:spPr>
          <a:xfrm xmlns:a="http://schemas.openxmlformats.org/drawingml/2006/main">
            <a:off x="5191125" y="2238375"/>
            <a:ext cx="1695450" cy="666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3" name="矩形 12">
            <a:extLst xmlns:a="http://schemas.openxmlformats.org/drawingml/2006/main">
              <a:ext uri="{FF2B5EF4-FFF2-40B4-BE49-F238E27FC236}">
                <a16:creationId xmlns:a16="http://schemas.microsoft.com/office/drawing/2014/main" id="{DC30E04D-9EF1-4415-88FF-28736BAABB40}"/>
              </a:ext>
            </a:extLst>
          </p:cNvPr>
          <p:cNvSpPr>
            <a:spLocks xmlns:a="http://schemas.openxmlformats.org/drawingml/2006/main" noGrp="1"/>
          </p:cNvSpPr>
          <p:nvPr/>
        </p:nvSpPr>
        <p:spPr>
          <a:xfrm xmlns:a="http://schemas.openxmlformats.org/drawingml/2006/main">
            <a:off x="5267325" y="2295525"/>
            <a:ext cx="1543050" cy="5524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725" b="1">
                <a:solidFill>
                  <a:srgbClr val="000000"/>
                </a:solidFill>
                <a:latin typeface="PingFang SC"/>
                <a:ea typeface="PingFang SC"/>
                <a:cs typeface="PingFang SC"/>
              </a:defRPr>
            </a:pPr>
            <a:r>
              <a:rPr sz="1725" b="1">
                <a:solidFill>
                  <a:srgbClr val="000000"/>
                </a:solidFill>
                <a:latin typeface="PingFang SC"/>
                <a:ea typeface="PingFang SC"/>
                <a:cs typeface="PingFang SC"/>
              </a:rPr>
              <a:t>过程参与</a:t>
            </a:r>
          </a:p>
        </p:txBody>
      </p:sp>
      <p:sp>
        <p:nvSpPr>
          <p:cNvPr id="14" name="右箭头 13">
            <a:extLst xmlns:a="http://schemas.openxmlformats.org/drawingml/2006/main">
              <a:ext uri="{FF2B5EF4-FFF2-40B4-BE49-F238E27FC236}">
                <a16:creationId xmlns:a16="http://schemas.microsoft.com/office/drawing/2014/main" id="{0DC23A62-5ACC-480E-B89D-E0F5AE468801}"/>
              </a:ext>
            </a:extLst>
          </p:cNvPr>
          <p:cNvSpPr>
            <a:spLocks xmlns:a="http://schemas.openxmlformats.org/drawingml/2006/main" noGrp="1"/>
          </p:cNvSpPr>
          <p:nvPr/>
        </p:nvSpPr>
        <p:spPr>
          <a:xfrm xmlns:a="http://schemas.openxmlformats.org/drawingml/2006/main">
            <a:off x="7096125" y="2400300"/>
            <a:ext cx="476250" cy="342900"/>
          </a:xfrm>
          <a:prstGeom xmlns:a="http://schemas.openxmlformats.org/drawingml/2006/main" prst="rightArrow">
            <a:avLst/>
          </a:prstGeom>
          <a:solidFill xmlns:a="http://schemas.openxmlformats.org/drawingml/2006/main">
            <a:srgbClr val="B8BCC4"/>
          </a:solidFill>
          <a:ln xmlns:a="http://schemas.openxmlformats.org/drawingml/2006/main" w="0">
            <a:noFill/>
            <a:prstDash val="solid"/>
          </a:ln>
        </p:spPr>
      </p:sp>
      <p:sp>
        <p:nvSpPr>
          <p:cNvPr id="15" name="矩形 14">
            <a:extLst xmlns:a="http://schemas.openxmlformats.org/drawingml/2006/main">
              <a:ext uri="{FF2B5EF4-FFF2-40B4-BE49-F238E27FC236}">
                <a16:creationId xmlns:a16="http://schemas.microsoft.com/office/drawing/2014/main" id="{3F1E0586-FE2C-4A46-8406-7237FCD2EEE2}"/>
              </a:ext>
            </a:extLst>
          </p:cNvPr>
          <p:cNvSpPr>
            <a:spLocks xmlns:a="http://schemas.openxmlformats.org/drawingml/2006/main" noGrp="1"/>
          </p:cNvSpPr>
          <p:nvPr/>
        </p:nvSpPr>
        <p:spPr>
          <a:xfrm xmlns:a="http://schemas.openxmlformats.org/drawingml/2006/main">
            <a:off x="7524750" y="2238375"/>
            <a:ext cx="1695450" cy="666750"/>
          </a:xfrm>
          <a:prstGeom xmlns:a="http://schemas.openxmlformats.org/drawingml/2006/main" prst="rect">
            <a:avLst/>
          </a:prstGeom>
          <a:solidFill xmlns:a="http://schemas.openxmlformats.org/drawingml/2006/main">
            <a:srgbClr val="EDEDED"/>
          </a:solidFill>
          <a:ln xmlns:a="http://schemas.openxmlformats.org/drawingml/2006/main" w="9525">
            <a:noFill/>
            <a:prstDash val="solid"/>
          </a:ln>
        </p:spPr>
      </p:sp>
      <p:sp>
        <p:nvSpPr>
          <p:cNvPr id="16" name="矩形 15">
            <a:extLst xmlns:a="http://schemas.openxmlformats.org/drawingml/2006/main">
              <a:ext uri="{FF2B5EF4-FFF2-40B4-BE49-F238E27FC236}">
                <a16:creationId xmlns:a16="http://schemas.microsoft.com/office/drawing/2014/main" id="{D2CAC4F1-E112-4539-843A-C1558DFAB4D7}"/>
              </a:ext>
            </a:extLst>
          </p:cNvPr>
          <p:cNvSpPr>
            <a:spLocks xmlns:a="http://schemas.openxmlformats.org/drawingml/2006/main" noGrp="1"/>
          </p:cNvSpPr>
          <p:nvPr/>
        </p:nvSpPr>
        <p:spPr>
          <a:xfrm xmlns:a="http://schemas.openxmlformats.org/drawingml/2006/main">
            <a:off x="7600950" y="2295525"/>
            <a:ext cx="1543050" cy="5524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725" b="1">
                <a:solidFill>
                  <a:srgbClr val="000000"/>
                </a:solidFill>
                <a:latin typeface="PingFang SC"/>
                <a:ea typeface="PingFang SC"/>
                <a:cs typeface="PingFang SC"/>
              </a:defRPr>
            </a:pPr>
            <a:r>
              <a:rPr sz="1725" b="1">
                <a:solidFill>
                  <a:srgbClr val="000000"/>
                </a:solidFill>
                <a:latin typeface="PingFang SC"/>
                <a:ea typeface="PingFang SC"/>
                <a:cs typeface="PingFang SC"/>
              </a:rPr>
              <a:t>成果沉淀</a:t>
            </a:r>
          </a:p>
        </p:txBody>
      </p:sp>
      <p:sp>
        <p:nvSpPr>
          <p:cNvPr id="17" name="矩形 16">
            <a:extLst xmlns:a="http://schemas.openxmlformats.org/drawingml/2006/main">
              <a:ext uri="{FF2B5EF4-FFF2-40B4-BE49-F238E27FC236}">
                <a16:creationId xmlns:a16="http://schemas.microsoft.com/office/drawing/2014/main" id="{7E053247-5596-4BC3-95AF-5AC552B4DC26}"/>
              </a:ext>
            </a:extLst>
          </p:cNvPr>
          <p:cNvSpPr>
            <a:spLocks xmlns:a="http://schemas.openxmlformats.org/drawingml/2006/main" noGrp="1"/>
          </p:cNvSpPr>
          <p:nvPr/>
        </p:nvSpPr>
        <p:spPr>
          <a:xfrm xmlns:a="http://schemas.openxmlformats.org/drawingml/2006/main">
            <a:off x="695325" y="3362325"/>
            <a:ext cx="476250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PingFang SC"/>
                <a:ea typeface="PingFang SC"/>
                <a:cs typeface="PingFang SC"/>
              </a:defRPr>
            </a:pPr>
            <a:r>
              <a:t>活动前明确发展目标、对象和外部来源组织，配置项目、业务空间、资源、报名审核、名额、权限和智能体。</a:t>
            </a:r>
          </a:p>
        </p:txBody>
      </p:sp>
      <p:sp>
        <p:nvSpPr>
          <p:cNvPr id="18" name="矩形 17">
            <a:extLst xmlns:a="http://schemas.openxmlformats.org/drawingml/2006/main">
              <a:ext uri="{FF2B5EF4-FFF2-40B4-BE49-F238E27FC236}">
                <a16:creationId xmlns:a16="http://schemas.microsoft.com/office/drawing/2014/main" id="{AE88B94F-918A-4BE1-B269-CEEB5FA3C0D8}"/>
              </a:ext>
            </a:extLst>
          </p:cNvPr>
          <p:cNvSpPr>
            <a:spLocks xmlns:a="http://schemas.openxmlformats.org/drawingml/2006/main" noGrp="1"/>
          </p:cNvSpPr>
          <p:nvPr/>
        </p:nvSpPr>
        <p:spPr>
          <a:xfrm xmlns:a="http://schemas.openxmlformats.org/drawingml/2006/main">
            <a:off x="6734175" y="3362325"/>
            <a:ext cx="4762500" cy="857250"/>
          </a:xfrm>
          <a:prstGeom xmlns:a="http://schemas.openxmlformats.org/drawingml/2006/main" prst="rect">
            <a:avLst/>
          </a:prstGeom>
        </p:spPr>
        <p:txBody>
          <a:bodyPr xmlns:a="http://schemas.openxmlformats.org/drawingml/2006/main" lIns="0" tIns="0" rIns="0" bIns="0" anchor="t">
            <a:normAutofit fontScale="85335"/>
          </a:bodyPr>
          <a:lstStyle xmlns:a="http://schemas.openxmlformats.org/drawingml/2006/main"/>
          <a:p xmlns:a="http://schemas.openxmlformats.org/drawingml/2006/main">
            <a:pPr algn="l">
              <a:buNone/>
              <a:defRPr sz="1800" b="1">
                <a:solidFill>
                  <a:srgbClr val="000000"/>
                </a:solidFill>
                <a:latin typeface="PingFang SC"/>
                <a:ea typeface="PingFang SC"/>
                <a:cs typeface="PingFang SC"/>
              </a:defRPr>
            </a:pPr>
            <a:r>
              <a:t>活动中在空间记录签到、互动、点评、任务、问卷、AI 使用和运营动作；活动后输出个人证明、组织报告、成果案例和复训建议。</a:t>
            </a:r>
          </a:p>
        </p:txBody>
      </p:sp>
      <p:sp>
        <p:nvSpPr>
          <p:cNvPr id="19" name="矩形 18">
            <a:extLst xmlns:a="http://schemas.openxmlformats.org/drawingml/2006/main">
              <a:ext uri="{FF2B5EF4-FFF2-40B4-BE49-F238E27FC236}">
                <a16:creationId xmlns:a16="http://schemas.microsoft.com/office/drawing/2014/main" id="{70E76A41-9C86-46F3-A9F7-305A2018DAAD}"/>
              </a:ext>
            </a:extLst>
          </p:cNvPr>
          <p:cNvSpPr>
            <a:spLocks xmlns:a="http://schemas.openxmlformats.org/drawingml/2006/main" noGrp="1"/>
          </p:cNvSpPr>
          <p:nvPr/>
        </p:nvSpPr>
        <p:spPr>
          <a:xfrm xmlns:a="http://schemas.openxmlformats.org/drawingml/2006/main">
            <a:off x="733425" y="4905375"/>
            <a:ext cx="971550"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20" name="矩形 19">
            <a:extLst xmlns:a="http://schemas.openxmlformats.org/drawingml/2006/main">
              <a:ext uri="{FF2B5EF4-FFF2-40B4-BE49-F238E27FC236}">
                <a16:creationId xmlns:a16="http://schemas.microsoft.com/office/drawing/2014/main" id="{538DF815-D513-47EA-AF50-55F707BCE3DA}"/>
              </a:ext>
            </a:extLst>
          </p:cNvPr>
          <p:cNvSpPr>
            <a:spLocks xmlns:a="http://schemas.openxmlformats.org/drawingml/2006/main" noGrp="1"/>
          </p:cNvSpPr>
          <p:nvPr/>
        </p:nvSpPr>
        <p:spPr>
          <a:xfrm xmlns:a="http://schemas.openxmlformats.org/drawingml/2006/main">
            <a:off x="828675" y="4962525"/>
            <a:ext cx="781050"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项目</a:t>
            </a:r>
          </a:p>
        </p:txBody>
      </p:sp>
      <p:sp>
        <p:nvSpPr>
          <p:cNvPr id="21" name="矩形 20">
            <a:extLst xmlns:a="http://schemas.openxmlformats.org/drawingml/2006/main">
              <a:ext uri="{FF2B5EF4-FFF2-40B4-BE49-F238E27FC236}">
                <a16:creationId xmlns:a16="http://schemas.microsoft.com/office/drawing/2014/main" id="{F21ED7A5-8F3A-4395-B72D-085508AF048B}"/>
              </a:ext>
            </a:extLst>
          </p:cNvPr>
          <p:cNvSpPr>
            <a:spLocks xmlns:a="http://schemas.openxmlformats.org/drawingml/2006/main" noGrp="1"/>
          </p:cNvSpPr>
          <p:nvPr/>
        </p:nvSpPr>
        <p:spPr>
          <a:xfrm xmlns:a="http://schemas.openxmlformats.org/drawingml/2006/main">
            <a:off x="2066925" y="4905375"/>
            <a:ext cx="971550"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22" name="矩形 21">
            <a:extLst xmlns:a="http://schemas.openxmlformats.org/drawingml/2006/main">
              <a:ext uri="{FF2B5EF4-FFF2-40B4-BE49-F238E27FC236}">
                <a16:creationId xmlns:a16="http://schemas.microsoft.com/office/drawing/2014/main" id="{EE62588D-DB9E-461E-B08A-531539D4A94B}"/>
              </a:ext>
            </a:extLst>
          </p:cNvPr>
          <p:cNvSpPr>
            <a:spLocks xmlns:a="http://schemas.openxmlformats.org/drawingml/2006/main" noGrp="1"/>
          </p:cNvSpPr>
          <p:nvPr/>
        </p:nvSpPr>
        <p:spPr>
          <a:xfrm xmlns:a="http://schemas.openxmlformats.org/drawingml/2006/main">
            <a:off x="2162175" y="4962525"/>
            <a:ext cx="781050"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空间</a:t>
            </a:r>
          </a:p>
        </p:txBody>
      </p:sp>
      <p:sp>
        <p:nvSpPr>
          <p:cNvPr id="23" name="矩形 22">
            <a:extLst xmlns:a="http://schemas.openxmlformats.org/drawingml/2006/main">
              <a:ext uri="{FF2B5EF4-FFF2-40B4-BE49-F238E27FC236}">
                <a16:creationId xmlns:a16="http://schemas.microsoft.com/office/drawing/2014/main" id="{246CA0E8-354A-475B-A07C-B1D5E3EF1034}"/>
              </a:ext>
            </a:extLst>
          </p:cNvPr>
          <p:cNvSpPr>
            <a:spLocks xmlns:a="http://schemas.openxmlformats.org/drawingml/2006/main" noGrp="1"/>
          </p:cNvSpPr>
          <p:nvPr/>
        </p:nvSpPr>
        <p:spPr>
          <a:xfrm xmlns:a="http://schemas.openxmlformats.org/drawingml/2006/main">
            <a:off x="3400425" y="4905375"/>
            <a:ext cx="971550"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24" name="矩形 23">
            <a:extLst xmlns:a="http://schemas.openxmlformats.org/drawingml/2006/main">
              <a:ext uri="{FF2B5EF4-FFF2-40B4-BE49-F238E27FC236}">
                <a16:creationId xmlns:a16="http://schemas.microsoft.com/office/drawing/2014/main" id="{9F0C73FD-421A-4BC8-8D7A-F43FEAFDE1D2}"/>
              </a:ext>
            </a:extLst>
          </p:cNvPr>
          <p:cNvSpPr>
            <a:spLocks xmlns:a="http://schemas.openxmlformats.org/drawingml/2006/main" noGrp="1"/>
          </p:cNvSpPr>
          <p:nvPr/>
        </p:nvSpPr>
        <p:spPr>
          <a:xfrm xmlns:a="http://schemas.openxmlformats.org/drawingml/2006/main">
            <a:off x="3495675" y="4962525"/>
            <a:ext cx="781050"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报名</a:t>
            </a:r>
          </a:p>
        </p:txBody>
      </p:sp>
      <p:sp>
        <p:nvSpPr>
          <p:cNvPr id="25" name="矩形 24">
            <a:extLst xmlns:a="http://schemas.openxmlformats.org/drawingml/2006/main">
              <a:ext uri="{FF2B5EF4-FFF2-40B4-BE49-F238E27FC236}">
                <a16:creationId xmlns:a16="http://schemas.microsoft.com/office/drawing/2014/main" id="{2E49D92E-B869-4EBF-8DDB-FAE543AB8E07}"/>
              </a:ext>
            </a:extLst>
          </p:cNvPr>
          <p:cNvSpPr>
            <a:spLocks xmlns:a="http://schemas.openxmlformats.org/drawingml/2006/main" noGrp="1"/>
          </p:cNvSpPr>
          <p:nvPr/>
        </p:nvSpPr>
        <p:spPr>
          <a:xfrm xmlns:a="http://schemas.openxmlformats.org/drawingml/2006/main">
            <a:off x="4733925" y="4905375"/>
            <a:ext cx="971550"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26" name="矩形 25">
            <a:extLst xmlns:a="http://schemas.openxmlformats.org/drawingml/2006/main">
              <a:ext uri="{FF2B5EF4-FFF2-40B4-BE49-F238E27FC236}">
                <a16:creationId xmlns:a16="http://schemas.microsoft.com/office/drawing/2014/main" id="{88063027-8C2B-41BF-A0D6-D4DBD03AB106}"/>
              </a:ext>
            </a:extLst>
          </p:cNvPr>
          <p:cNvSpPr>
            <a:spLocks xmlns:a="http://schemas.openxmlformats.org/drawingml/2006/main" noGrp="1"/>
          </p:cNvSpPr>
          <p:nvPr/>
        </p:nvSpPr>
        <p:spPr>
          <a:xfrm xmlns:a="http://schemas.openxmlformats.org/drawingml/2006/main">
            <a:off x="4829175" y="4962525"/>
            <a:ext cx="781050"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参与者</a:t>
            </a:r>
          </a:p>
        </p:txBody>
      </p:sp>
      <p:sp>
        <p:nvSpPr>
          <p:cNvPr id="27" name="矩形 26">
            <a:extLst xmlns:a="http://schemas.openxmlformats.org/drawingml/2006/main">
              <a:ext uri="{FF2B5EF4-FFF2-40B4-BE49-F238E27FC236}">
                <a16:creationId xmlns:a16="http://schemas.microsoft.com/office/drawing/2014/main" id="{0A530434-8D23-46EF-8FC2-A1902F596A2E}"/>
              </a:ext>
            </a:extLst>
          </p:cNvPr>
          <p:cNvSpPr>
            <a:spLocks xmlns:a="http://schemas.openxmlformats.org/drawingml/2006/main" noGrp="1"/>
          </p:cNvSpPr>
          <p:nvPr/>
        </p:nvSpPr>
        <p:spPr>
          <a:xfrm xmlns:a="http://schemas.openxmlformats.org/drawingml/2006/main">
            <a:off x="6067425" y="4905375"/>
            <a:ext cx="971550"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28" name="矩形 27">
            <a:extLst xmlns:a="http://schemas.openxmlformats.org/drawingml/2006/main">
              <a:ext uri="{FF2B5EF4-FFF2-40B4-BE49-F238E27FC236}">
                <a16:creationId xmlns:a16="http://schemas.microsoft.com/office/drawing/2014/main" id="{492EE751-800E-4104-9FF7-5A4BB4830430}"/>
              </a:ext>
            </a:extLst>
          </p:cNvPr>
          <p:cNvSpPr>
            <a:spLocks xmlns:a="http://schemas.openxmlformats.org/drawingml/2006/main" noGrp="1"/>
          </p:cNvSpPr>
          <p:nvPr/>
        </p:nvSpPr>
        <p:spPr>
          <a:xfrm xmlns:a="http://schemas.openxmlformats.org/drawingml/2006/main">
            <a:off x="6162675" y="4962525"/>
            <a:ext cx="781050"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任务</a:t>
            </a:r>
          </a:p>
        </p:txBody>
      </p:sp>
      <p:sp>
        <p:nvSpPr>
          <p:cNvPr id="29" name="矩形 28">
            <a:extLst xmlns:a="http://schemas.openxmlformats.org/drawingml/2006/main">
              <a:ext uri="{FF2B5EF4-FFF2-40B4-BE49-F238E27FC236}">
                <a16:creationId xmlns:a16="http://schemas.microsoft.com/office/drawing/2014/main" id="{CB952C08-9960-469E-9A30-CA7CA76888EE}"/>
              </a:ext>
            </a:extLst>
          </p:cNvPr>
          <p:cNvSpPr>
            <a:spLocks xmlns:a="http://schemas.openxmlformats.org/drawingml/2006/main" noGrp="1"/>
          </p:cNvSpPr>
          <p:nvPr/>
        </p:nvSpPr>
        <p:spPr>
          <a:xfrm xmlns:a="http://schemas.openxmlformats.org/drawingml/2006/main">
            <a:off x="7400925" y="4905375"/>
            <a:ext cx="971550"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30" name="矩形 29">
            <a:extLst xmlns:a="http://schemas.openxmlformats.org/drawingml/2006/main">
              <a:ext uri="{FF2B5EF4-FFF2-40B4-BE49-F238E27FC236}">
                <a16:creationId xmlns:a16="http://schemas.microsoft.com/office/drawing/2014/main" id="{EC5F8035-996F-43CB-9C09-50AE3143E0B5}"/>
              </a:ext>
            </a:extLst>
          </p:cNvPr>
          <p:cNvSpPr>
            <a:spLocks xmlns:a="http://schemas.openxmlformats.org/drawingml/2006/main" noGrp="1"/>
          </p:cNvSpPr>
          <p:nvPr/>
        </p:nvSpPr>
        <p:spPr>
          <a:xfrm xmlns:a="http://schemas.openxmlformats.org/drawingml/2006/main">
            <a:off x="7496175" y="4962525"/>
            <a:ext cx="781050"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评价</a:t>
            </a:r>
          </a:p>
        </p:txBody>
      </p:sp>
      <p:sp>
        <p:nvSpPr>
          <p:cNvPr id="31" name="矩形 30">
            <a:extLst xmlns:a="http://schemas.openxmlformats.org/drawingml/2006/main">
              <a:ext uri="{FF2B5EF4-FFF2-40B4-BE49-F238E27FC236}">
                <a16:creationId xmlns:a16="http://schemas.microsoft.com/office/drawing/2014/main" id="{E3C2C31F-DA14-4059-8B9E-A49A2193675E}"/>
              </a:ext>
            </a:extLst>
          </p:cNvPr>
          <p:cNvSpPr>
            <a:spLocks xmlns:a="http://schemas.openxmlformats.org/drawingml/2006/main" noGrp="1"/>
          </p:cNvSpPr>
          <p:nvPr/>
        </p:nvSpPr>
        <p:spPr>
          <a:xfrm xmlns:a="http://schemas.openxmlformats.org/drawingml/2006/main">
            <a:off x="8734425" y="4905375"/>
            <a:ext cx="971550"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32" name="矩形 31">
            <a:extLst xmlns:a="http://schemas.openxmlformats.org/drawingml/2006/main">
              <a:ext uri="{FF2B5EF4-FFF2-40B4-BE49-F238E27FC236}">
                <a16:creationId xmlns:a16="http://schemas.microsoft.com/office/drawing/2014/main" id="{CDC4F7B6-E1BF-458A-9474-817C7C31FC3B}"/>
              </a:ext>
            </a:extLst>
          </p:cNvPr>
          <p:cNvSpPr>
            <a:spLocks xmlns:a="http://schemas.openxmlformats.org/drawingml/2006/main" noGrp="1"/>
          </p:cNvSpPr>
          <p:nvPr/>
        </p:nvSpPr>
        <p:spPr>
          <a:xfrm xmlns:a="http://schemas.openxmlformats.org/drawingml/2006/main">
            <a:off x="8829675" y="4962525"/>
            <a:ext cx="781050"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成果</a:t>
            </a:r>
          </a:p>
        </p:txBody>
      </p:sp>
      <p:sp>
        <p:nvSpPr>
          <p:cNvPr id="33" name="矩形 32">
            <a:extLst xmlns:a="http://schemas.openxmlformats.org/drawingml/2006/main">
              <a:ext uri="{FF2B5EF4-FFF2-40B4-BE49-F238E27FC236}">
                <a16:creationId xmlns:a16="http://schemas.microsoft.com/office/drawing/2014/main" id="{09047D73-7265-448E-80DE-01325840773D}"/>
              </a:ext>
            </a:extLst>
          </p:cNvPr>
          <p:cNvSpPr>
            <a:spLocks xmlns:a="http://schemas.openxmlformats.org/drawingml/2006/main" noGrp="1"/>
          </p:cNvSpPr>
          <p:nvPr/>
        </p:nvSpPr>
        <p:spPr>
          <a:xfrm xmlns:a="http://schemas.openxmlformats.org/drawingml/2006/main">
            <a:off x="10067925" y="4905375"/>
            <a:ext cx="971550" cy="400050"/>
          </a:xfrm>
          <a:prstGeom xmlns:a="http://schemas.openxmlformats.org/drawingml/2006/main" prst="rect">
            <a:avLst/>
          </a:prstGeom>
          <a:solidFill xmlns:a="http://schemas.openxmlformats.org/drawingml/2006/main">
            <a:srgbClr val="000000"/>
          </a:solidFill>
          <a:ln xmlns:a="http://schemas.openxmlformats.org/drawingml/2006/main" w="9525">
            <a:solidFill>
              <a:srgbClr val="B8BCC4"/>
            </a:solidFill>
            <a:prstDash val="solid"/>
          </a:ln>
        </p:spPr>
      </p:sp>
      <p:sp>
        <p:nvSpPr>
          <p:cNvPr id="34" name="矩形 33">
            <a:extLst xmlns:a="http://schemas.openxmlformats.org/drawingml/2006/main">
              <a:ext uri="{FF2B5EF4-FFF2-40B4-BE49-F238E27FC236}">
                <a16:creationId xmlns:a16="http://schemas.microsoft.com/office/drawing/2014/main" id="{6C9ABFC3-2C12-4BB9-A94B-6D0B23C226CC}"/>
              </a:ext>
            </a:extLst>
          </p:cNvPr>
          <p:cNvSpPr>
            <a:spLocks xmlns:a="http://schemas.openxmlformats.org/drawingml/2006/main" noGrp="1"/>
          </p:cNvSpPr>
          <p:nvPr/>
        </p:nvSpPr>
        <p:spPr>
          <a:xfrm xmlns:a="http://schemas.openxmlformats.org/drawingml/2006/main">
            <a:off x="10163175" y="4962525"/>
            <a:ext cx="781050"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FFFFFF"/>
                </a:solidFill>
                <a:latin typeface="PingFang SC"/>
                <a:ea typeface="PingFang SC"/>
                <a:cs typeface="PingFang SC"/>
              </a:defRPr>
            </a:pPr>
            <a:r>
              <a:t>报告</a:t>
            </a:r>
          </a:p>
        </p:txBody>
      </p:sp>
      <p:sp>
        <p:nvSpPr>
          <p:cNvPr id="35" name="流程箭头">
            <a:extLst xmlns:a="http://schemas.openxmlformats.org/drawingml/2006/main">
              <a:ext uri="{FF2B5EF4-FFF2-40B4-BE49-F238E27FC236}">
                <a16:creationId xmlns:a16="http://schemas.microsoft.com/office/drawing/2014/main" id="{0887AD3D-E7D5-4099-8D69-A6EB6E495696}"/>
              </a:ext>
            </a:extLst>
          </p:cNvPr>
          <p:cNvSpPr>
            <a:spLocks xmlns:a="http://schemas.openxmlformats.org/drawingml/2006/main" noGrp="1"/>
          </p:cNvSpPr>
          <p:nvPr/>
        </p:nvSpPr>
        <p:spPr>
          <a:xfrm xmlns:a="http://schemas.openxmlformats.org/drawingml/2006/main">
            <a:off x="9429750" y="2400300"/>
            <a:ext cx="476250" cy="342900"/>
          </a:xfrm>
          <a:prstGeom xmlns:a="http://schemas.openxmlformats.org/drawingml/2006/main" prst="rightArrow">
            <a:avLst/>
          </a:prstGeom>
          <a:solidFill xmlns:a="http://schemas.openxmlformats.org/drawingml/2006/main">
            <a:srgbClr val="B8BCC4"/>
          </a:solidFill>
          <a:ln xmlns:a="http://schemas.openxmlformats.org/drawingml/2006/main" w="0">
            <a:noFill/>
            <a:prstDash val="solid"/>
          </a:ln>
        </p:spPr>
      </p:sp>
      <p:sp>
        <p:nvSpPr>
          <p:cNvPr id="36" name="流程节点-效果改进">
            <a:extLst xmlns:a="http://schemas.openxmlformats.org/drawingml/2006/main">
              <a:ext uri="{FF2B5EF4-FFF2-40B4-BE49-F238E27FC236}">
                <a16:creationId xmlns:a16="http://schemas.microsoft.com/office/drawing/2014/main" id="{446D60A3-4A18-41F9-84B4-55C91A04A3A4}"/>
              </a:ext>
            </a:extLst>
          </p:cNvPr>
          <p:cNvSpPr>
            <a:spLocks xmlns:a="http://schemas.openxmlformats.org/drawingml/2006/main" noGrp="1"/>
          </p:cNvSpPr>
          <p:nvPr/>
        </p:nvSpPr>
        <p:spPr>
          <a:xfrm xmlns:a="http://schemas.openxmlformats.org/drawingml/2006/main">
            <a:off x="9858375" y="2238375"/>
            <a:ext cx="1695450" cy="6667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37" name="流程文本-效果改进">
            <a:extLst xmlns:a="http://schemas.openxmlformats.org/drawingml/2006/main">
              <a:ext uri="{FF2B5EF4-FFF2-40B4-BE49-F238E27FC236}">
                <a16:creationId xmlns:a16="http://schemas.microsoft.com/office/drawing/2014/main" id="{6425A14C-B7A0-4DE8-BC1A-CB8F0D81E7CA}"/>
              </a:ext>
            </a:extLst>
          </p:cNvPr>
          <p:cNvSpPr>
            <a:spLocks xmlns:a="http://schemas.openxmlformats.org/drawingml/2006/main" noGrp="1"/>
          </p:cNvSpPr>
          <p:nvPr/>
        </p:nvSpPr>
        <p:spPr>
          <a:xfrm xmlns:a="http://schemas.openxmlformats.org/drawingml/2006/main">
            <a:off x="9934575" y="2295525"/>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FFFFFF"/>
                </a:solidFill>
                <a:latin typeface="PingFang SC"/>
                <a:ea typeface="PingFang SC"/>
                <a:cs typeface="PingFang SC"/>
              </a:defRPr>
            </a:pPr>
            <a:r>
              <a:rPr sz="1725" b="1">
                <a:solidFill>
                  <a:srgbClr val="FFFFFF"/>
                </a:solidFill>
                <a:latin typeface="PingFang SC"/>
                <a:ea typeface="PingFang SC"/>
                <a:cs typeface="PingFang SC"/>
              </a:rPr>
              <a:t>效果改进</a:t>
            </a:r>
          </a:p>
        </p:txBody>
      </p:sp>
    </p:spTree>
    <p:extLst>
      <p:ext uri="{BB962C8B-B14F-4D97-AF65-F5344CB8AC3E}">
        <p14:creationId xmlns:p14="http://schemas.microsoft.com/office/powerpoint/2010/main" val="36576290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167AD117-CAB3-48C6-95A0-5C2CA79483D7}"/>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核心对象</a:t>
            </a:r>
          </a:p>
        </p:txBody>
      </p:sp>
      <p:sp>
        <p:nvSpPr>
          <p:cNvPr id="3" name="矩形 2">
            <a:extLst xmlns:a="http://schemas.openxmlformats.org/drawingml/2006/main">
              <a:ext uri="{FF2B5EF4-FFF2-40B4-BE49-F238E27FC236}">
                <a16:creationId xmlns:a16="http://schemas.microsoft.com/office/drawing/2014/main" id="{E1488235-5010-4D73-8BEA-1C8BB4465E72}"/>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a:solidFill>
                  <a:srgbClr val="000000"/>
                </a:solidFill>
                <a:latin typeface="PingFang SC"/>
                <a:ea typeface="PingFang SC"/>
                <a:cs typeface="PingFang SC"/>
              </a:defRPr>
            </a:pPr>
            <a:r>
              <a:t>统一数据模型让空间承载内外训各类业务运行</a:t>
            </a:r>
          </a:p>
        </p:txBody>
      </p:sp>
      <p:sp>
        <p:nvSpPr>
          <p:cNvPr id="4" name="矩形 3">
            <a:extLst xmlns:a="http://schemas.openxmlformats.org/drawingml/2006/main">
              <a:ext uri="{FF2B5EF4-FFF2-40B4-BE49-F238E27FC236}">
                <a16:creationId xmlns:a16="http://schemas.microsoft.com/office/drawing/2014/main" id="{65FE147A-1788-4659-9F22-448D112C0DC6}"/>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F41828B8-B179-492A-A2FC-4F013BE7BCB1}"/>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10</a:t>
            </a:r>
          </a:p>
        </p:txBody>
      </p:sp>
      <p:sp>
        <p:nvSpPr>
          <p:cNvPr id="6" name="矩形 5">
            <a:extLst xmlns:a="http://schemas.openxmlformats.org/drawingml/2006/main">
              <a:ext uri="{FF2B5EF4-FFF2-40B4-BE49-F238E27FC236}">
                <a16:creationId xmlns:a16="http://schemas.microsoft.com/office/drawing/2014/main" id="{FF5EC397-E672-419F-BB35-BBFA066A5B38}"/>
              </a:ext>
            </a:extLst>
          </p:cNvPr>
          <p:cNvSpPr>
            <a:spLocks xmlns:a="http://schemas.openxmlformats.org/drawingml/2006/main" noGrp="1"/>
          </p:cNvSpPr>
          <p:nvPr/>
        </p:nvSpPr>
        <p:spPr>
          <a:xfrm xmlns:a="http://schemas.openxmlformats.org/drawingml/2006/main">
            <a:off x="390525" y="2038350"/>
            <a:ext cx="2476500" cy="30670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矩形 6">
            <a:extLst xmlns:a="http://schemas.openxmlformats.org/drawingml/2006/main">
              <a:ext uri="{FF2B5EF4-FFF2-40B4-BE49-F238E27FC236}">
                <a16:creationId xmlns:a16="http://schemas.microsoft.com/office/drawing/2014/main" id="{30934069-DEFA-4978-B18C-0750D2B9809A}"/>
              </a:ext>
            </a:extLst>
          </p:cNvPr>
          <p:cNvSpPr>
            <a:spLocks xmlns:a="http://schemas.openxmlformats.org/drawingml/2006/main" noGrp="1"/>
          </p:cNvSpPr>
          <p:nvPr/>
        </p:nvSpPr>
        <p:spPr>
          <a:xfrm xmlns:a="http://schemas.openxmlformats.org/drawingml/2006/main">
            <a:off x="619125" y="2266950"/>
            <a:ext cx="2019300" cy="342900"/>
          </a:xfrm>
          <a:prstGeom xmlns:a="http://schemas.openxmlformats.org/drawingml/2006/main" prst="rect">
            <a:avLst/>
          </a:prstGeom>
        </p:spPr>
        <p:txBody>
          <a:bodyPr xmlns:a="http://schemas.openxmlformats.org/drawingml/2006/main" lIns="0" tIns="0" rIns="0" bIns="0" anchor="ctr">
            <a:normAutofit fontScale="67452"/>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Development Program</a:t>
            </a:r>
          </a:p>
        </p:txBody>
      </p:sp>
      <p:sp>
        <p:nvSpPr>
          <p:cNvPr id="8" name="矩形 7">
            <a:extLst xmlns:a="http://schemas.openxmlformats.org/drawingml/2006/main">
              <a:ext uri="{FF2B5EF4-FFF2-40B4-BE49-F238E27FC236}">
                <a16:creationId xmlns:a16="http://schemas.microsoft.com/office/drawing/2014/main" id="{A8EF3A0C-490D-49C0-9EB4-ACF7A4D0777C}"/>
              </a:ext>
            </a:extLst>
          </p:cNvPr>
          <p:cNvSpPr>
            <a:spLocks xmlns:a="http://schemas.openxmlformats.org/drawingml/2006/main" noGrp="1"/>
          </p:cNvSpPr>
          <p:nvPr/>
        </p:nvSpPr>
        <p:spPr>
          <a:xfrm xmlns:a="http://schemas.openxmlformats.org/drawingml/2006/main">
            <a:off x="619125" y="2724150"/>
            <a:ext cx="2019300" cy="2190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000000"/>
                </a:solidFill>
                <a:latin typeface="PingFang SC"/>
                <a:ea typeface="PingFang SC"/>
                <a:cs typeface="PingFang SC"/>
              </a:defRPr>
            </a:pPr>
            <a:r>
              <a:t>发展项目</a:t>
            </a:r>
          </a:p>
          <a:p xmlns:a="http://schemas.openxmlformats.org/drawingml/2006/main">
            <a:pPr algn="l">
              <a:buNone/>
              <a:defRPr sz="1500" b="0">
                <a:solidFill>
                  <a:srgbClr val="000000"/>
                </a:solidFill>
                <a:latin typeface="PingFang SC"/>
                <a:ea typeface="PingFang SC"/>
                <a:cs typeface="PingFang SC"/>
              </a:defRPr>
            </a:pPr>
            <a:r>
              <a:t>承接目标、周期、负责人、对象范围、内训/外训属性和启用模块。</a:t>
            </a:r>
          </a:p>
        </p:txBody>
      </p:sp>
      <p:sp>
        <p:nvSpPr>
          <p:cNvPr id="9" name="矩形 8">
            <a:extLst xmlns:a="http://schemas.openxmlformats.org/drawingml/2006/main">
              <a:ext uri="{FF2B5EF4-FFF2-40B4-BE49-F238E27FC236}">
                <a16:creationId xmlns:a16="http://schemas.microsoft.com/office/drawing/2014/main" id="{71F66FA5-ACBA-4D64-B02F-907CF0B78D29}"/>
              </a:ext>
            </a:extLst>
          </p:cNvPr>
          <p:cNvSpPr>
            <a:spLocks xmlns:a="http://schemas.openxmlformats.org/drawingml/2006/main" noGrp="1"/>
          </p:cNvSpPr>
          <p:nvPr/>
        </p:nvSpPr>
        <p:spPr>
          <a:xfrm xmlns:a="http://schemas.openxmlformats.org/drawingml/2006/main">
            <a:off x="3248025" y="2038350"/>
            <a:ext cx="2476500" cy="30670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54982A19-0272-44EE-BF3B-51175B657068}"/>
              </a:ext>
            </a:extLst>
          </p:cNvPr>
          <p:cNvSpPr>
            <a:spLocks xmlns:a="http://schemas.openxmlformats.org/drawingml/2006/main" noGrp="1"/>
          </p:cNvSpPr>
          <p:nvPr/>
        </p:nvSpPr>
        <p:spPr>
          <a:xfrm xmlns:a="http://schemas.openxmlformats.org/drawingml/2006/main">
            <a:off x="3476625" y="2266950"/>
            <a:ext cx="2019300" cy="342900"/>
          </a:xfrm>
          <a:prstGeom xmlns:a="http://schemas.openxmlformats.org/drawingml/2006/main" prst="rect">
            <a:avLst/>
          </a:prstGeom>
        </p:spPr>
        <p:txBody>
          <a:bodyPr xmlns:a="http://schemas.openxmlformats.org/drawingml/2006/main" lIns="0" tIns="0" rIns="0" bIns="0" anchor="ctr">
            <a:normAutofit fontScale="94823"/>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Business Space</a:t>
            </a:r>
          </a:p>
        </p:txBody>
      </p:sp>
      <p:sp>
        <p:nvSpPr>
          <p:cNvPr id="11" name="矩形 10">
            <a:extLst xmlns:a="http://schemas.openxmlformats.org/drawingml/2006/main">
              <a:ext uri="{FF2B5EF4-FFF2-40B4-BE49-F238E27FC236}">
                <a16:creationId xmlns:a16="http://schemas.microsoft.com/office/drawing/2014/main" id="{759C8134-C8E6-4D76-B576-D4263DC862CF}"/>
              </a:ext>
            </a:extLst>
          </p:cNvPr>
          <p:cNvSpPr>
            <a:spLocks xmlns:a="http://schemas.openxmlformats.org/drawingml/2006/main" noGrp="1"/>
          </p:cNvSpPr>
          <p:nvPr/>
        </p:nvSpPr>
        <p:spPr>
          <a:xfrm xmlns:a="http://schemas.openxmlformats.org/drawingml/2006/main">
            <a:off x="3476625" y="2724150"/>
            <a:ext cx="2019300" cy="2190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000000"/>
                </a:solidFill>
                <a:latin typeface="PingFang SC"/>
                <a:ea typeface="PingFang SC"/>
                <a:cs typeface="PingFang SC"/>
              </a:defRPr>
            </a:pPr>
            <a:r>
              <a:t>业务空间 承接内训、外训、研讨、评课、工作坊、客户培训等业务类型和过程配置。</a:t>
            </a:r>
          </a:p>
        </p:txBody>
      </p:sp>
      <p:sp>
        <p:nvSpPr>
          <p:cNvPr id="12" name="矩形 11">
            <a:extLst xmlns:a="http://schemas.openxmlformats.org/drawingml/2006/main">
              <a:ext uri="{FF2B5EF4-FFF2-40B4-BE49-F238E27FC236}">
                <a16:creationId xmlns:a16="http://schemas.microsoft.com/office/drawing/2014/main" id="{C2A862E1-4849-43C2-8E79-5ECC15AF8EC6}"/>
              </a:ext>
            </a:extLst>
          </p:cNvPr>
          <p:cNvSpPr>
            <a:spLocks xmlns:a="http://schemas.openxmlformats.org/drawingml/2006/main" noGrp="1"/>
          </p:cNvSpPr>
          <p:nvPr/>
        </p:nvSpPr>
        <p:spPr>
          <a:xfrm xmlns:a="http://schemas.openxmlformats.org/drawingml/2006/main">
            <a:off x="6105525" y="2038350"/>
            <a:ext cx="2476500" cy="30670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8CF82C7D-9CCF-4A3F-847B-131FEFED34BC}"/>
              </a:ext>
            </a:extLst>
          </p:cNvPr>
          <p:cNvSpPr>
            <a:spLocks xmlns:a="http://schemas.openxmlformats.org/drawingml/2006/main" noGrp="1"/>
          </p:cNvSpPr>
          <p:nvPr/>
        </p:nvSpPr>
        <p:spPr>
          <a:xfrm xmlns:a="http://schemas.openxmlformats.org/drawingml/2006/main">
            <a:off x="6334125" y="2266950"/>
            <a:ext cx="2019300" cy="342900"/>
          </a:xfrm>
          <a:prstGeom xmlns:a="http://schemas.openxmlformats.org/drawingml/2006/main" prst="rect">
            <a:avLst/>
          </a:prstGeom>
        </p:spPr>
        <p:txBody>
          <a:bodyPr xmlns:a="http://schemas.openxmlformats.org/drawingml/2006/main" lIns="0" tIns="0" rIns="0" bIns="0" anchor="ctr">
            <a:normAutofit fontScale="79627"/>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Participant Record</a:t>
            </a:r>
          </a:p>
        </p:txBody>
      </p:sp>
      <p:sp>
        <p:nvSpPr>
          <p:cNvPr id="14" name="矩形 13">
            <a:extLst xmlns:a="http://schemas.openxmlformats.org/drawingml/2006/main">
              <a:ext uri="{FF2B5EF4-FFF2-40B4-BE49-F238E27FC236}">
                <a16:creationId xmlns:a16="http://schemas.microsoft.com/office/drawing/2014/main" id="{9E647F38-4960-4077-A690-0B1A32AB6F32}"/>
              </a:ext>
            </a:extLst>
          </p:cNvPr>
          <p:cNvSpPr>
            <a:spLocks xmlns:a="http://schemas.openxmlformats.org/drawingml/2006/main" noGrp="1"/>
          </p:cNvSpPr>
          <p:nvPr/>
        </p:nvSpPr>
        <p:spPr>
          <a:xfrm xmlns:a="http://schemas.openxmlformats.org/drawingml/2006/main">
            <a:off x="6334125" y="2724150"/>
            <a:ext cx="2019300" cy="2190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000000"/>
                </a:solidFill>
                <a:latin typeface="PingFang SC"/>
                <a:ea typeface="PingFang SC"/>
                <a:cs typeface="PingFang SC"/>
              </a:defRPr>
            </a:pPr>
            <a:r>
              <a:t>参与者记录</a:t>
            </a:r>
          </a:p>
          <a:p xmlns:a="http://schemas.openxmlformats.org/drawingml/2006/main">
            <a:pPr algn="l">
              <a:buNone/>
              <a:defRPr sz="1500" b="0">
                <a:solidFill>
                  <a:srgbClr val="000000"/>
                </a:solidFill>
                <a:latin typeface="PingFang SC"/>
                <a:ea typeface="PingFang SC"/>
                <a:cs typeface="PingFang SC"/>
              </a:defRPr>
            </a:pPr>
            <a:r>
              <a:t>区分内部成员与外部人员，记录来源组织、报名、签到、互动、任务和成果。</a:t>
            </a:r>
          </a:p>
        </p:txBody>
      </p:sp>
      <p:sp>
        <p:nvSpPr>
          <p:cNvPr id="15" name="矩形 14">
            <a:extLst xmlns:a="http://schemas.openxmlformats.org/drawingml/2006/main">
              <a:ext uri="{FF2B5EF4-FFF2-40B4-BE49-F238E27FC236}">
                <a16:creationId xmlns:a16="http://schemas.microsoft.com/office/drawing/2014/main" id="{02C67C4C-1037-42BF-A86A-891E9B6D0083}"/>
              </a:ext>
            </a:extLst>
          </p:cNvPr>
          <p:cNvSpPr>
            <a:spLocks xmlns:a="http://schemas.openxmlformats.org/drawingml/2006/main" noGrp="1"/>
          </p:cNvSpPr>
          <p:nvPr/>
        </p:nvSpPr>
        <p:spPr>
          <a:xfrm xmlns:a="http://schemas.openxmlformats.org/drawingml/2006/main">
            <a:off x="8963025" y="2038350"/>
            <a:ext cx="2476500" cy="30670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6" name="矩形 15">
            <a:extLst xmlns:a="http://schemas.openxmlformats.org/drawingml/2006/main">
              <a:ext uri="{FF2B5EF4-FFF2-40B4-BE49-F238E27FC236}">
                <a16:creationId xmlns:a16="http://schemas.microsoft.com/office/drawing/2014/main" id="{CF5F8954-C151-47EC-900A-F87A1245D2B7}"/>
              </a:ext>
            </a:extLst>
          </p:cNvPr>
          <p:cNvSpPr>
            <a:spLocks xmlns:a="http://schemas.openxmlformats.org/drawingml/2006/main" noGrp="1"/>
          </p:cNvSpPr>
          <p:nvPr/>
        </p:nvSpPr>
        <p:spPr>
          <a:xfrm xmlns:a="http://schemas.openxmlformats.org/drawingml/2006/main">
            <a:off x="9191625" y="2266950"/>
            <a:ext cx="2019300" cy="342900"/>
          </a:xfrm>
          <a:prstGeom xmlns:a="http://schemas.openxmlformats.org/drawingml/2006/main" prst="rect">
            <a:avLst/>
          </a:prstGeom>
        </p:spPr>
        <p:txBody>
          <a:bodyPr xmlns:a="http://schemas.openxmlformats.org/drawingml/2006/main" lIns="0" tIns="0" rIns="0" bIns="0" anchor="ctr">
            <a:normAutofit fontScale="80080"/>
          </a:bodyPr>
          <a:lstStyle xmlns:a="http://schemas.openxmlformats.org/drawingml/2006/main"/>
          <a:p xmlns:a="http://schemas.openxmlformats.org/drawingml/2006/main">
            <a:pPr algn="l">
              <a:buNone/>
              <a:defRPr sz="2100" b="1">
                <a:solidFill>
                  <a:srgbClr val="FFFFFF"/>
                </a:solidFill>
                <a:latin typeface="PingFang SC"/>
                <a:ea typeface="PingFang SC"/>
                <a:cs typeface="PingFang SC"/>
              </a:defRPr>
            </a:pPr>
            <a:r>
              <a:t>Evidence &amp; Report</a:t>
            </a:r>
          </a:p>
        </p:txBody>
      </p:sp>
      <p:sp>
        <p:nvSpPr>
          <p:cNvPr id="17" name="矩形 16">
            <a:extLst xmlns:a="http://schemas.openxmlformats.org/drawingml/2006/main">
              <a:ext uri="{FF2B5EF4-FFF2-40B4-BE49-F238E27FC236}">
                <a16:creationId xmlns:a16="http://schemas.microsoft.com/office/drawing/2014/main" id="{B7B1E8B5-102B-4751-8CC6-5CB3145EC360}"/>
              </a:ext>
            </a:extLst>
          </p:cNvPr>
          <p:cNvSpPr>
            <a:spLocks xmlns:a="http://schemas.openxmlformats.org/drawingml/2006/main" noGrp="1"/>
          </p:cNvSpPr>
          <p:nvPr/>
        </p:nvSpPr>
        <p:spPr>
          <a:xfrm xmlns:a="http://schemas.openxmlformats.org/drawingml/2006/main">
            <a:off x="9191625" y="2724150"/>
            <a:ext cx="2019300" cy="2190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FFFFFF"/>
                </a:solidFill>
                <a:latin typeface="PingFang SC"/>
                <a:ea typeface="PingFang SC"/>
                <a:cs typeface="PingFang SC"/>
              </a:defRPr>
            </a:pPr>
            <a:r>
              <a:t>证明与报告</a:t>
            </a:r>
          </a:p>
          <a:p xmlns:a="http://schemas.openxmlformats.org/drawingml/2006/main">
            <a:pPr algn="l">
              <a:buNone/>
              <a:defRPr sz="1500" b="0">
                <a:solidFill>
                  <a:srgbClr val="FFFFFF"/>
                </a:solidFill>
                <a:latin typeface="PingFang SC"/>
                <a:ea typeface="PingFang SC"/>
                <a:cs typeface="PingFang SC"/>
              </a:defRPr>
            </a:pPr>
            <a:r>
              <a:t>按个人、活动、项目、来源组织生成证书/证明、效果报告和改进建议。</a:t>
            </a:r>
          </a:p>
        </p:txBody>
      </p:sp>
      <p:sp>
        <p:nvSpPr>
          <p:cNvPr id="18" name="矩形 17">
            <a:extLst xmlns:a="http://schemas.openxmlformats.org/drawingml/2006/main">
              <a:ext uri="{FF2B5EF4-FFF2-40B4-BE49-F238E27FC236}">
                <a16:creationId xmlns:a16="http://schemas.microsoft.com/office/drawing/2014/main" id="{A7445B7D-99C6-4470-B44E-8C0DBA85D757}"/>
              </a:ext>
            </a:extLst>
          </p:cNvPr>
          <p:cNvSpPr>
            <a:spLocks xmlns:a="http://schemas.openxmlformats.org/drawingml/2006/main" noGrp="1"/>
          </p:cNvSpPr>
          <p:nvPr/>
        </p:nvSpPr>
        <p:spPr>
          <a:xfrm xmlns:a="http://schemas.openxmlformats.org/drawingml/2006/main">
            <a:off x="390525" y="5524500"/>
            <a:ext cx="74295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000000"/>
                </a:solidFill>
                <a:latin typeface="PingFang SC"/>
                <a:ea typeface="PingFang SC"/>
                <a:cs typeface="PingFang SC"/>
              </a:defRPr>
            </a:pPr>
            <a:r>
              <a:t>发展项目定义目标，业务空间承载运行。</a:t>
            </a:r>
          </a:p>
        </p:txBody>
      </p:sp>
      <p:sp>
        <p:nvSpPr>
          <p:cNvPr id="19" name="矩形 18">
            <a:extLst xmlns:a="http://schemas.openxmlformats.org/drawingml/2006/main">
              <a:ext uri="{FF2B5EF4-FFF2-40B4-BE49-F238E27FC236}">
                <a16:creationId xmlns:a16="http://schemas.microsoft.com/office/drawing/2014/main" id="{78E28F72-85DA-4090-81DF-B36E28EF18C4}"/>
              </a:ext>
            </a:extLst>
          </p:cNvPr>
          <p:cNvSpPr>
            <a:spLocks xmlns:a="http://schemas.openxmlformats.org/drawingml/2006/main" noGrp="1"/>
          </p:cNvSpPr>
          <p:nvPr/>
        </p:nvSpPr>
        <p:spPr>
          <a:xfrm xmlns:a="http://schemas.openxmlformats.org/drawingml/2006/main">
            <a:off x="6257925" y="5562600"/>
            <a:ext cx="51435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500" b="0">
                <a:solidFill>
                  <a:srgbClr val="555555"/>
                </a:solidFill>
                <a:latin typeface="PingFang SC"/>
                <a:ea typeface="PingFang SC"/>
                <a:cs typeface="PingFang SC"/>
              </a:defRPr>
            </a:pPr>
            <a:r>
              <a:t>参与者类型、来源组织和空间权限，是外训关键扩展。</a:t>
            </a:r>
          </a:p>
        </p:txBody>
      </p:sp>
    </p:spTree>
    <p:extLst>
      <p:ext uri="{BB962C8B-B14F-4D97-AF65-F5344CB8AC3E}">
        <p14:creationId xmlns:p14="http://schemas.microsoft.com/office/powerpoint/2010/main" val="133735773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8098CFD8-C6EA-470F-A7AD-FB7099EAED52}"/>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AI 原生能力</a:t>
            </a:r>
          </a:p>
        </p:txBody>
      </p:sp>
      <p:sp>
        <p:nvSpPr>
          <p:cNvPr id="3" name="矩形 2">
            <a:extLst xmlns:a="http://schemas.openxmlformats.org/drawingml/2006/main">
              <a:ext uri="{FF2B5EF4-FFF2-40B4-BE49-F238E27FC236}">
                <a16:creationId xmlns:a16="http://schemas.microsoft.com/office/drawing/2014/main" id="{B516BB9D-7ECA-4398-8617-91CF704708D8}"/>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a:solidFill>
                  <a:srgbClr val="000000"/>
                </a:solidFill>
                <a:latin typeface="PingFang SC"/>
                <a:ea typeface="PingFang SC"/>
                <a:cs typeface="PingFang SC"/>
              </a:defRPr>
            </a:pPr>
            <a:r>
              <a:t>Lucky 智能体矩阵围绕空间覆盖活动前、中、后</a:t>
            </a:r>
          </a:p>
        </p:txBody>
      </p:sp>
      <p:sp>
        <p:nvSpPr>
          <p:cNvPr id="4" name="矩形 3">
            <a:extLst xmlns:a="http://schemas.openxmlformats.org/drawingml/2006/main">
              <a:ext uri="{FF2B5EF4-FFF2-40B4-BE49-F238E27FC236}">
                <a16:creationId xmlns:a16="http://schemas.microsoft.com/office/drawing/2014/main" id="{0D45A5CE-A619-4B69-9E95-CA5CBB6A5860}"/>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A364EEB8-337F-4859-BA27-24761EC1FAF7}"/>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11</a:t>
            </a:r>
          </a:p>
        </p:txBody>
      </p:sp>
      <p:sp>
        <p:nvSpPr>
          <p:cNvPr id="6" name="矩形 5">
            <a:extLst xmlns:a="http://schemas.openxmlformats.org/drawingml/2006/main">
              <a:ext uri="{FF2B5EF4-FFF2-40B4-BE49-F238E27FC236}">
                <a16:creationId xmlns:a16="http://schemas.microsoft.com/office/drawing/2014/main" id="{5875843E-1B21-4D5D-9E81-A4B4884E2D39}"/>
              </a:ext>
            </a:extLst>
          </p:cNvPr>
          <p:cNvSpPr>
            <a:spLocks xmlns:a="http://schemas.openxmlformats.org/drawingml/2006/main" noGrp="1"/>
          </p:cNvSpPr>
          <p:nvPr/>
        </p:nvSpPr>
        <p:spPr>
          <a:xfrm xmlns:a="http://schemas.openxmlformats.org/drawingml/2006/main">
            <a:off x="390525" y="2057400"/>
            <a:ext cx="2476500" cy="19621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矩形 6">
            <a:extLst xmlns:a="http://schemas.openxmlformats.org/drawingml/2006/main">
              <a:ext uri="{FF2B5EF4-FFF2-40B4-BE49-F238E27FC236}">
                <a16:creationId xmlns:a16="http://schemas.microsoft.com/office/drawing/2014/main" id="{83437AA3-FBEE-48C9-8177-BC5AB341F97D}"/>
              </a:ext>
            </a:extLst>
          </p:cNvPr>
          <p:cNvSpPr>
            <a:spLocks xmlns:a="http://schemas.openxmlformats.org/drawingml/2006/main" noGrp="1"/>
          </p:cNvSpPr>
          <p:nvPr/>
        </p:nvSpPr>
        <p:spPr>
          <a:xfrm xmlns:a="http://schemas.openxmlformats.org/drawingml/2006/main">
            <a:off x="619125" y="2286000"/>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250" b="1">
                <a:solidFill>
                  <a:srgbClr val="000000"/>
                </a:solidFill>
                <a:latin typeface="PingFang SC"/>
                <a:ea typeface="PingFang SC"/>
                <a:cs typeface="PingFang SC"/>
              </a:defRPr>
            </a:pPr>
            <a:r>
              <a:t>外训策划助手</a:t>
            </a:r>
          </a:p>
        </p:txBody>
      </p:sp>
      <p:sp>
        <p:nvSpPr>
          <p:cNvPr id="8" name="矩形 7">
            <a:extLst xmlns:a="http://schemas.openxmlformats.org/drawingml/2006/main">
              <a:ext uri="{FF2B5EF4-FFF2-40B4-BE49-F238E27FC236}">
                <a16:creationId xmlns:a16="http://schemas.microsoft.com/office/drawing/2014/main" id="{7237357F-0B13-4D9B-8083-21A1EF03D77C}"/>
              </a:ext>
            </a:extLst>
          </p:cNvPr>
          <p:cNvSpPr>
            <a:spLocks xmlns:a="http://schemas.openxmlformats.org/drawingml/2006/main" noGrp="1"/>
          </p:cNvSpPr>
          <p:nvPr/>
        </p:nvSpPr>
        <p:spPr>
          <a:xfrm xmlns:a="http://schemas.openxmlformats.org/drawingml/2006/main">
            <a:off x="619125" y="2743200"/>
            <a:ext cx="201930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000000"/>
                </a:solidFill>
                <a:latin typeface="PingFang SC"/>
                <a:ea typeface="PingFang SC"/>
                <a:cs typeface="PingFang SC"/>
              </a:defRPr>
            </a:pPr>
            <a:r>
              <a:t>生成客户培训、伙伴培训、认证培训、公开工作坊的空间方案和报名规则建议。</a:t>
            </a:r>
          </a:p>
        </p:txBody>
      </p:sp>
      <p:sp>
        <p:nvSpPr>
          <p:cNvPr id="9" name="矩形 8">
            <a:extLst xmlns:a="http://schemas.openxmlformats.org/drawingml/2006/main">
              <a:ext uri="{FF2B5EF4-FFF2-40B4-BE49-F238E27FC236}">
                <a16:creationId xmlns:a16="http://schemas.microsoft.com/office/drawing/2014/main" id="{824A6943-9334-4EEB-B9CB-D689A271E077}"/>
              </a:ext>
            </a:extLst>
          </p:cNvPr>
          <p:cNvSpPr>
            <a:spLocks xmlns:a="http://schemas.openxmlformats.org/drawingml/2006/main" noGrp="1"/>
          </p:cNvSpPr>
          <p:nvPr/>
        </p:nvSpPr>
        <p:spPr>
          <a:xfrm xmlns:a="http://schemas.openxmlformats.org/drawingml/2006/main">
            <a:off x="3248025" y="2057400"/>
            <a:ext cx="2476500" cy="19621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F137416D-31F4-4F61-B7C4-20A57BB00F87}"/>
              </a:ext>
            </a:extLst>
          </p:cNvPr>
          <p:cNvSpPr>
            <a:spLocks xmlns:a="http://schemas.openxmlformats.org/drawingml/2006/main" noGrp="1"/>
          </p:cNvSpPr>
          <p:nvPr/>
        </p:nvSpPr>
        <p:spPr>
          <a:xfrm xmlns:a="http://schemas.openxmlformats.org/drawingml/2006/main">
            <a:off x="3476625" y="2286000"/>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250" b="1">
                <a:solidFill>
                  <a:srgbClr val="000000"/>
                </a:solidFill>
                <a:latin typeface="PingFang SC"/>
                <a:ea typeface="PingFang SC"/>
                <a:cs typeface="PingFang SC"/>
              </a:defRPr>
            </a:pPr>
            <a:r>
              <a:t>报名问答助手</a:t>
            </a:r>
          </a:p>
        </p:txBody>
      </p:sp>
      <p:sp>
        <p:nvSpPr>
          <p:cNvPr id="11" name="矩形 10">
            <a:extLst xmlns:a="http://schemas.openxmlformats.org/drawingml/2006/main">
              <a:ext uri="{FF2B5EF4-FFF2-40B4-BE49-F238E27FC236}">
                <a16:creationId xmlns:a16="http://schemas.microsoft.com/office/drawing/2014/main" id="{5DA2906F-AEA7-4557-BA78-9B46D91894AE}"/>
              </a:ext>
            </a:extLst>
          </p:cNvPr>
          <p:cNvSpPr>
            <a:spLocks xmlns:a="http://schemas.openxmlformats.org/drawingml/2006/main" noGrp="1"/>
          </p:cNvSpPr>
          <p:nvPr/>
        </p:nvSpPr>
        <p:spPr>
          <a:xfrm xmlns:a="http://schemas.openxmlformats.org/drawingml/2006/main">
            <a:off x="3476625" y="2743200"/>
            <a:ext cx="201930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000000"/>
                </a:solidFill>
                <a:latin typeface="PingFang SC"/>
                <a:ea typeface="PingFang SC"/>
                <a:cs typeface="PingFang SC"/>
              </a:defRPr>
            </a:pPr>
            <a:r>
              <a:t>回答空间介绍、报名条件、日程安排、资料权限和证书获取问题。</a:t>
            </a:r>
          </a:p>
        </p:txBody>
      </p:sp>
      <p:sp>
        <p:nvSpPr>
          <p:cNvPr id="12" name="矩形 11">
            <a:extLst xmlns:a="http://schemas.openxmlformats.org/drawingml/2006/main">
              <a:ext uri="{FF2B5EF4-FFF2-40B4-BE49-F238E27FC236}">
                <a16:creationId xmlns:a16="http://schemas.microsoft.com/office/drawing/2014/main" id="{5FCDB309-7B8D-47CA-9C03-B767F4A38694}"/>
              </a:ext>
            </a:extLst>
          </p:cNvPr>
          <p:cNvSpPr>
            <a:spLocks xmlns:a="http://schemas.openxmlformats.org/drawingml/2006/main" noGrp="1"/>
          </p:cNvSpPr>
          <p:nvPr/>
        </p:nvSpPr>
        <p:spPr>
          <a:xfrm xmlns:a="http://schemas.openxmlformats.org/drawingml/2006/main">
            <a:off x="6105525" y="2057400"/>
            <a:ext cx="2476500" cy="19621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2E6F5FA2-6E78-4865-99AD-BF820375CA9F}"/>
              </a:ext>
            </a:extLst>
          </p:cNvPr>
          <p:cNvSpPr>
            <a:spLocks xmlns:a="http://schemas.openxmlformats.org/drawingml/2006/main" noGrp="1"/>
          </p:cNvSpPr>
          <p:nvPr/>
        </p:nvSpPr>
        <p:spPr>
          <a:xfrm xmlns:a="http://schemas.openxmlformats.org/drawingml/2006/main">
            <a:off x="6334125" y="2286000"/>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250" b="1">
                <a:solidFill>
                  <a:srgbClr val="000000"/>
                </a:solidFill>
                <a:latin typeface="PingFang SC"/>
                <a:ea typeface="PingFang SC"/>
                <a:cs typeface="PingFang SC"/>
              </a:defRPr>
            </a:pPr>
            <a:r>
              <a:t>过程分析助手</a:t>
            </a:r>
          </a:p>
        </p:txBody>
      </p:sp>
      <p:sp>
        <p:nvSpPr>
          <p:cNvPr id="14" name="矩形 13">
            <a:extLst xmlns:a="http://schemas.openxmlformats.org/drawingml/2006/main">
              <a:ext uri="{FF2B5EF4-FFF2-40B4-BE49-F238E27FC236}">
                <a16:creationId xmlns:a16="http://schemas.microsoft.com/office/drawing/2014/main" id="{2DB43F07-F192-4634-BDE0-180C3B2CD0DA}"/>
              </a:ext>
            </a:extLst>
          </p:cNvPr>
          <p:cNvSpPr>
            <a:spLocks xmlns:a="http://schemas.openxmlformats.org/drawingml/2006/main" noGrp="1"/>
          </p:cNvSpPr>
          <p:nvPr/>
        </p:nvSpPr>
        <p:spPr>
          <a:xfrm xmlns:a="http://schemas.openxmlformats.org/drawingml/2006/main">
            <a:off x="6334125" y="2743200"/>
            <a:ext cx="201930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000000"/>
                </a:solidFill>
                <a:latin typeface="PingFang SC"/>
                <a:ea typeface="PingFang SC"/>
                <a:cs typeface="PingFang SC"/>
              </a:defRPr>
            </a:pPr>
            <a:r>
              <a:t>整理空间中的研讨观点、评课意见、外部人员互动和问卷反馈，识别低活跃风险。</a:t>
            </a:r>
          </a:p>
        </p:txBody>
      </p:sp>
      <p:sp>
        <p:nvSpPr>
          <p:cNvPr id="15" name="矩形 14">
            <a:extLst xmlns:a="http://schemas.openxmlformats.org/drawingml/2006/main">
              <a:ext uri="{FF2B5EF4-FFF2-40B4-BE49-F238E27FC236}">
                <a16:creationId xmlns:a16="http://schemas.microsoft.com/office/drawing/2014/main" id="{36A596EE-3583-41B3-997D-EDE1C8B0F9F8}"/>
              </a:ext>
            </a:extLst>
          </p:cNvPr>
          <p:cNvSpPr>
            <a:spLocks xmlns:a="http://schemas.openxmlformats.org/drawingml/2006/main" noGrp="1"/>
          </p:cNvSpPr>
          <p:nvPr/>
        </p:nvSpPr>
        <p:spPr>
          <a:xfrm xmlns:a="http://schemas.openxmlformats.org/drawingml/2006/main">
            <a:off x="8963025" y="2057400"/>
            <a:ext cx="2476500" cy="19621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6" name="矩形 15">
            <a:extLst xmlns:a="http://schemas.openxmlformats.org/drawingml/2006/main">
              <a:ext uri="{FF2B5EF4-FFF2-40B4-BE49-F238E27FC236}">
                <a16:creationId xmlns:a16="http://schemas.microsoft.com/office/drawing/2014/main" id="{B7FB4F22-6728-4522-9CE8-905004ADE356}"/>
              </a:ext>
            </a:extLst>
          </p:cNvPr>
          <p:cNvSpPr>
            <a:spLocks xmlns:a="http://schemas.openxmlformats.org/drawingml/2006/main" noGrp="1"/>
          </p:cNvSpPr>
          <p:nvPr/>
        </p:nvSpPr>
        <p:spPr>
          <a:xfrm xmlns:a="http://schemas.openxmlformats.org/drawingml/2006/main">
            <a:off x="9191625" y="2286000"/>
            <a:ext cx="2019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250" b="1">
                <a:solidFill>
                  <a:srgbClr val="FFFFFF"/>
                </a:solidFill>
                <a:latin typeface="PingFang SC"/>
                <a:ea typeface="PingFang SC"/>
                <a:cs typeface="PingFang SC"/>
              </a:defRPr>
            </a:pPr>
            <a:r>
              <a:t>客户报告助手</a:t>
            </a:r>
          </a:p>
        </p:txBody>
      </p:sp>
      <p:sp>
        <p:nvSpPr>
          <p:cNvPr id="17" name="矩形 16">
            <a:extLst xmlns:a="http://schemas.openxmlformats.org/drawingml/2006/main">
              <a:ext uri="{FF2B5EF4-FFF2-40B4-BE49-F238E27FC236}">
                <a16:creationId xmlns:a16="http://schemas.microsoft.com/office/drawing/2014/main" id="{070EDC53-F17B-4C23-AF33-7D808BA38ABD}"/>
              </a:ext>
            </a:extLst>
          </p:cNvPr>
          <p:cNvSpPr>
            <a:spLocks xmlns:a="http://schemas.openxmlformats.org/drawingml/2006/main" noGrp="1"/>
          </p:cNvSpPr>
          <p:nvPr/>
        </p:nvSpPr>
        <p:spPr>
          <a:xfrm xmlns:a="http://schemas.openxmlformats.org/drawingml/2006/main">
            <a:off x="9191625" y="2743200"/>
            <a:ext cx="201930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FFFFFF"/>
                </a:solidFill>
                <a:latin typeface="PingFang SC"/>
                <a:ea typeface="PingFang SC"/>
                <a:cs typeface="PingFang SC"/>
              </a:defRPr>
            </a:pPr>
            <a:r>
              <a:t>汇总空间参与记录、成果材料、满意度和完成率，生成个人证明与组织报告。</a:t>
            </a:r>
          </a:p>
        </p:txBody>
      </p:sp>
      <p:sp>
        <p:nvSpPr>
          <p:cNvPr id="18" name="矩形 17">
            <a:extLst xmlns:a="http://schemas.openxmlformats.org/drawingml/2006/main">
              <a:ext uri="{FF2B5EF4-FFF2-40B4-BE49-F238E27FC236}">
                <a16:creationId xmlns:a16="http://schemas.microsoft.com/office/drawing/2014/main" id="{046AD55A-B384-48F4-A8F7-2DF614A0CA30}"/>
              </a:ext>
            </a:extLst>
          </p:cNvPr>
          <p:cNvSpPr>
            <a:spLocks xmlns:a="http://schemas.openxmlformats.org/drawingml/2006/main" noGrp="1"/>
          </p:cNvSpPr>
          <p:nvPr/>
        </p:nvSpPr>
        <p:spPr>
          <a:xfrm xmlns:a="http://schemas.openxmlformats.org/drawingml/2006/main">
            <a:off x="390525" y="4762500"/>
            <a:ext cx="11401425" cy="76200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9" name="矩形 18">
            <a:extLst xmlns:a="http://schemas.openxmlformats.org/drawingml/2006/main">
              <a:ext uri="{FF2B5EF4-FFF2-40B4-BE49-F238E27FC236}">
                <a16:creationId xmlns:a16="http://schemas.microsoft.com/office/drawing/2014/main" id="{D5EF3D0E-239D-4987-9A29-F9BA8C8EEA63}"/>
              </a:ext>
            </a:extLst>
          </p:cNvPr>
          <p:cNvSpPr>
            <a:spLocks xmlns:a="http://schemas.openxmlformats.org/drawingml/2006/main" noGrp="1"/>
          </p:cNvSpPr>
          <p:nvPr/>
        </p:nvSpPr>
        <p:spPr>
          <a:xfrm xmlns:a="http://schemas.openxmlformats.org/drawingml/2006/main">
            <a:off x="685800" y="4895850"/>
            <a:ext cx="10810875" cy="5143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725" b="1">
                <a:solidFill>
                  <a:srgbClr val="000000"/>
                </a:solidFill>
                <a:latin typeface="PingFang SC"/>
                <a:ea typeface="PingFang SC"/>
                <a:cs typeface="PingFang SC"/>
              </a:defRPr>
            </a:pPr>
            <a:r>
              <a:t>AI 输出作为空间运营建议稿进入人工确认；外部人员评价、证书/证明、客户报告和数据结论保留人工审核。</a:t>
            </a:r>
          </a:p>
        </p:txBody>
      </p:sp>
    </p:spTree>
    <p:extLst>
      <p:ext uri="{BB962C8B-B14F-4D97-AF65-F5344CB8AC3E}">
        <p14:creationId xmlns:p14="http://schemas.microsoft.com/office/powerpoint/2010/main" val="111654296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12899CDD-80BF-4332-9E1B-80F55CE9FF0A}"/>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数据与分析</a:t>
            </a:r>
          </a:p>
        </p:txBody>
      </p:sp>
      <p:sp>
        <p:nvSpPr>
          <p:cNvPr id="3" name="矩形 2">
            <a:extLst xmlns:a="http://schemas.openxmlformats.org/drawingml/2006/main">
              <a:ext uri="{FF2B5EF4-FFF2-40B4-BE49-F238E27FC236}">
                <a16:creationId xmlns:a16="http://schemas.microsoft.com/office/drawing/2014/main" id="{445584CE-043C-484A-9CD1-997437DAB8B7}"/>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a:solidFill>
                  <a:srgbClr val="000000"/>
                </a:solidFill>
                <a:latin typeface="PingFang SC"/>
                <a:ea typeface="PingFang SC"/>
                <a:cs typeface="PingFang SC"/>
              </a:defRPr>
            </a:pPr>
            <a:r>
              <a:t>空间数据进入分析模型，输出可交付的发展效果</a:t>
            </a:r>
          </a:p>
        </p:txBody>
      </p:sp>
      <p:sp>
        <p:nvSpPr>
          <p:cNvPr id="4" name="矩形 3">
            <a:extLst xmlns:a="http://schemas.openxmlformats.org/drawingml/2006/main">
              <a:ext uri="{FF2B5EF4-FFF2-40B4-BE49-F238E27FC236}">
                <a16:creationId xmlns:a16="http://schemas.microsoft.com/office/drawing/2014/main" id="{BB0763D6-4FA9-4D42-A46E-BB6464AB7F8A}"/>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4C6043DA-375F-4BD8-B477-0854E9C0A9E2}"/>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12</a:t>
            </a:r>
          </a:p>
        </p:txBody>
      </p:sp>
      <p:sp>
        <p:nvSpPr>
          <p:cNvPr id="6" name="矩形 5">
            <a:extLst xmlns:a="http://schemas.openxmlformats.org/drawingml/2006/main">
              <a:ext uri="{FF2B5EF4-FFF2-40B4-BE49-F238E27FC236}">
                <a16:creationId xmlns:a16="http://schemas.microsoft.com/office/drawing/2014/main" id="{E70403E6-143C-4CDD-B8EC-2803EB54E26B}"/>
              </a:ext>
            </a:extLst>
          </p:cNvPr>
          <p:cNvSpPr>
            <a:spLocks xmlns:a="http://schemas.openxmlformats.org/drawingml/2006/main" noGrp="1"/>
          </p:cNvSpPr>
          <p:nvPr/>
        </p:nvSpPr>
        <p:spPr>
          <a:xfrm xmlns:a="http://schemas.openxmlformats.org/drawingml/2006/main">
            <a:off x="581025" y="2343150"/>
            <a:ext cx="1619250" cy="6096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7" name="矩形 6">
            <a:extLst xmlns:a="http://schemas.openxmlformats.org/drawingml/2006/main">
              <a:ext uri="{FF2B5EF4-FFF2-40B4-BE49-F238E27FC236}">
                <a16:creationId xmlns:a16="http://schemas.microsoft.com/office/drawing/2014/main" id="{A2B6893E-69D5-4FDF-8B2E-638581CE312E}"/>
              </a:ext>
            </a:extLst>
          </p:cNvPr>
          <p:cNvSpPr>
            <a:spLocks xmlns:a="http://schemas.openxmlformats.org/drawingml/2006/main" noGrp="1"/>
          </p:cNvSpPr>
          <p:nvPr/>
        </p:nvSpPr>
        <p:spPr>
          <a:xfrm xmlns:a="http://schemas.openxmlformats.org/drawingml/2006/main">
            <a:off x="676275" y="2400300"/>
            <a:ext cx="1428750" cy="4953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800" b="1">
                <a:solidFill>
                  <a:srgbClr val="000000"/>
                </a:solidFill>
                <a:latin typeface="PingFang SC"/>
                <a:ea typeface="PingFang SC"/>
                <a:cs typeface="PingFang SC"/>
              </a:defRPr>
            </a:pPr>
            <a:r>
              <a:t>空间记录</a:t>
            </a:r>
          </a:p>
        </p:txBody>
      </p:sp>
      <p:sp>
        <p:nvSpPr>
          <p:cNvPr id="8" name="右箭头 7">
            <a:extLst xmlns:a="http://schemas.openxmlformats.org/drawingml/2006/main">
              <a:ext uri="{FF2B5EF4-FFF2-40B4-BE49-F238E27FC236}">
                <a16:creationId xmlns:a16="http://schemas.microsoft.com/office/drawing/2014/main" id="{6BD117B6-183C-458E-B722-EFBA604F7F31}"/>
              </a:ext>
            </a:extLst>
          </p:cNvPr>
          <p:cNvSpPr>
            <a:spLocks xmlns:a="http://schemas.openxmlformats.org/drawingml/2006/main" noGrp="1"/>
          </p:cNvSpPr>
          <p:nvPr/>
        </p:nvSpPr>
        <p:spPr>
          <a:xfrm xmlns:a="http://schemas.openxmlformats.org/drawingml/2006/main">
            <a:off x="2457450" y="2476500"/>
            <a:ext cx="704850" cy="342900"/>
          </a:xfrm>
          <a:prstGeom xmlns:a="http://schemas.openxmlformats.org/drawingml/2006/main" prst="rightArrow">
            <a:avLst/>
          </a:prstGeom>
          <a:solidFill xmlns:a="http://schemas.openxmlformats.org/drawingml/2006/main">
            <a:srgbClr val="B8BCC4"/>
          </a:solidFill>
          <a:ln xmlns:a="http://schemas.openxmlformats.org/drawingml/2006/main" w="0">
            <a:noFill/>
            <a:prstDash val="solid"/>
          </a:ln>
        </p:spPr>
      </p:sp>
      <p:sp>
        <p:nvSpPr>
          <p:cNvPr id="9" name="矩形 8">
            <a:extLst xmlns:a="http://schemas.openxmlformats.org/drawingml/2006/main">
              <a:ext uri="{FF2B5EF4-FFF2-40B4-BE49-F238E27FC236}">
                <a16:creationId xmlns:a16="http://schemas.microsoft.com/office/drawing/2014/main" id="{E6265274-BBBA-43AC-B535-D3BD40BC9AF5}"/>
              </a:ext>
            </a:extLst>
          </p:cNvPr>
          <p:cNvSpPr>
            <a:spLocks xmlns:a="http://schemas.openxmlformats.org/drawingml/2006/main" noGrp="1"/>
          </p:cNvSpPr>
          <p:nvPr/>
        </p:nvSpPr>
        <p:spPr>
          <a:xfrm xmlns:a="http://schemas.openxmlformats.org/drawingml/2006/main">
            <a:off x="3429000" y="2343150"/>
            <a:ext cx="1809750" cy="6096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0" name="矩形 9">
            <a:extLst xmlns:a="http://schemas.openxmlformats.org/drawingml/2006/main">
              <a:ext uri="{FF2B5EF4-FFF2-40B4-BE49-F238E27FC236}">
                <a16:creationId xmlns:a16="http://schemas.microsoft.com/office/drawing/2014/main" id="{8CA0E22C-7383-4FC0-8049-4A999169364D}"/>
              </a:ext>
            </a:extLst>
          </p:cNvPr>
          <p:cNvSpPr>
            <a:spLocks xmlns:a="http://schemas.openxmlformats.org/drawingml/2006/main" noGrp="1"/>
          </p:cNvSpPr>
          <p:nvPr/>
        </p:nvSpPr>
        <p:spPr>
          <a:xfrm xmlns:a="http://schemas.openxmlformats.org/drawingml/2006/main">
            <a:off x="3524250" y="2400300"/>
            <a:ext cx="1619250" cy="4953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800" b="1">
                <a:solidFill>
                  <a:srgbClr val="000000"/>
                </a:solidFill>
                <a:latin typeface="PingFang SC"/>
                <a:ea typeface="PingFang SC"/>
                <a:cs typeface="PingFang SC"/>
              </a:defRPr>
            </a:pPr>
            <a:r>
              <a:t>指标计算</a:t>
            </a:r>
          </a:p>
        </p:txBody>
      </p:sp>
      <p:sp>
        <p:nvSpPr>
          <p:cNvPr id="11" name="右箭头 10">
            <a:extLst xmlns:a="http://schemas.openxmlformats.org/drawingml/2006/main">
              <a:ext uri="{FF2B5EF4-FFF2-40B4-BE49-F238E27FC236}">
                <a16:creationId xmlns:a16="http://schemas.microsoft.com/office/drawing/2014/main" id="{48013BA5-DF49-443C-9C99-5E307D72E09A}"/>
              </a:ext>
            </a:extLst>
          </p:cNvPr>
          <p:cNvSpPr>
            <a:spLocks xmlns:a="http://schemas.openxmlformats.org/drawingml/2006/main" noGrp="1"/>
          </p:cNvSpPr>
          <p:nvPr/>
        </p:nvSpPr>
        <p:spPr>
          <a:xfrm xmlns:a="http://schemas.openxmlformats.org/drawingml/2006/main">
            <a:off x="5505450" y="2476500"/>
            <a:ext cx="704850" cy="342900"/>
          </a:xfrm>
          <a:prstGeom xmlns:a="http://schemas.openxmlformats.org/drawingml/2006/main" prst="rightArrow">
            <a:avLst/>
          </a:prstGeom>
          <a:solidFill xmlns:a="http://schemas.openxmlformats.org/drawingml/2006/main">
            <a:srgbClr val="B8BCC4"/>
          </a:solidFill>
          <a:ln xmlns:a="http://schemas.openxmlformats.org/drawingml/2006/main" w="0">
            <a:noFill/>
            <a:prstDash val="solid"/>
          </a:ln>
        </p:spPr>
      </p:sp>
      <p:sp>
        <p:nvSpPr>
          <p:cNvPr id="12" name="矩形 11">
            <a:extLst xmlns:a="http://schemas.openxmlformats.org/drawingml/2006/main">
              <a:ext uri="{FF2B5EF4-FFF2-40B4-BE49-F238E27FC236}">
                <a16:creationId xmlns:a16="http://schemas.microsoft.com/office/drawing/2014/main" id="{6369E8C3-A531-4D33-8502-9B77B2153391}"/>
              </a:ext>
            </a:extLst>
          </p:cNvPr>
          <p:cNvSpPr>
            <a:spLocks xmlns:a="http://schemas.openxmlformats.org/drawingml/2006/main" noGrp="1"/>
          </p:cNvSpPr>
          <p:nvPr/>
        </p:nvSpPr>
        <p:spPr>
          <a:xfrm xmlns:a="http://schemas.openxmlformats.org/drawingml/2006/main">
            <a:off x="6477000" y="2343150"/>
            <a:ext cx="1809750" cy="609600"/>
          </a:xfrm>
          <a:prstGeom xmlns:a="http://schemas.openxmlformats.org/drawingml/2006/main" prst="rect">
            <a:avLst/>
          </a:prstGeom>
          <a:solidFill xmlns:a="http://schemas.openxmlformats.org/drawingml/2006/main">
            <a:srgbClr val="000000"/>
          </a:solidFill>
          <a:ln xmlns:a="http://schemas.openxmlformats.org/drawingml/2006/main" w="9525">
            <a:solidFill>
              <a:srgbClr val="B8BCC4"/>
            </a:solidFill>
            <a:prstDash val="solid"/>
          </a:ln>
        </p:spPr>
      </p:sp>
      <p:sp>
        <p:nvSpPr>
          <p:cNvPr id="13" name="矩形 12">
            <a:extLst xmlns:a="http://schemas.openxmlformats.org/drawingml/2006/main">
              <a:ext uri="{FF2B5EF4-FFF2-40B4-BE49-F238E27FC236}">
                <a16:creationId xmlns:a16="http://schemas.microsoft.com/office/drawing/2014/main" id="{9FAA1ADD-83C9-440F-ABB6-3F966874B71A}"/>
              </a:ext>
            </a:extLst>
          </p:cNvPr>
          <p:cNvSpPr>
            <a:spLocks xmlns:a="http://schemas.openxmlformats.org/drawingml/2006/main" noGrp="1"/>
          </p:cNvSpPr>
          <p:nvPr/>
        </p:nvSpPr>
        <p:spPr>
          <a:xfrm xmlns:a="http://schemas.openxmlformats.org/drawingml/2006/main">
            <a:off x="6572250" y="2400300"/>
            <a:ext cx="1619250" cy="4953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800" b="1">
                <a:solidFill>
                  <a:srgbClr val="FFFFFF"/>
                </a:solidFill>
                <a:latin typeface="PingFang SC"/>
                <a:ea typeface="PingFang SC"/>
                <a:cs typeface="PingFang SC"/>
              </a:defRPr>
            </a:pPr>
            <a:r>
              <a:t>客户报告</a:t>
            </a:r>
          </a:p>
        </p:txBody>
      </p:sp>
      <p:sp>
        <p:nvSpPr>
          <p:cNvPr id="14" name="右箭头 13">
            <a:extLst xmlns:a="http://schemas.openxmlformats.org/drawingml/2006/main">
              <a:ext uri="{FF2B5EF4-FFF2-40B4-BE49-F238E27FC236}">
                <a16:creationId xmlns:a16="http://schemas.microsoft.com/office/drawing/2014/main" id="{FBE25CBB-C835-42A3-BF54-B18FE85A55A6}"/>
              </a:ext>
            </a:extLst>
          </p:cNvPr>
          <p:cNvSpPr>
            <a:spLocks xmlns:a="http://schemas.openxmlformats.org/drawingml/2006/main" noGrp="1"/>
          </p:cNvSpPr>
          <p:nvPr/>
        </p:nvSpPr>
        <p:spPr>
          <a:xfrm xmlns:a="http://schemas.openxmlformats.org/drawingml/2006/main">
            <a:off x="8553450" y="2476500"/>
            <a:ext cx="704850" cy="342900"/>
          </a:xfrm>
          <a:prstGeom xmlns:a="http://schemas.openxmlformats.org/drawingml/2006/main" prst="rightArrow">
            <a:avLst/>
          </a:prstGeom>
          <a:solidFill xmlns:a="http://schemas.openxmlformats.org/drawingml/2006/main">
            <a:srgbClr val="B8BCC4"/>
          </a:solidFill>
          <a:ln xmlns:a="http://schemas.openxmlformats.org/drawingml/2006/main" w="0">
            <a:noFill/>
            <a:prstDash val="solid"/>
          </a:ln>
        </p:spPr>
      </p:sp>
      <p:sp>
        <p:nvSpPr>
          <p:cNvPr id="15" name="矩形 14">
            <a:extLst xmlns:a="http://schemas.openxmlformats.org/drawingml/2006/main">
              <a:ext uri="{FF2B5EF4-FFF2-40B4-BE49-F238E27FC236}">
                <a16:creationId xmlns:a16="http://schemas.microsoft.com/office/drawing/2014/main" id="{ED6C392F-88ED-4785-8B68-5D51E33472E6}"/>
              </a:ext>
            </a:extLst>
          </p:cNvPr>
          <p:cNvSpPr>
            <a:spLocks xmlns:a="http://schemas.openxmlformats.org/drawingml/2006/main" noGrp="1"/>
          </p:cNvSpPr>
          <p:nvPr/>
        </p:nvSpPr>
        <p:spPr>
          <a:xfrm xmlns:a="http://schemas.openxmlformats.org/drawingml/2006/main">
            <a:off x="9525000" y="2343150"/>
            <a:ext cx="1809750" cy="609600"/>
          </a:xfrm>
          <a:prstGeom xmlns:a="http://schemas.openxmlformats.org/drawingml/2006/main" prst="rect">
            <a:avLst/>
          </a:prstGeom>
          <a:solidFill xmlns:a="http://schemas.openxmlformats.org/drawingml/2006/main">
            <a:srgbClr val="FF6B35"/>
          </a:solidFill>
          <a:ln xmlns:a="http://schemas.openxmlformats.org/drawingml/2006/main" w="9525">
            <a:noFill/>
            <a:prstDash val="solid"/>
          </a:ln>
        </p:spPr>
      </p:sp>
      <p:sp>
        <p:nvSpPr>
          <p:cNvPr id="16" name="矩形 15">
            <a:extLst xmlns:a="http://schemas.openxmlformats.org/drawingml/2006/main">
              <a:ext uri="{FF2B5EF4-FFF2-40B4-BE49-F238E27FC236}">
                <a16:creationId xmlns:a16="http://schemas.microsoft.com/office/drawing/2014/main" id="{1FDDF41F-18DA-4AAE-98CB-70AB149C78A9}"/>
              </a:ext>
            </a:extLst>
          </p:cNvPr>
          <p:cNvSpPr>
            <a:spLocks xmlns:a="http://schemas.openxmlformats.org/drawingml/2006/main" noGrp="1"/>
          </p:cNvSpPr>
          <p:nvPr/>
        </p:nvSpPr>
        <p:spPr>
          <a:xfrm xmlns:a="http://schemas.openxmlformats.org/drawingml/2006/main">
            <a:off x="9620250" y="2400300"/>
            <a:ext cx="1619250" cy="4953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800" b="1">
                <a:solidFill>
                  <a:srgbClr val="FFFFFF"/>
                </a:solidFill>
                <a:latin typeface="PingFang SC"/>
                <a:ea typeface="PingFang SC"/>
                <a:cs typeface="PingFang SC"/>
              </a:defRPr>
            </a:pPr>
            <a:r>
              <a:t>改进行动</a:t>
            </a:r>
          </a:p>
        </p:txBody>
      </p:sp>
      <p:sp>
        <p:nvSpPr>
          <p:cNvPr id="17" name="矩形 16">
            <a:extLst xmlns:a="http://schemas.openxmlformats.org/drawingml/2006/main">
              <a:ext uri="{FF2B5EF4-FFF2-40B4-BE49-F238E27FC236}">
                <a16:creationId xmlns:a16="http://schemas.microsoft.com/office/drawing/2014/main" id="{D4755076-5BAE-4FF7-8D99-80F40F324B83}"/>
              </a:ext>
            </a:extLst>
          </p:cNvPr>
          <p:cNvSpPr>
            <a:spLocks xmlns:a="http://schemas.openxmlformats.org/drawingml/2006/main" noGrp="1"/>
          </p:cNvSpPr>
          <p:nvPr/>
        </p:nvSpPr>
        <p:spPr>
          <a:xfrm xmlns:a="http://schemas.openxmlformats.org/drawingml/2006/main">
            <a:off x="1047750" y="3543300"/>
            <a:ext cx="10096500" cy="8763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950" b="1">
                <a:solidFill>
                  <a:srgbClr val="000000"/>
                </a:solidFill>
                <a:latin typeface="PingFang SC"/>
                <a:ea typeface="PingFang SC"/>
                <a:cs typeface="PingFang SC"/>
              </a:defRPr>
            </a:pPr>
            <a:r>
              <a:t>内部成员、外部参与者、来源组织、空间、报名、签到、互动、任务、成果、问卷、证书和 AI 使用记录统一归集，形成发展数据资产。</a:t>
            </a:r>
          </a:p>
        </p:txBody>
      </p:sp>
      <p:sp>
        <p:nvSpPr>
          <p:cNvPr id="18" name="矩形 17">
            <a:extLst xmlns:a="http://schemas.openxmlformats.org/drawingml/2006/main">
              <a:ext uri="{FF2B5EF4-FFF2-40B4-BE49-F238E27FC236}">
                <a16:creationId xmlns:a16="http://schemas.microsoft.com/office/drawing/2014/main" id="{9BAAEE99-F6D6-4AB5-92CC-805884F84ED9}"/>
              </a:ext>
            </a:extLst>
          </p:cNvPr>
          <p:cNvSpPr>
            <a:spLocks xmlns:a="http://schemas.openxmlformats.org/drawingml/2006/main" noGrp="1"/>
          </p:cNvSpPr>
          <p:nvPr/>
        </p:nvSpPr>
        <p:spPr>
          <a:xfrm xmlns:a="http://schemas.openxmlformats.org/drawingml/2006/main">
            <a:off x="2381250" y="4914900"/>
            <a:ext cx="1000125"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9" name="矩形 18">
            <a:extLst xmlns:a="http://schemas.openxmlformats.org/drawingml/2006/main">
              <a:ext uri="{FF2B5EF4-FFF2-40B4-BE49-F238E27FC236}">
                <a16:creationId xmlns:a16="http://schemas.microsoft.com/office/drawing/2014/main" id="{D55D9E1E-CF55-4FC4-BDD4-3101D3E4AD2D}"/>
              </a:ext>
            </a:extLst>
          </p:cNvPr>
          <p:cNvSpPr>
            <a:spLocks xmlns:a="http://schemas.openxmlformats.org/drawingml/2006/main" noGrp="1"/>
          </p:cNvSpPr>
          <p:nvPr/>
        </p:nvSpPr>
        <p:spPr>
          <a:xfrm xmlns:a="http://schemas.openxmlformats.org/drawingml/2006/main">
            <a:off x="2476500" y="4972050"/>
            <a:ext cx="809625"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租户</a:t>
            </a:r>
          </a:p>
        </p:txBody>
      </p:sp>
      <p:sp>
        <p:nvSpPr>
          <p:cNvPr id="20" name="矩形 19">
            <a:extLst xmlns:a="http://schemas.openxmlformats.org/drawingml/2006/main">
              <a:ext uri="{FF2B5EF4-FFF2-40B4-BE49-F238E27FC236}">
                <a16:creationId xmlns:a16="http://schemas.microsoft.com/office/drawing/2014/main" id="{01F91180-79E5-4755-812C-78907AF947A1}"/>
              </a:ext>
            </a:extLst>
          </p:cNvPr>
          <p:cNvSpPr>
            <a:spLocks xmlns:a="http://schemas.openxmlformats.org/drawingml/2006/main" noGrp="1"/>
          </p:cNvSpPr>
          <p:nvPr/>
        </p:nvSpPr>
        <p:spPr>
          <a:xfrm xmlns:a="http://schemas.openxmlformats.org/drawingml/2006/main">
            <a:off x="3905250" y="4914900"/>
            <a:ext cx="1000125"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21" name="矩形 20">
            <a:extLst xmlns:a="http://schemas.openxmlformats.org/drawingml/2006/main">
              <a:ext uri="{FF2B5EF4-FFF2-40B4-BE49-F238E27FC236}">
                <a16:creationId xmlns:a16="http://schemas.microsoft.com/office/drawing/2014/main" id="{9F4D1DC0-1794-4D1A-A4E8-B633B6F0FC61}"/>
              </a:ext>
            </a:extLst>
          </p:cNvPr>
          <p:cNvSpPr>
            <a:spLocks xmlns:a="http://schemas.openxmlformats.org/drawingml/2006/main" noGrp="1"/>
          </p:cNvSpPr>
          <p:nvPr/>
        </p:nvSpPr>
        <p:spPr>
          <a:xfrm xmlns:a="http://schemas.openxmlformats.org/drawingml/2006/main">
            <a:off x="4000500" y="4972050"/>
            <a:ext cx="809625"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项目</a:t>
            </a:r>
          </a:p>
        </p:txBody>
      </p:sp>
      <p:sp>
        <p:nvSpPr>
          <p:cNvPr id="22" name="矩形 21">
            <a:extLst xmlns:a="http://schemas.openxmlformats.org/drawingml/2006/main">
              <a:ext uri="{FF2B5EF4-FFF2-40B4-BE49-F238E27FC236}">
                <a16:creationId xmlns:a16="http://schemas.microsoft.com/office/drawing/2014/main" id="{FD1BD375-C2CF-4D7A-89BD-4A9B05E75B3B}"/>
              </a:ext>
            </a:extLst>
          </p:cNvPr>
          <p:cNvSpPr>
            <a:spLocks xmlns:a="http://schemas.openxmlformats.org/drawingml/2006/main" noGrp="1"/>
          </p:cNvSpPr>
          <p:nvPr/>
        </p:nvSpPr>
        <p:spPr>
          <a:xfrm xmlns:a="http://schemas.openxmlformats.org/drawingml/2006/main">
            <a:off x="5429250" y="4914900"/>
            <a:ext cx="1000125"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23" name="矩形 22">
            <a:extLst xmlns:a="http://schemas.openxmlformats.org/drawingml/2006/main">
              <a:ext uri="{FF2B5EF4-FFF2-40B4-BE49-F238E27FC236}">
                <a16:creationId xmlns:a16="http://schemas.microsoft.com/office/drawing/2014/main" id="{46AA548E-B56A-4C5C-AB66-CA752EFF6943}"/>
              </a:ext>
            </a:extLst>
          </p:cNvPr>
          <p:cNvSpPr>
            <a:spLocks xmlns:a="http://schemas.openxmlformats.org/drawingml/2006/main" noGrp="1"/>
          </p:cNvSpPr>
          <p:nvPr/>
        </p:nvSpPr>
        <p:spPr>
          <a:xfrm xmlns:a="http://schemas.openxmlformats.org/drawingml/2006/main">
            <a:off x="5524500" y="4972050"/>
            <a:ext cx="809625"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空间</a:t>
            </a:r>
          </a:p>
        </p:txBody>
      </p:sp>
      <p:sp>
        <p:nvSpPr>
          <p:cNvPr id="24" name="矩形 23">
            <a:extLst xmlns:a="http://schemas.openxmlformats.org/drawingml/2006/main">
              <a:ext uri="{FF2B5EF4-FFF2-40B4-BE49-F238E27FC236}">
                <a16:creationId xmlns:a16="http://schemas.microsoft.com/office/drawing/2014/main" id="{0B01FE1C-68FA-47DF-B6A6-079E6514B406}"/>
              </a:ext>
            </a:extLst>
          </p:cNvPr>
          <p:cNvSpPr>
            <a:spLocks xmlns:a="http://schemas.openxmlformats.org/drawingml/2006/main" noGrp="1"/>
          </p:cNvSpPr>
          <p:nvPr/>
        </p:nvSpPr>
        <p:spPr>
          <a:xfrm xmlns:a="http://schemas.openxmlformats.org/drawingml/2006/main">
            <a:off x="6953250" y="4914900"/>
            <a:ext cx="1000125"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25" name="矩形 24">
            <a:extLst xmlns:a="http://schemas.openxmlformats.org/drawingml/2006/main">
              <a:ext uri="{FF2B5EF4-FFF2-40B4-BE49-F238E27FC236}">
                <a16:creationId xmlns:a16="http://schemas.microsoft.com/office/drawing/2014/main" id="{6E5A8804-BF92-4C65-9433-F9C16C381D01}"/>
              </a:ext>
            </a:extLst>
          </p:cNvPr>
          <p:cNvSpPr>
            <a:spLocks xmlns:a="http://schemas.openxmlformats.org/drawingml/2006/main" noGrp="1"/>
          </p:cNvSpPr>
          <p:nvPr/>
        </p:nvSpPr>
        <p:spPr>
          <a:xfrm xmlns:a="http://schemas.openxmlformats.org/drawingml/2006/main">
            <a:off x="7048500" y="4972050"/>
            <a:ext cx="809625"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参与者</a:t>
            </a:r>
          </a:p>
        </p:txBody>
      </p:sp>
      <p:sp>
        <p:nvSpPr>
          <p:cNvPr id="26" name="矩形 25">
            <a:extLst xmlns:a="http://schemas.openxmlformats.org/drawingml/2006/main">
              <a:ext uri="{FF2B5EF4-FFF2-40B4-BE49-F238E27FC236}">
                <a16:creationId xmlns:a16="http://schemas.microsoft.com/office/drawing/2014/main" id="{AC628781-27E0-4DD9-80BF-638FDE6A9776}"/>
              </a:ext>
            </a:extLst>
          </p:cNvPr>
          <p:cNvSpPr>
            <a:spLocks xmlns:a="http://schemas.openxmlformats.org/drawingml/2006/main" noGrp="1"/>
          </p:cNvSpPr>
          <p:nvPr/>
        </p:nvSpPr>
        <p:spPr>
          <a:xfrm xmlns:a="http://schemas.openxmlformats.org/drawingml/2006/main">
            <a:off x="8477250" y="4914900"/>
            <a:ext cx="1000125" cy="400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27" name="矩形 26">
            <a:extLst xmlns:a="http://schemas.openxmlformats.org/drawingml/2006/main">
              <a:ext uri="{FF2B5EF4-FFF2-40B4-BE49-F238E27FC236}">
                <a16:creationId xmlns:a16="http://schemas.microsoft.com/office/drawing/2014/main" id="{5167FA7C-3B54-437E-8933-C5136F0C7938}"/>
              </a:ext>
            </a:extLst>
          </p:cNvPr>
          <p:cNvSpPr>
            <a:spLocks xmlns:a="http://schemas.openxmlformats.org/drawingml/2006/main" noGrp="1"/>
          </p:cNvSpPr>
          <p:nvPr/>
        </p:nvSpPr>
        <p:spPr>
          <a:xfrm xmlns:a="http://schemas.openxmlformats.org/drawingml/2006/main">
            <a:off x="8572500" y="4972050"/>
            <a:ext cx="809625"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PingFang SC"/>
                <a:ea typeface="PingFang SC"/>
                <a:cs typeface="PingFang SC"/>
              </a:defRPr>
            </a:pPr>
            <a:r>
              <a:t>来源组织</a:t>
            </a:r>
          </a:p>
        </p:txBody>
      </p:sp>
      <p:sp>
        <p:nvSpPr>
          <p:cNvPr id="28" name="矩形 27">
            <a:extLst xmlns:a="http://schemas.openxmlformats.org/drawingml/2006/main">
              <a:ext uri="{FF2B5EF4-FFF2-40B4-BE49-F238E27FC236}">
                <a16:creationId xmlns:a16="http://schemas.microsoft.com/office/drawing/2014/main" id="{7E6C09C5-44BD-4F33-B0AF-8EB84ACDC468}"/>
              </a:ext>
            </a:extLst>
          </p:cNvPr>
          <p:cNvSpPr>
            <a:spLocks xmlns:a="http://schemas.openxmlformats.org/drawingml/2006/main" noGrp="1"/>
          </p:cNvSpPr>
          <p:nvPr/>
        </p:nvSpPr>
        <p:spPr>
          <a:xfrm xmlns:a="http://schemas.openxmlformats.org/drawingml/2006/main">
            <a:off x="2590800" y="5467350"/>
            <a:ext cx="7048500" cy="304800"/>
          </a:xfrm>
          <a:prstGeom xmlns:a="http://schemas.openxmlformats.org/drawingml/2006/main" prst="rect">
            <a:avLst/>
          </a:prstGeom>
        </p:spPr>
        <p:txBody>
          <a:bodyPr xmlns:a="http://schemas.openxmlformats.org/drawingml/2006/main" lIns="0" tIns="0" rIns="0" bIns="0" anchor="t">
            <a:normAutofit fontScale="84442"/>
          </a:bodyPr>
          <a:lstStyle xmlns:a="http://schemas.openxmlformats.org/drawingml/2006/main"/>
          <a:p xmlns:a="http://schemas.openxmlformats.org/drawingml/2006/main">
            <a:pPr algn="ctr">
              <a:buNone/>
              <a:defRPr sz="1500" b="0">
                <a:solidFill>
                  <a:srgbClr val="555555"/>
                </a:solidFill>
                <a:latin typeface="PingFang SC"/>
                <a:ea typeface="PingFang SC"/>
                <a:cs typeface="PingFang SC"/>
              </a:defRPr>
            </a:pPr>
            <a:r>
              <a:t>指标覆盖空间报名转化、到场率、完成率、互动质量、成果质量、满意度、组织报告和复训建议。</a:t>
            </a:r>
          </a:p>
        </p:txBody>
      </p:sp>
    </p:spTree>
    <p:extLst>
      <p:ext uri="{BB962C8B-B14F-4D97-AF65-F5344CB8AC3E}">
        <p14:creationId xmlns:p14="http://schemas.microsoft.com/office/powerpoint/2010/main" val="148202271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162602DD-880E-4969-B819-9051B52399D0}"/>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产品化交付</a:t>
            </a:r>
          </a:p>
        </p:txBody>
      </p:sp>
      <p:sp>
        <p:nvSpPr>
          <p:cNvPr id="3" name="矩形 2">
            <a:extLst xmlns:a="http://schemas.openxmlformats.org/drawingml/2006/main">
              <a:ext uri="{FF2B5EF4-FFF2-40B4-BE49-F238E27FC236}">
                <a16:creationId xmlns:a16="http://schemas.microsoft.com/office/drawing/2014/main" id="{37F4A11B-6CEF-48DD-A8C2-D74597676F29}"/>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25" b="1">
                <a:solidFill>
                  <a:srgbClr val="000000"/>
                </a:solidFill>
                <a:latin typeface="PingFang SC"/>
                <a:ea typeface="PingFang SC"/>
                <a:cs typeface="PingFang SC"/>
              </a:defRPr>
            </a:pPr>
            <a:r>
              <a:t>解决方案、套餐、租户和空间把能力转成可交付产品</a:t>
            </a:r>
          </a:p>
        </p:txBody>
      </p:sp>
      <p:sp>
        <p:nvSpPr>
          <p:cNvPr id="4" name="矩形 3">
            <a:extLst xmlns:a="http://schemas.openxmlformats.org/drawingml/2006/main">
              <a:ext uri="{FF2B5EF4-FFF2-40B4-BE49-F238E27FC236}">
                <a16:creationId xmlns:a16="http://schemas.microsoft.com/office/drawing/2014/main" id="{A53F683C-6F34-468E-9D93-146EAED8919C}"/>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7670F9F0-1533-441B-95EE-FC63F9D8B2CA}"/>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13</a:t>
            </a:r>
          </a:p>
        </p:txBody>
      </p:sp>
      <p:sp>
        <p:nvSpPr>
          <p:cNvPr id="6" name="矩形 5">
            <a:extLst xmlns:a="http://schemas.openxmlformats.org/drawingml/2006/main">
              <a:ext uri="{FF2B5EF4-FFF2-40B4-BE49-F238E27FC236}">
                <a16:creationId xmlns:a16="http://schemas.microsoft.com/office/drawing/2014/main" id="{2D1916AB-CC65-4957-BBB2-01FD799C995D}"/>
              </a:ext>
            </a:extLst>
          </p:cNvPr>
          <p:cNvSpPr>
            <a:spLocks xmlns:a="http://schemas.openxmlformats.org/drawingml/2006/main" noGrp="1"/>
          </p:cNvSpPr>
          <p:nvPr/>
        </p:nvSpPr>
        <p:spPr>
          <a:xfrm xmlns:a="http://schemas.openxmlformats.org/drawingml/2006/main">
            <a:off x="390525" y="2038350"/>
            <a:ext cx="3238500" cy="31623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矩形 6">
            <a:extLst xmlns:a="http://schemas.openxmlformats.org/drawingml/2006/main">
              <a:ext uri="{FF2B5EF4-FFF2-40B4-BE49-F238E27FC236}">
                <a16:creationId xmlns:a16="http://schemas.microsoft.com/office/drawing/2014/main" id="{82438B06-3CE9-45DA-B46B-E1441AF548E7}"/>
              </a:ext>
            </a:extLst>
          </p:cNvPr>
          <p:cNvSpPr>
            <a:spLocks xmlns:a="http://schemas.openxmlformats.org/drawingml/2006/main" noGrp="1"/>
          </p:cNvSpPr>
          <p:nvPr/>
        </p:nvSpPr>
        <p:spPr>
          <a:xfrm xmlns:a="http://schemas.openxmlformats.org/drawingml/2006/main">
            <a:off x="619125" y="2266950"/>
            <a:ext cx="2781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250" b="1">
                <a:solidFill>
                  <a:srgbClr val="000000"/>
                </a:solidFill>
                <a:latin typeface="PingFang SC"/>
                <a:ea typeface="PingFang SC"/>
                <a:cs typeface="PingFang SC"/>
              </a:defRPr>
            </a:pPr>
            <a:r>
              <a:t>解决方案</a:t>
            </a:r>
          </a:p>
        </p:txBody>
      </p:sp>
      <p:sp>
        <p:nvSpPr>
          <p:cNvPr id="8" name="矩形 7">
            <a:extLst xmlns:a="http://schemas.openxmlformats.org/drawingml/2006/main">
              <a:ext uri="{FF2B5EF4-FFF2-40B4-BE49-F238E27FC236}">
                <a16:creationId xmlns:a16="http://schemas.microsoft.com/office/drawing/2014/main" id="{9AF9F9E2-F910-4FEB-B7C9-1223AF4324D5}"/>
              </a:ext>
            </a:extLst>
          </p:cNvPr>
          <p:cNvSpPr>
            <a:spLocks xmlns:a="http://schemas.openxmlformats.org/drawingml/2006/main" noGrp="1"/>
          </p:cNvSpPr>
          <p:nvPr/>
        </p:nvSpPr>
        <p:spPr>
          <a:xfrm xmlns:a="http://schemas.openxmlformats.org/drawingml/2006/main">
            <a:off x="619125" y="2724150"/>
            <a:ext cx="2781300" cy="2286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000000"/>
                </a:solidFill>
                <a:latin typeface="PingFang SC"/>
                <a:ea typeface="PingFang SC"/>
                <a:cs typeface="PingFang SC"/>
              </a:defRPr>
            </a:pPr>
            <a:r>
              <a:t>定义发展场景和业务价值，并沉淀空间模板：企业内训、客户培训、伙伴培训、认证培训、跨校教师研修、公开工作坊等。</a:t>
            </a:r>
          </a:p>
        </p:txBody>
      </p:sp>
      <p:sp>
        <p:nvSpPr>
          <p:cNvPr id="9" name="矩形 8">
            <a:extLst xmlns:a="http://schemas.openxmlformats.org/drawingml/2006/main">
              <a:ext uri="{FF2B5EF4-FFF2-40B4-BE49-F238E27FC236}">
                <a16:creationId xmlns:a16="http://schemas.microsoft.com/office/drawing/2014/main" id="{3FE023AE-43EE-4D9B-BA94-BEDE3F6E0DCD}"/>
              </a:ext>
            </a:extLst>
          </p:cNvPr>
          <p:cNvSpPr>
            <a:spLocks xmlns:a="http://schemas.openxmlformats.org/drawingml/2006/main" noGrp="1"/>
          </p:cNvSpPr>
          <p:nvPr/>
        </p:nvSpPr>
        <p:spPr>
          <a:xfrm xmlns:a="http://schemas.openxmlformats.org/drawingml/2006/main">
            <a:off x="4476750" y="2038350"/>
            <a:ext cx="3238500" cy="31623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92AA3A17-F566-48AB-B6C1-CD3E40CDF8DD}"/>
              </a:ext>
            </a:extLst>
          </p:cNvPr>
          <p:cNvSpPr>
            <a:spLocks xmlns:a="http://schemas.openxmlformats.org/drawingml/2006/main" noGrp="1"/>
          </p:cNvSpPr>
          <p:nvPr/>
        </p:nvSpPr>
        <p:spPr>
          <a:xfrm xmlns:a="http://schemas.openxmlformats.org/drawingml/2006/main">
            <a:off x="4705350" y="2266950"/>
            <a:ext cx="2781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250" b="1">
                <a:solidFill>
                  <a:srgbClr val="000000"/>
                </a:solidFill>
                <a:latin typeface="PingFang SC"/>
                <a:ea typeface="PingFang SC"/>
                <a:cs typeface="PingFang SC"/>
              </a:defRPr>
            </a:pPr>
            <a:r>
              <a:t>套餐</a:t>
            </a:r>
          </a:p>
        </p:txBody>
      </p:sp>
      <p:sp>
        <p:nvSpPr>
          <p:cNvPr id="11" name="矩形 10">
            <a:extLst xmlns:a="http://schemas.openxmlformats.org/drawingml/2006/main">
              <a:ext uri="{FF2B5EF4-FFF2-40B4-BE49-F238E27FC236}">
                <a16:creationId xmlns:a16="http://schemas.microsoft.com/office/drawing/2014/main" id="{6B6BA735-0A52-4ADA-B0F4-83ED726A66DE}"/>
              </a:ext>
            </a:extLst>
          </p:cNvPr>
          <p:cNvSpPr>
            <a:spLocks xmlns:a="http://schemas.openxmlformats.org/drawingml/2006/main" noGrp="1"/>
          </p:cNvSpPr>
          <p:nvPr/>
        </p:nvSpPr>
        <p:spPr>
          <a:xfrm xmlns:a="http://schemas.openxmlformats.org/drawingml/2006/main">
            <a:off x="4705350" y="2724150"/>
            <a:ext cx="2781300" cy="2286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000000"/>
                </a:solidFill>
                <a:latin typeface="PingFang SC"/>
                <a:ea typeface="PingFang SC"/>
                <a:cs typeface="PingFang SC"/>
              </a:defRPr>
            </a:pPr>
            <a:r>
              <a:t>定义内部/外部用户数、空间数、活动数、资料容量、AI 调用、报名审核、证书、报表和服务等级。</a:t>
            </a:r>
          </a:p>
        </p:txBody>
      </p:sp>
      <p:sp>
        <p:nvSpPr>
          <p:cNvPr id="12" name="矩形 11">
            <a:extLst xmlns:a="http://schemas.openxmlformats.org/drawingml/2006/main">
              <a:ext uri="{FF2B5EF4-FFF2-40B4-BE49-F238E27FC236}">
                <a16:creationId xmlns:a16="http://schemas.microsoft.com/office/drawing/2014/main" id="{818F910C-EACC-4AF0-98F1-C62EA93F542D}"/>
              </a:ext>
            </a:extLst>
          </p:cNvPr>
          <p:cNvSpPr>
            <a:spLocks xmlns:a="http://schemas.openxmlformats.org/drawingml/2006/main" noGrp="1"/>
          </p:cNvSpPr>
          <p:nvPr/>
        </p:nvSpPr>
        <p:spPr>
          <a:xfrm xmlns:a="http://schemas.openxmlformats.org/drawingml/2006/main">
            <a:off x="8562975" y="2038350"/>
            <a:ext cx="3238500" cy="31623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E99FE403-DC98-4492-BE5C-BB0D7B35033C}"/>
              </a:ext>
            </a:extLst>
          </p:cNvPr>
          <p:cNvSpPr>
            <a:spLocks xmlns:a="http://schemas.openxmlformats.org/drawingml/2006/main" noGrp="1"/>
          </p:cNvSpPr>
          <p:nvPr/>
        </p:nvSpPr>
        <p:spPr>
          <a:xfrm xmlns:a="http://schemas.openxmlformats.org/drawingml/2006/main">
            <a:off x="8791575" y="2266950"/>
            <a:ext cx="2781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250" b="1">
                <a:solidFill>
                  <a:srgbClr val="000000"/>
                </a:solidFill>
                <a:latin typeface="PingFang SC"/>
                <a:ea typeface="PingFang SC"/>
                <a:cs typeface="PingFang SC"/>
              </a:defRPr>
            </a:pPr>
            <a:r>
              <a:t>租户</a:t>
            </a:r>
          </a:p>
        </p:txBody>
      </p:sp>
      <p:sp>
        <p:nvSpPr>
          <p:cNvPr id="14" name="矩形 13">
            <a:extLst xmlns:a="http://schemas.openxmlformats.org/drawingml/2006/main">
              <a:ext uri="{FF2B5EF4-FFF2-40B4-BE49-F238E27FC236}">
                <a16:creationId xmlns:a16="http://schemas.microsoft.com/office/drawing/2014/main" id="{930B5D84-8850-469F-918B-12CFF00BF5C5}"/>
              </a:ext>
            </a:extLst>
          </p:cNvPr>
          <p:cNvSpPr>
            <a:spLocks xmlns:a="http://schemas.openxmlformats.org/drawingml/2006/main" noGrp="1"/>
          </p:cNvSpPr>
          <p:nvPr/>
        </p:nvSpPr>
        <p:spPr>
          <a:xfrm xmlns:a="http://schemas.openxmlformats.org/drawingml/2006/main">
            <a:off x="8791575" y="2724150"/>
            <a:ext cx="2781300" cy="2286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000000"/>
                </a:solidFill>
                <a:latin typeface="PingFang SC"/>
                <a:ea typeface="PingFang SC"/>
                <a:cs typeface="PingFang SC"/>
              </a:defRPr>
            </a:pPr>
            <a:r>
              <a:t>承接客户主体、组织架构、业务空间、外部来源组织、数据隔离、权限边界、服务周期和客户成功运营。</a:t>
            </a:r>
          </a:p>
        </p:txBody>
      </p:sp>
      <p:sp>
        <p:nvSpPr>
          <p:cNvPr id="15" name="矩形 14">
            <a:extLst xmlns:a="http://schemas.openxmlformats.org/drawingml/2006/main">
              <a:ext uri="{FF2B5EF4-FFF2-40B4-BE49-F238E27FC236}">
                <a16:creationId xmlns:a16="http://schemas.microsoft.com/office/drawing/2014/main" id="{8447E6C4-D5BC-4C7B-BEB9-47162D65D3D9}"/>
              </a:ext>
            </a:extLst>
          </p:cNvPr>
          <p:cNvSpPr>
            <a:spLocks xmlns:a="http://schemas.openxmlformats.org/drawingml/2006/main" noGrp="1"/>
          </p:cNvSpPr>
          <p:nvPr/>
        </p:nvSpPr>
        <p:spPr>
          <a:xfrm xmlns:a="http://schemas.openxmlformats.org/drawingml/2006/main">
            <a:off x="390525" y="5600700"/>
            <a:ext cx="8096250" cy="342900"/>
          </a:xfrm>
          <a:prstGeom xmlns:a="http://schemas.openxmlformats.org/drawingml/2006/main" prst="rect">
            <a:avLst/>
          </a:prstGeom>
        </p:spPr>
        <p:txBody>
          <a:bodyPr xmlns:a="http://schemas.openxmlformats.org/drawingml/2006/main" lIns="0" tIns="0" rIns="0" bIns="0" anchor="t">
            <a:normAutofit fontScale="66270"/>
          </a:bodyPr>
          <a:lstStyle xmlns:a="http://schemas.openxmlformats.org/drawingml/2006/main"/>
          <a:p xmlns:a="http://schemas.openxmlformats.org/drawingml/2006/main">
            <a:pPr algn="l">
              <a:buNone/>
              <a:defRPr sz="1875" b="1">
                <a:solidFill>
                  <a:srgbClr val="000000"/>
                </a:solidFill>
                <a:latin typeface="PingFang SC"/>
                <a:ea typeface="PingFang SC"/>
                <a:cs typeface="PingFang SC"/>
              </a:defRPr>
            </a:pPr>
            <a:r>
              <a:t>解决方案定义“服务谁和发展什么”，空间定义“如何运营”，套餐定义“按什么额度交付”，租户定义“给谁隔离”。</a:t>
            </a:r>
          </a:p>
        </p:txBody>
      </p:sp>
    </p:spTree>
    <p:extLst>
      <p:ext uri="{BB962C8B-B14F-4D97-AF65-F5344CB8AC3E}">
        <p14:creationId xmlns:p14="http://schemas.microsoft.com/office/powerpoint/2010/main" val="8013382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9637F405-E560-4260-B01E-CCDA39179D0D}"/>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场景包</a:t>
            </a:r>
          </a:p>
        </p:txBody>
      </p:sp>
      <p:sp>
        <p:nvSpPr>
          <p:cNvPr id="3" name="矩形 2">
            <a:extLst xmlns:a="http://schemas.openxmlformats.org/drawingml/2006/main">
              <a:ext uri="{FF2B5EF4-FFF2-40B4-BE49-F238E27FC236}">
                <a16:creationId xmlns:a16="http://schemas.microsoft.com/office/drawing/2014/main" id="{7DECC312-ED01-45A7-843E-C04490EBC32A}"/>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75" b="1">
                <a:solidFill>
                  <a:srgbClr val="000000"/>
                </a:solidFill>
                <a:latin typeface="PingFang SC"/>
                <a:ea typeface="PingFang SC"/>
                <a:cs typeface="PingFang SC"/>
              </a:defRPr>
            </a:pPr>
            <a:r>
              <a:t>场景包以空间模板方式适配内训与外训需求</a:t>
            </a:r>
          </a:p>
        </p:txBody>
      </p:sp>
      <p:sp>
        <p:nvSpPr>
          <p:cNvPr id="4" name="矩形 3">
            <a:extLst xmlns:a="http://schemas.openxmlformats.org/drawingml/2006/main">
              <a:ext uri="{FF2B5EF4-FFF2-40B4-BE49-F238E27FC236}">
                <a16:creationId xmlns:a16="http://schemas.microsoft.com/office/drawing/2014/main" id="{8F71566C-5E52-4327-A64A-DB924AA43568}"/>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C37660A1-23C5-4F58-9A91-B53934A7EE04}"/>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14</a:t>
            </a:r>
          </a:p>
        </p:txBody>
      </p:sp>
      <p:sp>
        <p:nvSpPr>
          <p:cNvPr id="6" name="矩形 5">
            <a:extLst xmlns:a="http://schemas.openxmlformats.org/drawingml/2006/main">
              <a:ext uri="{FF2B5EF4-FFF2-40B4-BE49-F238E27FC236}">
                <a16:creationId xmlns:a16="http://schemas.microsoft.com/office/drawing/2014/main" id="{764C014D-1432-4E5D-ACCE-B23C3EC4CCBA}"/>
              </a:ext>
            </a:extLst>
          </p:cNvPr>
          <p:cNvSpPr>
            <a:spLocks xmlns:a="http://schemas.openxmlformats.org/drawingml/2006/main" noGrp="1"/>
          </p:cNvSpPr>
          <p:nvPr/>
        </p:nvSpPr>
        <p:spPr>
          <a:xfrm xmlns:a="http://schemas.openxmlformats.org/drawingml/2006/main">
            <a:off x="390525" y="1885950"/>
            <a:ext cx="17145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555555"/>
                </a:solidFill>
                <a:latin typeface="PingFang SC"/>
                <a:ea typeface="PingFang SC"/>
                <a:cs typeface="PingFang SC"/>
              </a:defRPr>
            </a:pPr>
            <a:r>
              <a:t>典型场景</a:t>
            </a:r>
          </a:p>
        </p:txBody>
      </p:sp>
      <p:sp>
        <p:nvSpPr>
          <p:cNvPr id="7" name="矩形 6">
            <a:extLst xmlns:a="http://schemas.openxmlformats.org/drawingml/2006/main">
              <a:ext uri="{FF2B5EF4-FFF2-40B4-BE49-F238E27FC236}">
                <a16:creationId xmlns:a16="http://schemas.microsoft.com/office/drawing/2014/main" id="{5A1B040D-2F0D-461E-BB0F-EB68D6631923}"/>
              </a:ext>
            </a:extLst>
          </p:cNvPr>
          <p:cNvSpPr>
            <a:spLocks xmlns:a="http://schemas.openxmlformats.org/drawingml/2006/main" noGrp="1"/>
          </p:cNvSpPr>
          <p:nvPr/>
        </p:nvSpPr>
        <p:spPr>
          <a:xfrm xmlns:a="http://schemas.openxmlformats.org/drawingml/2006/main">
            <a:off x="390525" y="2362200"/>
            <a:ext cx="5334000" cy="19621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8" name="矩形 7">
            <a:extLst xmlns:a="http://schemas.openxmlformats.org/drawingml/2006/main">
              <a:ext uri="{FF2B5EF4-FFF2-40B4-BE49-F238E27FC236}">
                <a16:creationId xmlns:a16="http://schemas.microsoft.com/office/drawing/2014/main" id="{92231CAE-A639-4464-A06B-020E87FD7EA4}"/>
              </a:ext>
            </a:extLst>
          </p:cNvPr>
          <p:cNvSpPr>
            <a:spLocks xmlns:a="http://schemas.openxmlformats.org/drawingml/2006/main" noGrp="1"/>
          </p:cNvSpPr>
          <p:nvPr/>
        </p:nvSpPr>
        <p:spPr>
          <a:xfrm xmlns:a="http://schemas.openxmlformats.org/drawingml/2006/main">
            <a:off x="619125" y="259080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组织内训 / 岗位提升</a:t>
            </a:r>
          </a:p>
        </p:txBody>
      </p:sp>
      <p:sp>
        <p:nvSpPr>
          <p:cNvPr id="9" name="矩形 8">
            <a:extLst xmlns:a="http://schemas.openxmlformats.org/drawingml/2006/main">
              <a:ext uri="{FF2B5EF4-FFF2-40B4-BE49-F238E27FC236}">
                <a16:creationId xmlns:a16="http://schemas.microsoft.com/office/drawing/2014/main" id="{1C8FF9FF-DD98-4AF1-9BA1-3B5AD83F3595}"/>
              </a:ext>
            </a:extLst>
          </p:cNvPr>
          <p:cNvSpPr>
            <a:spLocks xmlns:a="http://schemas.openxmlformats.org/drawingml/2006/main" noGrp="1"/>
          </p:cNvSpPr>
          <p:nvPr/>
        </p:nvSpPr>
        <p:spPr>
          <a:xfrm xmlns:a="http://schemas.openxmlformats.org/drawingml/2006/main">
            <a:off x="619125" y="3048000"/>
            <a:ext cx="487680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000000"/>
                </a:solidFill>
                <a:latin typeface="PingFang SC"/>
                <a:ea typeface="PingFang SC"/>
                <a:cs typeface="PingFang SC"/>
              </a:defRPr>
            </a:pPr>
            <a:r>
              <a:t>面向本组织成员，承接新人上手、制度合规、复盘会、导师制、岗位实践和案例萃取，每类场景都有空间模板。</a:t>
            </a:r>
          </a:p>
        </p:txBody>
      </p:sp>
      <p:sp>
        <p:nvSpPr>
          <p:cNvPr id="10" name="矩形 9">
            <a:extLst xmlns:a="http://schemas.openxmlformats.org/drawingml/2006/main">
              <a:ext uri="{FF2B5EF4-FFF2-40B4-BE49-F238E27FC236}">
                <a16:creationId xmlns:a16="http://schemas.microsoft.com/office/drawing/2014/main" id="{9CB72B89-0266-4382-9831-7850F014A718}"/>
              </a:ext>
            </a:extLst>
          </p:cNvPr>
          <p:cNvSpPr>
            <a:spLocks xmlns:a="http://schemas.openxmlformats.org/drawingml/2006/main" noGrp="1"/>
          </p:cNvSpPr>
          <p:nvPr/>
        </p:nvSpPr>
        <p:spPr>
          <a:xfrm xmlns:a="http://schemas.openxmlformats.org/drawingml/2006/main">
            <a:off x="6457950" y="2362200"/>
            <a:ext cx="5334000" cy="19621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1" name="矩形 10">
            <a:extLst xmlns:a="http://schemas.openxmlformats.org/drawingml/2006/main">
              <a:ext uri="{FF2B5EF4-FFF2-40B4-BE49-F238E27FC236}">
                <a16:creationId xmlns:a16="http://schemas.microsoft.com/office/drawing/2014/main" id="{FD00E0CE-38DA-4A3D-B749-4EFA16B8A1A1}"/>
              </a:ext>
            </a:extLst>
          </p:cNvPr>
          <p:cNvSpPr>
            <a:spLocks xmlns:a="http://schemas.openxmlformats.org/drawingml/2006/main" noGrp="1"/>
          </p:cNvSpPr>
          <p:nvPr/>
        </p:nvSpPr>
        <p:spPr>
          <a:xfrm xmlns:a="http://schemas.openxmlformats.org/drawingml/2006/main">
            <a:off x="6686550" y="259080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FF6B35"/>
                </a:solidFill>
                <a:latin typeface="PingFang SC"/>
                <a:ea typeface="PingFang SC"/>
                <a:cs typeface="PingFang SC"/>
              </a:defRPr>
            </a:pPr>
            <a:r>
              <a:t>外训 / 外部人员发展</a:t>
            </a:r>
          </a:p>
        </p:txBody>
      </p:sp>
      <p:sp>
        <p:nvSpPr>
          <p:cNvPr id="12" name="矩形 11">
            <a:extLst xmlns:a="http://schemas.openxmlformats.org/drawingml/2006/main">
              <a:ext uri="{FF2B5EF4-FFF2-40B4-BE49-F238E27FC236}">
                <a16:creationId xmlns:a16="http://schemas.microsoft.com/office/drawing/2014/main" id="{5EDB0A08-9FC2-49DF-A1C9-44F6A9AA598F}"/>
              </a:ext>
            </a:extLst>
          </p:cNvPr>
          <p:cNvSpPr>
            <a:spLocks xmlns:a="http://schemas.openxmlformats.org/drawingml/2006/main" noGrp="1"/>
          </p:cNvSpPr>
          <p:nvPr/>
        </p:nvSpPr>
        <p:spPr>
          <a:xfrm xmlns:a="http://schemas.openxmlformats.org/drawingml/2006/main">
            <a:off x="6686550" y="3048000"/>
            <a:ext cx="4876800" cy="1085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FFFFFF"/>
                </a:solidFill>
                <a:latin typeface="PingFang SC"/>
                <a:ea typeface="PingFang SC"/>
                <a:cs typeface="PingFang SC"/>
              </a:defRPr>
            </a:pPr>
            <a:r>
              <a:t>面向客户、伙伴、外校教师和专家社群，承接认证培训、公开工作坊、跨校教师研修、产品赋能和社群共学，并独立成空间。</a:t>
            </a:r>
          </a:p>
        </p:txBody>
      </p:sp>
      <p:sp>
        <p:nvSpPr>
          <p:cNvPr id="13" name="矩形 12">
            <a:extLst xmlns:a="http://schemas.openxmlformats.org/drawingml/2006/main">
              <a:ext uri="{FF2B5EF4-FFF2-40B4-BE49-F238E27FC236}">
                <a16:creationId xmlns:a16="http://schemas.microsoft.com/office/drawing/2014/main" id="{809EE8AA-44D7-423A-B7EC-2E5CB6390005}"/>
              </a:ext>
            </a:extLst>
          </p:cNvPr>
          <p:cNvSpPr>
            <a:spLocks xmlns:a="http://schemas.openxmlformats.org/drawingml/2006/main" noGrp="1"/>
          </p:cNvSpPr>
          <p:nvPr/>
        </p:nvSpPr>
        <p:spPr>
          <a:xfrm xmlns:a="http://schemas.openxmlformats.org/drawingml/2006/main">
            <a:off x="390525" y="4933950"/>
            <a:ext cx="11401425" cy="8191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4" name="矩形 13">
            <a:extLst xmlns:a="http://schemas.openxmlformats.org/drawingml/2006/main">
              <a:ext uri="{FF2B5EF4-FFF2-40B4-BE49-F238E27FC236}">
                <a16:creationId xmlns:a16="http://schemas.microsoft.com/office/drawing/2014/main" id="{1C184E3D-2C69-43BC-8CB1-05524777594A}"/>
              </a:ext>
            </a:extLst>
          </p:cNvPr>
          <p:cNvSpPr>
            <a:spLocks xmlns:a="http://schemas.openxmlformats.org/drawingml/2006/main" noGrp="1"/>
          </p:cNvSpPr>
          <p:nvPr/>
        </p:nvSpPr>
        <p:spPr>
          <a:xfrm xmlns:a="http://schemas.openxmlformats.org/drawingml/2006/main">
            <a:off x="685800" y="5143500"/>
            <a:ext cx="10810875" cy="381000"/>
          </a:xfrm>
          <a:prstGeom xmlns:a="http://schemas.openxmlformats.org/drawingml/2006/main" prst="rect">
            <a:avLst/>
          </a:prstGeom>
        </p:spPr>
        <p:txBody>
          <a:bodyPr xmlns:a="http://schemas.openxmlformats.org/drawingml/2006/main" lIns="0" tIns="0" rIns="0" bIns="0" anchor="ctr">
            <a:normAutofit fontScale="90450"/>
          </a:bodyPr>
          <a:lstStyle xmlns:a="http://schemas.openxmlformats.org/drawingml/2006/main"/>
          <a:p xmlns:a="http://schemas.openxmlformats.org/drawingml/2006/main">
            <a:pPr algn="ctr">
              <a:buNone/>
              <a:defRPr sz="1875" b="1">
                <a:solidFill>
                  <a:srgbClr val="000000"/>
                </a:solidFill>
                <a:latin typeface="PingFang SC"/>
                <a:ea typeface="PingFang SC"/>
                <a:cs typeface="PingFang SC"/>
              </a:defRPr>
            </a:pPr>
            <a:r>
              <a:t>外训不是员工外出培训，而是平台管理外部非本组织人员参训；空间沉淀发展证据、组织报告和可复用场景包。</a:t>
            </a:r>
          </a:p>
        </p:txBody>
      </p:sp>
    </p:spTree>
    <p:extLst>
      <p:ext uri="{BB962C8B-B14F-4D97-AF65-F5344CB8AC3E}">
        <p14:creationId xmlns:p14="http://schemas.microsoft.com/office/powerpoint/2010/main" val="181187972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71EBD627-D5F6-4040-867F-D8E10C3240B0}"/>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实施路线</a:t>
            </a:r>
          </a:p>
        </p:txBody>
      </p:sp>
      <p:sp>
        <p:nvSpPr>
          <p:cNvPr id="3" name="矩形 2">
            <a:extLst xmlns:a="http://schemas.openxmlformats.org/drawingml/2006/main">
              <a:ext uri="{FF2B5EF4-FFF2-40B4-BE49-F238E27FC236}">
                <a16:creationId xmlns:a16="http://schemas.microsoft.com/office/drawing/2014/main" id="{DC71BC9A-84E2-4699-A8A5-DF808A38BEC3}"/>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625" b="1">
                <a:solidFill>
                  <a:srgbClr val="000000"/>
                </a:solidFill>
                <a:latin typeface="PingFang SC"/>
                <a:ea typeface="PingFang SC"/>
                <a:cs typeface="PingFang SC"/>
              </a:defRPr>
            </a:pPr>
            <a:r>
              <a:t>从空间闭环到商业增长，分五阶段落地内外训产品</a:t>
            </a:r>
          </a:p>
        </p:txBody>
      </p:sp>
      <p:sp>
        <p:nvSpPr>
          <p:cNvPr id="4" name="矩形 3">
            <a:extLst xmlns:a="http://schemas.openxmlformats.org/drawingml/2006/main">
              <a:ext uri="{FF2B5EF4-FFF2-40B4-BE49-F238E27FC236}">
                <a16:creationId xmlns:a16="http://schemas.microsoft.com/office/drawing/2014/main" id="{BC0F10E7-D2D6-409D-BD1F-E7E59121E32B}"/>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F994A347-9772-4A5A-9FF3-70503ADA6E89}"/>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15</a:t>
            </a:r>
          </a:p>
        </p:txBody>
      </p:sp>
      <p:sp>
        <p:nvSpPr>
          <p:cNvPr id="6" name="矩形 5">
            <a:extLst xmlns:a="http://schemas.openxmlformats.org/drawingml/2006/main">
              <a:ext uri="{FF2B5EF4-FFF2-40B4-BE49-F238E27FC236}">
                <a16:creationId xmlns:a16="http://schemas.microsoft.com/office/drawing/2014/main" id="{D4AECF60-953E-472E-AFB6-21A50F33F7EC}"/>
              </a:ext>
            </a:extLst>
          </p:cNvPr>
          <p:cNvSpPr>
            <a:spLocks xmlns:a="http://schemas.openxmlformats.org/drawingml/2006/main" noGrp="1"/>
          </p:cNvSpPr>
          <p:nvPr/>
        </p:nvSpPr>
        <p:spPr>
          <a:xfrm xmlns:a="http://schemas.openxmlformats.org/drawingml/2006/main">
            <a:off x="390525" y="1866900"/>
            <a:ext cx="1714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555555"/>
                </a:solidFill>
                <a:latin typeface="PingFang SC"/>
                <a:ea typeface="PingFang SC"/>
                <a:cs typeface="PingFang SC"/>
              </a:defRPr>
            </a:pPr>
            <a:r>
              <a:t>路线图</a:t>
            </a:r>
          </a:p>
        </p:txBody>
      </p:sp>
      <p:sp>
        <p:nvSpPr>
          <p:cNvPr id="7" name="矩形 6">
            <a:extLst xmlns:a="http://schemas.openxmlformats.org/drawingml/2006/main">
              <a:ext uri="{FF2B5EF4-FFF2-40B4-BE49-F238E27FC236}">
                <a16:creationId xmlns:a16="http://schemas.microsoft.com/office/drawing/2014/main" id="{2EC8CEB8-9C6C-47F2-8895-4C09082D1487}"/>
              </a:ext>
            </a:extLst>
          </p:cNvPr>
          <p:cNvSpPr>
            <a:spLocks xmlns:a="http://schemas.openxmlformats.org/drawingml/2006/main" noGrp="1"/>
          </p:cNvSpPr>
          <p:nvPr/>
        </p:nvSpPr>
        <p:spPr>
          <a:xfrm xmlns:a="http://schemas.openxmlformats.org/drawingml/2006/main">
            <a:off x="552450" y="2190750"/>
            <a:ext cx="552450" cy="266700"/>
          </a:xfrm>
          <a:prstGeom xmlns:a="http://schemas.openxmlformats.org/drawingml/2006/main" prst="rect">
            <a:avLst/>
          </a:prstGeom>
        </p:spPr>
        <p:txBody>
          <a:bodyPr xmlns:a="http://schemas.openxmlformats.org/drawingml/2006/main" lIns="0" tIns="0" rIns="0" bIns="0" anchor="ctr">
            <a:normAutofit fontScale="93333"/>
          </a:bodyPr>
          <a:lstStyle xmlns:a="http://schemas.openxmlformats.org/drawingml/2006/main"/>
          <a:p xmlns:a="http://schemas.openxmlformats.org/drawingml/2006/main">
            <a:pPr algn="ctr">
              <a:buNone/>
              <a:defRPr sz="1875" b="1">
                <a:solidFill>
                  <a:srgbClr val="FF6B35"/>
                </a:solidFill>
                <a:latin typeface="PingFang SC"/>
                <a:ea typeface="PingFang SC"/>
                <a:cs typeface="PingFang SC"/>
              </a:defRPr>
            </a:pPr>
            <a:r>
              <a:t>01</a:t>
            </a:r>
          </a:p>
        </p:txBody>
      </p:sp>
      <p:sp>
        <p:nvSpPr>
          <p:cNvPr id="8" name="矩形 7">
            <a:extLst xmlns:a="http://schemas.openxmlformats.org/drawingml/2006/main">
              <a:ext uri="{FF2B5EF4-FFF2-40B4-BE49-F238E27FC236}">
                <a16:creationId xmlns:a16="http://schemas.microsoft.com/office/drawing/2014/main" id="{FE1FE599-A4AE-4D70-8EA2-0E0AFECC8D3D}"/>
              </a:ext>
            </a:extLst>
          </p:cNvPr>
          <p:cNvSpPr>
            <a:spLocks xmlns:a="http://schemas.openxmlformats.org/drawingml/2006/main" noGrp="1"/>
          </p:cNvSpPr>
          <p:nvPr/>
        </p:nvSpPr>
        <p:spPr>
          <a:xfrm xmlns:a="http://schemas.openxmlformats.org/drawingml/2006/main">
            <a:off x="1257300" y="2133600"/>
            <a:ext cx="3905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PingFang SC"/>
                <a:ea typeface="PingFang SC"/>
                <a:cs typeface="PingFang SC"/>
              </a:defRPr>
            </a:pPr>
            <a:r>
              <a:t>V1 基础闭环</a:t>
            </a:r>
          </a:p>
        </p:txBody>
      </p:sp>
      <p:sp>
        <p:nvSpPr>
          <p:cNvPr id="9" name="矩形 8">
            <a:extLst xmlns:a="http://schemas.openxmlformats.org/drawingml/2006/main">
              <a:ext uri="{FF2B5EF4-FFF2-40B4-BE49-F238E27FC236}">
                <a16:creationId xmlns:a16="http://schemas.microsoft.com/office/drawing/2014/main" id="{431218A3-DE49-4174-A5DD-304CAAB4C4EC}"/>
              </a:ext>
            </a:extLst>
          </p:cNvPr>
          <p:cNvSpPr>
            <a:spLocks xmlns:a="http://schemas.openxmlformats.org/drawingml/2006/main" noGrp="1"/>
          </p:cNvSpPr>
          <p:nvPr/>
        </p:nvSpPr>
        <p:spPr>
          <a:xfrm xmlns:a="http://schemas.openxmlformats.org/drawingml/2006/main">
            <a:off x="1257300" y="2457450"/>
            <a:ext cx="4286250" cy="247650"/>
          </a:xfrm>
          <a:prstGeom xmlns:a="http://schemas.openxmlformats.org/drawingml/2006/main" prst="rect">
            <a:avLst/>
          </a:prstGeom>
        </p:spPr>
        <p:txBody>
          <a:bodyPr xmlns:a="http://schemas.openxmlformats.org/drawingml/2006/main" lIns="0" tIns="0" rIns="0" bIns="0" anchor="t">
            <a:normAutofit fontScale="69336"/>
          </a:bodyPr>
          <a:lstStyle xmlns:a="http://schemas.openxmlformats.org/drawingml/2006/main"/>
          <a:p xmlns:a="http://schemas.openxmlformats.org/drawingml/2006/main">
            <a:pPr algn="l">
              <a:buNone/>
              <a:defRPr sz="1350" b="0">
                <a:solidFill>
                  <a:srgbClr val="555555"/>
                </a:solidFill>
                <a:latin typeface="PingFang SC"/>
                <a:ea typeface="PingFang SC"/>
                <a:cs typeface="PingFang SC"/>
              </a:defRPr>
            </a:pPr>
            <a:r>
              <a:t>项目、业务空间、内部成员、外部参与者、报名审核、问卷、证书/证明和台账。</a:t>
            </a:r>
          </a:p>
        </p:txBody>
      </p:sp>
      <p:sp>
        <p:nvSpPr>
          <p:cNvPr id="10" name="矩形 9">
            <a:extLst xmlns:a="http://schemas.openxmlformats.org/drawingml/2006/main">
              <a:ext uri="{FF2B5EF4-FFF2-40B4-BE49-F238E27FC236}">
                <a16:creationId xmlns:a16="http://schemas.microsoft.com/office/drawing/2014/main" id="{D00E1B55-BF39-4C49-AE05-D1ADCB3AF416}"/>
              </a:ext>
            </a:extLst>
          </p:cNvPr>
          <p:cNvSpPr>
            <a:spLocks xmlns:a="http://schemas.openxmlformats.org/drawingml/2006/main" noGrp="1"/>
          </p:cNvSpPr>
          <p:nvPr/>
        </p:nvSpPr>
        <p:spPr>
          <a:xfrm xmlns:a="http://schemas.openxmlformats.org/drawingml/2006/main">
            <a:off x="552450" y="2933700"/>
            <a:ext cx="552450" cy="266700"/>
          </a:xfrm>
          <a:prstGeom xmlns:a="http://schemas.openxmlformats.org/drawingml/2006/main" prst="rect">
            <a:avLst/>
          </a:prstGeom>
        </p:spPr>
        <p:txBody>
          <a:bodyPr xmlns:a="http://schemas.openxmlformats.org/drawingml/2006/main" lIns="0" tIns="0" rIns="0" bIns="0" anchor="ctr">
            <a:normAutofit fontScale="93333"/>
          </a:bodyPr>
          <a:lstStyle xmlns:a="http://schemas.openxmlformats.org/drawingml/2006/main"/>
          <a:p xmlns:a="http://schemas.openxmlformats.org/drawingml/2006/main">
            <a:pPr algn="ctr">
              <a:buNone/>
              <a:defRPr sz="1875" b="1">
                <a:solidFill>
                  <a:srgbClr val="FF6B35"/>
                </a:solidFill>
                <a:latin typeface="PingFang SC"/>
                <a:ea typeface="PingFang SC"/>
                <a:cs typeface="PingFang SC"/>
              </a:defRPr>
            </a:pPr>
            <a:r>
              <a:t>02</a:t>
            </a:r>
          </a:p>
        </p:txBody>
      </p:sp>
      <p:sp>
        <p:nvSpPr>
          <p:cNvPr id="11" name="矩形 10">
            <a:extLst xmlns:a="http://schemas.openxmlformats.org/drawingml/2006/main">
              <a:ext uri="{FF2B5EF4-FFF2-40B4-BE49-F238E27FC236}">
                <a16:creationId xmlns:a16="http://schemas.microsoft.com/office/drawing/2014/main" id="{9C3358B7-475B-4D13-9E9B-9EE18F2C6B97}"/>
              </a:ext>
            </a:extLst>
          </p:cNvPr>
          <p:cNvSpPr>
            <a:spLocks xmlns:a="http://schemas.openxmlformats.org/drawingml/2006/main" noGrp="1"/>
          </p:cNvSpPr>
          <p:nvPr/>
        </p:nvSpPr>
        <p:spPr>
          <a:xfrm xmlns:a="http://schemas.openxmlformats.org/drawingml/2006/main">
            <a:off x="1257300" y="2876550"/>
            <a:ext cx="3905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PingFang SC"/>
                <a:ea typeface="PingFang SC"/>
                <a:cs typeface="PingFang SC"/>
              </a:defRPr>
            </a:pPr>
            <a:r>
              <a:t>V2 AI 增强</a:t>
            </a:r>
          </a:p>
        </p:txBody>
      </p:sp>
      <p:sp>
        <p:nvSpPr>
          <p:cNvPr id="12" name="矩形 11">
            <a:extLst xmlns:a="http://schemas.openxmlformats.org/drawingml/2006/main">
              <a:ext uri="{FF2B5EF4-FFF2-40B4-BE49-F238E27FC236}">
                <a16:creationId xmlns:a16="http://schemas.microsoft.com/office/drawing/2014/main" id="{EE04C6DD-895B-49B0-A8EF-5AADC262C387}"/>
              </a:ext>
            </a:extLst>
          </p:cNvPr>
          <p:cNvSpPr>
            <a:spLocks xmlns:a="http://schemas.openxmlformats.org/drawingml/2006/main" noGrp="1"/>
          </p:cNvSpPr>
          <p:nvPr/>
        </p:nvSpPr>
        <p:spPr>
          <a:xfrm xmlns:a="http://schemas.openxmlformats.org/drawingml/2006/main">
            <a:off x="1257300" y="3200400"/>
            <a:ext cx="4286250" cy="247650"/>
          </a:xfrm>
          <a:prstGeom xmlns:a="http://schemas.openxmlformats.org/drawingml/2006/main" prst="rect">
            <a:avLst/>
          </a:prstGeom>
        </p:spPr>
        <p:txBody>
          <a:bodyPr xmlns:a="http://schemas.openxmlformats.org/drawingml/2006/main" lIns="0" tIns="0" rIns="0" bIns="0" anchor="t">
            <a:normAutofit fontScale="72080"/>
          </a:bodyPr>
          <a:lstStyle xmlns:a="http://schemas.openxmlformats.org/drawingml/2006/main"/>
          <a:p xmlns:a="http://schemas.openxmlformats.org/drawingml/2006/main">
            <a:pPr algn="l">
              <a:buNone/>
              <a:defRPr sz="1350" b="0">
                <a:solidFill>
                  <a:srgbClr val="555555"/>
                </a:solidFill>
                <a:latin typeface="PingFang SC"/>
                <a:ea typeface="PingFang SC"/>
                <a:cs typeface="PingFang SC"/>
              </a:defRPr>
            </a:pPr>
            <a:r>
              <a:t>外训空间方案生成、报名问答、资料问答、研讨纪要、评课分析和运营预警。</a:t>
            </a:r>
          </a:p>
        </p:txBody>
      </p:sp>
      <p:sp>
        <p:nvSpPr>
          <p:cNvPr id="13" name="矩形 12">
            <a:extLst xmlns:a="http://schemas.openxmlformats.org/drawingml/2006/main">
              <a:ext uri="{FF2B5EF4-FFF2-40B4-BE49-F238E27FC236}">
                <a16:creationId xmlns:a16="http://schemas.microsoft.com/office/drawing/2014/main" id="{5B374D9F-235D-473A-BBFB-28019D831980}"/>
              </a:ext>
            </a:extLst>
          </p:cNvPr>
          <p:cNvSpPr>
            <a:spLocks xmlns:a="http://schemas.openxmlformats.org/drawingml/2006/main" noGrp="1"/>
          </p:cNvSpPr>
          <p:nvPr/>
        </p:nvSpPr>
        <p:spPr>
          <a:xfrm xmlns:a="http://schemas.openxmlformats.org/drawingml/2006/main">
            <a:off x="552450" y="3676650"/>
            <a:ext cx="552450" cy="266700"/>
          </a:xfrm>
          <a:prstGeom xmlns:a="http://schemas.openxmlformats.org/drawingml/2006/main" prst="rect">
            <a:avLst/>
          </a:prstGeom>
        </p:spPr>
        <p:txBody>
          <a:bodyPr xmlns:a="http://schemas.openxmlformats.org/drawingml/2006/main" lIns="0" tIns="0" rIns="0" bIns="0" anchor="ctr">
            <a:normAutofit fontScale="93333"/>
          </a:bodyPr>
          <a:lstStyle xmlns:a="http://schemas.openxmlformats.org/drawingml/2006/main"/>
          <a:p xmlns:a="http://schemas.openxmlformats.org/drawingml/2006/main">
            <a:pPr algn="ctr">
              <a:buNone/>
              <a:defRPr sz="1875" b="1">
                <a:solidFill>
                  <a:srgbClr val="FF6B35"/>
                </a:solidFill>
                <a:latin typeface="PingFang SC"/>
                <a:ea typeface="PingFang SC"/>
                <a:cs typeface="PingFang SC"/>
              </a:defRPr>
            </a:pPr>
            <a:r>
              <a:t>03</a:t>
            </a:r>
          </a:p>
        </p:txBody>
      </p:sp>
      <p:sp>
        <p:nvSpPr>
          <p:cNvPr id="14" name="矩形 13">
            <a:extLst xmlns:a="http://schemas.openxmlformats.org/drawingml/2006/main">
              <a:ext uri="{FF2B5EF4-FFF2-40B4-BE49-F238E27FC236}">
                <a16:creationId xmlns:a16="http://schemas.microsoft.com/office/drawing/2014/main" id="{8DEE9E36-68D3-4976-9F9C-D587E9A7589B}"/>
              </a:ext>
            </a:extLst>
          </p:cNvPr>
          <p:cNvSpPr>
            <a:spLocks xmlns:a="http://schemas.openxmlformats.org/drawingml/2006/main" noGrp="1"/>
          </p:cNvSpPr>
          <p:nvPr/>
        </p:nvSpPr>
        <p:spPr>
          <a:xfrm xmlns:a="http://schemas.openxmlformats.org/drawingml/2006/main">
            <a:off x="1257300" y="3619500"/>
            <a:ext cx="3905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PingFang SC"/>
                <a:ea typeface="PingFang SC"/>
                <a:cs typeface="PingFang SC"/>
              </a:defRPr>
            </a:pPr>
            <a:r>
              <a:t>V3 效果运营</a:t>
            </a:r>
          </a:p>
        </p:txBody>
      </p:sp>
      <p:sp>
        <p:nvSpPr>
          <p:cNvPr id="15" name="矩形 14">
            <a:extLst xmlns:a="http://schemas.openxmlformats.org/drawingml/2006/main">
              <a:ext uri="{FF2B5EF4-FFF2-40B4-BE49-F238E27FC236}">
                <a16:creationId xmlns:a16="http://schemas.microsoft.com/office/drawing/2014/main" id="{9A56C8E4-02FE-40B6-879C-34CB2DBFABCA}"/>
              </a:ext>
            </a:extLst>
          </p:cNvPr>
          <p:cNvSpPr>
            <a:spLocks xmlns:a="http://schemas.openxmlformats.org/drawingml/2006/main" noGrp="1"/>
          </p:cNvSpPr>
          <p:nvPr/>
        </p:nvSpPr>
        <p:spPr>
          <a:xfrm xmlns:a="http://schemas.openxmlformats.org/drawingml/2006/main">
            <a:off x="1257300" y="3943350"/>
            <a:ext cx="4286250" cy="247650"/>
          </a:xfrm>
          <a:prstGeom xmlns:a="http://schemas.openxmlformats.org/drawingml/2006/main" prst="rect">
            <a:avLst/>
          </a:prstGeom>
        </p:spPr>
        <p:txBody>
          <a:bodyPr xmlns:a="http://schemas.openxmlformats.org/drawingml/2006/main" lIns="0" tIns="0" rIns="0" bIns="0" anchor="t">
            <a:normAutofit fontScale="79375"/>
          </a:bodyPr>
          <a:lstStyle xmlns:a="http://schemas.openxmlformats.org/drawingml/2006/main"/>
          <a:p xmlns:a="http://schemas.openxmlformats.org/drawingml/2006/main">
            <a:pPr algn="l">
              <a:buNone/>
              <a:defRPr sz="1350" b="0">
                <a:solidFill>
                  <a:srgbClr val="555555"/>
                </a:solidFill>
                <a:latin typeface="PingFang SC"/>
                <a:ea typeface="PingFang SC"/>
                <a:cs typeface="PingFang SC"/>
              </a:defRPr>
            </a:pPr>
            <a:r>
              <a:t>空间前/后对比、客户/伙伴组织报告、转化线索、复训建议和驾驶舱。</a:t>
            </a:r>
          </a:p>
        </p:txBody>
      </p:sp>
      <p:sp>
        <p:nvSpPr>
          <p:cNvPr id="16" name="矩形 15">
            <a:extLst xmlns:a="http://schemas.openxmlformats.org/drawingml/2006/main">
              <a:ext uri="{FF2B5EF4-FFF2-40B4-BE49-F238E27FC236}">
                <a16:creationId xmlns:a16="http://schemas.microsoft.com/office/drawing/2014/main" id="{95215A30-234C-4328-AC96-C9C95E6FC87A}"/>
              </a:ext>
            </a:extLst>
          </p:cNvPr>
          <p:cNvSpPr>
            <a:spLocks xmlns:a="http://schemas.openxmlformats.org/drawingml/2006/main" noGrp="1"/>
          </p:cNvSpPr>
          <p:nvPr/>
        </p:nvSpPr>
        <p:spPr>
          <a:xfrm xmlns:a="http://schemas.openxmlformats.org/drawingml/2006/main">
            <a:off x="552450" y="4419600"/>
            <a:ext cx="552450" cy="266700"/>
          </a:xfrm>
          <a:prstGeom xmlns:a="http://schemas.openxmlformats.org/drawingml/2006/main" prst="rect">
            <a:avLst/>
          </a:prstGeom>
        </p:spPr>
        <p:txBody>
          <a:bodyPr xmlns:a="http://schemas.openxmlformats.org/drawingml/2006/main" lIns="0" tIns="0" rIns="0" bIns="0" anchor="ctr">
            <a:normAutofit fontScale="93333"/>
          </a:bodyPr>
          <a:lstStyle xmlns:a="http://schemas.openxmlformats.org/drawingml/2006/main"/>
          <a:p xmlns:a="http://schemas.openxmlformats.org/drawingml/2006/main">
            <a:pPr algn="ctr">
              <a:buNone/>
              <a:defRPr sz="1875" b="1">
                <a:solidFill>
                  <a:srgbClr val="FF6B35"/>
                </a:solidFill>
                <a:latin typeface="PingFang SC"/>
                <a:ea typeface="PingFang SC"/>
                <a:cs typeface="PingFang SC"/>
              </a:defRPr>
            </a:pPr>
            <a:r>
              <a:t>04</a:t>
            </a:r>
          </a:p>
        </p:txBody>
      </p:sp>
      <p:sp>
        <p:nvSpPr>
          <p:cNvPr id="17" name="矩形 16">
            <a:extLst xmlns:a="http://schemas.openxmlformats.org/drawingml/2006/main">
              <a:ext uri="{FF2B5EF4-FFF2-40B4-BE49-F238E27FC236}">
                <a16:creationId xmlns:a16="http://schemas.microsoft.com/office/drawing/2014/main" id="{C6285AAA-BF78-468C-A55C-59EC5789C3AE}"/>
              </a:ext>
            </a:extLst>
          </p:cNvPr>
          <p:cNvSpPr>
            <a:spLocks xmlns:a="http://schemas.openxmlformats.org/drawingml/2006/main" noGrp="1"/>
          </p:cNvSpPr>
          <p:nvPr/>
        </p:nvSpPr>
        <p:spPr>
          <a:xfrm xmlns:a="http://schemas.openxmlformats.org/drawingml/2006/main">
            <a:off x="1257300" y="4362450"/>
            <a:ext cx="3905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PingFang SC"/>
                <a:ea typeface="PingFang SC"/>
                <a:cs typeface="PingFang SC"/>
              </a:defRPr>
            </a:pPr>
            <a:r>
              <a:t>V4 场景复制</a:t>
            </a:r>
          </a:p>
        </p:txBody>
      </p:sp>
      <p:sp>
        <p:nvSpPr>
          <p:cNvPr id="18" name="矩形 17">
            <a:extLst xmlns:a="http://schemas.openxmlformats.org/drawingml/2006/main">
              <a:ext uri="{FF2B5EF4-FFF2-40B4-BE49-F238E27FC236}">
                <a16:creationId xmlns:a16="http://schemas.microsoft.com/office/drawing/2014/main" id="{7D2C58A1-6CDD-48A1-B405-679A009C3704}"/>
              </a:ext>
            </a:extLst>
          </p:cNvPr>
          <p:cNvSpPr>
            <a:spLocks xmlns:a="http://schemas.openxmlformats.org/drawingml/2006/main" noGrp="1"/>
          </p:cNvSpPr>
          <p:nvPr/>
        </p:nvSpPr>
        <p:spPr>
          <a:xfrm xmlns:a="http://schemas.openxmlformats.org/drawingml/2006/main">
            <a:off x="1257300" y="4686300"/>
            <a:ext cx="4286250" cy="247650"/>
          </a:xfrm>
          <a:prstGeom xmlns:a="http://schemas.openxmlformats.org/drawingml/2006/main" prst="rect">
            <a:avLst/>
          </a:prstGeom>
        </p:spPr>
        <p:txBody>
          <a:bodyPr xmlns:a="http://schemas.openxmlformats.org/drawingml/2006/main" lIns="0" tIns="0" rIns="0" bIns="0" anchor="t">
            <a:normAutofit fontScale="72080"/>
          </a:bodyPr>
          <a:lstStyle xmlns:a="http://schemas.openxmlformats.org/drawingml/2006/main"/>
          <a:p xmlns:a="http://schemas.openxmlformats.org/drawingml/2006/main">
            <a:pPr algn="l">
              <a:buNone/>
              <a:defRPr sz="1350" b="0">
                <a:solidFill>
                  <a:srgbClr val="555555"/>
                </a:solidFill>
                <a:latin typeface="PingFang SC"/>
                <a:ea typeface="PingFang SC"/>
                <a:cs typeface="PingFang SC"/>
              </a:defRPr>
            </a:pPr>
            <a:r>
              <a:t>沉淀企业内训、客户培训、伙伴培训、认证培训、跨校教师研修等空间模板。</a:t>
            </a:r>
          </a:p>
        </p:txBody>
      </p:sp>
      <p:sp>
        <p:nvSpPr>
          <p:cNvPr id="19" name="矩形 18">
            <a:extLst xmlns:a="http://schemas.openxmlformats.org/drawingml/2006/main">
              <a:ext uri="{FF2B5EF4-FFF2-40B4-BE49-F238E27FC236}">
                <a16:creationId xmlns:a16="http://schemas.microsoft.com/office/drawing/2014/main" id="{6A030BC2-970D-4EA5-97E9-35D870B04B15}"/>
              </a:ext>
            </a:extLst>
          </p:cNvPr>
          <p:cNvSpPr>
            <a:spLocks xmlns:a="http://schemas.openxmlformats.org/drawingml/2006/main" noGrp="1"/>
          </p:cNvSpPr>
          <p:nvPr/>
        </p:nvSpPr>
        <p:spPr>
          <a:xfrm xmlns:a="http://schemas.openxmlformats.org/drawingml/2006/main">
            <a:off x="552450" y="5162550"/>
            <a:ext cx="552450" cy="266700"/>
          </a:xfrm>
          <a:prstGeom xmlns:a="http://schemas.openxmlformats.org/drawingml/2006/main" prst="rect">
            <a:avLst/>
          </a:prstGeom>
        </p:spPr>
        <p:txBody>
          <a:bodyPr xmlns:a="http://schemas.openxmlformats.org/drawingml/2006/main" lIns="0" tIns="0" rIns="0" bIns="0" anchor="ctr">
            <a:normAutofit fontScale="93333"/>
          </a:bodyPr>
          <a:lstStyle xmlns:a="http://schemas.openxmlformats.org/drawingml/2006/main"/>
          <a:p xmlns:a="http://schemas.openxmlformats.org/drawingml/2006/main">
            <a:pPr algn="ctr">
              <a:buNone/>
              <a:defRPr sz="1875" b="1">
                <a:solidFill>
                  <a:srgbClr val="FF6B35"/>
                </a:solidFill>
                <a:latin typeface="PingFang SC"/>
                <a:ea typeface="PingFang SC"/>
                <a:cs typeface="PingFang SC"/>
              </a:defRPr>
            </a:pPr>
            <a:r>
              <a:t>05</a:t>
            </a:r>
          </a:p>
        </p:txBody>
      </p:sp>
      <p:sp>
        <p:nvSpPr>
          <p:cNvPr id="20" name="矩形 19">
            <a:extLst xmlns:a="http://schemas.openxmlformats.org/drawingml/2006/main">
              <a:ext uri="{FF2B5EF4-FFF2-40B4-BE49-F238E27FC236}">
                <a16:creationId xmlns:a16="http://schemas.microsoft.com/office/drawing/2014/main" id="{8D056F5C-7429-41E2-8A3B-C5118FC31E69}"/>
              </a:ext>
            </a:extLst>
          </p:cNvPr>
          <p:cNvSpPr>
            <a:spLocks xmlns:a="http://schemas.openxmlformats.org/drawingml/2006/main" noGrp="1"/>
          </p:cNvSpPr>
          <p:nvPr/>
        </p:nvSpPr>
        <p:spPr>
          <a:xfrm xmlns:a="http://schemas.openxmlformats.org/drawingml/2006/main">
            <a:off x="1257300" y="5105400"/>
            <a:ext cx="3905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PingFang SC"/>
                <a:ea typeface="PingFang SC"/>
                <a:cs typeface="PingFang SC"/>
              </a:defRPr>
            </a:pPr>
            <a:r>
              <a:t>V5 商业化增长</a:t>
            </a:r>
          </a:p>
        </p:txBody>
      </p:sp>
      <p:sp>
        <p:nvSpPr>
          <p:cNvPr id="21" name="矩形 20">
            <a:extLst xmlns:a="http://schemas.openxmlformats.org/drawingml/2006/main">
              <a:ext uri="{FF2B5EF4-FFF2-40B4-BE49-F238E27FC236}">
                <a16:creationId xmlns:a16="http://schemas.microsoft.com/office/drawing/2014/main" id="{559CA98E-2248-4CF6-821F-0ED736C0D92D}"/>
              </a:ext>
            </a:extLst>
          </p:cNvPr>
          <p:cNvSpPr>
            <a:spLocks xmlns:a="http://schemas.openxmlformats.org/drawingml/2006/main" noGrp="1"/>
          </p:cNvSpPr>
          <p:nvPr/>
        </p:nvSpPr>
        <p:spPr>
          <a:xfrm xmlns:a="http://schemas.openxmlformats.org/drawingml/2006/main">
            <a:off x="1257300" y="5429250"/>
            <a:ext cx="4286250" cy="247650"/>
          </a:xfrm>
          <a:prstGeom xmlns:a="http://schemas.openxmlformats.org/drawingml/2006/main" prst="rect">
            <a:avLst/>
          </a:prstGeom>
        </p:spPr>
        <p:txBody>
          <a:bodyPr xmlns:a="http://schemas.openxmlformats.org/drawingml/2006/main" lIns="0" tIns="0" rIns="0" bIns="0" anchor="t">
            <a:normAutofit fontScale="86581"/>
          </a:bodyPr>
          <a:lstStyle xmlns:a="http://schemas.openxmlformats.org/drawingml/2006/main"/>
          <a:p xmlns:a="http://schemas.openxmlformats.org/drawingml/2006/main">
            <a:pPr algn="l">
              <a:buNone/>
              <a:defRPr sz="1350" b="0">
                <a:solidFill>
                  <a:srgbClr val="555555"/>
                </a:solidFill>
                <a:latin typeface="PingFang SC"/>
                <a:ea typeface="PingFang SC"/>
                <a:cs typeface="PingFang SC"/>
              </a:defRPr>
            </a:pPr>
            <a:r>
              <a:t>套餐、资源包、外训服务、Token 流量、运营服务和渠道合作。</a:t>
            </a:r>
          </a:p>
        </p:txBody>
      </p:sp>
      <p:sp>
        <p:nvSpPr>
          <p:cNvPr id="22" name="矩形 21">
            <a:extLst xmlns:a="http://schemas.openxmlformats.org/drawingml/2006/main">
              <a:ext uri="{FF2B5EF4-FFF2-40B4-BE49-F238E27FC236}">
                <a16:creationId xmlns:a16="http://schemas.microsoft.com/office/drawing/2014/main" id="{3D67FE7E-8104-4CE8-A589-D934BF42301D}"/>
              </a:ext>
            </a:extLst>
          </p:cNvPr>
          <p:cNvSpPr>
            <a:spLocks xmlns:a="http://schemas.openxmlformats.org/drawingml/2006/main" noGrp="1"/>
          </p:cNvSpPr>
          <p:nvPr/>
        </p:nvSpPr>
        <p:spPr>
          <a:xfrm xmlns:a="http://schemas.openxmlformats.org/drawingml/2006/main">
            <a:off x="6553200" y="2076450"/>
            <a:ext cx="4953000" cy="33718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23" name="矩形 22">
            <a:extLst xmlns:a="http://schemas.openxmlformats.org/drawingml/2006/main">
              <a:ext uri="{FF2B5EF4-FFF2-40B4-BE49-F238E27FC236}">
                <a16:creationId xmlns:a16="http://schemas.microsoft.com/office/drawing/2014/main" id="{437F77B2-B936-4488-A7D4-3C20FC52F0F6}"/>
              </a:ext>
            </a:extLst>
          </p:cNvPr>
          <p:cNvSpPr>
            <a:spLocks xmlns:a="http://schemas.openxmlformats.org/drawingml/2006/main" noGrp="1"/>
          </p:cNvSpPr>
          <p:nvPr/>
        </p:nvSpPr>
        <p:spPr>
          <a:xfrm xmlns:a="http://schemas.openxmlformats.org/drawingml/2006/main">
            <a:off x="6953250" y="2457450"/>
            <a:ext cx="4171950" cy="3619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100" b="1">
                <a:solidFill>
                  <a:srgbClr val="FFFFFF"/>
                </a:solidFill>
                <a:latin typeface="PingFang SC"/>
                <a:ea typeface="PingFang SC"/>
                <a:cs typeface="PingFang SC"/>
              </a:defRPr>
            </a:pPr>
            <a:r>
              <a:t>实施重点</a:t>
            </a:r>
          </a:p>
        </p:txBody>
      </p:sp>
      <p:sp>
        <p:nvSpPr>
          <p:cNvPr id="24" name="矩形 23">
            <a:extLst xmlns:a="http://schemas.openxmlformats.org/drawingml/2006/main">
              <a:ext uri="{FF2B5EF4-FFF2-40B4-BE49-F238E27FC236}">
                <a16:creationId xmlns:a16="http://schemas.microsoft.com/office/drawing/2014/main" id="{AB43872B-21A1-4B96-B770-5CDC54C87E57}"/>
              </a:ext>
            </a:extLst>
          </p:cNvPr>
          <p:cNvSpPr>
            <a:spLocks xmlns:a="http://schemas.openxmlformats.org/drawingml/2006/main" noGrp="1"/>
          </p:cNvSpPr>
          <p:nvPr/>
        </p:nvSpPr>
        <p:spPr>
          <a:xfrm xmlns:a="http://schemas.openxmlformats.org/drawingml/2006/main">
            <a:off x="7067550" y="3181350"/>
            <a:ext cx="3924300" cy="1676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FFFFFF"/>
                </a:solidFill>
                <a:latin typeface="PingFang SC"/>
                <a:ea typeface="PingFang SC"/>
                <a:cs typeface="PingFang SC"/>
              </a:defRPr>
            </a:pPr>
            <a:r>
              <a:t>先跑通一个标准外训空间，再把报名、权限、数据、智能体和模板沉淀为可复制能力。</a:t>
            </a:r>
          </a:p>
          <a:p xmlns:a="http://schemas.openxmlformats.org/drawingml/2006/main">
            <a:pPr algn="l">
              <a:buNone/>
              <a:defRPr sz="1500" b="0">
                <a:solidFill>
                  <a:srgbClr val="FFFFFF"/>
                </a:solidFill>
                <a:latin typeface="PingFang SC"/>
                <a:ea typeface="PingFang SC"/>
                <a:cs typeface="PingFang SC"/>
              </a:defRPr>
            </a:pPr>
            <a:r>
              <a:t>每个阶段都保留人工审核、数据隔离、成本监控和账号有效期。</a:t>
            </a:r>
          </a:p>
        </p:txBody>
      </p:sp>
      <p:sp>
        <p:nvSpPr>
          <p:cNvPr id="25" name="矩形 24">
            <a:extLst xmlns:a="http://schemas.openxmlformats.org/drawingml/2006/main">
              <a:ext uri="{FF2B5EF4-FFF2-40B4-BE49-F238E27FC236}">
                <a16:creationId xmlns:a16="http://schemas.microsoft.com/office/drawing/2014/main" id="{E056D5F7-E528-4B5E-B6B0-18C70AC0AEB5}"/>
              </a:ext>
            </a:extLst>
          </p:cNvPr>
          <p:cNvSpPr>
            <a:spLocks xmlns:a="http://schemas.openxmlformats.org/drawingml/2006/main" noGrp="1"/>
          </p:cNvSpPr>
          <p:nvPr/>
        </p:nvSpPr>
        <p:spPr>
          <a:xfrm xmlns:a="http://schemas.openxmlformats.org/drawingml/2006/main">
            <a:off x="838200" y="5772150"/>
            <a:ext cx="10515600" cy="285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725" b="1">
                <a:solidFill>
                  <a:srgbClr val="000000"/>
                </a:solidFill>
                <a:latin typeface="PingFang SC"/>
                <a:ea typeface="PingFang SC"/>
                <a:cs typeface="PingFang SC"/>
              </a:defRPr>
            </a:pPr>
            <a:r>
              <a:t>价值：让内外训发展活动从项目制人力驱动，升级为以空间为核心的产品化运营能力。</a:t>
            </a:r>
          </a:p>
        </p:txBody>
      </p:sp>
    </p:spTree>
    <p:extLst>
      <p:ext uri="{BB962C8B-B14F-4D97-AF65-F5344CB8AC3E}">
        <p14:creationId xmlns:p14="http://schemas.microsoft.com/office/powerpoint/2010/main" val="21177667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1FAAFE91-C5DB-4806-B18F-74CF96947103}"/>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商业化套件</a:t>
            </a:r>
          </a:p>
        </p:txBody>
      </p:sp>
      <p:sp>
        <p:nvSpPr>
          <p:cNvPr id="3" name="矩形 2">
            <a:extLst xmlns:a="http://schemas.openxmlformats.org/drawingml/2006/main">
              <a:ext uri="{FF2B5EF4-FFF2-40B4-BE49-F238E27FC236}">
                <a16:creationId xmlns:a16="http://schemas.microsoft.com/office/drawing/2014/main" id="{8239F66D-7E13-45EA-9925-9DBBC743DB69}"/>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00" b="1">
                <a:solidFill>
                  <a:srgbClr val="000000"/>
                </a:solidFill>
                <a:latin typeface="PingFang SC"/>
                <a:ea typeface="PingFang SC"/>
                <a:cs typeface="PingFang SC"/>
              </a:defRPr>
            </a:pPr>
            <a:r>
              <a:t>围绕业务空间形成“平台 + 资源 + 服务 + 算力”的组合包</a:t>
            </a:r>
          </a:p>
        </p:txBody>
      </p:sp>
      <p:sp>
        <p:nvSpPr>
          <p:cNvPr id="4" name="矩形 3">
            <a:extLst xmlns:a="http://schemas.openxmlformats.org/drawingml/2006/main">
              <a:ext uri="{FF2B5EF4-FFF2-40B4-BE49-F238E27FC236}">
                <a16:creationId xmlns:a16="http://schemas.microsoft.com/office/drawing/2014/main" id="{1842B12F-19AD-4098-ABC2-9F95C60CC62C}"/>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E058A598-445F-45F7-B2D3-7E20CB256E3A}"/>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16</a:t>
            </a:r>
          </a:p>
        </p:txBody>
      </p:sp>
      <p:sp>
        <p:nvSpPr>
          <p:cNvPr id="6" name="矩形 5">
            <a:extLst xmlns:a="http://schemas.openxmlformats.org/drawingml/2006/main">
              <a:ext uri="{FF2B5EF4-FFF2-40B4-BE49-F238E27FC236}">
                <a16:creationId xmlns:a16="http://schemas.microsoft.com/office/drawing/2014/main" id="{4F4D457B-DCAB-4BBC-858D-BBD65D139741}"/>
              </a:ext>
            </a:extLst>
          </p:cNvPr>
          <p:cNvSpPr>
            <a:spLocks xmlns:a="http://schemas.openxmlformats.org/drawingml/2006/main" noGrp="1"/>
          </p:cNvSpPr>
          <p:nvPr/>
        </p:nvSpPr>
        <p:spPr>
          <a:xfrm xmlns:a="http://schemas.openxmlformats.org/drawingml/2006/main">
            <a:off x="390525" y="1866900"/>
            <a:ext cx="2095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555555"/>
                </a:solidFill>
                <a:latin typeface="PingFang SC"/>
                <a:ea typeface="PingFang SC"/>
                <a:cs typeface="PingFang SC"/>
              </a:defRPr>
            </a:pPr>
            <a:r>
              <a:t>套件结构</a:t>
            </a:r>
          </a:p>
        </p:txBody>
      </p:sp>
      <p:sp>
        <p:nvSpPr>
          <p:cNvPr id="7" name="矩形 6">
            <a:extLst xmlns:a="http://schemas.openxmlformats.org/drawingml/2006/main">
              <a:ext uri="{FF2B5EF4-FFF2-40B4-BE49-F238E27FC236}">
                <a16:creationId xmlns:a16="http://schemas.microsoft.com/office/drawing/2014/main" id="{356CCF7C-F039-48BB-A08E-AFB7ADD8831B}"/>
              </a:ext>
            </a:extLst>
          </p:cNvPr>
          <p:cNvSpPr>
            <a:spLocks xmlns:a="http://schemas.openxmlformats.org/drawingml/2006/main" noGrp="1"/>
          </p:cNvSpPr>
          <p:nvPr/>
        </p:nvSpPr>
        <p:spPr>
          <a:xfrm xmlns:a="http://schemas.openxmlformats.org/drawingml/2006/main">
            <a:off x="390525" y="2324100"/>
            <a:ext cx="5334000" cy="23812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8" name="矩形 7">
            <a:extLst xmlns:a="http://schemas.openxmlformats.org/drawingml/2006/main">
              <a:ext uri="{FF2B5EF4-FFF2-40B4-BE49-F238E27FC236}">
                <a16:creationId xmlns:a16="http://schemas.microsoft.com/office/drawing/2014/main" id="{78978A75-2723-43FA-9354-84FD1E528659}"/>
              </a:ext>
            </a:extLst>
          </p:cNvPr>
          <p:cNvSpPr>
            <a:spLocks xmlns:a="http://schemas.openxmlformats.org/drawingml/2006/main" noGrp="1"/>
          </p:cNvSpPr>
          <p:nvPr/>
        </p:nvSpPr>
        <p:spPr>
          <a:xfrm xmlns:a="http://schemas.openxmlformats.org/drawingml/2006/main">
            <a:off x="619125" y="255270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025" b="1">
                <a:solidFill>
                  <a:srgbClr val="000000"/>
                </a:solidFill>
                <a:latin typeface="PingFang SC"/>
                <a:ea typeface="PingFang SC"/>
                <a:cs typeface="PingFang SC"/>
              </a:defRPr>
            </a:pPr>
            <a:r>
              <a:t>基础平台包</a:t>
            </a:r>
          </a:p>
        </p:txBody>
      </p:sp>
      <p:sp>
        <p:nvSpPr>
          <p:cNvPr id="9" name="矩形 8">
            <a:extLst xmlns:a="http://schemas.openxmlformats.org/drawingml/2006/main">
              <a:ext uri="{FF2B5EF4-FFF2-40B4-BE49-F238E27FC236}">
                <a16:creationId xmlns:a16="http://schemas.microsoft.com/office/drawing/2014/main" id="{8C7C8A22-2034-4C19-80E9-9A4846165106}"/>
              </a:ext>
            </a:extLst>
          </p:cNvPr>
          <p:cNvSpPr>
            <a:spLocks xmlns:a="http://schemas.openxmlformats.org/drawingml/2006/main" noGrp="1"/>
          </p:cNvSpPr>
          <p:nvPr/>
        </p:nvSpPr>
        <p:spPr>
          <a:xfrm xmlns:a="http://schemas.openxmlformats.org/drawingml/2006/main">
            <a:off x="619125" y="3009900"/>
            <a:ext cx="4876800" cy="1504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PingFang SC"/>
                <a:ea typeface="PingFang SC"/>
                <a:cs typeface="PingFang SC"/>
              </a:defRPr>
            </a:pPr>
            <a:r>
              <a:t>租户、组织、外部人员、业务空间、资料库、研习社、任务、消息、问卷、证书和发展档案等基础能力。</a:t>
            </a:r>
          </a:p>
        </p:txBody>
      </p:sp>
      <p:sp>
        <p:nvSpPr>
          <p:cNvPr id="10" name="矩形 9">
            <a:extLst xmlns:a="http://schemas.openxmlformats.org/drawingml/2006/main">
              <a:ext uri="{FF2B5EF4-FFF2-40B4-BE49-F238E27FC236}">
                <a16:creationId xmlns:a16="http://schemas.microsoft.com/office/drawing/2014/main" id="{20D1BAFD-009A-4025-B6F0-B298CED6B49E}"/>
              </a:ext>
            </a:extLst>
          </p:cNvPr>
          <p:cNvSpPr>
            <a:spLocks xmlns:a="http://schemas.openxmlformats.org/drawingml/2006/main" noGrp="1"/>
          </p:cNvSpPr>
          <p:nvPr/>
        </p:nvSpPr>
        <p:spPr>
          <a:xfrm xmlns:a="http://schemas.openxmlformats.org/drawingml/2006/main">
            <a:off x="6457950" y="2324100"/>
            <a:ext cx="5334000" cy="23812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1" name="矩形 10">
            <a:extLst xmlns:a="http://schemas.openxmlformats.org/drawingml/2006/main">
              <a:ext uri="{FF2B5EF4-FFF2-40B4-BE49-F238E27FC236}">
                <a16:creationId xmlns:a16="http://schemas.microsoft.com/office/drawing/2014/main" id="{3A19BBBB-F2D1-4F6E-B1F7-C645D0E35BA7}"/>
              </a:ext>
            </a:extLst>
          </p:cNvPr>
          <p:cNvSpPr>
            <a:spLocks xmlns:a="http://schemas.openxmlformats.org/drawingml/2006/main" noGrp="1"/>
          </p:cNvSpPr>
          <p:nvPr/>
        </p:nvSpPr>
        <p:spPr>
          <a:xfrm xmlns:a="http://schemas.openxmlformats.org/drawingml/2006/main">
            <a:off x="6686550" y="2514600"/>
            <a:ext cx="4876800" cy="571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875" b="1">
                <a:solidFill>
                  <a:srgbClr val="FF6B35"/>
                </a:solidFill>
                <a:latin typeface="PingFang SC"/>
                <a:ea typeface="PingFang SC"/>
                <a:cs typeface="PingFang SC"/>
              </a:defRPr>
            </a:pPr>
            <a:r>
              <a:t>空间场景包</a:t>
            </a:r>
          </a:p>
          <a:p xmlns:a="http://schemas.openxmlformats.org/drawingml/2006/main">
            <a:pPr algn="l">
              <a:buNone/>
              <a:defRPr sz="1875" b="1">
                <a:solidFill>
                  <a:srgbClr val="FF6B35"/>
                </a:solidFill>
                <a:latin typeface="PingFang SC"/>
                <a:ea typeface="PingFang SC"/>
                <a:cs typeface="PingFang SC"/>
              </a:defRPr>
            </a:pPr>
            <a:r>
              <a:t>智能体底座</a:t>
            </a:r>
          </a:p>
        </p:txBody>
      </p:sp>
      <p:sp>
        <p:nvSpPr>
          <p:cNvPr id="12" name="矩形 11">
            <a:extLst xmlns:a="http://schemas.openxmlformats.org/drawingml/2006/main">
              <a:ext uri="{FF2B5EF4-FFF2-40B4-BE49-F238E27FC236}">
                <a16:creationId xmlns:a16="http://schemas.microsoft.com/office/drawing/2014/main" id="{D7BE789E-D005-4119-BA03-324C2258A80C}"/>
              </a:ext>
            </a:extLst>
          </p:cNvPr>
          <p:cNvSpPr>
            <a:spLocks xmlns:a="http://schemas.openxmlformats.org/drawingml/2006/main" noGrp="1"/>
          </p:cNvSpPr>
          <p:nvPr/>
        </p:nvSpPr>
        <p:spPr>
          <a:xfrm xmlns:a="http://schemas.openxmlformats.org/drawingml/2006/main">
            <a:off x="6686550" y="3200400"/>
            <a:ext cx="4876800" cy="1219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FFFFFF"/>
                </a:solidFill>
                <a:latin typeface="PingFang SC"/>
                <a:ea typeface="PingFang SC"/>
                <a:cs typeface="PingFang SC"/>
              </a:defRPr>
            </a:pPr>
            <a:r>
              <a:t>企业内训、客户培训、伙伴培训、认证培训、公开工作坊、跨校教师研修等空间模板，内置报名、任务、问卷、报告和智能体。</a:t>
            </a:r>
          </a:p>
        </p:txBody>
      </p:sp>
      <p:sp>
        <p:nvSpPr>
          <p:cNvPr id="13" name="矩形 12">
            <a:extLst xmlns:a="http://schemas.openxmlformats.org/drawingml/2006/main">
              <a:ext uri="{FF2B5EF4-FFF2-40B4-BE49-F238E27FC236}">
                <a16:creationId xmlns:a16="http://schemas.microsoft.com/office/drawing/2014/main" id="{149C2C60-6AD8-4EE3-95F9-867F3D357E7C}"/>
              </a:ext>
            </a:extLst>
          </p:cNvPr>
          <p:cNvSpPr>
            <a:spLocks xmlns:a="http://schemas.openxmlformats.org/drawingml/2006/main" noGrp="1"/>
          </p:cNvSpPr>
          <p:nvPr/>
        </p:nvSpPr>
        <p:spPr>
          <a:xfrm xmlns:a="http://schemas.openxmlformats.org/drawingml/2006/main">
            <a:off x="390525" y="5086350"/>
            <a:ext cx="11401425" cy="781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4" name="矩形 13">
            <a:extLst xmlns:a="http://schemas.openxmlformats.org/drawingml/2006/main">
              <a:ext uri="{FF2B5EF4-FFF2-40B4-BE49-F238E27FC236}">
                <a16:creationId xmlns:a16="http://schemas.microsoft.com/office/drawing/2014/main" id="{8AE856C6-343D-4FB4-9974-826910E8CBFE}"/>
              </a:ext>
            </a:extLst>
          </p:cNvPr>
          <p:cNvSpPr>
            <a:spLocks xmlns:a="http://schemas.openxmlformats.org/drawingml/2006/main" noGrp="1"/>
          </p:cNvSpPr>
          <p:nvPr/>
        </p:nvSpPr>
        <p:spPr>
          <a:xfrm xmlns:a="http://schemas.openxmlformats.org/drawingml/2006/main">
            <a:off x="695325" y="5276850"/>
            <a:ext cx="2000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PingFang SC"/>
                <a:ea typeface="PingFang SC"/>
                <a:cs typeface="PingFang SC"/>
              </a:defRPr>
            </a:pPr>
            <a:r>
              <a:t>商业化组件</a:t>
            </a:r>
          </a:p>
        </p:txBody>
      </p:sp>
      <p:sp>
        <p:nvSpPr>
          <p:cNvPr id="15" name="矩形 14">
            <a:extLst xmlns:a="http://schemas.openxmlformats.org/drawingml/2006/main">
              <a:ext uri="{FF2B5EF4-FFF2-40B4-BE49-F238E27FC236}">
                <a16:creationId xmlns:a16="http://schemas.microsoft.com/office/drawing/2014/main" id="{5B7EA9D2-067D-404B-8D57-F9D7651E992D}"/>
              </a:ext>
            </a:extLst>
          </p:cNvPr>
          <p:cNvSpPr>
            <a:spLocks xmlns:a="http://schemas.openxmlformats.org/drawingml/2006/main" noGrp="1"/>
          </p:cNvSpPr>
          <p:nvPr/>
        </p:nvSpPr>
        <p:spPr>
          <a:xfrm xmlns:a="http://schemas.openxmlformats.org/drawingml/2006/main">
            <a:off x="2800350" y="5200650"/>
            <a:ext cx="8477250" cy="457200"/>
          </a:xfrm>
          <a:prstGeom xmlns:a="http://schemas.openxmlformats.org/drawingml/2006/main" prst="rect">
            <a:avLst/>
          </a:prstGeom>
        </p:spPr>
        <p:txBody>
          <a:bodyPr xmlns:a="http://schemas.openxmlformats.org/drawingml/2006/main" lIns="0" tIns="0" rIns="0" bIns="0" anchor="ctr">
            <a:normAutofit fontScale="90909"/>
          </a:bodyPr>
          <a:lstStyle xmlns:a="http://schemas.openxmlformats.org/drawingml/2006/main"/>
          <a:p xmlns:a="http://schemas.openxmlformats.org/drawingml/2006/main">
            <a:pPr algn="l">
              <a:buNone/>
              <a:defRPr sz="1650" b="1">
                <a:solidFill>
                  <a:srgbClr val="000000"/>
                </a:solidFill>
                <a:latin typeface="PingFang SC"/>
                <a:ea typeface="PingFang SC"/>
                <a:cs typeface="PingFang SC"/>
              </a:defRPr>
            </a:pPr>
            <a:r>
              <a:t>以解决方案、套餐、空间模板、资源包、外训运营服务和 Token 算力组合报价，支持试用、升级和增购。</a:t>
            </a:r>
          </a:p>
        </p:txBody>
      </p:sp>
      <p:sp>
        <p:nvSpPr>
          <p:cNvPr id="16" name="矩形 15">
            <a:extLst xmlns:a="http://schemas.openxmlformats.org/drawingml/2006/main">
              <a:ext uri="{FF2B5EF4-FFF2-40B4-BE49-F238E27FC236}">
                <a16:creationId xmlns:a16="http://schemas.microsoft.com/office/drawing/2014/main" id="{A9ABC284-8A93-4355-83B1-A6049912EEEE}"/>
              </a:ext>
            </a:extLst>
          </p:cNvPr>
          <p:cNvSpPr>
            <a:spLocks xmlns:a="http://schemas.openxmlformats.org/drawingml/2006/main" noGrp="1"/>
          </p:cNvSpPr>
          <p:nvPr/>
        </p:nvSpPr>
        <p:spPr>
          <a:xfrm xmlns:a="http://schemas.openxmlformats.org/drawingml/2006/main">
            <a:off x="1323975" y="6010275"/>
            <a:ext cx="1428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7" name="矩形 16">
            <a:extLst xmlns:a="http://schemas.openxmlformats.org/drawingml/2006/main">
              <a:ext uri="{FF2B5EF4-FFF2-40B4-BE49-F238E27FC236}">
                <a16:creationId xmlns:a16="http://schemas.microsoft.com/office/drawing/2014/main" id="{E0442BC8-6EFA-4503-AC4D-04731F24C47D}"/>
              </a:ext>
            </a:extLst>
          </p:cNvPr>
          <p:cNvSpPr>
            <a:spLocks xmlns:a="http://schemas.openxmlformats.org/drawingml/2006/main" noGrp="1"/>
          </p:cNvSpPr>
          <p:nvPr/>
        </p:nvSpPr>
        <p:spPr>
          <a:xfrm xmlns:a="http://schemas.openxmlformats.org/drawingml/2006/main">
            <a:off x="1419225" y="6067425"/>
            <a:ext cx="1238250" cy="2286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000000"/>
                </a:solidFill>
                <a:latin typeface="PingFang SC"/>
                <a:ea typeface="PingFang SC"/>
                <a:cs typeface="PingFang SC"/>
              </a:defRPr>
            </a:pPr>
            <a:r>
              <a:t>业务空间包</a:t>
            </a:r>
          </a:p>
        </p:txBody>
      </p:sp>
      <p:sp>
        <p:nvSpPr>
          <p:cNvPr id="18" name="矩形 17">
            <a:extLst xmlns:a="http://schemas.openxmlformats.org/drawingml/2006/main">
              <a:ext uri="{FF2B5EF4-FFF2-40B4-BE49-F238E27FC236}">
                <a16:creationId xmlns:a16="http://schemas.microsoft.com/office/drawing/2014/main" id="{49C7E572-B117-4B52-B1C7-B9FC1319A75E}"/>
              </a:ext>
            </a:extLst>
          </p:cNvPr>
          <p:cNvSpPr>
            <a:spLocks xmlns:a="http://schemas.openxmlformats.org/drawingml/2006/main" noGrp="1"/>
          </p:cNvSpPr>
          <p:nvPr/>
        </p:nvSpPr>
        <p:spPr>
          <a:xfrm xmlns:a="http://schemas.openxmlformats.org/drawingml/2006/main">
            <a:off x="3248025" y="6010275"/>
            <a:ext cx="1428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9" name="矩形 18">
            <a:extLst xmlns:a="http://schemas.openxmlformats.org/drawingml/2006/main">
              <a:ext uri="{FF2B5EF4-FFF2-40B4-BE49-F238E27FC236}">
                <a16:creationId xmlns:a16="http://schemas.microsoft.com/office/drawing/2014/main" id="{6A57A9E2-A23E-49E7-A609-A2E8ED009539}"/>
              </a:ext>
            </a:extLst>
          </p:cNvPr>
          <p:cNvSpPr>
            <a:spLocks xmlns:a="http://schemas.openxmlformats.org/drawingml/2006/main" noGrp="1"/>
          </p:cNvSpPr>
          <p:nvPr/>
        </p:nvSpPr>
        <p:spPr>
          <a:xfrm xmlns:a="http://schemas.openxmlformats.org/drawingml/2006/main">
            <a:off x="3343275" y="6067425"/>
            <a:ext cx="1238250" cy="2286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000000"/>
                </a:solidFill>
                <a:latin typeface="PingFang SC"/>
                <a:ea typeface="PingFang SC"/>
                <a:cs typeface="PingFang SC"/>
              </a:defRPr>
            </a:pPr>
            <a:r>
              <a:t>外训资源包</a:t>
            </a:r>
          </a:p>
        </p:txBody>
      </p:sp>
      <p:sp>
        <p:nvSpPr>
          <p:cNvPr id="20" name="矩形 19">
            <a:extLst xmlns:a="http://schemas.openxmlformats.org/drawingml/2006/main">
              <a:ext uri="{FF2B5EF4-FFF2-40B4-BE49-F238E27FC236}">
                <a16:creationId xmlns:a16="http://schemas.microsoft.com/office/drawing/2014/main" id="{CADA7FCD-A8E7-4C37-ABCB-D49C21BCBFD7}"/>
              </a:ext>
            </a:extLst>
          </p:cNvPr>
          <p:cNvSpPr>
            <a:spLocks xmlns:a="http://schemas.openxmlformats.org/drawingml/2006/main" noGrp="1"/>
          </p:cNvSpPr>
          <p:nvPr/>
        </p:nvSpPr>
        <p:spPr>
          <a:xfrm xmlns:a="http://schemas.openxmlformats.org/drawingml/2006/main">
            <a:off x="5172075" y="6010275"/>
            <a:ext cx="1428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1" name="矩形 20">
            <a:extLst xmlns:a="http://schemas.openxmlformats.org/drawingml/2006/main">
              <a:ext uri="{FF2B5EF4-FFF2-40B4-BE49-F238E27FC236}">
                <a16:creationId xmlns:a16="http://schemas.microsoft.com/office/drawing/2014/main" id="{470FB79C-2F0A-40D9-940F-4794828BCB4F}"/>
              </a:ext>
            </a:extLst>
          </p:cNvPr>
          <p:cNvSpPr>
            <a:spLocks xmlns:a="http://schemas.openxmlformats.org/drawingml/2006/main" noGrp="1"/>
          </p:cNvSpPr>
          <p:nvPr/>
        </p:nvSpPr>
        <p:spPr>
          <a:xfrm xmlns:a="http://schemas.openxmlformats.org/drawingml/2006/main">
            <a:off x="5267325" y="6067425"/>
            <a:ext cx="1238250" cy="2286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000000"/>
                </a:solidFill>
                <a:latin typeface="PingFang SC"/>
                <a:ea typeface="PingFang SC"/>
                <a:cs typeface="PingFang SC"/>
              </a:defRPr>
            </a:pPr>
            <a:r>
              <a:t>智能体包</a:t>
            </a:r>
          </a:p>
        </p:txBody>
      </p:sp>
      <p:sp>
        <p:nvSpPr>
          <p:cNvPr id="22" name="矩形 21">
            <a:extLst xmlns:a="http://schemas.openxmlformats.org/drawingml/2006/main">
              <a:ext uri="{FF2B5EF4-FFF2-40B4-BE49-F238E27FC236}">
                <a16:creationId xmlns:a16="http://schemas.microsoft.com/office/drawing/2014/main" id="{957610B1-3D6E-433E-9A8B-114660037B6F}"/>
              </a:ext>
            </a:extLst>
          </p:cNvPr>
          <p:cNvSpPr>
            <a:spLocks xmlns:a="http://schemas.openxmlformats.org/drawingml/2006/main" noGrp="1"/>
          </p:cNvSpPr>
          <p:nvPr/>
        </p:nvSpPr>
        <p:spPr>
          <a:xfrm xmlns:a="http://schemas.openxmlformats.org/drawingml/2006/main">
            <a:off x="7096125" y="6010275"/>
            <a:ext cx="1428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3" name="矩形 22">
            <a:extLst xmlns:a="http://schemas.openxmlformats.org/drawingml/2006/main">
              <a:ext uri="{FF2B5EF4-FFF2-40B4-BE49-F238E27FC236}">
                <a16:creationId xmlns:a16="http://schemas.microsoft.com/office/drawing/2014/main" id="{3152A744-78F4-4A1A-82F5-3307E0233B4C}"/>
              </a:ext>
            </a:extLst>
          </p:cNvPr>
          <p:cNvSpPr>
            <a:spLocks xmlns:a="http://schemas.openxmlformats.org/drawingml/2006/main" noGrp="1"/>
          </p:cNvSpPr>
          <p:nvPr/>
        </p:nvSpPr>
        <p:spPr>
          <a:xfrm xmlns:a="http://schemas.openxmlformats.org/drawingml/2006/main">
            <a:off x="7191375" y="6067425"/>
            <a:ext cx="1238250" cy="2286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000000"/>
                </a:solidFill>
                <a:latin typeface="PingFang SC"/>
                <a:ea typeface="PingFang SC"/>
                <a:cs typeface="PingFang SC"/>
              </a:defRPr>
            </a:pPr>
            <a:r>
              <a:t>运营服务包</a:t>
            </a:r>
          </a:p>
        </p:txBody>
      </p:sp>
      <p:sp>
        <p:nvSpPr>
          <p:cNvPr id="24" name="矩形 23">
            <a:extLst xmlns:a="http://schemas.openxmlformats.org/drawingml/2006/main">
              <a:ext uri="{FF2B5EF4-FFF2-40B4-BE49-F238E27FC236}">
                <a16:creationId xmlns:a16="http://schemas.microsoft.com/office/drawing/2014/main" id="{55DBA1C4-0454-4335-8FFB-834B386663E8}"/>
              </a:ext>
            </a:extLst>
          </p:cNvPr>
          <p:cNvSpPr>
            <a:spLocks xmlns:a="http://schemas.openxmlformats.org/drawingml/2006/main" noGrp="1"/>
          </p:cNvSpPr>
          <p:nvPr/>
        </p:nvSpPr>
        <p:spPr>
          <a:xfrm xmlns:a="http://schemas.openxmlformats.org/drawingml/2006/main">
            <a:off x="9020175" y="6010275"/>
            <a:ext cx="1428750" cy="342900"/>
          </a:xfrm>
          <a:prstGeom xmlns:a="http://schemas.openxmlformats.org/drawingml/2006/main" prst="rect">
            <a:avLst/>
          </a:prstGeom>
          <a:solidFill xmlns:a="http://schemas.openxmlformats.org/drawingml/2006/main">
            <a:srgbClr val="FF6B35"/>
          </a:solidFill>
          <a:ln xmlns:a="http://schemas.openxmlformats.org/drawingml/2006/main" w="9525">
            <a:noFill/>
            <a:prstDash val="solid"/>
          </a:ln>
        </p:spPr>
      </p:sp>
      <p:sp>
        <p:nvSpPr>
          <p:cNvPr id="25" name="矩形 24">
            <a:extLst xmlns:a="http://schemas.openxmlformats.org/drawingml/2006/main">
              <a:ext uri="{FF2B5EF4-FFF2-40B4-BE49-F238E27FC236}">
                <a16:creationId xmlns:a16="http://schemas.microsoft.com/office/drawing/2014/main" id="{E65BEB6B-BBE7-4AA5-BE33-483E25DAC796}"/>
              </a:ext>
            </a:extLst>
          </p:cNvPr>
          <p:cNvSpPr>
            <a:spLocks xmlns:a="http://schemas.openxmlformats.org/drawingml/2006/main" noGrp="1"/>
          </p:cNvSpPr>
          <p:nvPr/>
        </p:nvSpPr>
        <p:spPr>
          <a:xfrm xmlns:a="http://schemas.openxmlformats.org/drawingml/2006/main">
            <a:off x="9115425" y="6067425"/>
            <a:ext cx="1238250" cy="2286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a:solidFill>
                  <a:srgbClr val="FFFFFF"/>
                </a:solidFill>
                <a:latin typeface="PingFang SC"/>
                <a:ea typeface="PingFang SC"/>
                <a:cs typeface="PingFang SC"/>
              </a:defRPr>
            </a:pPr>
            <a:r>
              <a:t>Token 算力包</a:t>
            </a:r>
          </a:p>
        </p:txBody>
      </p:sp>
    </p:spTree>
    <p:extLst>
      <p:ext uri="{BB962C8B-B14F-4D97-AF65-F5344CB8AC3E}">
        <p14:creationId xmlns:p14="http://schemas.microsoft.com/office/powerpoint/2010/main" val="183220912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53F92383-4772-4372-A565-B1AE0ABEF208}"/>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治理与边界</a:t>
            </a:r>
          </a:p>
        </p:txBody>
      </p:sp>
      <p:sp>
        <p:nvSpPr>
          <p:cNvPr id="3" name="矩形 2">
            <a:extLst xmlns:a="http://schemas.openxmlformats.org/drawingml/2006/main">
              <a:ext uri="{FF2B5EF4-FFF2-40B4-BE49-F238E27FC236}">
                <a16:creationId xmlns:a16="http://schemas.microsoft.com/office/drawing/2014/main" id="{955D6AF1-D74B-4EFE-BFF4-B42093F30E5E}"/>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75" b="1">
                <a:solidFill>
                  <a:srgbClr val="000000"/>
                </a:solidFill>
                <a:latin typeface="PingFang SC"/>
                <a:ea typeface="PingFang SC"/>
                <a:cs typeface="PingFang SC"/>
              </a:defRPr>
            </a:pPr>
            <a:r>
              <a:t>空间治理要同时处理外部身份、权限、质量和合规边界</a:t>
            </a:r>
          </a:p>
        </p:txBody>
      </p:sp>
      <p:sp>
        <p:nvSpPr>
          <p:cNvPr id="4" name="矩形 3">
            <a:extLst xmlns:a="http://schemas.openxmlformats.org/drawingml/2006/main">
              <a:ext uri="{FF2B5EF4-FFF2-40B4-BE49-F238E27FC236}">
                <a16:creationId xmlns:a16="http://schemas.microsoft.com/office/drawing/2014/main" id="{8BD0548E-E020-4C7E-BA14-562FBAA97550}"/>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F48C33D6-62F9-44CC-9C7A-68BD1F77D89F}"/>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17</a:t>
            </a:r>
          </a:p>
        </p:txBody>
      </p:sp>
      <p:sp>
        <p:nvSpPr>
          <p:cNvPr id="6" name="矩形 5">
            <a:extLst xmlns:a="http://schemas.openxmlformats.org/drawingml/2006/main">
              <a:ext uri="{FF2B5EF4-FFF2-40B4-BE49-F238E27FC236}">
                <a16:creationId xmlns:a16="http://schemas.microsoft.com/office/drawing/2014/main" id="{FBBFF39D-AFDE-4475-953A-8E28706B4A56}"/>
              </a:ext>
            </a:extLst>
          </p:cNvPr>
          <p:cNvSpPr>
            <a:spLocks xmlns:a="http://schemas.openxmlformats.org/drawingml/2006/main" noGrp="1"/>
          </p:cNvSpPr>
          <p:nvPr/>
        </p:nvSpPr>
        <p:spPr>
          <a:xfrm xmlns:a="http://schemas.openxmlformats.org/drawingml/2006/main">
            <a:off x="390525" y="1962150"/>
            <a:ext cx="5334000" cy="13525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7" name="矩形 6">
            <a:extLst xmlns:a="http://schemas.openxmlformats.org/drawingml/2006/main">
              <a:ext uri="{FF2B5EF4-FFF2-40B4-BE49-F238E27FC236}">
                <a16:creationId xmlns:a16="http://schemas.microsoft.com/office/drawing/2014/main" id="{293BCEDB-EB05-42CA-B786-4AC6984B713B}"/>
              </a:ext>
            </a:extLst>
          </p:cNvPr>
          <p:cNvSpPr>
            <a:spLocks xmlns:a="http://schemas.openxmlformats.org/drawingml/2006/main" noGrp="1"/>
          </p:cNvSpPr>
          <p:nvPr/>
        </p:nvSpPr>
        <p:spPr>
          <a:xfrm xmlns:a="http://schemas.openxmlformats.org/drawingml/2006/main">
            <a:off x="619125" y="21907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权限隔离</a:t>
            </a:r>
          </a:p>
        </p:txBody>
      </p:sp>
      <p:sp>
        <p:nvSpPr>
          <p:cNvPr id="8" name="矩形 7">
            <a:extLst xmlns:a="http://schemas.openxmlformats.org/drawingml/2006/main">
              <a:ext uri="{FF2B5EF4-FFF2-40B4-BE49-F238E27FC236}">
                <a16:creationId xmlns:a16="http://schemas.microsoft.com/office/drawing/2014/main" id="{86906E12-F90C-4636-BF0C-F3144CE3275E}"/>
              </a:ext>
            </a:extLst>
          </p:cNvPr>
          <p:cNvSpPr>
            <a:spLocks xmlns:a="http://schemas.openxmlformats.org/drawingml/2006/main" noGrp="1"/>
          </p:cNvSpPr>
          <p:nvPr/>
        </p:nvSpPr>
        <p:spPr>
          <a:xfrm xmlns:a="http://schemas.openxmlformats.org/drawingml/2006/main">
            <a:off x="619125" y="2647950"/>
            <a:ext cx="4876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PingFang SC"/>
                <a:ea typeface="PingFang SC"/>
                <a:cs typeface="PingFang SC"/>
              </a:defRPr>
            </a:pPr>
            <a:r>
              <a:t>按租户、项目、空间、活动、角色、来源组织和资料范围控制访问，活动结束后回收外部权限。</a:t>
            </a:r>
          </a:p>
        </p:txBody>
      </p:sp>
      <p:sp>
        <p:nvSpPr>
          <p:cNvPr id="9" name="矩形 8">
            <a:extLst xmlns:a="http://schemas.openxmlformats.org/drawingml/2006/main">
              <a:ext uri="{FF2B5EF4-FFF2-40B4-BE49-F238E27FC236}">
                <a16:creationId xmlns:a16="http://schemas.microsoft.com/office/drawing/2014/main" id="{31F5564E-BCCC-4A1C-9E43-FFB1945E3FD1}"/>
              </a:ext>
            </a:extLst>
          </p:cNvPr>
          <p:cNvSpPr>
            <a:spLocks xmlns:a="http://schemas.openxmlformats.org/drawingml/2006/main" noGrp="1"/>
          </p:cNvSpPr>
          <p:nvPr/>
        </p:nvSpPr>
        <p:spPr>
          <a:xfrm xmlns:a="http://schemas.openxmlformats.org/drawingml/2006/main">
            <a:off x="6457950" y="1962150"/>
            <a:ext cx="5334000" cy="13525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0" name="矩形 9">
            <a:extLst xmlns:a="http://schemas.openxmlformats.org/drawingml/2006/main">
              <a:ext uri="{FF2B5EF4-FFF2-40B4-BE49-F238E27FC236}">
                <a16:creationId xmlns:a16="http://schemas.microsoft.com/office/drawing/2014/main" id="{5738BAB9-0D28-40EA-B606-C6E77E0708BB}"/>
              </a:ext>
            </a:extLst>
          </p:cNvPr>
          <p:cNvSpPr>
            <a:spLocks xmlns:a="http://schemas.openxmlformats.org/drawingml/2006/main" noGrp="1"/>
          </p:cNvSpPr>
          <p:nvPr/>
        </p:nvSpPr>
        <p:spPr>
          <a:xfrm xmlns:a="http://schemas.openxmlformats.org/drawingml/2006/main">
            <a:off x="6686550" y="21907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质量审核</a:t>
            </a:r>
          </a:p>
        </p:txBody>
      </p:sp>
      <p:sp>
        <p:nvSpPr>
          <p:cNvPr id="11" name="矩形 10">
            <a:extLst xmlns:a="http://schemas.openxmlformats.org/drawingml/2006/main">
              <a:ext uri="{FF2B5EF4-FFF2-40B4-BE49-F238E27FC236}">
                <a16:creationId xmlns:a16="http://schemas.microsoft.com/office/drawing/2014/main" id="{3E65A6DE-5A01-4A86-BFB2-76B105F8F698}"/>
              </a:ext>
            </a:extLst>
          </p:cNvPr>
          <p:cNvSpPr>
            <a:spLocks xmlns:a="http://schemas.openxmlformats.org/drawingml/2006/main" noGrp="1"/>
          </p:cNvSpPr>
          <p:nvPr/>
        </p:nvSpPr>
        <p:spPr>
          <a:xfrm xmlns:a="http://schemas.openxmlformats.org/drawingml/2006/main">
            <a:off x="6686550" y="2647950"/>
            <a:ext cx="4876800" cy="476250"/>
          </a:xfrm>
          <a:prstGeom xmlns:a="http://schemas.openxmlformats.org/drawingml/2006/main" prst="rect">
            <a:avLst/>
          </a:prstGeom>
        </p:spPr>
        <p:txBody>
          <a:bodyPr xmlns:a="http://schemas.openxmlformats.org/drawingml/2006/main" lIns="0" tIns="0" rIns="0" bIns="0" anchor="t">
            <a:normAutofit fontScale="76871"/>
          </a:bodyPr>
          <a:lstStyle xmlns:a="http://schemas.openxmlformats.org/drawingml/2006/main"/>
          <a:p xmlns:a="http://schemas.openxmlformats.org/drawingml/2006/main">
            <a:pPr algn="l">
              <a:buNone/>
              <a:defRPr sz="1425" b="0">
                <a:solidFill>
                  <a:srgbClr val="000000"/>
                </a:solidFill>
                <a:latin typeface="PingFang SC"/>
                <a:ea typeface="PingFang SC"/>
                <a:cs typeface="PingFang SC"/>
              </a:defRPr>
            </a:pPr>
            <a:r>
              <a:t>AI 生成空间方案、报名问答、报告、证书/证明和评价建议均进入人工确认流程。</a:t>
            </a:r>
          </a:p>
        </p:txBody>
      </p:sp>
      <p:sp>
        <p:nvSpPr>
          <p:cNvPr id="12" name="矩形 11">
            <a:extLst xmlns:a="http://schemas.openxmlformats.org/drawingml/2006/main">
              <a:ext uri="{FF2B5EF4-FFF2-40B4-BE49-F238E27FC236}">
                <a16:creationId xmlns:a16="http://schemas.microsoft.com/office/drawing/2014/main" id="{E657AABA-92E8-4DBA-B6A5-0F3DDAB24EE9}"/>
              </a:ext>
            </a:extLst>
          </p:cNvPr>
          <p:cNvSpPr>
            <a:spLocks xmlns:a="http://schemas.openxmlformats.org/drawingml/2006/main" noGrp="1"/>
          </p:cNvSpPr>
          <p:nvPr/>
        </p:nvSpPr>
        <p:spPr>
          <a:xfrm xmlns:a="http://schemas.openxmlformats.org/drawingml/2006/main">
            <a:off x="390525" y="3676650"/>
            <a:ext cx="5334000" cy="13525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3" name="矩形 12">
            <a:extLst xmlns:a="http://schemas.openxmlformats.org/drawingml/2006/main">
              <a:ext uri="{FF2B5EF4-FFF2-40B4-BE49-F238E27FC236}">
                <a16:creationId xmlns:a16="http://schemas.microsoft.com/office/drawing/2014/main" id="{F2486FDF-5CDA-44E4-9CD3-F0824E1BFA19}"/>
              </a:ext>
            </a:extLst>
          </p:cNvPr>
          <p:cNvSpPr>
            <a:spLocks xmlns:a="http://schemas.openxmlformats.org/drawingml/2006/main" noGrp="1"/>
          </p:cNvSpPr>
          <p:nvPr/>
        </p:nvSpPr>
        <p:spPr>
          <a:xfrm xmlns:a="http://schemas.openxmlformats.org/drawingml/2006/main">
            <a:off x="619125" y="39052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成本治理</a:t>
            </a:r>
          </a:p>
        </p:txBody>
      </p:sp>
      <p:sp>
        <p:nvSpPr>
          <p:cNvPr id="14" name="矩形 13">
            <a:extLst xmlns:a="http://schemas.openxmlformats.org/drawingml/2006/main">
              <a:ext uri="{FF2B5EF4-FFF2-40B4-BE49-F238E27FC236}">
                <a16:creationId xmlns:a16="http://schemas.microsoft.com/office/drawing/2014/main" id="{49460BA9-CAA7-4ACF-A888-2B3B6E42A9D3}"/>
              </a:ext>
            </a:extLst>
          </p:cNvPr>
          <p:cNvSpPr>
            <a:spLocks xmlns:a="http://schemas.openxmlformats.org/drawingml/2006/main" noGrp="1"/>
          </p:cNvSpPr>
          <p:nvPr/>
        </p:nvSpPr>
        <p:spPr>
          <a:xfrm xmlns:a="http://schemas.openxmlformats.org/drawingml/2006/main">
            <a:off x="619125" y="4362450"/>
            <a:ext cx="4876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PingFang SC"/>
                <a:ea typeface="PingFang SC"/>
                <a:cs typeface="PingFang SC"/>
              </a:defRPr>
            </a:pPr>
            <a:r>
              <a:t>按租户、项目、空间、活动、外部人数、智能体和模型统计 Token 消耗，支撑预警、对账和套餐设计。</a:t>
            </a:r>
          </a:p>
        </p:txBody>
      </p:sp>
      <p:sp>
        <p:nvSpPr>
          <p:cNvPr id="15" name="矩形 14">
            <a:extLst xmlns:a="http://schemas.openxmlformats.org/drawingml/2006/main">
              <a:ext uri="{FF2B5EF4-FFF2-40B4-BE49-F238E27FC236}">
                <a16:creationId xmlns:a16="http://schemas.microsoft.com/office/drawing/2014/main" id="{6D60747C-9F01-4653-BA19-EFE786B9BCE2}"/>
              </a:ext>
            </a:extLst>
          </p:cNvPr>
          <p:cNvSpPr>
            <a:spLocks xmlns:a="http://schemas.openxmlformats.org/drawingml/2006/main" noGrp="1"/>
          </p:cNvSpPr>
          <p:nvPr/>
        </p:nvSpPr>
        <p:spPr>
          <a:xfrm xmlns:a="http://schemas.openxmlformats.org/drawingml/2006/main">
            <a:off x="6457950" y="3676650"/>
            <a:ext cx="5334000" cy="13525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6" name="矩形 15">
            <a:extLst xmlns:a="http://schemas.openxmlformats.org/drawingml/2006/main">
              <a:ext uri="{FF2B5EF4-FFF2-40B4-BE49-F238E27FC236}">
                <a16:creationId xmlns:a16="http://schemas.microsoft.com/office/drawing/2014/main" id="{729D9C91-D8B1-492D-9A16-FD8E348E5818}"/>
              </a:ext>
            </a:extLst>
          </p:cNvPr>
          <p:cNvSpPr>
            <a:spLocks xmlns:a="http://schemas.openxmlformats.org/drawingml/2006/main" noGrp="1"/>
          </p:cNvSpPr>
          <p:nvPr/>
        </p:nvSpPr>
        <p:spPr>
          <a:xfrm xmlns:a="http://schemas.openxmlformats.org/drawingml/2006/main">
            <a:off x="6686550" y="3905250"/>
            <a:ext cx="48768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FF6B35"/>
                </a:solidFill>
                <a:latin typeface="PingFang SC"/>
                <a:ea typeface="PingFang SC"/>
                <a:cs typeface="PingFang SC"/>
              </a:defRPr>
            </a:pPr>
            <a:r>
              <a:t>数据沉淀</a:t>
            </a:r>
          </a:p>
        </p:txBody>
      </p:sp>
      <p:sp>
        <p:nvSpPr>
          <p:cNvPr id="17" name="矩形 16">
            <a:extLst xmlns:a="http://schemas.openxmlformats.org/drawingml/2006/main">
              <a:ext uri="{FF2B5EF4-FFF2-40B4-BE49-F238E27FC236}">
                <a16:creationId xmlns:a16="http://schemas.microsoft.com/office/drawing/2014/main" id="{8EA3B50A-B27C-4231-A8E4-053ABAA6B373}"/>
              </a:ext>
            </a:extLst>
          </p:cNvPr>
          <p:cNvSpPr>
            <a:spLocks xmlns:a="http://schemas.openxmlformats.org/drawingml/2006/main" noGrp="1"/>
          </p:cNvSpPr>
          <p:nvPr/>
        </p:nvSpPr>
        <p:spPr>
          <a:xfrm xmlns:a="http://schemas.openxmlformats.org/drawingml/2006/main">
            <a:off x="6686550" y="4362450"/>
            <a:ext cx="4876800" cy="476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FFFFFF"/>
                </a:solidFill>
                <a:latin typeface="PingFang SC"/>
                <a:ea typeface="PingFang SC"/>
                <a:cs typeface="PingFang SC"/>
              </a:defRPr>
            </a:pPr>
            <a:r>
              <a:t>外部人员档案、空间参与记录、成果、证书/证明和效果报告进入档案，跨组织报告脱敏输出。</a:t>
            </a:r>
          </a:p>
        </p:txBody>
      </p:sp>
      <p:sp>
        <p:nvSpPr>
          <p:cNvPr id="18" name="矩形 17">
            <a:extLst xmlns:a="http://schemas.openxmlformats.org/drawingml/2006/main">
              <a:ext uri="{FF2B5EF4-FFF2-40B4-BE49-F238E27FC236}">
                <a16:creationId xmlns:a16="http://schemas.microsoft.com/office/drawing/2014/main" id="{3F9CE01D-188B-44E9-819E-128499D964CD}"/>
              </a:ext>
            </a:extLst>
          </p:cNvPr>
          <p:cNvSpPr>
            <a:spLocks xmlns:a="http://schemas.openxmlformats.org/drawingml/2006/main" noGrp="1"/>
          </p:cNvSpPr>
          <p:nvPr/>
        </p:nvSpPr>
        <p:spPr>
          <a:xfrm xmlns:a="http://schemas.openxmlformats.org/drawingml/2006/main">
            <a:off x="390525" y="5476875"/>
            <a:ext cx="11401425" cy="5143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9" name="矩形 18">
            <a:extLst xmlns:a="http://schemas.openxmlformats.org/drawingml/2006/main">
              <a:ext uri="{FF2B5EF4-FFF2-40B4-BE49-F238E27FC236}">
                <a16:creationId xmlns:a16="http://schemas.microsoft.com/office/drawing/2014/main" id="{95A41E37-AFEA-426B-AD7D-E3B3F985DB36}"/>
              </a:ext>
            </a:extLst>
          </p:cNvPr>
          <p:cNvSpPr>
            <a:spLocks xmlns:a="http://schemas.openxmlformats.org/drawingml/2006/main" noGrp="1"/>
          </p:cNvSpPr>
          <p:nvPr/>
        </p:nvSpPr>
        <p:spPr>
          <a:xfrm xmlns:a="http://schemas.openxmlformats.org/drawingml/2006/main">
            <a:off x="666750" y="5600700"/>
            <a:ext cx="10839450" cy="2667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650" b="1">
                <a:solidFill>
                  <a:srgbClr val="000000"/>
                </a:solidFill>
                <a:latin typeface="PingFang SC"/>
                <a:ea typeface="PingFang SC"/>
                <a:cs typeface="PingFang SC"/>
              </a:defRPr>
            </a:pPr>
            <a:r>
              <a:t>治理目标：让空间可开通、人员可准入、资料可授权、账号有期限、报告可脱敏，数据安全和商业成本可控。</a:t>
            </a:r>
          </a:p>
        </p:txBody>
      </p:sp>
    </p:spTree>
    <p:extLst>
      <p:ext uri="{BB962C8B-B14F-4D97-AF65-F5344CB8AC3E}">
        <p14:creationId xmlns:p14="http://schemas.microsoft.com/office/powerpoint/2010/main" val="150025766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EAE69035-3F95-4EF3-AF36-FC3A12F7D995}"/>
              </a:ext>
            </a:extLst>
          </p:cNvPr>
          <p:cNvSpPr>
            <a:spLocks xmlns:a="http://schemas.openxmlformats.org/drawingml/2006/main" noGrp="1"/>
          </p:cNvSpPr>
          <p:nvPr/>
        </p:nvSpPr>
        <p:spPr>
          <a:xfrm xmlns:a="http://schemas.openxmlformats.org/drawingml/2006/main">
            <a:off x="390525" y="342900"/>
            <a:ext cx="285750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1200" b="1">
                <a:solidFill>
                  <a:srgbClr val="555555"/>
                </a:solidFill>
                <a:latin typeface="PingFang SC"/>
                <a:ea typeface="PingFang SC"/>
                <a:cs typeface="PingFang SC"/>
              </a:defRPr>
            </a:pPr>
            <a:r>
              <a:t>总结</a:t>
            </a:r>
          </a:p>
        </p:txBody>
      </p:sp>
      <p:sp>
        <p:nvSpPr>
          <p:cNvPr id="3" name="矩形 2">
            <a:extLst xmlns:a="http://schemas.openxmlformats.org/drawingml/2006/main">
              <a:ext uri="{FF2B5EF4-FFF2-40B4-BE49-F238E27FC236}">
                <a16:creationId xmlns:a16="http://schemas.microsoft.com/office/drawing/2014/main" id="{A3B5455C-532E-47E1-B5AF-F462D00C4FF4}"/>
              </a:ext>
            </a:extLst>
          </p:cNvPr>
          <p:cNvSpPr>
            <a:spLocks xmlns:a="http://schemas.openxmlformats.org/drawingml/2006/main" noGrp="1"/>
          </p:cNvSpPr>
          <p:nvPr/>
        </p:nvSpPr>
        <p:spPr>
          <a:xfrm xmlns:a="http://schemas.openxmlformats.org/drawingml/2006/main">
            <a:off x="390525" y="666750"/>
            <a:ext cx="11401425" cy="723900"/>
          </a:xfrm>
          <a:prstGeom xmlns:a="http://schemas.openxmlformats.org/drawingml/2006/main" prst="rect">
            <a:avLst/>
          </a:prstGeom>
        </p:spPr>
        <p:txBody>
          <a:bodyPr xmlns:a="http://schemas.openxmlformats.org/drawingml/2006/main" lIns="0" tIns="0" rIns="0" bIns="0" anchor="t">
            <a:normAutofit fontScale="91445"/>
          </a:bodyPr>
          <a:lstStyle xmlns:a="http://schemas.openxmlformats.org/drawingml/2006/main"/>
          <a:p xmlns:a="http://schemas.openxmlformats.org/drawingml/2006/main">
            <a:pPr algn="l">
              <a:buNone/>
              <a:defRPr sz="2925" b="1">
                <a:solidFill>
                  <a:srgbClr val="000000"/>
                </a:solidFill>
                <a:latin typeface="PingFang SC"/>
                <a:ea typeface="PingFang SC"/>
                <a:cs typeface="PingFang SC"/>
              </a:defRPr>
            </a:pPr>
            <a:r>
              <a:t>果仁培训产品最终形成“底座复用 + 空间承载业务 + 效果运营”的产品体系</a:t>
            </a:r>
          </a:p>
        </p:txBody>
      </p:sp>
      <p:sp>
        <p:nvSpPr>
          <p:cNvPr id="4" name="矩形 3">
            <a:extLst xmlns:a="http://schemas.openxmlformats.org/drawingml/2006/main">
              <a:ext uri="{FF2B5EF4-FFF2-40B4-BE49-F238E27FC236}">
                <a16:creationId xmlns:a16="http://schemas.microsoft.com/office/drawing/2014/main" id="{CEFC33A9-53C3-40EF-AB16-1E76BA1E5010}"/>
              </a:ext>
            </a:extLst>
          </p:cNvPr>
          <p:cNvSpPr>
            <a:spLocks xmlns:a="http://schemas.openxmlformats.org/drawingml/2006/main" noGrp="1"/>
          </p:cNvSpPr>
          <p:nvPr/>
        </p:nvSpPr>
        <p:spPr>
          <a:xfrm xmlns:a="http://schemas.openxmlformats.org/drawingml/2006/main">
            <a:off x="390525" y="1504950"/>
            <a:ext cx="11401425" cy="14288"/>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矩形 4">
            <a:extLst xmlns:a="http://schemas.openxmlformats.org/drawingml/2006/main">
              <a:ext uri="{FF2B5EF4-FFF2-40B4-BE49-F238E27FC236}">
                <a16:creationId xmlns:a16="http://schemas.microsoft.com/office/drawing/2014/main" id="{9F66DA6A-6915-4D1C-8581-96AE32826F82}"/>
              </a:ext>
            </a:extLst>
          </p:cNvPr>
          <p:cNvSpPr>
            <a:spLocks xmlns:a="http://schemas.openxmlformats.org/drawingml/2006/main" noGrp="1"/>
          </p:cNvSpPr>
          <p:nvPr/>
        </p:nvSpPr>
        <p:spPr>
          <a:xfrm xmlns:a="http://schemas.openxmlformats.org/drawingml/2006/main">
            <a:off x="11277600" y="6276975"/>
            <a:ext cx="514350" cy="238125"/>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r">
              <a:buNone/>
              <a:defRPr sz="1125" b="0">
                <a:solidFill>
                  <a:srgbClr val="000000"/>
                </a:solidFill>
                <a:latin typeface="PingFang SC"/>
                <a:ea typeface="PingFang SC"/>
                <a:cs typeface="PingFang SC"/>
              </a:defRPr>
            </a:pPr>
            <a:r>
              <a:t>18</a:t>
            </a:r>
          </a:p>
        </p:txBody>
      </p:sp>
      <p:sp>
        <p:nvSpPr>
          <p:cNvPr id="6" name="矩形 5">
            <a:extLst xmlns:a="http://schemas.openxmlformats.org/drawingml/2006/main">
              <a:ext uri="{FF2B5EF4-FFF2-40B4-BE49-F238E27FC236}">
                <a16:creationId xmlns:a16="http://schemas.microsoft.com/office/drawing/2014/main" id="{447E214B-B2A7-4A65-B551-08C84B61BC95}"/>
              </a:ext>
            </a:extLst>
          </p:cNvPr>
          <p:cNvSpPr>
            <a:spLocks xmlns:a="http://schemas.openxmlformats.org/drawingml/2006/main" noGrp="1"/>
          </p:cNvSpPr>
          <p:nvPr/>
        </p:nvSpPr>
        <p:spPr>
          <a:xfrm xmlns:a="http://schemas.openxmlformats.org/drawingml/2006/main">
            <a:off x="390525" y="2038350"/>
            <a:ext cx="3238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矩形 6">
            <a:extLst xmlns:a="http://schemas.openxmlformats.org/drawingml/2006/main">
              <a:ext uri="{FF2B5EF4-FFF2-40B4-BE49-F238E27FC236}">
                <a16:creationId xmlns:a16="http://schemas.microsoft.com/office/drawing/2014/main" id="{E42E8ED9-13EF-437F-8A38-FDCAADA12FE5}"/>
              </a:ext>
            </a:extLst>
          </p:cNvPr>
          <p:cNvSpPr>
            <a:spLocks xmlns:a="http://schemas.openxmlformats.org/drawingml/2006/main" noGrp="1"/>
          </p:cNvSpPr>
          <p:nvPr/>
        </p:nvSpPr>
        <p:spPr>
          <a:xfrm xmlns:a="http://schemas.openxmlformats.org/drawingml/2006/main">
            <a:off x="619125" y="2266950"/>
            <a:ext cx="2781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底座复用</a:t>
            </a:r>
          </a:p>
        </p:txBody>
      </p:sp>
      <p:sp>
        <p:nvSpPr>
          <p:cNvPr id="8" name="矩形 7">
            <a:extLst xmlns:a="http://schemas.openxmlformats.org/drawingml/2006/main">
              <a:ext uri="{FF2B5EF4-FFF2-40B4-BE49-F238E27FC236}">
                <a16:creationId xmlns:a16="http://schemas.microsoft.com/office/drawing/2014/main" id="{1AB46D67-E50D-4619-9827-480C8A344818}"/>
              </a:ext>
            </a:extLst>
          </p:cNvPr>
          <p:cNvSpPr>
            <a:spLocks xmlns:a="http://schemas.openxmlformats.org/drawingml/2006/main" noGrp="1"/>
          </p:cNvSpPr>
          <p:nvPr/>
        </p:nvSpPr>
        <p:spPr>
          <a:xfrm xmlns:a="http://schemas.openxmlformats.org/drawingml/2006/main">
            <a:off x="619125" y="2724150"/>
            <a:ext cx="2781300" cy="1504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000000"/>
                </a:solidFill>
                <a:latin typeface="PingFang SC"/>
                <a:ea typeface="PingFang SC"/>
                <a:cs typeface="PingFang SC"/>
              </a:defRPr>
            </a:pPr>
            <a:r>
              <a:t>复用果仁的租户、解决方案、套餐、业务空间、资料库、Lucky、任务、问卷、证书、外部人员和统计能力。</a:t>
            </a:r>
          </a:p>
        </p:txBody>
      </p:sp>
      <p:sp>
        <p:nvSpPr>
          <p:cNvPr id="9" name="矩形 8">
            <a:extLst xmlns:a="http://schemas.openxmlformats.org/drawingml/2006/main">
              <a:ext uri="{FF2B5EF4-FFF2-40B4-BE49-F238E27FC236}">
                <a16:creationId xmlns:a16="http://schemas.microsoft.com/office/drawing/2014/main" id="{B0CA60DE-F2E3-4783-A2D9-8A2BC8628DDE}"/>
              </a:ext>
            </a:extLst>
          </p:cNvPr>
          <p:cNvSpPr>
            <a:spLocks xmlns:a="http://schemas.openxmlformats.org/drawingml/2006/main" noGrp="1"/>
          </p:cNvSpPr>
          <p:nvPr/>
        </p:nvSpPr>
        <p:spPr>
          <a:xfrm xmlns:a="http://schemas.openxmlformats.org/drawingml/2006/main">
            <a:off x="4476750" y="2038350"/>
            <a:ext cx="3238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矩形 9">
            <a:extLst xmlns:a="http://schemas.openxmlformats.org/drawingml/2006/main">
              <a:ext uri="{FF2B5EF4-FFF2-40B4-BE49-F238E27FC236}">
                <a16:creationId xmlns:a16="http://schemas.microsoft.com/office/drawing/2014/main" id="{A01BCF2C-9067-4172-8759-2B41AA5BC003}"/>
              </a:ext>
            </a:extLst>
          </p:cNvPr>
          <p:cNvSpPr>
            <a:spLocks xmlns:a="http://schemas.openxmlformats.org/drawingml/2006/main" noGrp="1"/>
          </p:cNvSpPr>
          <p:nvPr/>
        </p:nvSpPr>
        <p:spPr>
          <a:xfrm xmlns:a="http://schemas.openxmlformats.org/drawingml/2006/main">
            <a:off x="4705350" y="2266950"/>
            <a:ext cx="2781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000000"/>
                </a:solidFill>
                <a:latin typeface="PingFang SC"/>
                <a:ea typeface="PingFang SC"/>
                <a:cs typeface="PingFang SC"/>
              </a:defRPr>
            </a:pPr>
            <a:r>
              <a:t>空间承载闭环</a:t>
            </a:r>
          </a:p>
        </p:txBody>
      </p:sp>
      <p:sp>
        <p:nvSpPr>
          <p:cNvPr id="11" name="矩形 10">
            <a:extLst xmlns:a="http://schemas.openxmlformats.org/drawingml/2006/main">
              <a:ext uri="{FF2B5EF4-FFF2-40B4-BE49-F238E27FC236}">
                <a16:creationId xmlns:a16="http://schemas.microsoft.com/office/drawing/2014/main" id="{2FBDB2A6-32EB-436D-BD72-2B95FF852D99}"/>
              </a:ext>
            </a:extLst>
          </p:cNvPr>
          <p:cNvSpPr>
            <a:spLocks xmlns:a="http://schemas.openxmlformats.org/drawingml/2006/main" noGrp="1"/>
          </p:cNvSpPr>
          <p:nvPr/>
        </p:nvSpPr>
        <p:spPr>
          <a:xfrm xmlns:a="http://schemas.openxmlformats.org/drawingml/2006/main">
            <a:off x="4705350" y="2724150"/>
            <a:ext cx="2781300" cy="1504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000000"/>
                </a:solidFill>
                <a:latin typeface="PingFang SC"/>
                <a:ea typeface="PingFang SC"/>
                <a:cs typeface="PingFang SC"/>
              </a:defRPr>
            </a:pPr>
            <a:r>
              <a:t>以空间承载内训、外训、研讨、评课等业务，贯通信息管理、过程运营、效果评估、外部人员准入和成果沉淀。</a:t>
            </a:r>
          </a:p>
        </p:txBody>
      </p:sp>
      <p:sp>
        <p:nvSpPr>
          <p:cNvPr id="12" name="矩形 11">
            <a:extLst xmlns:a="http://schemas.openxmlformats.org/drawingml/2006/main">
              <a:ext uri="{FF2B5EF4-FFF2-40B4-BE49-F238E27FC236}">
                <a16:creationId xmlns:a16="http://schemas.microsoft.com/office/drawing/2014/main" id="{5B88C326-7F23-4A87-8EAC-C8D09E411F14}"/>
              </a:ext>
            </a:extLst>
          </p:cNvPr>
          <p:cNvSpPr>
            <a:spLocks xmlns:a="http://schemas.openxmlformats.org/drawingml/2006/main" noGrp="1"/>
          </p:cNvSpPr>
          <p:nvPr/>
        </p:nvSpPr>
        <p:spPr>
          <a:xfrm xmlns:a="http://schemas.openxmlformats.org/drawingml/2006/main">
            <a:off x="8562975" y="2038350"/>
            <a:ext cx="3238500" cy="23812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3" name="矩形 12">
            <a:extLst xmlns:a="http://schemas.openxmlformats.org/drawingml/2006/main">
              <a:ext uri="{FF2B5EF4-FFF2-40B4-BE49-F238E27FC236}">
                <a16:creationId xmlns:a16="http://schemas.microsoft.com/office/drawing/2014/main" id="{19049C6C-4F6D-4317-8198-6DA2F1357A90}"/>
              </a:ext>
            </a:extLst>
          </p:cNvPr>
          <p:cNvSpPr>
            <a:spLocks xmlns:a="http://schemas.openxmlformats.org/drawingml/2006/main" noGrp="1"/>
          </p:cNvSpPr>
          <p:nvPr/>
        </p:nvSpPr>
        <p:spPr>
          <a:xfrm xmlns:a="http://schemas.openxmlformats.org/drawingml/2006/main">
            <a:off x="8791575" y="2266950"/>
            <a:ext cx="2781300" cy="3429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00" b="1">
                <a:solidFill>
                  <a:srgbClr val="FFFFFF"/>
                </a:solidFill>
                <a:latin typeface="PingFang SC"/>
                <a:ea typeface="PingFang SC"/>
                <a:cs typeface="PingFang SC"/>
              </a:defRPr>
            </a:pPr>
            <a:r>
              <a:t>效果运营</a:t>
            </a:r>
          </a:p>
        </p:txBody>
      </p:sp>
      <p:sp>
        <p:nvSpPr>
          <p:cNvPr id="14" name="矩形 13">
            <a:extLst xmlns:a="http://schemas.openxmlformats.org/drawingml/2006/main">
              <a:ext uri="{FF2B5EF4-FFF2-40B4-BE49-F238E27FC236}">
                <a16:creationId xmlns:a16="http://schemas.microsoft.com/office/drawing/2014/main" id="{AF5C4016-F906-4A07-B4EB-3F42CE6864AE}"/>
              </a:ext>
            </a:extLst>
          </p:cNvPr>
          <p:cNvSpPr>
            <a:spLocks xmlns:a="http://schemas.openxmlformats.org/drawingml/2006/main" noGrp="1"/>
          </p:cNvSpPr>
          <p:nvPr/>
        </p:nvSpPr>
        <p:spPr>
          <a:xfrm xmlns:a="http://schemas.openxmlformats.org/drawingml/2006/main">
            <a:off x="8791575" y="2724150"/>
            <a:ext cx="2781300" cy="1504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FFFFFF"/>
                </a:solidFill>
                <a:latin typeface="PingFang SC"/>
                <a:ea typeface="PingFang SC"/>
                <a:cs typeface="PingFang SC"/>
              </a:defRPr>
            </a:pPr>
            <a:r>
              <a:t>用数据和 AI 把空间结果转化为个人证明、组织报告、复训建议、资源复用和持续增购。</a:t>
            </a:r>
          </a:p>
        </p:txBody>
      </p:sp>
      <p:sp>
        <p:nvSpPr>
          <p:cNvPr id="15" name="矩形 14">
            <a:extLst xmlns:a="http://schemas.openxmlformats.org/drawingml/2006/main">
              <a:ext uri="{FF2B5EF4-FFF2-40B4-BE49-F238E27FC236}">
                <a16:creationId xmlns:a16="http://schemas.microsoft.com/office/drawing/2014/main" id="{3DD0D712-E1FA-48F8-8338-F9B3E2F362D5}"/>
              </a:ext>
            </a:extLst>
          </p:cNvPr>
          <p:cNvSpPr>
            <a:spLocks xmlns:a="http://schemas.openxmlformats.org/drawingml/2006/main" noGrp="1"/>
          </p:cNvSpPr>
          <p:nvPr/>
        </p:nvSpPr>
        <p:spPr>
          <a:xfrm xmlns:a="http://schemas.openxmlformats.org/drawingml/2006/main">
            <a:off x="390525" y="5067300"/>
            <a:ext cx="18097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555555"/>
                </a:solidFill>
                <a:latin typeface="PingFang SC"/>
                <a:ea typeface="PingFang SC"/>
                <a:cs typeface="PingFang SC"/>
              </a:defRPr>
            </a:pPr>
            <a:r>
              <a:t>建议下一步</a:t>
            </a:r>
          </a:p>
        </p:txBody>
      </p:sp>
      <p:sp>
        <p:nvSpPr>
          <p:cNvPr id="16" name="矩形 15">
            <a:extLst xmlns:a="http://schemas.openxmlformats.org/drawingml/2006/main">
              <a:ext uri="{FF2B5EF4-FFF2-40B4-BE49-F238E27FC236}">
                <a16:creationId xmlns:a16="http://schemas.microsoft.com/office/drawing/2014/main" id="{04F0E3D5-0688-4C6B-82EB-1DADFEC3E559}"/>
              </a:ext>
            </a:extLst>
          </p:cNvPr>
          <p:cNvSpPr>
            <a:spLocks xmlns:a="http://schemas.openxmlformats.org/drawingml/2006/main" noGrp="1"/>
          </p:cNvSpPr>
          <p:nvPr/>
        </p:nvSpPr>
        <p:spPr>
          <a:xfrm xmlns:a="http://schemas.openxmlformats.org/drawingml/2006/main">
            <a:off x="2209800" y="4914900"/>
            <a:ext cx="8858250" cy="666750"/>
          </a:xfrm>
          <a:prstGeom xmlns:a="http://schemas.openxmlformats.org/drawingml/2006/main" prst="rect">
            <a:avLst/>
          </a:prstGeom>
        </p:spPr>
        <p:txBody>
          <a:bodyPr xmlns:a="http://schemas.openxmlformats.org/drawingml/2006/main" lIns="0" tIns="0" rIns="0" bIns="0" anchor="t">
            <a:normAutofit fontScale="81018"/>
          </a:bodyPr>
          <a:lstStyle xmlns:a="http://schemas.openxmlformats.org/drawingml/2006/main"/>
          <a:p xmlns:a="http://schemas.openxmlformats.org/drawingml/2006/main">
            <a:pPr algn="l">
              <a:buNone/>
              <a:defRPr sz="1800" b="1">
                <a:solidFill>
                  <a:srgbClr val="000000"/>
                </a:solidFill>
                <a:latin typeface="PingFang SC"/>
                <a:ea typeface="PingFang SC"/>
                <a:cs typeface="PingFang SC"/>
              </a:defRPr>
            </a:pPr>
            <a:r>
              <a:t>选取一个标准外训空间做 MVP：先跑通报名审核、外部账号、资料授权、过程记录、证书/证明和组织报告，再叠加智能体和效果驾驶舱。</a:t>
            </a:r>
          </a:p>
        </p:txBody>
      </p:sp>
    </p:spTree>
    <p:extLst>
      <p:ext uri="{BB962C8B-B14F-4D97-AF65-F5344CB8AC3E}">
        <p14:creationId xmlns:p14="http://schemas.microsoft.com/office/powerpoint/2010/main" val="18211086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2026-07-27T06:13:18.3770000Z</dcterms:created>
  <dcterms:modified xsi:type="dcterms:W3CDTF">2026-07-27T06:13:18.3770000Z</dcterms:modified>
</coreProperties>
</file>