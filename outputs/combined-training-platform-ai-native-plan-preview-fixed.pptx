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F935CE-9A4A-4392-9CEB-CF837AAC23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ver-title"/>
          <p:cNvSpPr/>
          <p:nvPr/>
        </p:nvSpPr>
        <p:spPr>
          <a:xfrm>
            <a:off x="552600" y="876240"/>
            <a:ext cx="65718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培训平台建设方案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cover-body"/>
          <p:cNvSpPr/>
          <p:nvPr/>
        </p:nvSpPr>
        <p:spPr>
          <a:xfrm>
            <a:off x="609480" y="2143080"/>
            <a:ext cx="66672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第一部分讲培训平台如何组织培训、评估、档案和推荐；第二部分讲果仁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原生底座如何通过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Lucky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智能体、资料库、空间、场景模板和模型统计为系统赋能。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ight-panel"/>
          <p:cNvSpPr/>
          <p:nvPr/>
        </p:nvSpPr>
        <p:spPr>
          <a:xfrm>
            <a:off x="8229600" y="781200"/>
            <a:ext cx="3561840" cy="4771800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art1"/>
          <p:cNvSpPr/>
          <p:nvPr/>
        </p:nvSpPr>
        <p:spPr>
          <a:xfrm>
            <a:off x="8591400" y="1314360"/>
            <a:ext cx="280008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Part 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培训平台本体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ail-line"/>
          <p:cNvSpPr/>
          <p:nvPr/>
        </p:nvSpPr>
        <p:spPr>
          <a:xfrm>
            <a:off x="8591400" y="2705040"/>
            <a:ext cx="2723760" cy="1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art2"/>
          <p:cNvSpPr/>
          <p:nvPr/>
        </p:nvSpPr>
        <p:spPr>
          <a:xfrm>
            <a:off x="8591400" y="3191040"/>
            <a:ext cx="280008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Part 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原生底座赋能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ag"/>
          <p:cNvSpPr/>
          <p:nvPr/>
        </p:nvSpPr>
        <p:spPr>
          <a:xfrm>
            <a:off x="8591400" y="4857840"/>
            <a:ext cx="2800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从业务闭环到智能底座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lobal-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399960" y="838080"/>
            <a:ext cx="99057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3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培训平台整体建设方案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ule"/>
          <p:cNvSpPr/>
          <p:nvPr/>
        </p:nvSpPr>
        <p:spPr>
          <a:xfrm>
            <a:off x="399960" y="156672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left"/>
          <p:cNvSpPr/>
          <p:nvPr/>
        </p:nvSpPr>
        <p:spPr>
          <a:xfrm>
            <a:off x="800280" y="2171880"/>
            <a:ext cx="4762080" cy="150444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label1"/>
          <p:cNvSpPr/>
          <p:nvPr/>
        </p:nvSpPr>
        <p:spPr>
          <a:xfrm>
            <a:off x="1143000" y="2438280"/>
            <a:ext cx="1523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第一部分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head1"/>
          <p:cNvSpPr/>
          <p:nvPr/>
        </p:nvSpPr>
        <p:spPr>
          <a:xfrm>
            <a:off x="1143000" y="2762280"/>
            <a:ext cx="4076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培训平台建设方案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body1"/>
          <p:cNvSpPr/>
          <p:nvPr/>
        </p:nvSpPr>
        <p:spPr>
          <a:xfrm>
            <a:off x="1143000" y="3200400"/>
            <a:ext cx="4076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说明平台的业务闭环、子系统职责、核心模块、数据流转、建设阶段和预期成效。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ight"/>
          <p:cNvSpPr/>
          <p:nvPr/>
        </p:nvSpPr>
        <p:spPr>
          <a:xfrm>
            <a:off x="6629400" y="2171880"/>
            <a:ext cx="4762080" cy="150444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label2"/>
          <p:cNvSpPr/>
          <p:nvPr/>
        </p:nvSpPr>
        <p:spPr>
          <a:xfrm>
            <a:off x="6972480" y="2438280"/>
            <a:ext cx="1523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第二部分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head2"/>
          <p:cNvSpPr/>
          <p:nvPr/>
        </p:nvSpPr>
        <p:spPr>
          <a:xfrm>
            <a:off x="6972480" y="2762280"/>
            <a:ext cx="4076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原生底座赋能方案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body2"/>
          <p:cNvSpPr/>
          <p:nvPr/>
        </p:nvSpPr>
        <p:spPr>
          <a:xfrm>
            <a:off x="6972480" y="3200400"/>
            <a:ext cx="4076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说明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原生底座如何横向赋能培训信息、研修活动、培训评估、教师档案和用户推荐。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lobal-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agenda-card-3"/>
          <p:cNvSpPr/>
          <p:nvPr/>
        </p:nvSpPr>
        <p:spPr>
          <a:xfrm>
            <a:off x="800280" y="4095720"/>
            <a:ext cx="4762080" cy="150444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agenda-label-3"/>
          <p:cNvSpPr/>
          <p:nvPr/>
        </p:nvSpPr>
        <p:spPr>
          <a:xfrm>
            <a:off x="1143000" y="4362480"/>
            <a:ext cx="1523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第三部分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agenda-head-3"/>
          <p:cNvSpPr/>
          <p:nvPr/>
        </p:nvSpPr>
        <p:spPr>
          <a:xfrm>
            <a:off x="1143000" y="4686480"/>
            <a:ext cx="4076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原生底座开发模式的特点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agenda-body-3"/>
          <p:cNvSpPr/>
          <p:nvPr/>
        </p:nvSpPr>
        <p:spPr>
          <a:xfrm>
            <a:off x="1143000" y="5124600"/>
            <a:ext cx="4076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说明快速迭代、三层协同和实践验证，呈现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原生开发模式的交付优势。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agenda-card-4"/>
          <p:cNvSpPr/>
          <p:nvPr/>
        </p:nvSpPr>
        <p:spPr>
          <a:xfrm>
            <a:off x="6629400" y="4095720"/>
            <a:ext cx="4762080" cy="150444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agenda-label-4"/>
          <p:cNvSpPr/>
          <p:nvPr/>
        </p:nvSpPr>
        <p:spPr>
          <a:xfrm>
            <a:off x="6972480" y="4362480"/>
            <a:ext cx="1523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第四部分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agenda-head-4"/>
          <p:cNvSpPr/>
          <p:nvPr/>
        </p:nvSpPr>
        <p:spPr>
          <a:xfrm>
            <a:off x="6972480" y="4686480"/>
            <a:ext cx="4076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三个平台关系说明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agenda-body-4"/>
          <p:cNvSpPr/>
          <p:nvPr/>
        </p:nvSpPr>
        <p:spPr>
          <a:xfrm>
            <a:off x="6972480" y="5124600"/>
            <a:ext cx="4076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说明学习公社、通答平台与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原生平台的定位、当前承载和规划融合。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agenda-page-pill-1"/>
          <p:cNvSpPr/>
          <p:nvPr/>
        </p:nvSpPr>
        <p:spPr>
          <a:xfrm>
            <a:off x="4495680" y="2419200"/>
            <a:ext cx="723600" cy="266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agenda-page-text-1"/>
          <p:cNvSpPr/>
          <p:nvPr/>
        </p:nvSpPr>
        <p:spPr>
          <a:xfrm>
            <a:off x="4591080" y="2467080"/>
            <a:ext cx="533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P03-P15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agenda-page-pill-2"/>
          <p:cNvSpPr/>
          <p:nvPr/>
        </p:nvSpPr>
        <p:spPr>
          <a:xfrm>
            <a:off x="10325160" y="2419200"/>
            <a:ext cx="723600" cy="266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agenda-page-text-2"/>
          <p:cNvSpPr/>
          <p:nvPr/>
        </p:nvSpPr>
        <p:spPr>
          <a:xfrm>
            <a:off x="10420200" y="2467080"/>
            <a:ext cx="533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P16-P27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agenda-page-pill-3"/>
          <p:cNvSpPr/>
          <p:nvPr/>
        </p:nvSpPr>
        <p:spPr>
          <a:xfrm>
            <a:off x="4495680" y="4343400"/>
            <a:ext cx="723600" cy="266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agenda-page-text-3"/>
          <p:cNvSpPr/>
          <p:nvPr/>
        </p:nvSpPr>
        <p:spPr>
          <a:xfrm>
            <a:off x="4591080" y="4390920"/>
            <a:ext cx="533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P28-P31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agenda-page-pill-4"/>
          <p:cNvSpPr/>
          <p:nvPr/>
        </p:nvSpPr>
        <p:spPr>
          <a:xfrm>
            <a:off x="10325160" y="4343400"/>
            <a:ext cx="723600" cy="266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agenda-page-text-4"/>
          <p:cNvSpPr/>
          <p:nvPr/>
        </p:nvSpPr>
        <p:spPr>
          <a:xfrm>
            <a:off x="10420200" y="4390920"/>
            <a:ext cx="533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P32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art"/>
          <p:cNvSpPr/>
          <p:nvPr/>
        </p:nvSpPr>
        <p:spPr>
          <a:xfrm>
            <a:off x="552600" y="781200"/>
            <a:ext cx="2857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Part 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ection-title"/>
          <p:cNvSpPr/>
          <p:nvPr/>
        </p:nvSpPr>
        <p:spPr>
          <a:xfrm>
            <a:off x="552600" y="1695600"/>
            <a:ext cx="80960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培训平台建设方案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ection-subtitle"/>
          <p:cNvSpPr/>
          <p:nvPr/>
        </p:nvSpPr>
        <p:spPr>
          <a:xfrm>
            <a:off x="590400" y="2952720"/>
            <a:ext cx="89892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围绕培训组织、研修活动、培训评估、教师档案和用户推荐，形成一体化业务闭环。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ection-line"/>
          <p:cNvSpPr/>
          <p:nvPr/>
        </p:nvSpPr>
        <p:spPr>
          <a:xfrm>
            <a:off x="590400" y="4629240"/>
            <a:ext cx="600048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keywords"/>
          <p:cNvSpPr/>
          <p:nvPr/>
        </p:nvSpPr>
        <p:spPr>
          <a:xfrm>
            <a:off x="590400" y="4991040"/>
            <a:ext cx="7429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培训信息 </a:t>
            </a: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研修活动 </a:t>
            </a: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培训评估 </a:t>
            </a: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教师档案 </a:t>
            </a: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用户推荐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lobal-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培训业务需要从活动组织升级为持续发展服务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lead"/>
          <p:cNvSpPr/>
          <p:nvPr/>
        </p:nvSpPr>
        <p:spPr>
          <a:xfrm>
            <a:off x="438120" y="1809720"/>
            <a:ext cx="108583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传统培训管理以报名、签到、学习统计为主，难以完整呈现教师的参与表现、成果质量和后续发展需求。培训平台要把一次性活动转化为可追踪、可评价、可沉淀、可推荐的业务闭环。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card-过程难追踪"/>
          <p:cNvSpPr/>
          <p:nvPr/>
        </p:nvSpPr>
        <p:spPr>
          <a:xfrm>
            <a:off x="399960" y="3048120"/>
            <a:ext cx="3428640" cy="1676160"/>
          </a:xfrm>
          <a:prstGeom prst="roundRect">
            <a:avLst>
              <a:gd name="adj" fmla="val 3409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num-01"/>
          <p:cNvSpPr/>
          <p:nvPr/>
        </p:nvSpPr>
        <p:spPr>
          <a:xfrm>
            <a:off x="609480" y="325764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num-text-01"/>
          <p:cNvSpPr/>
          <p:nvPr/>
        </p:nvSpPr>
        <p:spPr>
          <a:xfrm>
            <a:off x="609480" y="329580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ard-title-过程难追踪"/>
          <p:cNvSpPr/>
          <p:nvPr/>
        </p:nvSpPr>
        <p:spPr>
          <a:xfrm>
            <a:off x="1066680" y="325764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过程难追踪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card-body-过程难追踪"/>
          <p:cNvSpPr/>
          <p:nvPr/>
        </p:nvSpPr>
        <p:spPr>
          <a:xfrm>
            <a:off x="1066680" y="3676680"/>
            <a:ext cx="25524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线上线下活动分散，学习、互动、任务和成果数据缺少统一归集。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ard-评价难统一"/>
          <p:cNvSpPr/>
          <p:nvPr/>
        </p:nvSpPr>
        <p:spPr>
          <a:xfrm>
            <a:off x="4381560" y="3048120"/>
            <a:ext cx="3428640" cy="1676160"/>
          </a:xfrm>
          <a:prstGeom prst="roundRect">
            <a:avLst>
              <a:gd name="adj" fmla="val 3409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num-02"/>
          <p:cNvSpPr/>
          <p:nvPr/>
        </p:nvSpPr>
        <p:spPr>
          <a:xfrm>
            <a:off x="4591080" y="325764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num-text-02"/>
          <p:cNvSpPr/>
          <p:nvPr/>
        </p:nvSpPr>
        <p:spPr>
          <a:xfrm>
            <a:off x="4591080" y="329580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ard-title-评价难统一"/>
          <p:cNvSpPr/>
          <p:nvPr/>
        </p:nvSpPr>
        <p:spPr>
          <a:xfrm>
            <a:off x="5048280" y="325764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评价难统一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rd-body-评价难统一"/>
          <p:cNvSpPr/>
          <p:nvPr/>
        </p:nvSpPr>
        <p:spPr>
          <a:xfrm>
            <a:off x="5048280" y="3676680"/>
            <a:ext cx="25524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不同项目评价口径不一致，过程表现和成果质量难以综合呈现。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ard-发展难延续"/>
          <p:cNvSpPr/>
          <p:nvPr/>
        </p:nvSpPr>
        <p:spPr>
          <a:xfrm>
            <a:off x="8362800" y="3048120"/>
            <a:ext cx="3428640" cy="1676160"/>
          </a:xfrm>
          <a:prstGeom prst="roundRect">
            <a:avLst>
              <a:gd name="adj" fmla="val 3409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num-03"/>
          <p:cNvSpPr/>
          <p:nvPr/>
        </p:nvSpPr>
        <p:spPr>
          <a:xfrm>
            <a:off x="8572680" y="325764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num-text-03"/>
          <p:cNvSpPr/>
          <p:nvPr/>
        </p:nvSpPr>
        <p:spPr>
          <a:xfrm>
            <a:off x="8572680" y="329580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rd-title-发展难延续"/>
          <p:cNvSpPr/>
          <p:nvPr/>
        </p:nvSpPr>
        <p:spPr>
          <a:xfrm>
            <a:off x="9029880" y="325764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发展难延续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rd-body-发展难延续"/>
          <p:cNvSpPr/>
          <p:nvPr/>
        </p:nvSpPr>
        <p:spPr>
          <a:xfrm>
            <a:off x="9029880" y="3676680"/>
            <a:ext cx="25524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培训结束后缺少档案沉淀和个性化推荐，后续改进路径不清晰。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bottom"/>
          <p:cNvSpPr/>
          <p:nvPr/>
        </p:nvSpPr>
        <p:spPr>
          <a:xfrm>
            <a:off x="476280" y="5391000"/>
            <a:ext cx="10858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建设方向：统一平台入口 </a:t>
            </a:r>
            <a:r>
              <a:rPr lang="en-US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+ </a:t>
            </a:r>
            <a:r>
              <a:rPr lang="zh-CN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全过程数据 </a:t>
            </a:r>
            <a:r>
              <a:rPr lang="en-US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+ </a:t>
            </a:r>
            <a:r>
              <a:rPr lang="zh-CN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评价模型 </a:t>
            </a:r>
            <a:r>
              <a:rPr lang="en-US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+ </a:t>
            </a:r>
            <a:r>
              <a:rPr lang="zh-CN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教师档案 </a:t>
            </a:r>
            <a:r>
              <a:rPr lang="en-US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+ </a:t>
            </a:r>
            <a:r>
              <a:rPr lang="zh-CN" sz="21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精准推荐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六个目标共同支撑培训平台的一体化能力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rd-统一培训入口"/>
          <p:cNvSpPr/>
          <p:nvPr/>
        </p:nvSpPr>
        <p:spPr>
          <a:xfrm>
            <a:off x="399960" y="1924200"/>
            <a:ext cx="3428640" cy="14284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num-01"/>
          <p:cNvSpPr/>
          <p:nvPr/>
        </p:nvSpPr>
        <p:spPr>
          <a:xfrm>
            <a:off x="609480" y="21337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num-text-01"/>
          <p:cNvSpPr/>
          <p:nvPr/>
        </p:nvSpPr>
        <p:spPr>
          <a:xfrm>
            <a:off x="609480" y="21718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ard-title-统一培训入口"/>
          <p:cNvSpPr/>
          <p:nvPr/>
        </p:nvSpPr>
        <p:spPr>
          <a:xfrm>
            <a:off x="1066680" y="213372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统一培训入口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rd-body-统一培训入口"/>
          <p:cNvSpPr/>
          <p:nvPr/>
        </p:nvSpPr>
        <p:spPr>
          <a:xfrm>
            <a:off x="1066680" y="2552760"/>
            <a:ext cx="2552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项目、课程、报名、审核、计划和人员组织集中管理。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rd-贯通研修场景"/>
          <p:cNvSpPr/>
          <p:nvPr/>
        </p:nvSpPr>
        <p:spPr>
          <a:xfrm>
            <a:off x="4305240" y="1924200"/>
            <a:ext cx="3428640" cy="14284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num-02"/>
          <p:cNvSpPr/>
          <p:nvPr/>
        </p:nvSpPr>
        <p:spPr>
          <a:xfrm>
            <a:off x="4514760" y="21337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num-text-02"/>
          <p:cNvSpPr/>
          <p:nvPr/>
        </p:nvSpPr>
        <p:spPr>
          <a:xfrm>
            <a:off x="4514760" y="21718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rd-title-贯通研修场景"/>
          <p:cNvSpPr/>
          <p:nvPr/>
        </p:nvSpPr>
        <p:spPr>
          <a:xfrm>
            <a:off x="4971960" y="2114640"/>
            <a:ext cx="28573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贯通研训场景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（研训一体化）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rd-body-贯通研修场景"/>
          <p:cNvSpPr/>
          <p:nvPr/>
        </p:nvSpPr>
        <p:spPr>
          <a:xfrm>
            <a:off x="4655880" y="2780640"/>
            <a:ext cx="2857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覆盖线上学习、线下工作坊、任务活动、课题研究和成果共创。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rd-建立评价模型"/>
          <p:cNvSpPr/>
          <p:nvPr/>
        </p:nvSpPr>
        <p:spPr>
          <a:xfrm>
            <a:off x="8210520" y="1924200"/>
            <a:ext cx="3428640" cy="142848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num-03"/>
          <p:cNvSpPr/>
          <p:nvPr/>
        </p:nvSpPr>
        <p:spPr>
          <a:xfrm>
            <a:off x="8420040" y="21337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num-text-03"/>
          <p:cNvSpPr/>
          <p:nvPr/>
        </p:nvSpPr>
        <p:spPr>
          <a:xfrm>
            <a:off x="8420040" y="21718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rd-title-建立评价模型"/>
          <p:cNvSpPr/>
          <p:nvPr/>
        </p:nvSpPr>
        <p:spPr>
          <a:xfrm>
            <a:off x="8877240" y="213372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建立评价模型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rd-body-建立评价模型"/>
          <p:cNvSpPr/>
          <p:nvPr/>
        </p:nvSpPr>
        <p:spPr>
          <a:xfrm>
            <a:off x="8877240" y="2552760"/>
            <a:ext cx="2552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围绕参与度、完成度、学习表现、成果质量和专家评价形成综合评价。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rd-沉淀教师档案"/>
          <p:cNvSpPr/>
          <p:nvPr/>
        </p:nvSpPr>
        <p:spPr>
          <a:xfrm>
            <a:off x="399960" y="3753000"/>
            <a:ext cx="3428640" cy="14284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num-04"/>
          <p:cNvSpPr/>
          <p:nvPr/>
        </p:nvSpPr>
        <p:spPr>
          <a:xfrm>
            <a:off x="609480" y="39625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num-text-04"/>
          <p:cNvSpPr/>
          <p:nvPr/>
        </p:nvSpPr>
        <p:spPr>
          <a:xfrm>
            <a:off x="609480" y="40006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rd-title-沉淀教师档案"/>
          <p:cNvSpPr/>
          <p:nvPr/>
        </p:nvSpPr>
        <p:spPr>
          <a:xfrm>
            <a:off x="1066680" y="396252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沉淀教师档案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ard-body-沉淀教师档案"/>
          <p:cNvSpPr/>
          <p:nvPr/>
        </p:nvSpPr>
        <p:spPr>
          <a:xfrm>
            <a:off x="1066680" y="4362480"/>
            <a:ext cx="27810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自动归集与手动上传培训记录、学习过程、成果材料、评价结果和成长轨迹。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rd-支持个性推荐"/>
          <p:cNvSpPr/>
          <p:nvPr/>
        </p:nvSpPr>
        <p:spPr>
          <a:xfrm>
            <a:off x="4305240" y="3753000"/>
            <a:ext cx="3428640" cy="142848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num-05"/>
          <p:cNvSpPr/>
          <p:nvPr/>
        </p:nvSpPr>
        <p:spPr>
          <a:xfrm>
            <a:off x="4514760" y="39625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num-text-05"/>
          <p:cNvSpPr/>
          <p:nvPr/>
        </p:nvSpPr>
        <p:spPr>
          <a:xfrm>
            <a:off x="4514760" y="40006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rd-title-支持个性推荐"/>
          <p:cNvSpPr/>
          <p:nvPr/>
        </p:nvSpPr>
        <p:spPr>
          <a:xfrm>
            <a:off x="4971960" y="396252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支持个性推荐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rd-body-支持个性推荐"/>
          <p:cNvSpPr/>
          <p:nvPr/>
        </p:nvSpPr>
        <p:spPr>
          <a:xfrm>
            <a:off x="4971960" y="4381560"/>
            <a:ext cx="2552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基于教师画像和评价结果推荐课程、活动、资源和发展路径。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rd-服务管理决策"/>
          <p:cNvSpPr/>
          <p:nvPr/>
        </p:nvSpPr>
        <p:spPr>
          <a:xfrm>
            <a:off x="8210520" y="3753000"/>
            <a:ext cx="3428640" cy="14284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num-06"/>
          <p:cNvSpPr/>
          <p:nvPr/>
        </p:nvSpPr>
        <p:spPr>
          <a:xfrm>
            <a:off x="8420040" y="39625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num-text-06"/>
          <p:cNvSpPr/>
          <p:nvPr/>
        </p:nvSpPr>
        <p:spPr>
          <a:xfrm>
            <a:off x="8420040" y="40006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rd-title-服务管理决策"/>
          <p:cNvSpPr/>
          <p:nvPr/>
        </p:nvSpPr>
        <p:spPr>
          <a:xfrm>
            <a:off x="8877240" y="3962520"/>
            <a:ext cx="255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服务管理决策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rd-body-服务管理决策"/>
          <p:cNvSpPr/>
          <p:nvPr/>
        </p:nvSpPr>
        <p:spPr>
          <a:xfrm>
            <a:off x="8877240" y="4381560"/>
            <a:ext cx="2552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为管理部门、学校、培训机构和教师个人提供数据支撑。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总体架构以子系统承载业务，以核心模块提供平台能力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ys-label"/>
          <p:cNvSpPr/>
          <p:nvPr/>
        </p:nvSpPr>
        <p:spPr>
          <a:xfrm>
            <a:off x="263520" y="2061360"/>
            <a:ext cx="1142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子系统层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mod-label"/>
          <p:cNvSpPr/>
          <p:nvPr/>
        </p:nvSpPr>
        <p:spPr>
          <a:xfrm>
            <a:off x="95400" y="4419720"/>
            <a:ext cx="1333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核心模块层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box-培训信息管理"/>
          <p:cNvSpPr/>
          <p:nvPr/>
        </p:nvSpPr>
        <p:spPr>
          <a:xfrm>
            <a:off x="1809720" y="1752480"/>
            <a:ext cx="1561680" cy="112356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box-title-培训信息管理"/>
          <p:cNvSpPr/>
          <p:nvPr/>
        </p:nvSpPr>
        <p:spPr>
          <a:xfrm>
            <a:off x="1919520" y="1917000"/>
            <a:ext cx="1378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培训信息管理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box-body-培训信息管理"/>
          <p:cNvSpPr/>
          <p:nvPr/>
        </p:nvSpPr>
        <p:spPr>
          <a:xfrm>
            <a:off x="1981080" y="2400840"/>
            <a:ext cx="12189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项目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课程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报名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计划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box-研修活动"/>
          <p:cNvSpPr/>
          <p:nvPr/>
        </p:nvSpPr>
        <p:spPr>
          <a:xfrm>
            <a:off x="3733920" y="1752480"/>
            <a:ext cx="1561680" cy="112356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box-title-研修活动"/>
          <p:cNvSpPr/>
          <p:nvPr/>
        </p:nvSpPr>
        <p:spPr>
          <a:xfrm>
            <a:off x="4048920" y="1924200"/>
            <a:ext cx="1218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研修活动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box-body-研修活动"/>
          <p:cNvSpPr/>
          <p:nvPr/>
        </p:nvSpPr>
        <p:spPr>
          <a:xfrm>
            <a:off x="3816360" y="2286000"/>
            <a:ext cx="1378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线上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线下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任务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成果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box-培训评估"/>
          <p:cNvSpPr/>
          <p:nvPr/>
        </p:nvSpPr>
        <p:spPr>
          <a:xfrm>
            <a:off x="5657760" y="1752480"/>
            <a:ext cx="1561680" cy="112356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box-title-培训评估"/>
          <p:cNvSpPr/>
          <p:nvPr/>
        </p:nvSpPr>
        <p:spPr>
          <a:xfrm>
            <a:off x="5951880" y="1924200"/>
            <a:ext cx="1218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培训评估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box-body-培训评估"/>
          <p:cNvSpPr/>
          <p:nvPr/>
        </p:nvSpPr>
        <p:spPr>
          <a:xfrm>
            <a:off x="5768280" y="2286000"/>
            <a:ext cx="1378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模型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数据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分析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报告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box-教师档案"/>
          <p:cNvSpPr/>
          <p:nvPr/>
        </p:nvSpPr>
        <p:spPr>
          <a:xfrm>
            <a:off x="7581960" y="1752480"/>
            <a:ext cx="1561680" cy="112356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box-title-教师档案"/>
          <p:cNvSpPr/>
          <p:nvPr/>
        </p:nvSpPr>
        <p:spPr>
          <a:xfrm>
            <a:off x="7753320" y="1924200"/>
            <a:ext cx="1218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教师档案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box-body-教师档案"/>
          <p:cNvSpPr/>
          <p:nvPr/>
        </p:nvSpPr>
        <p:spPr>
          <a:xfrm>
            <a:off x="7753320" y="2286000"/>
            <a:ext cx="1218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记录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结果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成果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轨迹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box-用户推荐"/>
          <p:cNvSpPr/>
          <p:nvPr/>
        </p:nvSpPr>
        <p:spPr>
          <a:xfrm>
            <a:off x="9505800" y="1752480"/>
            <a:ext cx="1561680" cy="112356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box-title-用户推荐"/>
          <p:cNvSpPr/>
          <p:nvPr/>
        </p:nvSpPr>
        <p:spPr>
          <a:xfrm>
            <a:off x="9677520" y="1924200"/>
            <a:ext cx="1218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用户推荐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box-body-用户推荐"/>
          <p:cNvSpPr/>
          <p:nvPr/>
        </p:nvSpPr>
        <p:spPr>
          <a:xfrm>
            <a:off x="9677520" y="2286000"/>
            <a:ext cx="1218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画像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课程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活动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/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路径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box-网络研修"/>
          <p:cNvSpPr/>
          <p:nvPr/>
        </p:nvSpPr>
        <p:spPr>
          <a:xfrm>
            <a:off x="1428840" y="4038480"/>
            <a:ext cx="1333080" cy="10472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box-title-网络研修"/>
          <p:cNvSpPr/>
          <p:nvPr/>
        </p:nvSpPr>
        <p:spPr>
          <a:xfrm>
            <a:off x="1600200" y="4210200"/>
            <a:ext cx="990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网络研修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box-body-网络研修"/>
          <p:cNvSpPr/>
          <p:nvPr/>
        </p:nvSpPr>
        <p:spPr>
          <a:xfrm>
            <a:off x="1600200" y="4572000"/>
            <a:ext cx="99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训研一体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box-评价模型"/>
          <p:cNvSpPr/>
          <p:nvPr/>
        </p:nvSpPr>
        <p:spPr>
          <a:xfrm>
            <a:off x="3105000" y="4038480"/>
            <a:ext cx="1333080" cy="10472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box-title-评价模型"/>
          <p:cNvSpPr/>
          <p:nvPr/>
        </p:nvSpPr>
        <p:spPr>
          <a:xfrm>
            <a:off x="3276720" y="4210200"/>
            <a:ext cx="990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评价模型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box-body-评价模型"/>
          <p:cNvSpPr/>
          <p:nvPr/>
        </p:nvSpPr>
        <p:spPr>
          <a:xfrm>
            <a:off x="3276720" y="4572000"/>
            <a:ext cx="99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指标规则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box-数据归集"/>
          <p:cNvSpPr/>
          <p:nvPr/>
        </p:nvSpPr>
        <p:spPr>
          <a:xfrm>
            <a:off x="4781520" y="4038480"/>
            <a:ext cx="1333080" cy="10472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box-title-数据归集"/>
          <p:cNvSpPr/>
          <p:nvPr/>
        </p:nvSpPr>
        <p:spPr>
          <a:xfrm>
            <a:off x="4952880" y="4210200"/>
            <a:ext cx="990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数据归集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box-body-数据归集"/>
          <p:cNvSpPr/>
          <p:nvPr/>
        </p:nvSpPr>
        <p:spPr>
          <a:xfrm>
            <a:off x="4952880" y="4572000"/>
            <a:ext cx="99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时间窗口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box-评估分析"/>
          <p:cNvSpPr/>
          <p:nvPr/>
        </p:nvSpPr>
        <p:spPr>
          <a:xfrm>
            <a:off x="6458040" y="4038480"/>
            <a:ext cx="1333080" cy="10472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box-title-评估分析"/>
          <p:cNvSpPr/>
          <p:nvPr/>
        </p:nvSpPr>
        <p:spPr>
          <a:xfrm>
            <a:off x="6629400" y="4210200"/>
            <a:ext cx="990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评估分析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box-body-评估分析"/>
          <p:cNvSpPr/>
          <p:nvPr/>
        </p:nvSpPr>
        <p:spPr>
          <a:xfrm>
            <a:off x="6629400" y="4572000"/>
            <a:ext cx="99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综合评价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box-档案沉淀"/>
          <p:cNvSpPr/>
          <p:nvPr/>
        </p:nvSpPr>
        <p:spPr>
          <a:xfrm>
            <a:off x="8134200" y="4038480"/>
            <a:ext cx="1333080" cy="10472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box-title-档案沉淀"/>
          <p:cNvSpPr/>
          <p:nvPr/>
        </p:nvSpPr>
        <p:spPr>
          <a:xfrm>
            <a:off x="8305920" y="4210200"/>
            <a:ext cx="990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档案沉淀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box-body-档案沉淀"/>
          <p:cNvSpPr/>
          <p:nvPr/>
        </p:nvSpPr>
        <p:spPr>
          <a:xfrm>
            <a:off x="8305920" y="4572000"/>
            <a:ext cx="99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画像更新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box-推荐服务"/>
          <p:cNvSpPr/>
          <p:nvPr/>
        </p:nvSpPr>
        <p:spPr>
          <a:xfrm>
            <a:off x="9810720" y="4038480"/>
            <a:ext cx="1333080" cy="10472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box-title-推荐服务"/>
          <p:cNvSpPr/>
          <p:nvPr/>
        </p:nvSpPr>
        <p:spPr>
          <a:xfrm>
            <a:off x="9982080" y="4210200"/>
            <a:ext cx="990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推荐服务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box-body-推荐服务"/>
          <p:cNvSpPr/>
          <p:nvPr/>
        </p:nvSpPr>
        <p:spPr>
          <a:xfrm>
            <a:off x="9982080" y="4572000"/>
            <a:ext cx="99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精准推送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flow"/>
          <p:cNvSpPr/>
          <p:nvPr/>
        </p:nvSpPr>
        <p:spPr>
          <a:xfrm>
            <a:off x="685800" y="5562720"/>
            <a:ext cx="10191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业务流：培训信息管理 → 研修活动组织 → 数据归集 → 培训评估 → 档案沉淀 → 用户推荐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右箭头 8"/>
          <p:cNvSpPr/>
          <p:nvPr/>
        </p:nvSpPr>
        <p:spPr>
          <a:xfrm>
            <a:off x="3431520" y="2185200"/>
            <a:ext cx="275760" cy="215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104862"/>
            </a:solidFill>
            <a:round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右箭头 49"/>
          <p:cNvSpPr/>
          <p:nvPr/>
        </p:nvSpPr>
        <p:spPr>
          <a:xfrm>
            <a:off x="5375160" y="2202840"/>
            <a:ext cx="275760" cy="215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104862"/>
            </a:solidFill>
            <a:round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右箭头 50"/>
          <p:cNvSpPr/>
          <p:nvPr/>
        </p:nvSpPr>
        <p:spPr>
          <a:xfrm>
            <a:off x="7247880" y="2209680"/>
            <a:ext cx="275760" cy="215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104862"/>
            </a:solidFill>
            <a:round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右箭头 51"/>
          <p:cNvSpPr/>
          <p:nvPr/>
        </p:nvSpPr>
        <p:spPr>
          <a:xfrm>
            <a:off x="9191520" y="2202840"/>
            <a:ext cx="275760" cy="215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104862"/>
            </a:solidFill>
            <a:round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subsystem-composition-note"/>
          <p:cNvSpPr/>
          <p:nvPr/>
        </p:nvSpPr>
        <p:spPr>
          <a:xfrm>
            <a:off x="1047600" y="5924520"/>
            <a:ext cx="9524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组合原则：各子系统可独立成体系，也可按业务链条可插拔、可组装、可配置为解决方案。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平台闭环让培训结果回到下一轮精准供给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itle-rule"/>
          <p:cNvSpPr/>
          <p:nvPr/>
        </p:nvSpPr>
        <p:spPr>
          <a:xfrm>
            <a:off x="407160" y="132984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oop-0"/>
          <p:cNvSpPr/>
          <p:nvPr/>
        </p:nvSpPr>
        <p:spPr>
          <a:xfrm>
            <a:off x="5143680" y="1514520"/>
            <a:ext cx="1904760" cy="91404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loop-title-0"/>
          <p:cNvSpPr/>
          <p:nvPr/>
        </p:nvSpPr>
        <p:spPr>
          <a:xfrm>
            <a:off x="5276880" y="166680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培训信息管理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loop-body-0"/>
          <p:cNvSpPr/>
          <p:nvPr/>
        </p:nvSpPr>
        <p:spPr>
          <a:xfrm>
            <a:off x="5276880" y="19908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项目、课程、对象、周期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loop-1"/>
          <p:cNvSpPr/>
          <p:nvPr/>
        </p:nvSpPr>
        <p:spPr>
          <a:xfrm>
            <a:off x="8112960" y="2347920"/>
            <a:ext cx="1904760" cy="91404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loop-title-1"/>
          <p:cNvSpPr/>
          <p:nvPr/>
        </p:nvSpPr>
        <p:spPr>
          <a:xfrm>
            <a:off x="8246520" y="250020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研修活动组织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loop-body-1"/>
          <p:cNvSpPr/>
          <p:nvPr/>
        </p:nvSpPr>
        <p:spPr>
          <a:xfrm>
            <a:off x="8246520" y="28242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学习、任务、协作、成果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loop-2"/>
          <p:cNvSpPr/>
          <p:nvPr/>
        </p:nvSpPr>
        <p:spPr>
          <a:xfrm>
            <a:off x="8112960" y="4014720"/>
            <a:ext cx="1904760" cy="91404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loop-title-2"/>
          <p:cNvSpPr/>
          <p:nvPr/>
        </p:nvSpPr>
        <p:spPr>
          <a:xfrm>
            <a:off x="8246520" y="416736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数据归集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loop-body-2"/>
          <p:cNvSpPr/>
          <p:nvPr/>
        </p:nvSpPr>
        <p:spPr>
          <a:xfrm>
            <a:off x="8246520" y="44910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过程数据、成果数据、评价数据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loop-3"/>
          <p:cNvSpPr/>
          <p:nvPr/>
        </p:nvSpPr>
        <p:spPr>
          <a:xfrm>
            <a:off x="5143680" y="4848120"/>
            <a:ext cx="1904760" cy="914040"/>
          </a:xfrm>
          <a:prstGeom prst="roundRect">
            <a:avLst>
              <a:gd name="adj" fmla="val 6250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oop-title-3"/>
          <p:cNvSpPr/>
          <p:nvPr/>
        </p:nvSpPr>
        <p:spPr>
          <a:xfrm>
            <a:off x="5276880" y="500076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培训评估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loop-body-3"/>
          <p:cNvSpPr/>
          <p:nvPr/>
        </p:nvSpPr>
        <p:spPr>
          <a:xfrm>
            <a:off x="5276880" y="53244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系统初评、专家复核、报告输出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loop-4"/>
          <p:cNvSpPr/>
          <p:nvPr/>
        </p:nvSpPr>
        <p:spPr>
          <a:xfrm>
            <a:off x="2174040" y="4014720"/>
            <a:ext cx="1904760" cy="91404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loop-title-4"/>
          <p:cNvSpPr/>
          <p:nvPr/>
        </p:nvSpPr>
        <p:spPr>
          <a:xfrm>
            <a:off x="2307240" y="416736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档案沉淀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loop-body-4"/>
          <p:cNvSpPr/>
          <p:nvPr/>
        </p:nvSpPr>
        <p:spPr>
          <a:xfrm>
            <a:off x="2307240" y="44910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记录、结果、成果、轨迹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loop-5"/>
          <p:cNvSpPr/>
          <p:nvPr/>
        </p:nvSpPr>
        <p:spPr>
          <a:xfrm>
            <a:off x="2174040" y="2347920"/>
            <a:ext cx="1904760" cy="91404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loop-title-5"/>
          <p:cNvSpPr/>
          <p:nvPr/>
        </p:nvSpPr>
        <p:spPr>
          <a:xfrm>
            <a:off x="2307240" y="250020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用户推荐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loop-body-5"/>
          <p:cNvSpPr/>
          <p:nvPr/>
        </p:nvSpPr>
        <p:spPr>
          <a:xfrm>
            <a:off x="2307240" y="28242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课程、活动、资源、路径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enter"/>
          <p:cNvSpPr/>
          <p:nvPr/>
        </p:nvSpPr>
        <p:spPr>
          <a:xfrm>
            <a:off x="5143680" y="2905200"/>
            <a:ext cx="1904760" cy="142848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center-text"/>
          <p:cNvSpPr/>
          <p:nvPr/>
        </p:nvSpPr>
        <p:spPr>
          <a:xfrm>
            <a:off x="5429160" y="3257640"/>
            <a:ext cx="1333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25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持续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25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发展服务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bottom"/>
          <p:cNvSpPr/>
          <p:nvPr/>
        </p:nvSpPr>
        <p:spPr>
          <a:xfrm>
            <a:off x="1333440" y="6093360"/>
            <a:ext cx="9524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关键价值：评价发现问题，推荐推动改进，培训继续提升。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下箭头 26"/>
          <p:cNvSpPr/>
          <p:nvPr/>
        </p:nvSpPr>
        <p:spPr>
          <a:xfrm>
            <a:off x="8903880" y="3429000"/>
            <a:ext cx="432000" cy="50400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0BCC7"/>
              </a:gs>
              <a:gs pos="50000">
                <a:srgbClr val="99A8B6"/>
              </a:gs>
              <a:gs pos="100000">
                <a:srgbClr val="8398AB"/>
              </a:gs>
            </a:gsLst>
            <a:lin ang="5400000"/>
          </a:gradFill>
          <a:ln w="0">
            <a:noFill/>
          </a:ln>
        </p:spPr>
        <p:style>
          <a:lnRef idx="0"/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圆角右箭头 32"/>
          <p:cNvSpPr/>
          <p:nvPr/>
        </p:nvSpPr>
        <p:spPr>
          <a:xfrm rot="10800000">
            <a:off x="7221960" y="4979160"/>
            <a:ext cx="1977840" cy="62712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gradFill rotWithShape="0">
            <a:gsLst>
              <a:gs pos="0">
                <a:srgbClr val="B0BCC7"/>
              </a:gs>
              <a:gs pos="50000">
                <a:srgbClr val="99A8B6"/>
              </a:gs>
              <a:gs pos="100000">
                <a:srgbClr val="8398AB"/>
              </a:gs>
            </a:gsLst>
            <a:lin ang="16200000"/>
          </a:gradFill>
          <a:ln w="0">
            <a:noFill/>
          </a:ln>
        </p:spPr>
        <p:style>
          <a:lnRef idx="0"/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圆角右箭头 36"/>
          <p:cNvSpPr/>
          <p:nvPr/>
        </p:nvSpPr>
        <p:spPr>
          <a:xfrm rot="16200000">
            <a:off x="3701520" y="4240440"/>
            <a:ext cx="574920" cy="1978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gradFill rotWithShape="0">
            <a:gsLst>
              <a:gs pos="0">
                <a:srgbClr val="B0BCC7"/>
              </a:gs>
              <a:gs pos="50000">
                <a:srgbClr val="99A8B6"/>
              </a:gs>
              <a:gs pos="100000">
                <a:srgbClr val="8398AB"/>
              </a:gs>
            </a:gsLst>
            <a:lin ang="0"/>
          </a:gradFill>
          <a:ln w="0">
            <a:noFill/>
          </a:ln>
        </p:spPr>
        <p:style>
          <a:lnRef idx="0"/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下箭头 38"/>
          <p:cNvSpPr/>
          <p:nvPr/>
        </p:nvSpPr>
        <p:spPr>
          <a:xfrm rot="10800000">
            <a:off x="2888280" y="3326760"/>
            <a:ext cx="432000" cy="6249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0BCC7"/>
              </a:gs>
              <a:gs pos="50000">
                <a:srgbClr val="99A8B6"/>
              </a:gs>
              <a:gs pos="100000">
                <a:srgbClr val="8398AB"/>
              </a:gs>
            </a:gsLst>
            <a:lin ang="16200000"/>
          </a:gradFill>
          <a:ln w="0">
            <a:noFill/>
          </a:ln>
        </p:spPr>
        <p:style>
          <a:lnRef idx="0"/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圆角右箭头 39"/>
          <p:cNvSpPr/>
          <p:nvPr/>
        </p:nvSpPr>
        <p:spPr>
          <a:xfrm>
            <a:off x="2946960" y="1717200"/>
            <a:ext cx="2030400" cy="62712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gradFill rotWithShape="0">
            <a:gsLst>
              <a:gs pos="0">
                <a:srgbClr val="B0BCC7"/>
              </a:gs>
              <a:gs pos="50000">
                <a:srgbClr val="99A8B6"/>
              </a:gs>
              <a:gs pos="100000">
                <a:srgbClr val="8398AB"/>
              </a:gs>
            </a:gsLst>
            <a:lin ang="5400000"/>
          </a:gradFill>
          <a:ln w="0">
            <a:noFill/>
          </a:ln>
        </p:spPr>
        <p:style>
          <a:lnRef idx="0"/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圆角右箭头 40"/>
          <p:cNvSpPr/>
          <p:nvPr/>
        </p:nvSpPr>
        <p:spPr>
          <a:xfrm rot="5400000">
            <a:off x="7997400" y="1009440"/>
            <a:ext cx="606240" cy="20304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gradFill rotWithShape="0">
            <a:gsLst>
              <a:gs pos="0">
                <a:srgbClr val="B0BCC7"/>
              </a:gs>
              <a:gs pos="50000">
                <a:srgbClr val="99A8B6"/>
              </a:gs>
              <a:gs pos="100000">
                <a:srgbClr val="8398AB"/>
              </a:gs>
            </a:gsLst>
            <a:lin ang="10800000"/>
          </a:gradFill>
          <a:ln w="0">
            <a:noFill/>
          </a:ln>
        </p:spPr>
        <p:style>
          <a:lnRef idx="0"/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3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子系统既可自成体系，也可组装为生态价值链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tep-01"/>
          <p:cNvSpPr/>
          <p:nvPr/>
        </p:nvSpPr>
        <p:spPr>
          <a:xfrm>
            <a:off x="609480" y="2152800"/>
            <a:ext cx="1923840" cy="247608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tep-label-01"/>
          <p:cNvSpPr/>
          <p:nvPr/>
        </p:nvSpPr>
        <p:spPr>
          <a:xfrm>
            <a:off x="781200" y="2305080"/>
            <a:ext cx="57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tep-title-01"/>
          <p:cNvSpPr/>
          <p:nvPr/>
        </p:nvSpPr>
        <p:spPr>
          <a:xfrm>
            <a:off x="695160" y="2610000"/>
            <a:ext cx="1722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培训信息管理子系统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tep-body-01"/>
          <p:cNvSpPr/>
          <p:nvPr/>
        </p:nvSpPr>
        <p:spPr>
          <a:xfrm>
            <a:off x="781200" y="2990880"/>
            <a:ext cx="158076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统一项目、课程、报名、审核、人员和培训计划，提供平台基础业务入口。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tep-02"/>
          <p:cNvSpPr/>
          <p:nvPr/>
        </p:nvSpPr>
        <p:spPr>
          <a:xfrm>
            <a:off x="2857680" y="2152800"/>
            <a:ext cx="1923840" cy="247608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tep-label-02"/>
          <p:cNvSpPr/>
          <p:nvPr/>
        </p:nvSpPr>
        <p:spPr>
          <a:xfrm>
            <a:off x="3029040" y="2305080"/>
            <a:ext cx="57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tep-title-02"/>
          <p:cNvSpPr/>
          <p:nvPr/>
        </p:nvSpPr>
        <p:spPr>
          <a:xfrm>
            <a:off x="3029040" y="261000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研修活动子系统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tep-body-02"/>
          <p:cNvSpPr/>
          <p:nvPr/>
        </p:nvSpPr>
        <p:spPr>
          <a:xfrm>
            <a:off x="3029040" y="2990880"/>
            <a:ext cx="158076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承载线上、线下和混合式培训活动，记录学习、互动、任务和成果过程。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tep-03"/>
          <p:cNvSpPr/>
          <p:nvPr/>
        </p:nvSpPr>
        <p:spPr>
          <a:xfrm>
            <a:off x="5105520" y="2152800"/>
            <a:ext cx="1923840" cy="2476080"/>
          </a:xfrm>
          <a:prstGeom prst="roundRect">
            <a:avLst>
              <a:gd name="adj" fmla="val 2970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tep-label-03"/>
          <p:cNvSpPr/>
          <p:nvPr/>
        </p:nvSpPr>
        <p:spPr>
          <a:xfrm>
            <a:off x="5276880" y="2305080"/>
            <a:ext cx="57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tep-title-03"/>
          <p:cNvSpPr/>
          <p:nvPr/>
        </p:nvSpPr>
        <p:spPr>
          <a:xfrm>
            <a:off x="5276880" y="261000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培训评估子系统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tep-body-03"/>
          <p:cNvSpPr/>
          <p:nvPr/>
        </p:nvSpPr>
        <p:spPr>
          <a:xfrm>
            <a:off x="5276880" y="2990880"/>
            <a:ext cx="158076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基于评价模型和过程数据，形成个人、班级、项目和区域层面的评价结果。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tep-04"/>
          <p:cNvSpPr/>
          <p:nvPr/>
        </p:nvSpPr>
        <p:spPr>
          <a:xfrm>
            <a:off x="7353360" y="2152800"/>
            <a:ext cx="1923840" cy="247608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tep-label-04"/>
          <p:cNvSpPr/>
          <p:nvPr/>
        </p:nvSpPr>
        <p:spPr>
          <a:xfrm>
            <a:off x="7524720" y="2305080"/>
            <a:ext cx="57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tep-title-04"/>
          <p:cNvSpPr/>
          <p:nvPr/>
        </p:nvSpPr>
        <p:spPr>
          <a:xfrm>
            <a:off x="7524720" y="261000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教师档案子系统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tep-body-04"/>
          <p:cNvSpPr/>
          <p:nvPr/>
        </p:nvSpPr>
        <p:spPr>
          <a:xfrm>
            <a:off x="7524720" y="2990880"/>
            <a:ext cx="158076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沉淀培训记录、评价结果、成果材料、学时证书和成长轨迹。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tep-05"/>
          <p:cNvSpPr/>
          <p:nvPr/>
        </p:nvSpPr>
        <p:spPr>
          <a:xfrm>
            <a:off x="9601200" y="2152800"/>
            <a:ext cx="1923840" cy="247608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tep-label-05"/>
          <p:cNvSpPr/>
          <p:nvPr/>
        </p:nvSpPr>
        <p:spPr>
          <a:xfrm>
            <a:off x="9772560" y="2305080"/>
            <a:ext cx="57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tep-title-05"/>
          <p:cNvSpPr/>
          <p:nvPr/>
        </p:nvSpPr>
        <p:spPr>
          <a:xfrm>
            <a:off x="9772560" y="261000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用户推荐子系统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tep-body-05"/>
          <p:cNvSpPr/>
          <p:nvPr/>
        </p:nvSpPr>
        <p:spPr>
          <a:xfrm>
            <a:off x="9772560" y="2990880"/>
            <a:ext cx="158076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基于教师画像和评估结果，推荐课程、活动、资源和发展路径。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note"/>
          <p:cNvSpPr/>
          <p:nvPr/>
        </p:nvSpPr>
        <p:spPr>
          <a:xfrm>
            <a:off x="876240" y="5219640"/>
            <a:ext cx="10096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按场景选择子系统和模块，可插拔、可组装、可配置为教师发展、</a:t>
            </a:r>
            <a:r>
              <a:rPr lang="en-US" sz="18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教学、智能体等解决方案。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培训信息管理系统 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--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统一沉淀组织培训基础数据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itle-rule"/>
          <p:cNvSpPr/>
          <p:nvPr/>
        </p:nvSpPr>
        <p:spPr>
          <a:xfrm>
            <a:off x="399960" y="150480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raining-info-system"/>
          <p:cNvSpPr/>
          <p:nvPr/>
        </p:nvSpPr>
        <p:spPr>
          <a:xfrm>
            <a:off x="1352520" y="2019240"/>
            <a:ext cx="6857640" cy="3047760"/>
          </a:xfrm>
          <a:prstGeom prst="roundRect">
            <a:avLst>
              <a:gd name="adj" fmla="val 1875"/>
            </a:avLst>
          </a:prstGeom>
          <a:solidFill>
            <a:srgbClr val="EAF5FB"/>
          </a:solidFill>
          <a:ln w="11430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ystem-badge"/>
          <p:cNvSpPr/>
          <p:nvPr/>
        </p:nvSpPr>
        <p:spPr>
          <a:xfrm>
            <a:off x="1695600" y="2266920"/>
            <a:ext cx="380520" cy="38052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ystem-badge-text"/>
          <p:cNvSpPr/>
          <p:nvPr/>
        </p:nvSpPr>
        <p:spPr>
          <a:xfrm>
            <a:off x="1695600" y="2324160"/>
            <a:ext cx="380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ystem-title"/>
          <p:cNvSpPr/>
          <p:nvPr/>
        </p:nvSpPr>
        <p:spPr>
          <a:xfrm>
            <a:off x="2247840" y="2209680"/>
            <a:ext cx="4762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培训信息管理系统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module-enroll"/>
          <p:cNvSpPr/>
          <p:nvPr/>
        </p:nvSpPr>
        <p:spPr>
          <a:xfrm>
            <a:off x="2000160" y="2835360"/>
            <a:ext cx="2266560" cy="990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module-enroll-title"/>
          <p:cNvSpPr/>
          <p:nvPr/>
        </p:nvSpPr>
        <p:spPr>
          <a:xfrm>
            <a:off x="2171880" y="3000240"/>
            <a:ext cx="1923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招生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module-enroll-body"/>
          <p:cNvSpPr/>
          <p:nvPr/>
        </p:nvSpPr>
        <p:spPr>
          <a:xfrm>
            <a:off x="2247840" y="3395880"/>
            <a:ext cx="1847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报名、审核、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对象组织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module-fee"/>
          <p:cNvSpPr/>
          <p:nvPr/>
        </p:nvSpPr>
        <p:spPr>
          <a:xfrm>
            <a:off x="4857840" y="2857680"/>
            <a:ext cx="2266560" cy="990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module-fee-title"/>
          <p:cNvSpPr/>
          <p:nvPr/>
        </p:nvSpPr>
        <p:spPr>
          <a:xfrm>
            <a:off x="5029200" y="3029040"/>
            <a:ext cx="1923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费用管理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module-fee-body"/>
          <p:cNvSpPr/>
          <p:nvPr/>
        </p:nvSpPr>
        <p:spPr>
          <a:xfrm>
            <a:off x="5087520" y="3395520"/>
            <a:ext cx="1847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收费、结算、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费用台账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module-project"/>
          <p:cNvSpPr/>
          <p:nvPr/>
        </p:nvSpPr>
        <p:spPr>
          <a:xfrm>
            <a:off x="1995120" y="3943440"/>
            <a:ext cx="2334600" cy="990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module-project-title"/>
          <p:cNvSpPr/>
          <p:nvPr/>
        </p:nvSpPr>
        <p:spPr>
          <a:xfrm>
            <a:off x="2171880" y="4093200"/>
            <a:ext cx="1923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项目管理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module-project-body"/>
          <p:cNvSpPr/>
          <p:nvPr/>
        </p:nvSpPr>
        <p:spPr>
          <a:xfrm>
            <a:off x="2207160" y="4509000"/>
            <a:ext cx="1847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项目、课程、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计划周期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module-more"/>
          <p:cNvSpPr/>
          <p:nvPr/>
        </p:nvSpPr>
        <p:spPr>
          <a:xfrm>
            <a:off x="4857840" y="3933360"/>
            <a:ext cx="2266560" cy="990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module-more-title"/>
          <p:cNvSpPr/>
          <p:nvPr/>
        </p:nvSpPr>
        <p:spPr>
          <a:xfrm>
            <a:off x="5029200" y="4104720"/>
            <a:ext cx="1923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module-more-body"/>
          <p:cNvSpPr/>
          <p:nvPr/>
        </p:nvSpPr>
        <p:spPr>
          <a:xfrm>
            <a:off x="5067360" y="4743360"/>
            <a:ext cx="1847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62500" lnSpcReduction="19999"/>
          </a:bodyPr>
          <a:p>
            <a:pPr/>
            <a:endParaRPr lang="en-US" sz="1130" b="0" u="none" strike="noStrike">
              <a:solidFill>
                <a:srgbClr val="5B6472"/>
              </a:solidFill>
              <a:effectLst/>
              <a:uFillTx/>
              <a:latin typeface="PingFang SC"/>
            </a:endParaRPr>
          </a:p>
        </p:txBody>
      </p:sp>
      <p:sp>
        <p:nvSpPr>
          <p:cNvPr id="228" name="data-output-arrow"/>
          <p:cNvSpPr/>
          <p:nvPr/>
        </p:nvSpPr>
        <p:spPr>
          <a:xfrm>
            <a:off x="8458200" y="3390840"/>
            <a:ext cx="856800" cy="247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data-output-label"/>
          <p:cNvSpPr/>
          <p:nvPr/>
        </p:nvSpPr>
        <p:spPr>
          <a:xfrm>
            <a:off x="8458200" y="3029040"/>
            <a:ext cx="894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基础数据输出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downstream-panel"/>
          <p:cNvSpPr/>
          <p:nvPr/>
        </p:nvSpPr>
        <p:spPr>
          <a:xfrm>
            <a:off x="9563040" y="2781360"/>
            <a:ext cx="1885680" cy="1485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downstream-title"/>
          <p:cNvSpPr/>
          <p:nvPr/>
        </p:nvSpPr>
        <p:spPr>
          <a:xfrm>
            <a:off x="9734400" y="3048120"/>
            <a:ext cx="1542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进入研修活动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downstream-body"/>
          <p:cNvSpPr/>
          <p:nvPr/>
        </p:nvSpPr>
        <p:spPr>
          <a:xfrm>
            <a:off x="9753480" y="3524400"/>
            <a:ext cx="1504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项目、课程、对象、周期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成为活动组织和过程归集的统一口径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bottom-note-band"/>
          <p:cNvSpPr/>
          <p:nvPr/>
        </p:nvSpPr>
        <p:spPr>
          <a:xfrm>
            <a:off x="1066680" y="5562720"/>
            <a:ext cx="10058040" cy="437760"/>
          </a:xfrm>
          <a:prstGeom prst="roundRect">
            <a:avLst>
              <a:gd name="adj" fmla="val 13043"/>
            </a:avLst>
          </a:prstGeom>
          <a:solidFill>
            <a:srgbClr val="F4FAFF"/>
          </a:solidFill>
          <a:ln w="10478">
            <a:solidFill>
              <a:srgbClr val="D8E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bottom-note"/>
          <p:cNvSpPr/>
          <p:nvPr/>
        </p:nvSpPr>
        <p:spPr>
          <a:xfrm>
            <a:off x="1295280" y="5657760"/>
            <a:ext cx="96008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关键价值：先把招生、费用、项目和权限等基础信息标准化，再支撑后续研修活动组织、数据归集和培训评估。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研修活动系统 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--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支撑线下实训与网络研修一体化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itle-rule"/>
          <p:cNvSpPr/>
          <p:nvPr/>
        </p:nvSpPr>
        <p:spPr>
          <a:xfrm>
            <a:off x="399960" y="150480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online-research-panel"/>
          <p:cNvSpPr/>
          <p:nvPr/>
        </p:nvSpPr>
        <p:spPr>
          <a:xfrm>
            <a:off x="1924200" y="2038320"/>
            <a:ext cx="8191080" cy="36000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online-research-title"/>
          <p:cNvSpPr/>
          <p:nvPr/>
        </p:nvSpPr>
        <p:spPr>
          <a:xfrm>
            <a:off x="2305080" y="2381400"/>
            <a:ext cx="7429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网络研修【研训一体化】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rain-column"/>
          <p:cNvSpPr/>
          <p:nvPr/>
        </p:nvSpPr>
        <p:spPr>
          <a:xfrm>
            <a:off x="3733920" y="3067200"/>
            <a:ext cx="1333080" cy="175212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rain-title"/>
          <p:cNvSpPr/>
          <p:nvPr/>
        </p:nvSpPr>
        <p:spPr>
          <a:xfrm>
            <a:off x="3886200" y="3238560"/>
            <a:ext cx="1028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7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训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rain-rule"/>
          <p:cNvSpPr/>
          <p:nvPr/>
        </p:nvSpPr>
        <p:spPr>
          <a:xfrm>
            <a:off x="3733560" y="3695400"/>
            <a:ext cx="1333440" cy="360"/>
          </a:xfrm>
          <a:prstGeom prst="line">
            <a:avLst/>
          </a:prstGeom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rain-pill-1"/>
          <p:cNvSpPr/>
          <p:nvPr/>
        </p:nvSpPr>
        <p:spPr>
          <a:xfrm>
            <a:off x="3962520" y="3905280"/>
            <a:ext cx="87588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rain-pill-1-text"/>
          <p:cNvSpPr/>
          <p:nvPr/>
        </p:nvSpPr>
        <p:spPr>
          <a:xfrm>
            <a:off x="4029120" y="3943440"/>
            <a:ext cx="742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组织培训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rain-pill-2"/>
          <p:cNvSpPr/>
          <p:nvPr/>
        </p:nvSpPr>
        <p:spPr>
          <a:xfrm>
            <a:off x="3962520" y="4324320"/>
            <a:ext cx="87588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rain-pill-2-text"/>
          <p:cNvSpPr/>
          <p:nvPr/>
        </p:nvSpPr>
        <p:spPr>
          <a:xfrm>
            <a:off x="4029120" y="4362480"/>
            <a:ext cx="742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实训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search-column"/>
          <p:cNvSpPr/>
          <p:nvPr/>
        </p:nvSpPr>
        <p:spPr>
          <a:xfrm>
            <a:off x="5410080" y="3067200"/>
            <a:ext cx="3051360" cy="1752120"/>
          </a:xfrm>
          <a:prstGeom prst="roundRect">
            <a:avLst>
              <a:gd name="adj" fmla="val 3261"/>
            </a:avLst>
          </a:prstGeom>
          <a:solidFill>
            <a:srgbClr val="EAF5FB"/>
          </a:solidFill>
          <a:ln w="10478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search-title"/>
          <p:cNvSpPr/>
          <p:nvPr/>
        </p:nvSpPr>
        <p:spPr>
          <a:xfrm>
            <a:off x="5581800" y="3238560"/>
            <a:ext cx="3085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7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研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search-rule"/>
          <p:cNvSpPr/>
          <p:nvPr/>
        </p:nvSpPr>
        <p:spPr>
          <a:xfrm>
            <a:off x="5410080" y="3695400"/>
            <a:ext cx="3048120" cy="360"/>
          </a:xfrm>
          <a:prstGeom prst="line">
            <a:avLst/>
          </a:prstGeom>
          <a:ln w="10478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search-pill-集体备课"/>
          <p:cNvSpPr/>
          <p:nvPr/>
        </p:nvSpPr>
        <p:spPr>
          <a:xfrm>
            <a:off x="5600880" y="3905280"/>
            <a:ext cx="85680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search-pill-集体备课-text"/>
          <p:cNvSpPr/>
          <p:nvPr/>
        </p:nvSpPr>
        <p:spPr>
          <a:xfrm>
            <a:off x="5667480" y="3943440"/>
            <a:ext cx="723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集体备课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search-pill-课例研讨"/>
          <p:cNvSpPr/>
          <p:nvPr/>
        </p:nvSpPr>
        <p:spPr>
          <a:xfrm>
            <a:off x="6458040" y="3905280"/>
            <a:ext cx="85680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search-pill-课例研讨-text"/>
          <p:cNvSpPr/>
          <p:nvPr/>
        </p:nvSpPr>
        <p:spPr>
          <a:xfrm>
            <a:off x="6524640" y="3943440"/>
            <a:ext cx="723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课例研讨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search-pill-课题研究"/>
          <p:cNvSpPr/>
          <p:nvPr/>
        </p:nvSpPr>
        <p:spPr>
          <a:xfrm>
            <a:off x="7315200" y="3905280"/>
            <a:ext cx="85680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search-pill-课题研究-text"/>
          <p:cNvSpPr/>
          <p:nvPr/>
        </p:nvSpPr>
        <p:spPr>
          <a:xfrm>
            <a:off x="7381800" y="3943440"/>
            <a:ext cx="723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课题研究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search-pill-课堂反思"/>
          <p:cNvSpPr/>
          <p:nvPr/>
        </p:nvSpPr>
        <p:spPr>
          <a:xfrm>
            <a:off x="5600880" y="4324320"/>
            <a:ext cx="85680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search-pill-课堂反思-text"/>
          <p:cNvSpPr/>
          <p:nvPr/>
        </p:nvSpPr>
        <p:spPr>
          <a:xfrm>
            <a:off x="5667480" y="4362480"/>
            <a:ext cx="723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课堂反思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search-pill-教学问题攻关"/>
          <p:cNvSpPr/>
          <p:nvPr/>
        </p:nvSpPr>
        <p:spPr>
          <a:xfrm>
            <a:off x="6458040" y="4324320"/>
            <a:ext cx="85680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search-pill-教学问题攻关-text"/>
          <p:cNvSpPr/>
          <p:nvPr/>
        </p:nvSpPr>
        <p:spPr>
          <a:xfrm>
            <a:off x="6524640" y="4362480"/>
            <a:ext cx="723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教学问题攻关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search-pill-..."/>
          <p:cNvSpPr/>
          <p:nvPr/>
        </p:nvSpPr>
        <p:spPr>
          <a:xfrm>
            <a:off x="7315200" y="4324320"/>
            <a:ext cx="856800" cy="3236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search-pill-...-text"/>
          <p:cNvSpPr/>
          <p:nvPr/>
        </p:nvSpPr>
        <p:spPr>
          <a:xfrm>
            <a:off x="7381800" y="4362480"/>
            <a:ext cx="723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...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bottom-note-band"/>
          <p:cNvSpPr/>
          <p:nvPr/>
        </p:nvSpPr>
        <p:spPr>
          <a:xfrm>
            <a:off x="1066680" y="5829480"/>
            <a:ext cx="10058040" cy="437760"/>
          </a:xfrm>
          <a:prstGeom prst="roundRect">
            <a:avLst>
              <a:gd name="adj" fmla="val 13043"/>
            </a:avLst>
          </a:prstGeom>
          <a:solidFill>
            <a:srgbClr val="F4FAFF"/>
          </a:solidFill>
          <a:ln w="10478">
            <a:solidFill>
              <a:srgbClr val="D8E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bottom-note"/>
          <p:cNvSpPr/>
          <p:nvPr/>
        </p:nvSpPr>
        <p:spPr>
          <a:xfrm>
            <a:off x="1295280" y="5924520"/>
            <a:ext cx="96008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关键价值：研修活动从活动承载走向训研一体化，把学习、任务、协同、研究和成果沉淀到统一过程。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培训评估系统 </a:t>
            </a:r>
            <a:r>
              <a:rPr lang="en-US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-- </a:t>
            </a: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把过程数据转化为可解释结果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card-评价模型"/>
          <p:cNvSpPr/>
          <p:nvPr/>
        </p:nvSpPr>
        <p:spPr>
          <a:xfrm>
            <a:off x="762120" y="2152800"/>
            <a:ext cx="3142800" cy="2381040"/>
          </a:xfrm>
          <a:prstGeom prst="roundRect">
            <a:avLst>
              <a:gd name="adj" fmla="val 240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num-01"/>
          <p:cNvSpPr/>
          <p:nvPr/>
        </p:nvSpPr>
        <p:spPr>
          <a:xfrm>
            <a:off x="971640" y="23623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num-text-01"/>
          <p:cNvSpPr/>
          <p:nvPr/>
        </p:nvSpPr>
        <p:spPr>
          <a:xfrm>
            <a:off x="971640" y="24004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card-title-评价模型"/>
          <p:cNvSpPr/>
          <p:nvPr/>
        </p:nvSpPr>
        <p:spPr>
          <a:xfrm>
            <a:off x="1428840" y="2362320"/>
            <a:ext cx="226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评价模型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card-body-评价模型"/>
          <p:cNvSpPr/>
          <p:nvPr/>
        </p:nvSpPr>
        <p:spPr>
          <a:xfrm>
            <a:off x="1428840" y="2781360"/>
            <a:ext cx="226656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维度、指标、权重、等级标准、评价主体和模型版本。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card-数据归集"/>
          <p:cNvSpPr/>
          <p:nvPr/>
        </p:nvSpPr>
        <p:spPr>
          <a:xfrm>
            <a:off x="4572000" y="2152800"/>
            <a:ext cx="3142800" cy="2381040"/>
          </a:xfrm>
          <a:prstGeom prst="roundRect">
            <a:avLst>
              <a:gd name="adj" fmla="val 2400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num-02"/>
          <p:cNvSpPr/>
          <p:nvPr/>
        </p:nvSpPr>
        <p:spPr>
          <a:xfrm>
            <a:off x="4781520" y="23623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num-text-02"/>
          <p:cNvSpPr/>
          <p:nvPr/>
        </p:nvSpPr>
        <p:spPr>
          <a:xfrm>
            <a:off x="4781520" y="24004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card-title-数据归集"/>
          <p:cNvSpPr/>
          <p:nvPr/>
        </p:nvSpPr>
        <p:spPr>
          <a:xfrm>
            <a:off x="5238720" y="2362320"/>
            <a:ext cx="226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数据归集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card-body-数据归集"/>
          <p:cNvSpPr/>
          <p:nvPr/>
        </p:nvSpPr>
        <p:spPr>
          <a:xfrm>
            <a:off x="5238720" y="2781360"/>
            <a:ext cx="226656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基础数据、过程数据、成果数据、评价数据和时间窗口。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card-评估分析"/>
          <p:cNvSpPr/>
          <p:nvPr/>
        </p:nvSpPr>
        <p:spPr>
          <a:xfrm>
            <a:off x="8381880" y="2152800"/>
            <a:ext cx="3142800" cy="2381040"/>
          </a:xfrm>
          <a:prstGeom prst="roundRect">
            <a:avLst>
              <a:gd name="adj" fmla="val 240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num-03"/>
          <p:cNvSpPr/>
          <p:nvPr/>
        </p:nvSpPr>
        <p:spPr>
          <a:xfrm>
            <a:off x="8591400" y="236232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num-text-03"/>
          <p:cNvSpPr/>
          <p:nvPr/>
        </p:nvSpPr>
        <p:spPr>
          <a:xfrm>
            <a:off x="8591400" y="2400480"/>
            <a:ext cx="32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ard-title-评估分析"/>
          <p:cNvSpPr/>
          <p:nvPr/>
        </p:nvSpPr>
        <p:spPr>
          <a:xfrm>
            <a:off x="9048600" y="2362320"/>
            <a:ext cx="226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评估分析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card-body-评估分析"/>
          <p:cNvSpPr/>
          <p:nvPr/>
        </p:nvSpPr>
        <p:spPr>
          <a:xfrm>
            <a:off x="9048600" y="2781360"/>
            <a:ext cx="226656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个人评估、班级评估、项目评估、趋势分析和报告输出。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eval-desc-panel"/>
          <p:cNvSpPr/>
          <p:nvPr/>
        </p:nvSpPr>
        <p:spPr>
          <a:xfrm>
            <a:off x="1257480" y="4876920"/>
            <a:ext cx="9619920" cy="914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1430">
            <a:solidFill>
              <a:srgbClr val="D4D9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eval-desc-badge"/>
          <p:cNvSpPr/>
          <p:nvPr/>
        </p:nvSpPr>
        <p:spPr>
          <a:xfrm>
            <a:off x="1600200" y="5095800"/>
            <a:ext cx="1199880" cy="475920"/>
          </a:xfrm>
          <a:prstGeom prst="roundRect">
            <a:avLst>
              <a:gd name="adj" fmla="val 12000"/>
            </a:avLst>
          </a:prstGeom>
          <a:solidFill>
            <a:srgbClr val="557BCB"/>
          </a:solidFill>
          <a:ln w="9525">
            <a:solidFill>
              <a:srgbClr val="557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eval-desc-badge-text"/>
          <p:cNvSpPr/>
          <p:nvPr/>
        </p:nvSpPr>
        <p:spPr>
          <a:xfrm>
            <a:off x="1600200" y="5162400"/>
            <a:ext cx="1199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评估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eval-desc-join"/>
          <p:cNvSpPr/>
          <p:nvPr/>
        </p:nvSpPr>
        <p:spPr>
          <a:xfrm>
            <a:off x="2800440" y="5315040"/>
            <a:ext cx="552240" cy="37800"/>
          </a:xfrm>
          <a:prstGeom prst="rect">
            <a:avLst/>
          </a:prstGeom>
          <a:solidFill>
            <a:srgbClr val="557B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eval-desc-bracket"/>
          <p:cNvSpPr/>
          <p:nvPr/>
        </p:nvSpPr>
        <p:spPr>
          <a:xfrm>
            <a:off x="3257640" y="5010120"/>
            <a:ext cx="323640" cy="64728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>
            <a:solidFill>
              <a:srgbClr val="557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eval-desc-row-process"/>
          <p:cNvSpPr/>
          <p:nvPr/>
        </p:nvSpPr>
        <p:spPr>
          <a:xfrm>
            <a:off x="3772080" y="5010120"/>
            <a:ext cx="6762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2E3440"/>
                </a:solidFill>
                <a:effectLst/>
                <a:uFillTx/>
                <a:latin typeface="PingFang SC"/>
                <a:ea typeface="PingFang SC"/>
              </a:rPr>
              <a:t>过程评估：签到、互动、任务、问卷、课堂行为</a:t>
            </a:r>
            <a:r>
              <a:rPr lang="en-US" sz="1800" b="0" u="none" strike="noStrike">
                <a:solidFill>
                  <a:srgbClr val="2E3440"/>
                </a:solidFill>
                <a:effectLst/>
                <a:uFillTx/>
                <a:latin typeface="PingFang SC"/>
                <a:ea typeface="PingFang SC"/>
              </a:rPr>
              <a:t>/</a:t>
            </a:r>
            <a:r>
              <a:rPr lang="zh-CN" sz="1800" b="0" u="none" strike="noStrike">
                <a:solidFill>
                  <a:srgbClr val="2E3440"/>
                </a:solidFill>
                <a:effectLst/>
                <a:uFillTx/>
                <a:latin typeface="PingFang SC"/>
                <a:ea typeface="PingFang SC"/>
              </a:rPr>
              <a:t>研讨行为分析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eval-desc-row-result"/>
          <p:cNvSpPr/>
          <p:nvPr/>
        </p:nvSpPr>
        <p:spPr>
          <a:xfrm>
            <a:off x="3772080" y="5429160"/>
            <a:ext cx="6762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2E3440"/>
                </a:solidFill>
                <a:effectLst/>
                <a:uFillTx/>
                <a:latin typeface="PingFang SC"/>
                <a:ea typeface="PingFang SC"/>
              </a:rPr>
              <a:t>结果评估：成果质量、专家评审、满意度、能力达成、学时学分</a:t>
            </a:r>
            <a:r>
              <a:rPr lang="en-US" sz="1800" b="0" u="none" strike="noStrike">
                <a:solidFill>
                  <a:srgbClr val="2E3440"/>
                </a:solidFill>
                <a:effectLst/>
                <a:uFillTx/>
                <a:latin typeface="PingFang SC"/>
                <a:ea typeface="PingFang SC"/>
              </a:rPr>
              <a:t>/</a:t>
            </a:r>
            <a:r>
              <a:rPr lang="zh-CN" sz="1800" b="0" u="none" strike="noStrike">
                <a:solidFill>
                  <a:srgbClr val="2E3440"/>
                </a:solidFill>
                <a:effectLst/>
                <a:uFillTx/>
                <a:latin typeface="PingFang SC"/>
                <a:ea typeface="PingFang SC"/>
              </a:rPr>
              <a:t>证书。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教师档案与岗位序列能力发展挂钩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jobseq-arrow-archive-to-model"/>
          <p:cNvSpPr/>
          <p:nvPr/>
        </p:nvSpPr>
        <p:spPr>
          <a:xfrm>
            <a:off x="3143160" y="3467160"/>
            <a:ext cx="742680" cy="17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0680" rIns="90000" bIns="406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jobseq-arrow-model-to-path"/>
          <p:cNvSpPr/>
          <p:nvPr/>
        </p:nvSpPr>
        <p:spPr>
          <a:xfrm>
            <a:off x="8648640" y="3467160"/>
            <a:ext cx="552240" cy="17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0680" rIns="90000" bIns="406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jobseq-archive-panel"/>
          <p:cNvSpPr/>
          <p:nvPr/>
        </p:nvSpPr>
        <p:spPr>
          <a:xfrm>
            <a:off x="609480" y="2152800"/>
            <a:ext cx="2476080" cy="278100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jobseq-archive-title"/>
          <p:cNvSpPr/>
          <p:nvPr/>
        </p:nvSpPr>
        <p:spPr>
          <a:xfrm>
            <a:off x="914400" y="2381400"/>
            <a:ext cx="186660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教师档案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证据池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jobseq-archive-pill-1"/>
          <p:cNvSpPr/>
          <p:nvPr/>
        </p:nvSpPr>
        <p:spPr>
          <a:xfrm>
            <a:off x="990720" y="3143160"/>
            <a:ext cx="171432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jobseq-archive-pill-1-text"/>
          <p:cNvSpPr/>
          <p:nvPr/>
        </p:nvSpPr>
        <p:spPr>
          <a:xfrm>
            <a:off x="1047600" y="318132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培训记录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jobseq-archive-pill-2"/>
          <p:cNvSpPr/>
          <p:nvPr/>
        </p:nvSpPr>
        <p:spPr>
          <a:xfrm>
            <a:off x="990720" y="3562200"/>
            <a:ext cx="171432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jobseq-archive-pill-2-text"/>
          <p:cNvSpPr/>
          <p:nvPr/>
        </p:nvSpPr>
        <p:spPr>
          <a:xfrm>
            <a:off x="1047600" y="360036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评价结果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jobseq-archive-pill-3"/>
          <p:cNvSpPr/>
          <p:nvPr/>
        </p:nvSpPr>
        <p:spPr>
          <a:xfrm>
            <a:off x="990720" y="3981600"/>
            <a:ext cx="171432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jobseq-archive-pill-3-text"/>
          <p:cNvSpPr/>
          <p:nvPr/>
        </p:nvSpPr>
        <p:spPr>
          <a:xfrm>
            <a:off x="1047600" y="401940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成果材料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jobseq-archive-pill-4"/>
          <p:cNvSpPr/>
          <p:nvPr/>
        </p:nvSpPr>
        <p:spPr>
          <a:xfrm>
            <a:off x="990720" y="4400640"/>
            <a:ext cx="171432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jobseq-archive-pill-4-text"/>
          <p:cNvSpPr/>
          <p:nvPr/>
        </p:nvSpPr>
        <p:spPr>
          <a:xfrm>
            <a:off x="1047600" y="443880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成长轨迹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jobseq-model-panel"/>
          <p:cNvSpPr/>
          <p:nvPr/>
        </p:nvSpPr>
        <p:spPr>
          <a:xfrm>
            <a:off x="3886200" y="2038320"/>
            <a:ext cx="4762080" cy="3085920"/>
          </a:xfrm>
          <a:prstGeom prst="roundRect">
            <a:avLst>
              <a:gd name="adj" fmla="val 1852"/>
            </a:avLst>
          </a:prstGeom>
          <a:solidFill>
            <a:srgbClr val="EAF5FB"/>
          </a:solidFill>
          <a:ln w="11430">
            <a:solidFill>
              <a:srgbClr val="78B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jobseq-model-title"/>
          <p:cNvSpPr/>
          <p:nvPr/>
        </p:nvSpPr>
        <p:spPr>
          <a:xfrm>
            <a:off x="4191120" y="2247840"/>
            <a:ext cx="4152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2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岗位序列能力模型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jobseq-model-subtitle"/>
          <p:cNvSpPr/>
          <p:nvPr/>
        </p:nvSpPr>
        <p:spPr>
          <a:xfrm>
            <a:off x="4305240" y="2610000"/>
            <a:ext cx="392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按不同发展阶段配置能力指标与达成标准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jobseq-stage-1"/>
          <p:cNvSpPr/>
          <p:nvPr/>
        </p:nvSpPr>
        <p:spPr>
          <a:xfrm>
            <a:off x="4172040" y="3029040"/>
            <a:ext cx="742680" cy="3996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jobseq-stage-1-text"/>
          <p:cNvSpPr/>
          <p:nvPr/>
        </p:nvSpPr>
        <p:spPr>
          <a:xfrm>
            <a:off x="4229280" y="3067200"/>
            <a:ext cx="628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初任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jobseq-stage-2"/>
          <p:cNvSpPr/>
          <p:nvPr/>
        </p:nvSpPr>
        <p:spPr>
          <a:xfrm>
            <a:off x="4991040" y="3029040"/>
            <a:ext cx="742680" cy="3996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jobseq-stage-2-text"/>
          <p:cNvSpPr/>
          <p:nvPr/>
        </p:nvSpPr>
        <p:spPr>
          <a:xfrm>
            <a:off x="5048280" y="3067200"/>
            <a:ext cx="628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胜任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jobseq-stage-3"/>
          <p:cNvSpPr/>
          <p:nvPr/>
        </p:nvSpPr>
        <p:spPr>
          <a:xfrm>
            <a:off x="5810400" y="3029040"/>
            <a:ext cx="742680" cy="399600"/>
          </a:xfrm>
          <a:prstGeom prst="roundRect">
            <a:avLst>
              <a:gd name="adj" fmla="val 14286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jobseq-stage-3-text"/>
          <p:cNvSpPr/>
          <p:nvPr/>
        </p:nvSpPr>
        <p:spPr>
          <a:xfrm>
            <a:off x="5867280" y="3067200"/>
            <a:ext cx="628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骨干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jobseq-stage-4"/>
          <p:cNvSpPr/>
          <p:nvPr/>
        </p:nvSpPr>
        <p:spPr>
          <a:xfrm>
            <a:off x="6629400" y="3029040"/>
            <a:ext cx="799920" cy="399600"/>
          </a:xfrm>
          <a:prstGeom prst="roundRect">
            <a:avLst>
              <a:gd name="adj" fmla="val 14286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jobseq-stage-4-text"/>
          <p:cNvSpPr/>
          <p:nvPr/>
        </p:nvSpPr>
        <p:spPr>
          <a:xfrm>
            <a:off x="6686640" y="3067200"/>
            <a:ext cx="685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带头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jobseq-stage-5"/>
          <p:cNvSpPr/>
          <p:nvPr/>
        </p:nvSpPr>
        <p:spPr>
          <a:xfrm>
            <a:off x="7520400" y="3029040"/>
            <a:ext cx="742680" cy="399600"/>
          </a:xfrm>
          <a:prstGeom prst="roundRect">
            <a:avLst>
              <a:gd name="adj" fmla="val 14286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jobseq-stage-5-text"/>
          <p:cNvSpPr/>
          <p:nvPr/>
        </p:nvSpPr>
        <p:spPr>
          <a:xfrm>
            <a:off x="7505640" y="3067200"/>
            <a:ext cx="628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专家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jobseq-model-arrow-hint"/>
          <p:cNvSpPr/>
          <p:nvPr/>
        </p:nvSpPr>
        <p:spPr>
          <a:xfrm>
            <a:off x="5676840" y="3676680"/>
            <a:ext cx="1218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0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岗位序列进阶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jobseq-model-progress-line"/>
          <p:cNvSpPr/>
          <p:nvPr/>
        </p:nvSpPr>
        <p:spPr>
          <a:xfrm>
            <a:off x="4476600" y="3600360"/>
            <a:ext cx="3543120" cy="28080"/>
          </a:xfrm>
          <a:prstGeom prst="rect">
            <a:avLst/>
          </a:prstGeom>
          <a:solidFill>
            <a:srgbClr val="2F8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jobseq-model-progress-head"/>
          <p:cNvSpPr/>
          <p:nvPr/>
        </p:nvSpPr>
        <p:spPr>
          <a:xfrm rot="5400000">
            <a:off x="7963200" y="3524400"/>
            <a:ext cx="171000" cy="171000"/>
          </a:xfrm>
          <a:prstGeom prst="triangle">
            <a:avLst>
              <a:gd name="adj" fmla="val 5000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0680" rIns="90000" bIns="40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jobseq-diagnosis-box"/>
          <p:cNvSpPr/>
          <p:nvPr/>
        </p:nvSpPr>
        <p:spPr>
          <a:xfrm>
            <a:off x="4400640" y="3848040"/>
            <a:ext cx="3733560" cy="9331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jobseq-diagnosis-title"/>
          <p:cNvSpPr/>
          <p:nvPr/>
        </p:nvSpPr>
        <p:spPr>
          <a:xfrm>
            <a:off x="4629240" y="3981600"/>
            <a:ext cx="3276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能力诊断与差距识别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jobseq-diagnosis-body"/>
          <p:cNvSpPr/>
          <p:nvPr/>
        </p:nvSpPr>
        <p:spPr>
          <a:xfrm>
            <a:off x="4629240" y="4343400"/>
            <a:ext cx="327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达成度 </a:t>
            </a: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优势项 </a:t>
            </a: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待提升项 </a:t>
            </a: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当前岗位阶段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jobseq-path-panel"/>
          <p:cNvSpPr/>
          <p:nvPr/>
        </p:nvSpPr>
        <p:spPr>
          <a:xfrm>
            <a:off x="9201240" y="2152800"/>
            <a:ext cx="2400120" cy="2781000"/>
          </a:xfrm>
          <a:prstGeom prst="roundRect">
            <a:avLst>
              <a:gd name="adj" fmla="val 2381"/>
            </a:avLst>
          </a:prstGeom>
          <a:solidFill>
            <a:srgbClr val="F4F6FA"/>
          </a:solidFill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jobseq-path-title"/>
          <p:cNvSpPr/>
          <p:nvPr/>
        </p:nvSpPr>
        <p:spPr>
          <a:xfrm>
            <a:off x="9487080" y="2381400"/>
            <a:ext cx="1828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发展路径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与供给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jobseq-path-pill-1"/>
          <p:cNvSpPr/>
          <p:nvPr/>
        </p:nvSpPr>
        <p:spPr>
          <a:xfrm>
            <a:off x="9563040" y="3143160"/>
            <a:ext cx="167616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jobseq-path-pill-1-text"/>
          <p:cNvSpPr/>
          <p:nvPr/>
        </p:nvSpPr>
        <p:spPr>
          <a:xfrm>
            <a:off x="9620280" y="3181320"/>
            <a:ext cx="1561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课程研修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jobseq-path-pill-2"/>
          <p:cNvSpPr/>
          <p:nvPr/>
        </p:nvSpPr>
        <p:spPr>
          <a:xfrm>
            <a:off x="9563040" y="3562200"/>
            <a:ext cx="167616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jobseq-path-pill-2-text"/>
          <p:cNvSpPr/>
          <p:nvPr/>
        </p:nvSpPr>
        <p:spPr>
          <a:xfrm>
            <a:off x="9620280" y="3600360"/>
            <a:ext cx="1561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岗位任务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jobseq-path-pill-3"/>
          <p:cNvSpPr/>
          <p:nvPr/>
        </p:nvSpPr>
        <p:spPr>
          <a:xfrm>
            <a:off x="9563040" y="3981600"/>
            <a:ext cx="1676160" cy="30456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jobseq-path-pill-3-text"/>
          <p:cNvSpPr/>
          <p:nvPr/>
        </p:nvSpPr>
        <p:spPr>
          <a:xfrm>
            <a:off x="9620280" y="4019400"/>
            <a:ext cx="1561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教研实践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jobseq-path-pill-4"/>
          <p:cNvSpPr/>
          <p:nvPr/>
        </p:nvSpPr>
        <p:spPr>
          <a:xfrm>
            <a:off x="9563040" y="4400640"/>
            <a:ext cx="1676160" cy="304560"/>
          </a:xfrm>
          <a:prstGeom prst="roundRect">
            <a:avLst>
              <a:gd name="adj" fmla="val 1875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jobseq-path-pill-4-text"/>
          <p:cNvSpPr/>
          <p:nvPr/>
        </p:nvSpPr>
        <p:spPr>
          <a:xfrm>
            <a:off x="9620280" y="4438800"/>
            <a:ext cx="1561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成果认证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jobseq-feedback-panel"/>
          <p:cNvSpPr/>
          <p:nvPr/>
        </p:nvSpPr>
        <p:spPr>
          <a:xfrm>
            <a:off x="1428840" y="5391000"/>
            <a:ext cx="9334080" cy="43776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1430">
            <a:solidFill>
              <a:srgbClr val="D6DA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jobseq-feedback-text"/>
          <p:cNvSpPr/>
          <p:nvPr/>
        </p:nvSpPr>
        <p:spPr>
          <a:xfrm>
            <a:off x="2152800" y="5467320"/>
            <a:ext cx="8248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结果回写档案，更新能力等级与岗位阶段；下一轮培训按岗位序列精准供给。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jobseq-feedback-left-arrow"/>
          <p:cNvSpPr/>
          <p:nvPr/>
        </p:nvSpPr>
        <p:spPr>
          <a:xfrm>
            <a:off x="1600200" y="5505480"/>
            <a:ext cx="437760" cy="2091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六个核心模块提供可复用的平台能力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box-网络研修模块"/>
          <p:cNvSpPr/>
          <p:nvPr/>
        </p:nvSpPr>
        <p:spPr>
          <a:xfrm>
            <a:off x="609480" y="2000160"/>
            <a:ext cx="3142800" cy="1333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box-title-网络研修模块"/>
          <p:cNvSpPr/>
          <p:nvPr/>
        </p:nvSpPr>
        <p:spPr>
          <a:xfrm>
            <a:off x="781200" y="21718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网络研修模块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box-body-网络研修模块"/>
          <p:cNvSpPr/>
          <p:nvPr/>
        </p:nvSpPr>
        <p:spPr>
          <a:xfrm>
            <a:off x="781200" y="2533680"/>
            <a:ext cx="2800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训研一体化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在线学习、任务实践、协同研究、成果共创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box-评价模型模块"/>
          <p:cNvSpPr/>
          <p:nvPr/>
        </p:nvSpPr>
        <p:spPr>
          <a:xfrm>
            <a:off x="4419720" y="2000160"/>
            <a:ext cx="3142800" cy="1333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box-title-评价模型模块"/>
          <p:cNvSpPr/>
          <p:nvPr/>
        </p:nvSpPr>
        <p:spPr>
          <a:xfrm>
            <a:off x="4591080" y="21718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评价模型模块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box-body-评价模型模块"/>
          <p:cNvSpPr/>
          <p:nvPr/>
        </p:nvSpPr>
        <p:spPr>
          <a:xfrm>
            <a:off x="4591080" y="2533680"/>
            <a:ext cx="2800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统一评价标准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评价维度、指标体系、权重规则、等级标准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box-数据归集模块"/>
          <p:cNvSpPr/>
          <p:nvPr/>
        </p:nvSpPr>
        <p:spPr>
          <a:xfrm>
            <a:off x="8229600" y="2000160"/>
            <a:ext cx="3142800" cy="133308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box-title-数据归集模块"/>
          <p:cNvSpPr/>
          <p:nvPr/>
        </p:nvSpPr>
        <p:spPr>
          <a:xfrm>
            <a:off x="8400960" y="21718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数据归集模块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box-body-数据归集模块"/>
          <p:cNvSpPr/>
          <p:nvPr/>
        </p:nvSpPr>
        <p:spPr>
          <a:xfrm>
            <a:off x="8400960" y="2533680"/>
            <a:ext cx="2800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全过程留痕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时间窗口、过程数据、成果数据、评价数据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box-评估分析模块"/>
          <p:cNvSpPr/>
          <p:nvPr/>
        </p:nvSpPr>
        <p:spPr>
          <a:xfrm>
            <a:off x="609480" y="3753000"/>
            <a:ext cx="3142800" cy="133308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box-title-评估分析模块"/>
          <p:cNvSpPr/>
          <p:nvPr/>
        </p:nvSpPr>
        <p:spPr>
          <a:xfrm>
            <a:off x="781200" y="392436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评估分析模块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box-body-评估分析模块"/>
          <p:cNvSpPr/>
          <p:nvPr/>
        </p:nvSpPr>
        <p:spPr>
          <a:xfrm>
            <a:off x="781200" y="4286160"/>
            <a:ext cx="2800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质量分析输出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综合评价、趋势分析、报表统计、结果反馈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box-档案沉淀模块"/>
          <p:cNvSpPr/>
          <p:nvPr/>
        </p:nvSpPr>
        <p:spPr>
          <a:xfrm>
            <a:off x="4419720" y="3753000"/>
            <a:ext cx="3142800" cy="1333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box-title-档案沉淀模块"/>
          <p:cNvSpPr/>
          <p:nvPr/>
        </p:nvSpPr>
        <p:spPr>
          <a:xfrm>
            <a:off x="4591080" y="392436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档案沉淀模块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box-body-档案沉淀模块"/>
          <p:cNvSpPr/>
          <p:nvPr/>
        </p:nvSpPr>
        <p:spPr>
          <a:xfrm>
            <a:off x="4591080" y="4286160"/>
            <a:ext cx="2800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成长资产沉淀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记录归档、证据归集、成果沉淀、画像更新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box-推荐服务模块"/>
          <p:cNvSpPr/>
          <p:nvPr/>
        </p:nvSpPr>
        <p:spPr>
          <a:xfrm>
            <a:off x="8229600" y="3753000"/>
            <a:ext cx="3142800" cy="1333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box-title-推荐服务模块"/>
          <p:cNvSpPr/>
          <p:nvPr/>
        </p:nvSpPr>
        <p:spPr>
          <a:xfrm>
            <a:off x="8400960" y="392436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推荐服务模块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box-body-推荐服务模块"/>
          <p:cNvSpPr/>
          <p:nvPr/>
        </p:nvSpPr>
        <p:spPr>
          <a:xfrm>
            <a:off x="8400960" y="4286160"/>
            <a:ext cx="2800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精准发展服务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能力诊断、内容推荐、路径推荐、精准推送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数据流转贯穿项目创建到推荐服务的完整链路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chain-a"/>
          <p:cNvSpPr/>
          <p:nvPr/>
        </p:nvSpPr>
        <p:spPr>
          <a:xfrm>
            <a:off x="647640" y="1962000"/>
            <a:ext cx="1714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业务实施链路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chain-b"/>
          <p:cNvSpPr/>
          <p:nvPr/>
        </p:nvSpPr>
        <p:spPr>
          <a:xfrm>
            <a:off x="647640" y="3905280"/>
            <a:ext cx="1714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评价沉淀链路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data-top-0"/>
          <p:cNvSpPr/>
          <p:nvPr/>
        </p:nvSpPr>
        <p:spPr>
          <a:xfrm>
            <a:off x="666720" y="240048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data-top-num-0"/>
          <p:cNvSpPr/>
          <p:nvPr/>
        </p:nvSpPr>
        <p:spPr>
          <a:xfrm>
            <a:off x="800280" y="253368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data-top-title-0"/>
          <p:cNvSpPr/>
          <p:nvPr/>
        </p:nvSpPr>
        <p:spPr>
          <a:xfrm>
            <a:off x="857160" y="280044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项目创建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0" name="connector-line"/>
          <p:cNvCxnSpPr/>
          <p:nvPr/>
        </p:nvCxnSpPr>
        <p:spPr>
          <a:xfrm>
            <a:off x="2381040" y="281916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371" name="data-top-1"/>
          <p:cNvSpPr/>
          <p:nvPr/>
        </p:nvSpPr>
        <p:spPr>
          <a:xfrm>
            <a:off x="2933640" y="240048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data-top-num-1"/>
          <p:cNvSpPr/>
          <p:nvPr/>
        </p:nvSpPr>
        <p:spPr>
          <a:xfrm>
            <a:off x="3067200" y="253368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data-top-title-1"/>
          <p:cNvSpPr/>
          <p:nvPr/>
        </p:nvSpPr>
        <p:spPr>
          <a:xfrm>
            <a:off x="3124080" y="280044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报名审核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4" name="connector-line"/>
          <p:cNvCxnSpPr/>
          <p:nvPr/>
        </p:nvCxnSpPr>
        <p:spPr>
          <a:xfrm>
            <a:off x="4647960" y="281916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375" name="data-top-2"/>
          <p:cNvSpPr/>
          <p:nvPr/>
        </p:nvSpPr>
        <p:spPr>
          <a:xfrm>
            <a:off x="5200560" y="240048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data-top-num-2"/>
          <p:cNvSpPr/>
          <p:nvPr/>
        </p:nvSpPr>
        <p:spPr>
          <a:xfrm>
            <a:off x="5334120" y="253368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data-top-title-2"/>
          <p:cNvSpPr/>
          <p:nvPr/>
        </p:nvSpPr>
        <p:spPr>
          <a:xfrm>
            <a:off x="5391000" y="280044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研修实施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8" name="connector-line"/>
          <p:cNvCxnSpPr/>
          <p:nvPr/>
        </p:nvCxnSpPr>
        <p:spPr>
          <a:xfrm>
            <a:off x="6914880" y="281916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379" name="data-top-3"/>
          <p:cNvSpPr/>
          <p:nvPr/>
        </p:nvSpPr>
        <p:spPr>
          <a:xfrm>
            <a:off x="7467480" y="240048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data-top-num-3"/>
          <p:cNvSpPr/>
          <p:nvPr/>
        </p:nvSpPr>
        <p:spPr>
          <a:xfrm>
            <a:off x="7601040" y="253368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data-top-title-3"/>
          <p:cNvSpPr/>
          <p:nvPr/>
        </p:nvSpPr>
        <p:spPr>
          <a:xfrm>
            <a:off x="7658280" y="280044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过程采集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2" name="connector-line"/>
          <p:cNvCxnSpPr/>
          <p:nvPr/>
        </p:nvCxnSpPr>
        <p:spPr>
          <a:xfrm>
            <a:off x="9181800" y="281916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383" name="data-top-4"/>
          <p:cNvSpPr/>
          <p:nvPr/>
        </p:nvSpPr>
        <p:spPr>
          <a:xfrm>
            <a:off x="9734400" y="240048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data-top-num-4"/>
          <p:cNvSpPr/>
          <p:nvPr/>
        </p:nvSpPr>
        <p:spPr>
          <a:xfrm>
            <a:off x="9867960" y="253368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data-top-title-4"/>
          <p:cNvSpPr/>
          <p:nvPr/>
        </p:nvSpPr>
        <p:spPr>
          <a:xfrm>
            <a:off x="9925200" y="280044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成果归集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6" name="connector-line"/>
          <p:cNvCxnSpPr/>
          <p:nvPr/>
        </p:nvCxnSpPr>
        <p:spPr>
          <a:xfrm>
            <a:off x="6095880" y="3443400"/>
            <a:ext cx="360" cy="419400"/>
          </a:xfrm>
          <a:prstGeom prst="straightConnector1">
            <a:avLst/>
          </a:prstGeom>
          <a:ln w="28575">
            <a:solidFill>
              <a:srgbClr val="3D8DFF"/>
            </a:solidFill>
            <a:round/>
          </a:ln>
        </p:spPr>
      </p:cxnSp>
      <p:sp>
        <p:nvSpPr>
          <p:cNvPr id="387" name="arrow-head"/>
          <p:cNvSpPr/>
          <p:nvPr/>
        </p:nvSpPr>
        <p:spPr>
          <a:xfrm rot="10800000">
            <a:off x="5982120" y="3767760"/>
            <a:ext cx="228240" cy="190080"/>
          </a:xfrm>
          <a:prstGeom prst="triangle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handoff"/>
          <p:cNvSpPr/>
          <p:nvPr/>
        </p:nvSpPr>
        <p:spPr>
          <a:xfrm>
            <a:off x="5807880" y="3573000"/>
            <a:ext cx="228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进入评价链路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data-bottom-0"/>
          <p:cNvSpPr/>
          <p:nvPr/>
        </p:nvSpPr>
        <p:spPr>
          <a:xfrm>
            <a:off x="666720" y="434340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data-bottom-num-0"/>
          <p:cNvSpPr/>
          <p:nvPr/>
        </p:nvSpPr>
        <p:spPr>
          <a:xfrm>
            <a:off x="800280" y="44766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data-bottom-title-0"/>
          <p:cNvSpPr/>
          <p:nvPr/>
        </p:nvSpPr>
        <p:spPr>
          <a:xfrm>
            <a:off x="857160" y="4686480"/>
            <a:ext cx="1314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系统初评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2" name="connector-line"/>
          <p:cNvCxnSpPr/>
          <p:nvPr/>
        </p:nvCxnSpPr>
        <p:spPr>
          <a:xfrm>
            <a:off x="2381040" y="476244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393" name="data-bottom-1"/>
          <p:cNvSpPr/>
          <p:nvPr/>
        </p:nvSpPr>
        <p:spPr>
          <a:xfrm>
            <a:off x="2933640" y="434340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data-bottom-num-1"/>
          <p:cNvSpPr/>
          <p:nvPr/>
        </p:nvSpPr>
        <p:spPr>
          <a:xfrm>
            <a:off x="3067200" y="44766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data-bottom-title-1"/>
          <p:cNvSpPr/>
          <p:nvPr/>
        </p:nvSpPr>
        <p:spPr>
          <a:xfrm>
            <a:off x="3124080" y="4686480"/>
            <a:ext cx="1314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专家复核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6" name="connector-line"/>
          <p:cNvCxnSpPr/>
          <p:nvPr/>
        </p:nvCxnSpPr>
        <p:spPr>
          <a:xfrm>
            <a:off x="4647960" y="476244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397" name="data-bottom-2"/>
          <p:cNvSpPr/>
          <p:nvPr/>
        </p:nvSpPr>
        <p:spPr>
          <a:xfrm>
            <a:off x="5200560" y="434340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data-bottom-num-2"/>
          <p:cNvSpPr/>
          <p:nvPr/>
        </p:nvSpPr>
        <p:spPr>
          <a:xfrm>
            <a:off x="5334120" y="44766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data-bottom-title-2"/>
          <p:cNvSpPr/>
          <p:nvPr/>
        </p:nvSpPr>
        <p:spPr>
          <a:xfrm>
            <a:off x="5391000" y="474336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综合分析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connector-line"/>
          <p:cNvCxnSpPr/>
          <p:nvPr/>
        </p:nvCxnSpPr>
        <p:spPr>
          <a:xfrm>
            <a:off x="6914880" y="476244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01" name="data-bottom-3"/>
          <p:cNvSpPr/>
          <p:nvPr/>
        </p:nvSpPr>
        <p:spPr>
          <a:xfrm>
            <a:off x="7467480" y="434340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data-bottom-num-3"/>
          <p:cNvSpPr/>
          <p:nvPr/>
        </p:nvSpPr>
        <p:spPr>
          <a:xfrm>
            <a:off x="7601040" y="44766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data-bottom-title-3"/>
          <p:cNvSpPr/>
          <p:nvPr/>
        </p:nvSpPr>
        <p:spPr>
          <a:xfrm>
            <a:off x="7658280" y="474336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档案沉淀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4" name="connector-line"/>
          <p:cNvCxnSpPr/>
          <p:nvPr/>
        </p:nvCxnSpPr>
        <p:spPr>
          <a:xfrm>
            <a:off x="9181800" y="4762440"/>
            <a:ext cx="43848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05" name="data-bottom-4"/>
          <p:cNvSpPr/>
          <p:nvPr/>
        </p:nvSpPr>
        <p:spPr>
          <a:xfrm>
            <a:off x="9734400" y="4343400"/>
            <a:ext cx="1695240" cy="83772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data-bottom-num-4"/>
          <p:cNvSpPr/>
          <p:nvPr/>
        </p:nvSpPr>
        <p:spPr>
          <a:xfrm>
            <a:off x="9867960" y="44766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8DFF"/>
                </a:solidFill>
                <a:effectLst/>
                <a:uFillTx/>
                <a:latin typeface="Helvetica Neue"/>
                <a:ea typeface="Helvetica Neue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data-bottom-title-4"/>
          <p:cNvSpPr/>
          <p:nvPr/>
        </p:nvSpPr>
        <p:spPr>
          <a:xfrm>
            <a:off x="9925200" y="4743360"/>
            <a:ext cx="131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画像推荐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note"/>
          <p:cNvSpPr/>
          <p:nvPr/>
        </p:nvSpPr>
        <p:spPr>
          <a:xfrm>
            <a:off x="1123920" y="5829480"/>
            <a:ext cx="9905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重点：系统先按模型生成初评，专家基于证据复核确认，再进入综合分析和档案沉淀，保证评价可追溯。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arrow"/>
          <p:cNvSpPr/>
          <p:nvPr/>
        </p:nvSpPr>
        <p:spPr>
          <a:xfrm rot="5400000">
            <a:off x="2716200" y="270720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arrow"/>
          <p:cNvSpPr/>
          <p:nvPr/>
        </p:nvSpPr>
        <p:spPr>
          <a:xfrm rot="5400000">
            <a:off x="4983120" y="270720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arrow"/>
          <p:cNvSpPr/>
          <p:nvPr/>
        </p:nvSpPr>
        <p:spPr>
          <a:xfrm rot="5400000">
            <a:off x="7250040" y="270720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arrow"/>
          <p:cNvSpPr/>
          <p:nvPr/>
        </p:nvSpPr>
        <p:spPr>
          <a:xfrm rot="5400000">
            <a:off x="9554400" y="270720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arrow"/>
          <p:cNvSpPr/>
          <p:nvPr/>
        </p:nvSpPr>
        <p:spPr>
          <a:xfrm rot="5400000">
            <a:off x="2716200" y="465156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arrow"/>
          <p:cNvSpPr/>
          <p:nvPr/>
        </p:nvSpPr>
        <p:spPr>
          <a:xfrm rot="5400000">
            <a:off x="5018040" y="465156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arrow"/>
          <p:cNvSpPr/>
          <p:nvPr/>
        </p:nvSpPr>
        <p:spPr>
          <a:xfrm rot="5400000">
            <a:off x="7250040" y="465156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arrow"/>
          <p:cNvSpPr/>
          <p:nvPr/>
        </p:nvSpPr>
        <p:spPr>
          <a:xfrm rot="5400000">
            <a:off x="9516960" y="465156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data-bottom-desc-0"/>
          <p:cNvSpPr/>
          <p:nvPr/>
        </p:nvSpPr>
        <p:spPr>
          <a:xfrm>
            <a:off x="819000" y="4952880"/>
            <a:ext cx="1390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按指标自动生成初评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data-bottom-desc-1"/>
          <p:cNvSpPr/>
          <p:nvPr/>
        </p:nvSpPr>
        <p:spPr>
          <a:xfrm>
            <a:off x="3086280" y="4952880"/>
            <a:ext cx="1390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基于证据复核确认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eyebrow"/>
          <p:cNvSpPr/>
          <p:nvPr/>
        </p:nvSpPr>
        <p:spPr>
          <a:xfrm>
            <a:off x="399960" y="343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lide-title"/>
          <p:cNvSpPr/>
          <p:nvPr/>
        </p:nvSpPr>
        <p:spPr>
          <a:xfrm>
            <a:off x="399960" y="743040"/>
            <a:ext cx="10572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3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分阶段建设，先形成业务闭环，再持续优化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itle-rule"/>
          <p:cNvSpPr/>
          <p:nvPr/>
        </p:nvSpPr>
        <p:spPr>
          <a:xfrm>
            <a:off x="399960" y="1504800"/>
            <a:ext cx="11391480" cy="1116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3" name="connector-line"/>
          <p:cNvCxnSpPr/>
          <p:nvPr/>
        </p:nvCxnSpPr>
        <p:spPr>
          <a:xfrm>
            <a:off x="666720" y="3257280"/>
            <a:ext cx="211464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24" name="phase-dot-0"/>
          <p:cNvSpPr/>
          <p:nvPr/>
        </p:nvSpPr>
        <p:spPr>
          <a:xfrm>
            <a:off x="609480" y="3181320"/>
            <a:ext cx="171000" cy="171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phase-label-0"/>
          <p:cNvSpPr/>
          <p:nvPr/>
        </p:nvSpPr>
        <p:spPr>
          <a:xfrm>
            <a:off x="571680" y="27432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第一阶段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hase-title-0"/>
          <p:cNvSpPr/>
          <p:nvPr/>
        </p:nvSpPr>
        <p:spPr>
          <a:xfrm>
            <a:off x="571680" y="3562200"/>
            <a:ext cx="1714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基础平台与培训管理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7" name="connector-line"/>
          <p:cNvCxnSpPr/>
          <p:nvPr/>
        </p:nvCxnSpPr>
        <p:spPr>
          <a:xfrm>
            <a:off x="2876400" y="3257280"/>
            <a:ext cx="211500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28" name="phase-label-1"/>
          <p:cNvSpPr/>
          <p:nvPr/>
        </p:nvSpPr>
        <p:spPr>
          <a:xfrm>
            <a:off x="2781360" y="27432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第二阶段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hase-title-1"/>
          <p:cNvSpPr/>
          <p:nvPr/>
        </p:nvSpPr>
        <p:spPr>
          <a:xfrm>
            <a:off x="2781360" y="3562200"/>
            <a:ext cx="1714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研修活动与网络研修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0" name="connector-line"/>
          <p:cNvCxnSpPr/>
          <p:nvPr/>
        </p:nvCxnSpPr>
        <p:spPr>
          <a:xfrm>
            <a:off x="5086080" y="3257280"/>
            <a:ext cx="211500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31" name="phase-dot-2"/>
          <p:cNvSpPr/>
          <p:nvPr/>
        </p:nvSpPr>
        <p:spPr>
          <a:xfrm>
            <a:off x="2781360" y="3180600"/>
            <a:ext cx="171000" cy="171000"/>
          </a:xfrm>
          <a:prstGeom prst="ellipse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phase-label-2"/>
          <p:cNvSpPr/>
          <p:nvPr/>
        </p:nvSpPr>
        <p:spPr>
          <a:xfrm>
            <a:off x="4991040" y="27432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第三阶段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hase-title-2"/>
          <p:cNvSpPr/>
          <p:nvPr/>
        </p:nvSpPr>
        <p:spPr>
          <a:xfrm>
            <a:off x="4991040" y="3562200"/>
            <a:ext cx="1714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数据归集与培训评估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4" name="connector-line"/>
          <p:cNvCxnSpPr/>
          <p:nvPr/>
        </p:nvCxnSpPr>
        <p:spPr>
          <a:xfrm>
            <a:off x="7296120" y="3257280"/>
            <a:ext cx="211464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35" name="phase-dot-3"/>
          <p:cNvSpPr/>
          <p:nvPr/>
        </p:nvSpPr>
        <p:spPr>
          <a:xfrm>
            <a:off x="7238880" y="3181320"/>
            <a:ext cx="171000" cy="171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phase-label-3"/>
          <p:cNvSpPr/>
          <p:nvPr/>
        </p:nvSpPr>
        <p:spPr>
          <a:xfrm>
            <a:off x="7201080" y="27432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第四阶段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hase-title-3"/>
          <p:cNvSpPr/>
          <p:nvPr/>
        </p:nvSpPr>
        <p:spPr>
          <a:xfrm>
            <a:off x="7201080" y="3562200"/>
            <a:ext cx="1714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教师档案与推荐服务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8" name="connector-line"/>
          <p:cNvCxnSpPr/>
          <p:nvPr/>
        </p:nvCxnSpPr>
        <p:spPr>
          <a:xfrm>
            <a:off x="9505800" y="3257280"/>
            <a:ext cx="2115000" cy="360"/>
          </a:xfrm>
          <a:prstGeom prst="straightConnector1">
            <a:avLst/>
          </a:prstGeom>
          <a:ln w="19050">
            <a:solidFill>
              <a:srgbClr val="B8BCC4"/>
            </a:solidFill>
            <a:round/>
          </a:ln>
        </p:spPr>
      </p:cxnSp>
      <p:sp>
        <p:nvSpPr>
          <p:cNvPr id="439" name="phase-dot-4"/>
          <p:cNvSpPr/>
          <p:nvPr/>
        </p:nvSpPr>
        <p:spPr>
          <a:xfrm>
            <a:off x="9448920" y="3181320"/>
            <a:ext cx="171000" cy="171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phase-label-4"/>
          <p:cNvSpPr/>
          <p:nvPr/>
        </p:nvSpPr>
        <p:spPr>
          <a:xfrm>
            <a:off x="9410760" y="27432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B6472"/>
                </a:solidFill>
                <a:effectLst/>
                <a:uFillTx/>
                <a:latin typeface="Helvetica Neue"/>
                <a:ea typeface="Helvetica Neue"/>
              </a:rPr>
              <a:t>第五阶段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hase-title-4"/>
          <p:cNvSpPr/>
          <p:nvPr/>
        </p:nvSpPr>
        <p:spPr>
          <a:xfrm>
            <a:off x="9410760" y="3562200"/>
            <a:ext cx="1714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试点运行与持续优化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outcomes"/>
          <p:cNvSpPr/>
          <p:nvPr/>
        </p:nvSpPr>
        <p:spPr>
          <a:xfrm>
            <a:off x="857160" y="4838760"/>
            <a:ext cx="10477080" cy="799920"/>
          </a:xfrm>
          <a:prstGeom prst="roundRect">
            <a:avLst>
              <a:gd name="adj" fmla="val 7143"/>
            </a:avLst>
          </a:prstGeom>
          <a:solidFill>
            <a:srgbClr val="EAF5FB"/>
          </a:solidFill>
          <a:ln w="9525">
            <a:solidFill>
              <a:srgbClr val="3D8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outcomes-text"/>
          <p:cNvSpPr/>
          <p:nvPr/>
        </p:nvSpPr>
        <p:spPr>
          <a:xfrm>
            <a:off x="1219320" y="5086440"/>
            <a:ext cx="9715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预期成效：培训管理统一、过程透明、评价科学、档案完整、推荐精准、决策有据。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hase-dot-2"/>
          <p:cNvSpPr/>
          <p:nvPr/>
        </p:nvSpPr>
        <p:spPr>
          <a:xfrm>
            <a:off x="4993560" y="3185280"/>
            <a:ext cx="171000" cy="171000"/>
          </a:xfrm>
          <a:prstGeom prst="ellipse">
            <a:avLst/>
          </a:prstGeom>
          <a:solidFill>
            <a:srgbClr val="3D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art"/>
          <p:cNvSpPr/>
          <p:nvPr/>
        </p:nvSpPr>
        <p:spPr>
          <a:xfrm>
            <a:off x="552600" y="781200"/>
            <a:ext cx="2857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97132"/>
                </a:solidFill>
                <a:effectLst/>
                <a:uFillTx/>
                <a:latin typeface="PingFang SC"/>
                <a:ea typeface="PingFang SC"/>
              </a:rPr>
              <a:t>Part 02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ection-title"/>
          <p:cNvSpPr/>
          <p:nvPr/>
        </p:nvSpPr>
        <p:spPr>
          <a:xfrm>
            <a:off x="552600" y="1695600"/>
            <a:ext cx="80960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43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原生底座赋能方案</a:t>
            </a:r>
            <a:endParaRPr lang="en-US" sz="4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ection-subtitle"/>
          <p:cNvSpPr/>
          <p:nvPr/>
        </p:nvSpPr>
        <p:spPr>
          <a:xfrm>
            <a:off x="590400" y="2952720"/>
            <a:ext cx="78102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0" u="none" strike="noStrike">
                <a:solidFill>
                  <a:srgbClr val="D1D5DB"/>
                </a:solidFill>
                <a:effectLst/>
                <a:uFillTx/>
                <a:latin typeface="PingFang SC"/>
                <a:ea typeface="PingFang SC"/>
              </a:rPr>
              <a:t>以</a:t>
            </a:r>
            <a:r>
              <a:rPr lang="en-US" sz="1950" b="0" u="none" strike="noStrike">
                <a:solidFill>
                  <a:srgbClr val="D1D5DB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950" b="0" u="none" strike="noStrike">
                <a:solidFill>
                  <a:srgbClr val="D1D5DB"/>
                </a:solidFill>
                <a:effectLst/>
                <a:uFillTx/>
                <a:latin typeface="PingFang SC"/>
                <a:ea typeface="PingFang SC"/>
              </a:rPr>
              <a:t>原生底座为横向能力层，让培训平台天然具备智能体、知识资产、空间协同和算力运营能力。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ection-line"/>
          <p:cNvSpPr/>
          <p:nvPr/>
        </p:nvSpPr>
        <p:spPr>
          <a:xfrm>
            <a:off x="590400" y="4629240"/>
            <a:ext cx="6000480" cy="1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keywords"/>
          <p:cNvSpPr/>
          <p:nvPr/>
        </p:nvSpPr>
        <p:spPr>
          <a:xfrm>
            <a:off x="590400" y="4991040"/>
            <a:ext cx="7429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Lucky / </a:t>
            </a: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资料库 </a:t>
            </a: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空间 </a:t>
            </a: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场景模板 </a:t>
            </a: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模型统计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lobal-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16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itle"/>
          <p:cNvSpPr/>
          <p:nvPr/>
        </p:nvSpPr>
        <p:spPr>
          <a:xfrm>
            <a:off x="399960" y="781200"/>
            <a:ext cx="10477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原生底座让业务模块天然具备智能能力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ule"/>
          <p:cNvSpPr/>
          <p:nvPr/>
        </p:nvSpPr>
        <p:spPr>
          <a:xfrm>
            <a:off x="399960" y="167616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judgement-band"/>
          <p:cNvSpPr/>
          <p:nvPr/>
        </p:nvSpPr>
        <p:spPr>
          <a:xfrm>
            <a:off x="743040" y="1981080"/>
            <a:ext cx="10705680" cy="609120"/>
          </a:xfrm>
          <a:prstGeom prst="roundRect">
            <a:avLst>
              <a:gd name="adj" fmla="val 9375"/>
            </a:avLst>
          </a:prstGeom>
          <a:solidFill>
            <a:srgbClr val="EAF5FB"/>
          </a:solidFill>
          <a:ln w="11430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judgement-label"/>
          <p:cNvSpPr/>
          <p:nvPr/>
        </p:nvSpPr>
        <p:spPr>
          <a:xfrm>
            <a:off x="990720" y="2152800"/>
            <a:ext cx="1066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核心判断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judgement-text"/>
          <p:cNvSpPr/>
          <p:nvPr/>
        </p:nvSpPr>
        <p:spPr>
          <a:xfrm>
            <a:off x="2209680" y="2076480"/>
            <a:ext cx="8762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培训平台不是传统系统加 </a:t>
            </a:r>
            <a:r>
              <a:rPr lang="en-US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</a:t>
            </a:r>
            <a:r>
              <a:rPr lang="zh-CN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，而是让 </a:t>
            </a:r>
            <a:r>
              <a:rPr lang="en-US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作为资料沉淀、空间协同、角色赋能、流程推进、内容生成、评价分析和推荐服务的默认能力。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flow-arrow-1"/>
          <p:cNvSpPr/>
          <p:nvPr/>
        </p:nvSpPr>
        <p:spPr>
          <a:xfrm>
            <a:off x="2999160" y="32194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flow-arrow-2"/>
          <p:cNvSpPr/>
          <p:nvPr/>
        </p:nvSpPr>
        <p:spPr>
          <a:xfrm>
            <a:off x="5739120" y="321300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flow-arrow-3"/>
          <p:cNvSpPr/>
          <p:nvPr/>
        </p:nvSpPr>
        <p:spPr>
          <a:xfrm>
            <a:off x="8519040" y="321300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flow-business"/>
          <p:cNvSpPr/>
          <p:nvPr/>
        </p:nvSpPr>
        <p:spPr>
          <a:xfrm>
            <a:off x="743040" y="3029040"/>
            <a:ext cx="2190240" cy="60912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flow-business-text"/>
          <p:cNvSpPr/>
          <p:nvPr/>
        </p:nvSpPr>
        <p:spPr>
          <a:xfrm>
            <a:off x="857160" y="3105000"/>
            <a:ext cx="19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业务模块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flow-ai"/>
          <p:cNvSpPr/>
          <p:nvPr/>
        </p:nvSpPr>
        <p:spPr>
          <a:xfrm>
            <a:off x="3495600" y="3029040"/>
            <a:ext cx="2190240" cy="609120"/>
          </a:xfrm>
          <a:prstGeom prst="roundRect">
            <a:avLst>
              <a:gd name="adj" fmla="val 9375"/>
            </a:avLst>
          </a:prstGeom>
          <a:solidFill>
            <a:srgbClr val="EAF5FB"/>
          </a:solidFill>
          <a:ln w="11430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flow-ai-text"/>
          <p:cNvSpPr/>
          <p:nvPr/>
        </p:nvSpPr>
        <p:spPr>
          <a:xfrm>
            <a:off x="3610080" y="3105000"/>
            <a:ext cx="19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flow-agent-exp"/>
          <p:cNvSpPr/>
          <p:nvPr/>
        </p:nvSpPr>
        <p:spPr>
          <a:xfrm>
            <a:off x="6248520" y="3029040"/>
            <a:ext cx="2190240" cy="60912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flow-agent-exp-text"/>
          <p:cNvSpPr/>
          <p:nvPr/>
        </p:nvSpPr>
        <p:spPr>
          <a:xfrm>
            <a:off x="6362640" y="3105000"/>
            <a:ext cx="19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智能体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+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体验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flow-landing"/>
          <p:cNvSpPr/>
          <p:nvPr/>
        </p:nvSpPr>
        <p:spPr>
          <a:xfrm>
            <a:off x="9001080" y="3029040"/>
            <a:ext cx="2190240" cy="609120"/>
          </a:xfrm>
          <a:prstGeom prst="roundRect">
            <a:avLst>
              <a:gd name="adj" fmla="val 9375"/>
            </a:avLst>
          </a:prstGeom>
          <a:solidFill>
            <a:srgbClr val="2F83FF"/>
          </a:solidFill>
          <a:ln w="11430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flow-landing-text"/>
          <p:cNvSpPr/>
          <p:nvPr/>
        </p:nvSpPr>
        <p:spPr>
          <a:xfrm>
            <a:off x="9115560" y="3105000"/>
            <a:ext cx="19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业务场景落地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card-knowledge"/>
          <p:cNvSpPr/>
          <p:nvPr/>
        </p:nvSpPr>
        <p:spPr>
          <a:xfrm>
            <a:off x="743040" y="417204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card-knowledge-badge"/>
          <p:cNvSpPr/>
          <p:nvPr/>
        </p:nvSpPr>
        <p:spPr>
          <a:xfrm>
            <a:off x="952560" y="4381560"/>
            <a:ext cx="361440" cy="36144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card-knowledge-badge-text"/>
          <p:cNvSpPr/>
          <p:nvPr/>
        </p:nvSpPr>
        <p:spPr>
          <a:xfrm>
            <a:off x="952560" y="44388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card-knowledge-title"/>
          <p:cNvSpPr/>
          <p:nvPr/>
        </p:nvSpPr>
        <p:spPr>
          <a:xfrm>
            <a:off x="1467000" y="438156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资料库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card-knowledge-body"/>
          <p:cNvSpPr/>
          <p:nvPr/>
        </p:nvSpPr>
        <p:spPr>
          <a:xfrm>
            <a:off x="990720" y="4857840"/>
            <a:ext cx="28382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业务资料沉淀为知识资产，支撑搜索、问答、生成和应用。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card-space"/>
          <p:cNvSpPr/>
          <p:nvPr/>
        </p:nvSpPr>
        <p:spPr>
          <a:xfrm>
            <a:off x="4429080" y="417204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card-space-badge"/>
          <p:cNvSpPr/>
          <p:nvPr/>
        </p:nvSpPr>
        <p:spPr>
          <a:xfrm>
            <a:off x="4638600" y="4381560"/>
            <a:ext cx="361440" cy="3614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card-space-badge-text"/>
          <p:cNvSpPr/>
          <p:nvPr/>
        </p:nvSpPr>
        <p:spPr>
          <a:xfrm>
            <a:off x="4638600" y="44388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card-space-title"/>
          <p:cNvSpPr/>
          <p:nvPr/>
        </p:nvSpPr>
        <p:spPr>
          <a:xfrm>
            <a:off x="5153040" y="438156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空间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card-space-body"/>
          <p:cNvSpPr/>
          <p:nvPr/>
        </p:nvSpPr>
        <p:spPr>
          <a:xfrm>
            <a:off x="4676760" y="4857840"/>
            <a:ext cx="28382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业务过程进入空间，承载成员、任务、流程、协同和成果。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card-agent"/>
          <p:cNvSpPr/>
          <p:nvPr/>
        </p:nvSpPr>
        <p:spPr>
          <a:xfrm>
            <a:off x="8115480" y="417204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EAF5FB"/>
          </a:solidFill>
          <a:ln w="10478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card-agent-badge"/>
          <p:cNvSpPr/>
          <p:nvPr/>
        </p:nvSpPr>
        <p:spPr>
          <a:xfrm>
            <a:off x="8325000" y="4381560"/>
            <a:ext cx="361440" cy="36144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card-agent-badge-text"/>
          <p:cNvSpPr/>
          <p:nvPr/>
        </p:nvSpPr>
        <p:spPr>
          <a:xfrm>
            <a:off x="8325000" y="4438800"/>
            <a:ext cx="36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card-agent-title"/>
          <p:cNvSpPr/>
          <p:nvPr/>
        </p:nvSpPr>
        <p:spPr>
          <a:xfrm>
            <a:off x="8839080" y="438156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智能体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card-agent-body"/>
          <p:cNvSpPr/>
          <p:nvPr/>
        </p:nvSpPr>
        <p:spPr>
          <a:xfrm>
            <a:off x="8362800" y="4857840"/>
            <a:ext cx="28382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不同角色获得智能体助手，辅助沟通、决策、分析和业务推进。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bottom-note-band"/>
          <p:cNvSpPr/>
          <p:nvPr/>
        </p:nvSpPr>
        <p:spPr>
          <a:xfrm>
            <a:off x="1238400" y="5886360"/>
            <a:ext cx="9715320" cy="361440"/>
          </a:xfrm>
          <a:prstGeom prst="roundRect">
            <a:avLst>
              <a:gd name="adj" fmla="val 15789"/>
            </a:avLst>
          </a:prstGeom>
          <a:solidFill>
            <a:srgbClr val="F4FAFF"/>
          </a:solidFill>
          <a:ln w="11430">
            <a:solidFill>
              <a:srgbClr val="D8E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bottom-note"/>
          <p:cNvSpPr/>
          <p:nvPr/>
        </p:nvSpPr>
        <p:spPr>
          <a:xfrm>
            <a:off x="1428840" y="5952960"/>
            <a:ext cx="93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扩展新业务时，直接复用「资料库 </a:t>
            </a:r>
            <a:r>
              <a:rPr lang="en-US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+ </a:t>
            </a: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空间 </a:t>
            </a:r>
            <a:r>
              <a:rPr lang="en-US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+ </a:t>
            </a: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智能体」的平台底座，减少重复建设。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原生底座由六类平台能力组成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card-Lucky 智能体"/>
          <p:cNvSpPr/>
          <p:nvPr/>
        </p:nvSpPr>
        <p:spPr>
          <a:xfrm>
            <a:off x="552600" y="203832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badge-01"/>
          <p:cNvSpPr/>
          <p:nvPr/>
        </p:nvSpPr>
        <p:spPr>
          <a:xfrm>
            <a:off x="743040" y="222876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badge-text-01"/>
          <p:cNvSpPr/>
          <p:nvPr/>
        </p:nvSpPr>
        <p:spPr>
          <a:xfrm>
            <a:off x="743040" y="227664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card-head-Lucky 智能体"/>
          <p:cNvSpPr/>
          <p:nvPr/>
        </p:nvSpPr>
        <p:spPr>
          <a:xfrm>
            <a:off x="1200240" y="224784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Lucky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智能体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card-body-Lucky 智能体"/>
          <p:cNvSpPr/>
          <p:nvPr/>
        </p:nvSpPr>
        <p:spPr>
          <a:xfrm>
            <a:off x="1200240" y="2666880"/>
            <a:ext cx="2457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面向不同角色提供问答、生成、分析、任务辅助和流程推进能力。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card-资料库"/>
          <p:cNvSpPr/>
          <p:nvPr/>
        </p:nvSpPr>
        <p:spPr>
          <a:xfrm>
            <a:off x="4410000" y="203832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badge-02"/>
          <p:cNvSpPr/>
          <p:nvPr/>
        </p:nvSpPr>
        <p:spPr>
          <a:xfrm>
            <a:off x="4600440" y="222876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badge-text-02"/>
          <p:cNvSpPr/>
          <p:nvPr/>
        </p:nvSpPr>
        <p:spPr>
          <a:xfrm>
            <a:off x="4600440" y="227664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card-head-资料库"/>
          <p:cNvSpPr/>
          <p:nvPr/>
        </p:nvSpPr>
        <p:spPr>
          <a:xfrm>
            <a:off x="5057640" y="224784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资料库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card-body-资料库"/>
          <p:cNvSpPr/>
          <p:nvPr/>
        </p:nvSpPr>
        <p:spPr>
          <a:xfrm>
            <a:off x="5057640" y="2666880"/>
            <a:ext cx="2457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沉淀课程、案例、制度、成果、评价材料，形成可检索、可问答、可生成的知识资产。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card-空间"/>
          <p:cNvSpPr/>
          <p:nvPr/>
        </p:nvSpPr>
        <p:spPr>
          <a:xfrm>
            <a:off x="8267760" y="203832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badge-03"/>
          <p:cNvSpPr/>
          <p:nvPr/>
        </p:nvSpPr>
        <p:spPr>
          <a:xfrm>
            <a:off x="8458200" y="222876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badge-text-03"/>
          <p:cNvSpPr/>
          <p:nvPr/>
        </p:nvSpPr>
        <p:spPr>
          <a:xfrm>
            <a:off x="8458200" y="227664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card-head-空间"/>
          <p:cNvSpPr/>
          <p:nvPr/>
        </p:nvSpPr>
        <p:spPr>
          <a:xfrm>
            <a:off x="8915400" y="224784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空间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card-body-空间"/>
          <p:cNvSpPr/>
          <p:nvPr/>
        </p:nvSpPr>
        <p:spPr>
          <a:xfrm>
            <a:off x="8915400" y="2666880"/>
            <a:ext cx="2457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承载成员、权限、任务、流程、协同、工具和成果，是培训业务过程的统一载体。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card-场景模板"/>
          <p:cNvSpPr/>
          <p:nvPr/>
        </p:nvSpPr>
        <p:spPr>
          <a:xfrm>
            <a:off x="552600" y="382896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badge-04"/>
          <p:cNvSpPr/>
          <p:nvPr/>
        </p:nvSpPr>
        <p:spPr>
          <a:xfrm>
            <a:off x="743040" y="401940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badge-text-04"/>
          <p:cNvSpPr/>
          <p:nvPr/>
        </p:nvSpPr>
        <p:spPr>
          <a:xfrm>
            <a:off x="743040" y="40672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card-head-场景模板"/>
          <p:cNvSpPr/>
          <p:nvPr/>
        </p:nvSpPr>
        <p:spPr>
          <a:xfrm>
            <a:off x="1200240" y="403848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场景模板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card-body-场景模板"/>
          <p:cNvSpPr/>
          <p:nvPr/>
        </p:nvSpPr>
        <p:spPr>
          <a:xfrm>
            <a:off x="1200240" y="4457880"/>
            <a:ext cx="2457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把培训项目、工作坊、校本研修、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通识教学等场景预配置为可复制空间。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card-模型与 Token 统计"/>
          <p:cNvSpPr/>
          <p:nvPr/>
        </p:nvSpPr>
        <p:spPr>
          <a:xfrm>
            <a:off x="4410000" y="382896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badge-05"/>
          <p:cNvSpPr/>
          <p:nvPr/>
        </p:nvSpPr>
        <p:spPr>
          <a:xfrm>
            <a:off x="4600440" y="401940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badge-text-05"/>
          <p:cNvSpPr/>
          <p:nvPr/>
        </p:nvSpPr>
        <p:spPr>
          <a:xfrm>
            <a:off x="4600440" y="40672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card-head-模型与 Token 统计"/>
          <p:cNvSpPr/>
          <p:nvPr/>
        </p:nvSpPr>
        <p:spPr>
          <a:xfrm>
            <a:off x="5057640" y="403848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模型与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Token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统计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card-body-模型与 Token 统计"/>
          <p:cNvSpPr/>
          <p:nvPr/>
        </p:nvSpPr>
        <p:spPr>
          <a:xfrm>
            <a:off x="5057640" y="4457880"/>
            <a:ext cx="2457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计量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调用、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Token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消耗和业务归属，支撑成本核算、用量预警和套餐设计。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card-租户与套餐"/>
          <p:cNvSpPr/>
          <p:nvPr/>
        </p:nvSpPr>
        <p:spPr>
          <a:xfrm>
            <a:off x="8267760" y="3828960"/>
            <a:ext cx="3333240" cy="1380600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badge-06"/>
          <p:cNvSpPr/>
          <p:nvPr/>
        </p:nvSpPr>
        <p:spPr>
          <a:xfrm>
            <a:off x="8458200" y="401940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badge-text-06"/>
          <p:cNvSpPr/>
          <p:nvPr/>
        </p:nvSpPr>
        <p:spPr>
          <a:xfrm>
            <a:off x="8458200" y="40672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card-head-租户与套餐"/>
          <p:cNvSpPr/>
          <p:nvPr/>
        </p:nvSpPr>
        <p:spPr>
          <a:xfrm>
            <a:off x="8915400" y="403848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租户、套餐、解决方案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card-body-租户与套餐"/>
          <p:cNvSpPr/>
          <p:nvPr/>
        </p:nvSpPr>
        <p:spPr>
          <a:xfrm>
            <a:off x="8915400" y="4457880"/>
            <a:ext cx="2457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支持教育局、学校、培训机构独立运营，按方案、资源、服务和算力组合交付。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总体架构：</a:t>
            </a:r>
            <a:r>
              <a:rPr lang="en-US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原生底座横向赋能全部培训子系统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ub-0"/>
          <p:cNvSpPr/>
          <p:nvPr/>
        </p:nvSpPr>
        <p:spPr>
          <a:xfrm>
            <a:off x="743040" y="2019240"/>
            <a:ext cx="1771200" cy="99972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ub-text-0"/>
          <p:cNvSpPr/>
          <p:nvPr/>
        </p:nvSpPr>
        <p:spPr>
          <a:xfrm>
            <a:off x="876240" y="2305080"/>
            <a:ext cx="1504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培训信息管理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ub-1"/>
          <p:cNvSpPr/>
          <p:nvPr/>
        </p:nvSpPr>
        <p:spPr>
          <a:xfrm>
            <a:off x="2952720" y="2019240"/>
            <a:ext cx="1771200" cy="99972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ub-text-1"/>
          <p:cNvSpPr/>
          <p:nvPr/>
        </p:nvSpPr>
        <p:spPr>
          <a:xfrm>
            <a:off x="3086280" y="2305080"/>
            <a:ext cx="1504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研修活动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ub-2"/>
          <p:cNvSpPr/>
          <p:nvPr/>
        </p:nvSpPr>
        <p:spPr>
          <a:xfrm>
            <a:off x="5162400" y="2019240"/>
            <a:ext cx="1771200" cy="9997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ub-text-2"/>
          <p:cNvSpPr/>
          <p:nvPr/>
        </p:nvSpPr>
        <p:spPr>
          <a:xfrm>
            <a:off x="5295960" y="2305080"/>
            <a:ext cx="1504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培训评估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ub-3"/>
          <p:cNvSpPr/>
          <p:nvPr/>
        </p:nvSpPr>
        <p:spPr>
          <a:xfrm>
            <a:off x="7372440" y="2019240"/>
            <a:ext cx="1771200" cy="99972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ub-text-3"/>
          <p:cNvSpPr/>
          <p:nvPr/>
        </p:nvSpPr>
        <p:spPr>
          <a:xfrm>
            <a:off x="7505640" y="2305080"/>
            <a:ext cx="1504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教师档案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ub-4"/>
          <p:cNvSpPr/>
          <p:nvPr/>
        </p:nvSpPr>
        <p:spPr>
          <a:xfrm>
            <a:off x="9582120" y="2019240"/>
            <a:ext cx="1771200" cy="99972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ub-text-4"/>
          <p:cNvSpPr/>
          <p:nvPr/>
        </p:nvSpPr>
        <p:spPr>
          <a:xfrm>
            <a:off x="9715680" y="2305080"/>
            <a:ext cx="1504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用户推荐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ai-base"/>
          <p:cNvSpPr/>
          <p:nvPr/>
        </p:nvSpPr>
        <p:spPr>
          <a:xfrm>
            <a:off x="743040" y="4000680"/>
            <a:ext cx="10572480" cy="138060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base-title"/>
          <p:cNvSpPr/>
          <p:nvPr/>
        </p:nvSpPr>
        <p:spPr>
          <a:xfrm>
            <a:off x="1028880" y="42480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 AI </a:t>
            </a:r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原生底座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ill-Lucky 智能体"/>
          <p:cNvSpPr/>
          <p:nvPr/>
        </p:nvSpPr>
        <p:spPr>
          <a:xfrm>
            <a:off x="3638520" y="4257720"/>
            <a:ext cx="1047240" cy="342720"/>
          </a:xfrm>
          <a:prstGeom prst="roundRect">
            <a:avLst>
              <a:gd name="adj" fmla="val 16667"/>
            </a:avLst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pill-text-Lucky 智能体"/>
          <p:cNvSpPr/>
          <p:nvPr/>
        </p:nvSpPr>
        <p:spPr>
          <a:xfrm>
            <a:off x="3714840" y="4314960"/>
            <a:ext cx="8949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Lucky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智能体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ill-资料库"/>
          <p:cNvSpPr/>
          <p:nvPr/>
        </p:nvSpPr>
        <p:spPr>
          <a:xfrm>
            <a:off x="4838760" y="4257720"/>
            <a:ext cx="1047240" cy="34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ill-text-资料库"/>
          <p:cNvSpPr/>
          <p:nvPr/>
        </p:nvSpPr>
        <p:spPr>
          <a:xfrm>
            <a:off x="4915080" y="4314960"/>
            <a:ext cx="8949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资料库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ill-空间"/>
          <p:cNvSpPr/>
          <p:nvPr/>
        </p:nvSpPr>
        <p:spPr>
          <a:xfrm>
            <a:off x="6039000" y="4257720"/>
            <a:ext cx="1047240" cy="34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ill-text-空间"/>
          <p:cNvSpPr/>
          <p:nvPr/>
        </p:nvSpPr>
        <p:spPr>
          <a:xfrm>
            <a:off x="6114960" y="4314960"/>
            <a:ext cx="8949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空间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ill-场景模板"/>
          <p:cNvSpPr/>
          <p:nvPr/>
        </p:nvSpPr>
        <p:spPr>
          <a:xfrm>
            <a:off x="7238880" y="4257720"/>
            <a:ext cx="1047240" cy="34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ill-text-场景模板"/>
          <p:cNvSpPr/>
          <p:nvPr/>
        </p:nvSpPr>
        <p:spPr>
          <a:xfrm>
            <a:off x="7315200" y="4314960"/>
            <a:ext cx="8949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场景模板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ill-模型统计"/>
          <p:cNvSpPr/>
          <p:nvPr/>
        </p:nvSpPr>
        <p:spPr>
          <a:xfrm>
            <a:off x="8439120" y="4257720"/>
            <a:ext cx="1047240" cy="34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ill-text-模型统计"/>
          <p:cNvSpPr/>
          <p:nvPr/>
        </p:nvSpPr>
        <p:spPr>
          <a:xfrm>
            <a:off x="8515440" y="4314960"/>
            <a:ext cx="8949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大模型治理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ill-租户/套餐"/>
          <p:cNvSpPr/>
          <p:nvPr/>
        </p:nvSpPr>
        <p:spPr>
          <a:xfrm>
            <a:off x="9639360" y="4257720"/>
            <a:ext cx="1375560" cy="34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ill-text-租户/套餐"/>
          <p:cNvSpPr/>
          <p:nvPr/>
        </p:nvSpPr>
        <p:spPr>
          <a:xfrm>
            <a:off x="9715680" y="4314960"/>
            <a:ext cx="12441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租户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套餐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解决方案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base-note"/>
          <p:cNvSpPr/>
          <p:nvPr/>
        </p:nvSpPr>
        <p:spPr>
          <a:xfrm>
            <a:off x="1028880" y="4876920"/>
            <a:ext cx="9524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0" u="none" strike="noStrike">
                <a:solidFill>
                  <a:srgbClr val="E5E7EB"/>
                </a:solidFill>
                <a:effectLst/>
                <a:uFillTx/>
                <a:latin typeface="PingFang SC"/>
                <a:ea typeface="PingFang SC"/>
              </a:rPr>
              <a:t>底座能力不是单点功能，而是为每个培训业务模块提供默认智能能力、知识资产能力和数据运营能力。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line"/>
          <p:cNvSpPr/>
          <p:nvPr/>
        </p:nvSpPr>
        <p:spPr>
          <a:xfrm>
            <a:off x="1628640" y="3133800"/>
            <a:ext cx="18720" cy="771120"/>
          </a:xfrm>
          <a:prstGeom prst="rect">
            <a:avLst/>
          </a:prstGeom>
          <a:solidFill>
            <a:srgbClr val="2F8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arrow"/>
          <p:cNvSpPr/>
          <p:nvPr/>
        </p:nvSpPr>
        <p:spPr>
          <a:xfrm>
            <a:off x="1542960" y="3067200"/>
            <a:ext cx="171000" cy="132840"/>
          </a:xfrm>
          <a:prstGeom prst="triangle">
            <a:avLst>
              <a:gd name="adj" fmla="val 5000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line"/>
          <p:cNvSpPr/>
          <p:nvPr/>
        </p:nvSpPr>
        <p:spPr>
          <a:xfrm>
            <a:off x="3838680" y="3133800"/>
            <a:ext cx="18720" cy="771120"/>
          </a:xfrm>
          <a:prstGeom prst="rect">
            <a:avLst/>
          </a:prstGeom>
          <a:solidFill>
            <a:srgbClr val="2F8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arrow"/>
          <p:cNvSpPr/>
          <p:nvPr/>
        </p:nvSpPr>
        <p:spPr>
          <a:xfrm>
            <a:off x="3753000" y="3067200"/>
            <a:ext cx="171000" cy="132840"/>
          </a:xfrm>
          <a:prstGeom prst="triangle">
            <a:avLst>
              <a:gd name="adj" fmla="val 5000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line"/>
          <p:cNvSpPr/>
          <p:nvPr/>
        </p:nvSpPr>
        <p:spPr>
          <a:xfrm>
            <a:off x="6048360" y="3133800"/>
            <a:ext cx="18720" cy="771120"/>
          </a:xfrm>
          <a:prstGeom prst="rect">
            <a:avLst/>
          </a:prstGeom>
          <a:solidFill>
            <a:srgbClr val="2F8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arrow"/>
          <p:cNvSpPr/>
          <p:nvPr/>
        </p:nvSpPr>
        <p:spPr>
          <a:xfrm>
            <a:off x="5962680" y="3067200"/>
            <a:ext cx="171000" cy="132840"/>
          </a:xfrm>
          <a:prstGeom prst="triangle">
            <a:avLst>
              <a:gd name="adj" fmla="val 5000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line"/>
          <p:cNvSpPr/>
          <p:nvPr/>
        </p:nvSpPr>
        <p:spPr>
          <a:xfrm>
            <a:off x="8258040" y="3133800"/>
            <a:ext cx="18720" cy="771120"/>
          </a:xfrm>
          <a:prstGeom prst="rect">
            <a:avLst/>
          </a:prstGeom>
          <a:solidFill>
            <a:srgbClr val="2F8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arrow"/>
          <p:cNvSpPr/>
          <p:nvPr/>
        </p:nvSpPr>
        <p:spPr>
          <a:xfrm>
            <a:off x="8172360" y="3067200"/>
            <a:ext cx="171000" cy="132840"/>
          </a:xfrm>
          <a:prstGeom prst="triangle">
            <a:avLst>
              <a:gd name="adj" fmla="val 5000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line"/>
          <p:cNvSpPr/>
          <p:nvPr/>
        </p:nvSpPr>
        <p:spPr>
          <a:xfrm>
            <a:off x="10468080" y="3133800"/>
            <a:ext cx="18720" cy="771120"/>
          </a:xfrm>
          <a:prstGeom prst="rect">
            <a:avLst/>
          </a:prstGeom>
          <a:solidFill>
            <a:srgbClr val="2F8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arrow"/>
          <p:cNvSpPr/>
          <p:nvPr/>
        </p:nvSpPr>
        <p:spPr>
          <a:xfrm>
            <a:off x="10382400" y="3067200"/>
            <a:ext cx="171000" cy="132840"/>
          </a:xfrm>
          <a:prstGeom prst="triangle">
            <a:avLst>
              <a:gd name="adj" fmla="val 50000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19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赋能“培训信息管理”：</a:t>
            </a:r>
            <a:r>
              <a:rPr lang="en-US" sz="27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27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辅助项目、报名、审核和费用治理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card-项目方案生成"/>
          <p:cNvSpPr/>
          <p:nvPr/>
        </p:nvSpPr>
        <p:spPr>
          <a:xfrm>
            <a:off x="571680" y="2114640"/>
            <a:ext cx="3333240" cy="1466640"/>
          </a:xfrm>
          <a:prstGeom prst="roundRect">
            <a:avLst>
              <a:gd name="adj" fmla="val 3896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badge-01"/>
          <p:cNvSpPr/>
          <p:nvPr/>
        </p:nvSpPr>
        <p:spPr>
          <a:xfrm>
            <a:off x="762120" y="23050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badge-text-01"/>
          <p:cNvSpPr/>
          <p:nvPr/>
        </p:nvSpPr>
        <p:spPr>
          <a:xfrm>
            <a:off x="762120" y="235260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card-head-项目方案生成"/>
          <p:cNvSpPr/>
          <p:nvPr/>
        </p:nvSpPr>
        <p:spPr>
          <a:xfrm>
            <a:off x="1219320" y="232416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项目与课程计划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card-body-项目方案生成"/>
          <p:cNvSpPr/>
          <p:nvPr/>
        </p:nvSpPr>
        <p:spPr>
          <a:xfrm>
            <a:off x="1219320" y="2743200"/>
            <a:ext cx="24570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基于培训目标、对象、周期和课程资源，辅助生成项目方案、课程计划、日程安排和班级设置。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ard-资源自动编目"/>
          <p:cNvSpPr/>
          <p:nvPr/>
        </p:nvSpPr>
        <p:spPr>
          <a:xfrm>
            <a:off x="4429080" y="2114640"/>
            <a:ext cx="3333240" cy="146664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badge-02"/>
          <p:cNvSpPr/>
          <p:nvPr/>
        </p:nvSpPr>
        <p:spPr>
          <a:xfrm>
            <a:off x="4619520" y="23050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badge-text-02"/>
          <p:cNvSpPr/>
          <p:nvPr/>
        </p:nvSpPr>
        <p:spPr>
          <a:xfrm>
            <a:off x="4619520" y="235260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card-head-资源自动编目"/>
          <p:cNvSpPr/>
          <p:nvPr/>
        </p:nvSpPr>
        <p:spPr>
          <a:xfrm>
            <a:off x="5076720" y="232416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报名审核与组织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card-body-资源自动编目"/>
          <p:cNvSpPr/>
          <p:nvPr/>
        </p:nvSpPr>
        <p:spPr>
          <a:xfrm>
            <a:off x="5076720" y="2743200"/>
            <a:ext cx="24570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根据报名条件、名额规则和人员数据，辅助生成招生通知、审核意见、名单校验和分班建议。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card-运营助手"/>
          <p:cNvSpPr/>
          <p:nvPr/>
        </p:nvSpPr>
        <p:spPr>
          <a:xfrm>
            <a:off x="8286840" y="2114640"/>
            <a:ext cx="3333240" cy="146664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badge-03"/>
          <p:cNvSpPr/>
          <p:nvPr/>
        </p:nvSpPr>
        <p:spPr>
          <a:xfrm>
            <a:off x="8477280" y="23050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badge-text-03"/>
          <p:cNvSpPr/>
          <p:nvPr/>
        </p:nvSpPr>
        <p:spPr>
          <a:xfrm>
            <a:off x="8477280" y="235260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card-head-运营助手"/>
          <p:cNvSpPr/>
          <p:nvPr/>
        </p:nvSpPr>
        <p:spPr>
          <a:xfrm>
            <a:off x="8934480" y="2324160"/>
            <a:ext cx="2457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费用与台账治理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card-body-运营助手"/>
          <p:cNvSpPr/>
          <p:nvPr/>
        </p:nvSpPr>
        <p:spPr>
          <a:xfrm>
            <a:off x="8934480" y="2743200"/>
            <a:ext cx="24570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围绕费用标准、缴费状态、项目进度和通知任务，自动汇总台账、发现异常并生成统计报表。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flow"/>
          <p:cNvSpPr/>
          <p:nvPr/>
        </p:nvSpPr>
        <p:spPr>
          <a:xfrm>
            <a:off x="677520" y="4629240"/>
            <a:ext cx="10645560" cy="666360"/>
          </a:xfrm>
          <a:prstGeom prst="roundRect">
            <a:avLst>
              <a:gd name="adj" fmla="val 8571"/>
            </a:avLst>
          </a:prstGeom>
          <a:solidFill>
            <a:srgbClr val="EAF5FB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flow-text"/>
          <p:cNvSpPr/>
          <p:nvPr/>
        </p:nvSpPr>
        <p:spPr>
          <a:xfrm>
            <a:off x="1343520" y="4829040"/>
            <a:ext cx="9487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输入：培训目标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对象名单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课程资源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报名条件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费用规则  → 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信息编排与校验  →  输出：项目计划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招生通知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审核名单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费用台账 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统计报表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赋能“研修活动”：空间承载过程，智能体陪伴学习与实训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tep-0"/>
          <p:cNvSpPr/>
          <p:nvPr/>
        </p:nvSpPr>
        <p:spPr>
          <a:xfrm>
            <a:off x="704880" y="2286000"/>
            <a:ext cx="2238120" cy="199980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tep-num-0"/>
          <p:cNvSpPr/>
          <p:nvPr/>
        </p:nvSpPr>
        <p:spPr>
          <a:xfrm>
            <a:off x="914400" y="2476440"/>
            <a:ext cx="47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tep-head-0"/>
          <p:cNvSpPr/>
          <p:nvPr/>
        </p:nvSpPr>
        <p:spPr>
          <a:xfrm>
            <a:off x="914400" y="289548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线上学习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tep-body-0"/>
          <p:cNvSpPr/>
          <p:nvPr/>
        </p:nvSpPr>
        <p:spPr>
          <a:xfrm>
            <a:off x="933480" y="3448080"/>
            <a:ext cx="17712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资料问答、课程导学、知识点解释、学习提醒。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tep-1"/>
          <p:cNvSpPr/>
          <p:nvPr/>
        </p:nvSpPr>
        <p:spPr>
          <a:xfrm>
            <a:off x="3543480" y="2286000"/>
            <a:ext cx="2238120" cy="199980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tep-num-1"/>
          <p:cNvSpPr/>
          <p:nvPr/>
        </p:nvSpPr>
        <p:spPr>
          <a:xfrm>
            <a:off x="3753000" y="2476440"/>
            <a:ext cx="47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tep-head-1"/>
          <p:cNvSpPr/>
          <p:nvPr/>
        </p:nvSpPr>
        <p:spPr>
          <a:xfrm>
            <a:off x="3753000" y="289548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线下工作坊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tep-body-1"/>
          <p:cNvSpPr/>
          <p:nvPr/>
        </p:nvSpPr>
        <p:spPr>
          <a:xfrm>
            <a:off x="3772080" y="3448080"/>
            <a:ext cx="17712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任务分发、实操指导、现场问题答疑、成果点评记录。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tep-2"/>
          <p:cNvSpPr/>
          <p:nvPr/>
        </p:nvSpPr>
        <p:spPr>
          <a:xfrm>
            <a:off x="6381720" y="2286000"/>
            <a:ext cx="2238120" cy="199980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tep-num-2"/>
          <p:cNvSpPr/>
          <p:nvPr/>
        </p:nvSpPr>
        <p:spPr>
          <a:xfrm>
            <a:off x="6591240" y="2476440"/>
            <a:ext cx="47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tep-head-2"/>
          <p:cNvSpPr/>
          <p:nvPr/>
        </p:nvSpPr>
        <p:spPr>
          <a:xfrm>
            <a:off x="6591240" y="289548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协同研修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tep-body-2"/>
          <p:cNvSpPr/>
          <p:nvPr/>
        </p:nvSpPr>
        <p:spPr>
          <a:xfrm>
            <a:off x="6610320" y="3448080"/>
            <a:ext cx="17712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小组讨论总结、案例共创、课例打磨、研究资料整理。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tep-3"/>
          <p:cNvSpPr/>
          <p:nvPr/>
        </p:nvSpPr>
        <p:spPr>
          <a:xfrm>
            <a:off x="9220320" y="2286000"/>
            <a:ext cx="2238120" cy="199980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tep-num-3"/>
          <p:cNvSpPr/>
          <p:nvPr/>
        </p:nvSpPr>
        <p:spPr>
          <a:xfrm>
            <a:off x="9429840" y="2476440"/>
            <a:ext cx="47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tep-head-3"/>
          <p:cNvSpPr/>
          <p:nvPr/>
        </p:nvSpPr>
        <p:spPr>
          <a:xfrm>
            <a:off x="9429840" y="289548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成果沉淀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tep-body-3"/>
          <p:cNvSpPr/>
          <p:nvPr/>
        </p:nvSpPr>
        <p:spPr>
          <a:xfrm>
            <a:off x="9448920" y="3448080"/>
            <a:ext cx="17712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作业摘要、成果标签、优秀案例推荐和复用。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note"/>
          <p:cNvSpPr/>
          <p:nvPr/>
        </p:nvSpPr>
        <p:spPr>
          <a:xfrm>
            <a:off x="1066680" y="5219640"/>
            <a:ext cx="10000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关键变化：培训空间不只是页面容器，而是成员、任务、资料、智能体、成果和评价数据的统一业务现场。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赋能“培训评估”：</a:t>
            </a:r>
            <a:r>
              <a:rPr lang="en-US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+ </a:t>
            </a: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大数据辅助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eval-data-panel"/>
          <p:cNvSpPr/>
          <p:nvPr/>
        </p:nvSpPr>
        <p:spPr>
          <a:xfrm>
            <a:off x="723960" y="2076480"/>
            <a:ext cx="2351520" cy="28144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1430">
            <a:solidFill>
              <a:srgbClr val="D6DA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eval-data-badge"/>
          <p:cNvSpPr/>
          <p:nvPr/>
        </p:nvSpPr>
        <p:spPr>
          <a:xfrm>
            <a:off x="990720" y="2266920"/>
            <a:ext cx="1809360" cy="361440"/>
          </a:xfrm>
          <a:prstGeom prst="roundRect">
            <a:avLst>
              <a:gd name="adj" fmla="val 15789"/>
            </a:avLst>
          </a:prstGeom>
          <a:solidFill>
            <a:srgbClr val="2F83FF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eval-data-badge-text"/>
          <p:cNvSpPr/>
          <p:nvPr/>
        </p:nvSpPr>
        <p:spPr>
          <a:xfrm>
            <a:off x="1066680" y="2324160"/>
            <a:ext cx="16570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大数据（埋点）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eval-data-pill-1"/>
          <p:cNvSpPr/>
          <p:nvPr/>
        </p:nvSpPr>
        <p:spPr>
          <a:xfrm>
            <a:off x="1009800" y="2800440"/>
            <a:ext cx="1790280" cy="32364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eval-data-pill-1-text"/>
          <p:cNvSpPr/>
          <p:nvPr/>
        </p:nvSpPr>
        <p:spPr>
          <a:xfrm>
            <a:off x="1085760" y="283860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签到 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互动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eval-data-pill-2"/>
          <p:cNvSpPr/>
          <p:nvPr/>
        </p:nvSpPr>
        <p:spPr>
          <a:xfrm>
            <a:off x="1009800" y="3200400"/>
            <a:ext cx="1790280" cy="32364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eval-data-pill-2-text"/>
          <p:cNvSpPr/>
          <p:nvPr/>
        </p:nvSpPr>
        <p:spPr>
          <a:xfrm>
            <a:off x="1085760" y="323856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任务 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问卷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eval-data-pill-3"/>
          <p:cNvSpPr/>
          <p:nvPr/>
        </p:nvSpPr>
        <p:spPr>
          <a:xfrm>
            <a:off x="1009800" y="3600360"/>
            <a:ext cx="1790280" cy="32364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eval-data-pill-3-text"/>
          <p:cNvSpPr/>
          <p:nvPr/>
        </p:nvSpPr>
        <p:spPr>
          <a:xfrm>
            <a:off x="1085760" y="363852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课堂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/</a:t>
            </a: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研讨行为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eval-data-pill-4"/>
          <p:cNvSpPr/>
          <p:nvPr/>
        </p:nvSpPr>
        <p:spPr>
          <a:xfrm>
            <a:off x="1009800" y="4000680"/>
            <a:ext cx="1790280" cy="32364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eval-data-pill-4-text"/>
          <p:cNvSpPr/>
          <p:nvPr/>
        </p:nvSpPr>
        <p:spPr>
          <a:xfrm>
            <a:off x="1085760" y="403848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成果材料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eval-data-pill-5"/>
          <p:cNvSpPr/>
          <p:nvPr/>
        </p:nvSpPr>
        <p:spPr>
          <a:xfrm>
            <a:off x="1009800" y="4400640"/>
            <a:ext cx="1790280" cy="32364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eval-data-pill-5-text"/>
          <p:cNvSpPr/>
          <p:nvPr/>
        </p:nvSpPr>
        <p:spPr>
          <a:xfrm>
            <a:off x="1085760" y="4438800"/>
            <a:ext cx="1638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专家意见 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280" b="1" u="none" strike="noStrike">
                <a:solidFill>
                  <a:srgbClr val="111827"/>
                </a:solidFill>
                <a:effectLst/>
                <a:uFillTx/>
                <a:latin typeface="PingFang SC"/>
                <a:ea typeface="PingFang SC"/>
              </a:rPr>
              <a:t>规则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eval-arrow-data-to-ai"/>
          <p:cNvSpPr/>
          <p:nvPr/>
        </p:nvSpPr>
        <p:spPr>
          <a:xfrm>
            <a:off x="3238560" y="3286080"/>
            <a:ext cx="11617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eval-arrow-label-1"/>
          <p:cNvSpPr/>
          <p:nvPr/>
        </p:nvSpPr>
        <p:spPr>
          <a:xfrm>
            <a:off x="3295800" y="3009960"/>
            <a:ext cx="102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过程留痕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eval-ai-oval"/>
          <p:cNvSpPr/>
          <p:nvPr/>
        </p:nvSpPr>
        <p:spPr>
          <a:xfrm>
            <a:off x="4514760" y="2209680"/>
            <a:ext cx="3276360" cy="2095200"/>
          </a:xfrm>
          <a:prstGeom prst="ellipse">
            <a:avLst/>
          </a:prstGeom>
          <a:solidFill>
            <a:srgbClr val="EAF5FB"/>
          </a:solidFill>
          <a:ln w="11430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eval-ai-title"/>
          <p:cNvSpPr/>
          <p:nvPr/>
        </p:nvSpPr>
        <p:spPr>
          <a:xfrm>
            <a:off x="4971960" y="2685960"/>
            <a:ext cx="23619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+ </a:t>
            </a: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大数据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评估辅助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eval-ai-body"/>
          <p:cNvSpPr/>
          <p:nvPr/>
        </p:nvSpPr>
        <p:spPr>
          <a:xfrm>
            <a:off x="4991040" y="3352680"/>
            <a:ext cx="23238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埋点分析 </a:t>
            </a: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证据归集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指标匹配 </a:t>
            </a: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报告草稿 </a:t>
            </a: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/ </a:t>
            </a: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风险提示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eval-arrow-ai-to-human"/>
          <p:cNvSpPr/>
          <p:nvPr/>
        </p:nvSpPr>
        <p:spPr>
          <a:xfrm>
            <a:off x="8020080" y="3286080"/>
            <a:ext cx="114264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eval-arrow-label-2"/>
          <p:cNvSpPr/>
          <p:nvPr/>
        </p:nvSpPr>
        <p:spPr>
          <a:xfrm>
            <a:off x="8077320" y="3009960"/>
            <a:ext cx="102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建议生成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eval-human-panel"/>
          <p:cNvSpPr/>
          <p:nvPr/>
        </p:nvSpPr>
        <p:spPr>
          <a:xfrm>
            <a:off x="9391680" y="2266920"/>
            <a:ext cx="2323800" cy="1961640"/>
          </a:xfrm>
          <a:prstGeom prst="roundRect">
            <a:avLst>
              <a:gd name="adj" fmla="val 2913"/>
            </a:avLst>
          </a:prstGeom>
          <a:solidFill>
            <a:srgbClr val="EAF5FB"/>
          </a:solidFill>
          <a:ln w="11430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eval-human-title"/>
          <p:cNvSpPr/>
          <p:nvPr/>
        </p:nvSpPr>
        <p:spPr>
          <a:xfrm>
            <a:off x="9658440" y="2533680"/>
            <a:ext cx="1790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2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人工确认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eval-human-body"/>
          <p:cNvSpPr/>
          <p:nvPr/>
        </p:nvSpPr>
        <p:spPr>
          <a:xfrm>
            <a:off x="9658440" y="3029040"/>
            <a:ext cx="179028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人工复核评分、等级、评语和结论。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仅提供辅助建议。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eval-bottom"/>
          <p:cNvSpPr/>
          <p:nvPr/>
        </p:nvSpPr>
        <p:spPr>
          <a:xfrm>
            <a:off x="914400" y="5200560"/>
            <a:ext cx="1036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E97132"/>
                </a:solidFill>
                <a:effectLst/>
                <a:uFillTx/>
                <a:latin typeface="PingFang SC"/>
                <a:ea typeface="PingFang SC"/>
              </a:rPr>
              <a:t>边界原则：埋点数据用于过程证据，</a:t>
            </a:r>
            <a:r>
              <a:rPr lang="en-US" sz="1800" b="1" u="none" strike="noStrike">
                <a:solidFill>
                  <a:srgbClr val="E9713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1" u="none" strike="noStrike">
                <a:solidFill>
                  <a:srgbClr val="E97132"/>
                </a:solidFill>
                <a:effectLst/>
                <a:uFillTx/>
                <a:latin typeface="PingFang SC"/>
                <a:ea typeface="PingFang SC"/>
              </a:rPr>
              <a:t>只做整理与建议；最终评分、等级和结论由人工确认。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赋能“教师档案与用户推荐”：让培训结果进入下一轮发展服务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archive"/>
          <p:cNvSpPr/>
          <p:nvPr/>
        </p:nvSpPr>
        <p:spPr>
          <a:xfrm>
            <a:off x="628560" y="2190600"/>
            <a:ext cx="2841120" cy="2588400"/>
          </a:xfrm>
          <a:prstGeom prst="roundRect">
            <a:avLst>
              <a:gd name="adj" fmla="val 2308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archive-title"/>
          <p:cNvSpPr/>
          <p:nvPr/>
        </p:nvSpPr>
        <p:spPr>
          <a:xfrm>
            <a:off x="914400" y="249552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教师档案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pill-培训记录"/>
          <p:cNvSpPr/>
          <p:nvPr/>
        </p:nvSpPr>
        <p:spPr>
          <a:xfrm>
            <a:off x="1066680" y="3086280"/>
            <a:ext cx="199980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ill-text-培训记录"/>
          <p:cNvSpPr/>
          <p:nvPr/>
        </p:nvSpPr>
        <p:spPr>
          <a:xfrm>
            <a:off x="1143000" y="3143160"/>
            <a:ext cx="184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培训记录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ill-成果材料"/>
          <p:cNvSpPr/>
          <p:nvPr/>
        </p:nvSpPr>
        <p:spPr>
          <a:xfrm>
            <a:off x="1066680" y="3486240"/>
            <a:ext cx="199980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ill-text-成果材料"/>
          <p:cNvSpPr/>
          <p:nvPr/>
        </p:nvSpPr>
        <p:spPr>
          <a:xfrm>
            <a:off x="1143000" y="3543480"/>
            <a:ext cx="184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成果材料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ill-评价结果"/>
          <p:cNvSpPr/>
          <p:nvPr/>
        </p:nvSpPr>
        <p:spPr>
          <a:xfrm>
            <a:off x="1066680" y="3886200"/>
            <a:ext cx="199980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ill-text-评价结果"/>
          <p:cNvSpPr/>
          <p:nvPr/>
        </p:nvSpPr>
        <p:spPr>
          <a:xfrm>
            <a:off x="1143000" y="3943440"/>
            <a:ext cx="184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评价结果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ill-成长轨迹"/>
          <p:cNvSpPr/>
          <p:nvPr/>
        </p:nvSpPr>
        <p:spPr>
          <a:xfrm>
            <a:off x="1066680" y="4286160"/>
            <a:ext cx="199980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ill-text-成长轨迹"/>
          <p:cNvSpPr/>
          <p:nvPr/>
        </p:nvSpPr>
        <p:spPr>
          <a:xfrm>
            <a:off x="1143000" y="4343400"/>
            <a:ext cx="184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成长轨迹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line"/>
          <p:cNvSpPr/>
          <p:nvPr/>
        </p:nvSpPr>
        <p:spPr>
          <a:xfrm>
            <a:off x="3772080" y="3429000"/>
            <a:ext cx="1218960" cy="2808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ortrait"/>
          <p:cNvSpPr/>
          <p:nvPr/>
        </p:nvSpPr>
        <p:spPr>
          <a:xfrm>
            <a:off x="5143680" y="2381400"/>
            <a:ext cx="1999800" cy="1999800"/>
          </a:xfrm>
          <a:prstGeom prst="ellipse">
            <a:avLst/>
          </a:prstGeom>
          <a:solidFill>
            <a:srgbClr val="EAF5FB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ortrait-text"/>
          <p:cNvSpPr/>
          <p:nvPr/>
        </p:nvSpPr>
        <p:spPr>
          <a:xfrm>
            <a:off x="5524560" y="2971800"/>
            <a:ext cx="12380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画像与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能力诊断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line"/>
          <p:cNvSpPr/>
          <p:nvPr/>
        </p:nvSpPr>
        <p:spPr>
          <a:xfrm>
            <a:off x="7391520" y="3429000"/>
            <a:ext cx="1218960" cy="2808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arrow"/>
          <p:cNvSpPr/>
          <p:nvPr/>
        </p:nvSpPr>
        <p:spPr>
          <a:xfrm rot="5400000">
            <a:off x="8518320" y="332928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ommend"/>
          <p:cNvSpPr/>
          <p:nvPr/>
        </p:nvSpPr>
        <p:spPr>
          <a:xfrm>
            <a:off x="8858160" y="2190600"/>
            <a:ext cx="2763720" cy="2603160"/>
          </a:xfrm>
          <a:prstGeom prst="roundRect">
            <a:avLst>
              <a:gd name="adj" fmla="val 2308"/>
            </a:avLst>
          </a:prstGeom>
          <a:solidFill>
            <a:srgbClr val="111111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rec-title"/>
          <p:cNvSpPr/>
          <p:nvPr/>
        </p:nvSpPr>
        <p:spPr>
          <a:xfrm>
            <a:off x="9182160" y="2495520"/>
            <a:ext cx="2076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推荐服务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ill-课程推荐"/>
          <p:cNvSpPr/>
          <p:nvPr/>
        </p:nvSpPr>
        <p:spPr>
          <a:xfrm>
            <a:off x="9258480" y="3086280"/>
            <a:ext cx="192384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ill-text-课程推荐"/>
          <p:cNvSpPr/>
          <p:nvPr/>
        </p:nvSpPr>
        <p:spPr>
          <a:xfrm>
            <a:off x="9334440" y="3143160"/>
            <a:ext cx="1771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课程推荐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ill-活动推荐"/>
          <p:cNvSpPr/>
          <p:nvPr/>
        </p:nvSpPr>
        <p:spPr>
          <a:xfrm>
            <a:off x="9258480" y="3486240"/>
            <a:ext cx="192384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ill-text-活动推荐"/>
          <p:cNvSpPr/>
          <p:nvPr/>
        </p:nvSpPr>
        <p:spPr>
          <a:xfrm>
            <a:off x="9334440" y="3543480"/>
            <a:ext cx="1771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活动推荐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ill-资源推荐"/>
          <p:cNvSpPr/>
          <p:nvPr/>
        </p:nvSpPr>
        <p:spPr>
          <a:xfrm>
            <a:off x="9258480" y="3886200"/>
            <a:ext cx="192384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ill-text-资源推荐"/>
          <p:cNvSpPr/>
          <p:nvPr/>
        </p:nvSpPr>
        <p:spPr>
          <a:xfrm>
            <a:off x="9334440" y="3943440"/>
            <a:ext cx="1771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资源推荐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ill-路径推荐"/>
          <p:cNvSpPr/>
          <p:nvPr/>
        </p:nvSpPr>
        <p:spPr>
          <a:xfrm>
            <a:off x="9258480" y="4286160"/>
            <a:ext cx="1923840" cy="28548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pill-text-路径推荐"/>
          <p:cNvSpPr/>
          <p:nvPr/>
        </p:nvSpPr>
        <p:spPr>
          <a:xfrm>
            <a:off x="9334440" y="4343400"/>
            <a:ext cx="1771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路径推荐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note"/>
          <p:cNvSpPr/>
          <p:nvPr/>
        </p:nvSpPr>
        <p:spPr>
          <a:xfrm>
            <a:off x="1352520" y="5315040"/>
            <a:ext cx="9524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原生底座把“评价发现问题”转化为“推荐推动改进”，形成持续培训闭环。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arrow"/>
          <p:cNvSpPr/>
          <p:nvPr/>
        </p:nvSpPr>
        <p:spPr>
          <a:xfrm rot="5400000">
            <a:off x="4874040" y="333180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智能体矩阵覆盖培训平台中的所有角色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card-教师智能助理"/>
          <p:cNvSpPr/>
          <p:nvPr/>
        </p:nvSpPr>
        <p:spPr>
          <a:xfrm>
            <a:off x="609480" y="2247840"/>
            <a:ext cx="1923840" cy="2238120"/>
          </a:xfrm>
          <a:prstGeom prst="roundRect">
            <a:avLst>
              <a:gd name="adj" fmla="val 2970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badge-01"/>
          <p:cNvSpPr/>
          <p:nvPr/>
        </p:nvSpPr>
        <p:spPr>
          <a:xfrm>
            <a:off x="800280" y="24382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badge-text-01"/>
          <p:cNvSpPr/>
          <p:nvPr/>
        </p:nvSpPr>
        <p:spPr>
          <a:xfrm>
            <a:off x="800280" y="248616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card-head-教师智能助理"/>
          <p:cNvSpPr/>
          <p:nvPr/>
        </p:nvSpPr>
        <p:spPr>
          <a:xfrm>
            <a:off x="1257480" y="2457360"/>
            <a:ext cx="116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教师智能助理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card-body-教师智能助理"/>
          <p:cNvSpPr/>
          <p:nvPr/>
        </p:nvSpPr>
        <p:spPr>
          <a:xfrm>
            <a:off x="882000" y="3026880"/>
            <a:ext cx="1422720" cy="12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课程导学、任务辅导、成果生成、成长建议。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card-专家评审助理"/>
          <p:cNvSpPr/>
          <p:nvPr/>
        </p:nvSpPr>
        <p:spPr>
          <a:xfrm>
            <a:off x="2857680" y="2247840"/>
            <a:ext cx="1923840" cy="223812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badge-02"/>
          <p:cNvSpPr/>
          <p:nvPr/>
        </p:nvSpPr>
        <p:spPr>
          <a:xfrm>
            <a:off x="3048120" y="24382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badge-text-02"/>
          <p:cNvSpPr/>
          <p:nvPr/>
        </p:nvSpPr>
        <p:spPr>
          <a:xfrm>
            <a:off x="3048120" y="248616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card-head-专家评审助理"/>
          <p:cNvSpPr/>
          <p:nvPr/>
        </p:nvSpPr>
        <p:spPr>
          <a:xfrm>
            <a:off x="3460680" y="2457360"/>
            <a:ext cx="1222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专家评审助理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card-body-专家评审助理"/>
          <p:cNvSpPr/>
          <p:nvPr/>
        </p:nvSpPr>
        <p:spPr>
          <a:xfrm>
            <a:off x="3060720" y="2989440"/>
            <a:ext cx="156672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材料预读、证据摘要、评语草稿、复核提示。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card-培训运营助理"/>
          <p:cNvSpPr/>
          <p:nvPr/>
        </p:nvSpPr>
        <p:spPr>
          <a:xfrm>
            <a:off x="5105520" y="2247840"/>
            <a:ext cx="1923840" cy="2238120"/>
          </a:xfrm>
          <a:prstGeom prst="roundRect">
            <a:avLst>
              <a:gd name="adj" fmla="val 2970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badge-03"/>
          <p:cNvSpPr/>
          <p:nvPr/>
        </p:nvSpPr>
        <p:spPr>
          <a:xfrm>
            <a:off x="5295960" y="24382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badge-text-03"/>
          <p:cNvSpPr/>
          <p:nvPr/>
        </p:nvSpPr>
        <p:spPr>
          <a:xfrm>
            <a:off x="5295960" y="248616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card-head-培训运营助理"/>
          <p:cNvSpPr/>
          <p:nvPr/>
        </p:nvSpPr>
        <p:spPr>
          <a:xfrm>
            <a:off x="5720040" y="2486160"/>
            <a:ext cx="11599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培训运营助理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card-body-培训运营助理"/>
          <p:cNvSpPr/>
          <p:nvPr/>
        </p:nvSpPr>
        <p:spPr>
          <a:xfrm>
            <a:off x="5323320" y="3026880"/>
            <a:ext cx="1522440" cy="12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通知生成、进度提醒、数据汇总、问题答复。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card-项目负责人助理"/>
          <p:cNvSpPr/>
          <p:nvPr/>
        </p:nvSpPr>
        <p:spPr>
          <a:xfrm>
            <a:off x="7353360" y="2247840"/>
            <a:ext cx="1923840" cy="223812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badge-04"/>
          <p:cNvSpPr/>
          <p:nvPr/>
        </p:nvSpPr>
        <p:spPr>
          <a:xfrm>
            <a:off x="7543800" y="24382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badge-text-04"/>
          <p:cNvSpPr/>
          <p:nvPr/>
        </p:nvSpPr>
        <p:spPr>
          <a:xfrm>
            <a:off x="7543800" y="248616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card-head-项目负责人助理"/>
          <p:cNvSpPr/>
          <p:nvPr/>
        </p:nvSpPr>
        <p:spPr>
          <a:xfrm>
            <a:off x="7976160" y="2493000"/>
            <a:ext cx="1144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项目负责人助理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card-body-项目负责人助理"/>
          <p:cNvSpPr/>
          <p:nvPr/>
        </p:nvSpPr>
        <p:spPr>
          <a:xfrm>
            <a:off x="7463880" y="3026520"/>
            <a:ext cx="1733760" cy="13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方案编排、活动排期、质量跟踪、报告生成。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card-学校/区域管理助理"/>
          <p:cNvSpPr/>
          <p:nvPr/>
        </p:nvSpPr>
        <p:spPr>
          <a:xfrm>
            <a:off x="9601200" y="2247840"/>
            <a:ext cx="1923840" cy="223812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badge-05"/>
          <p:cNvSpPr/>
          <p:nvPr/>
        </p:nvSpPr>
        <p:spPr>
          <a:xfrm>
            <a:off x="9791640" y="243828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badge-text-05"/>
          <p:cNvSpPr/>
          <p:nvPr/>
        </p:nvSpPr>
        <p:spPr>
          <a:xfrm>
            <a:off x="9791640" y="248616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card-head-学校/区域管理助理"/>
          <p:cNvSpPr/>
          <p:nvPr/>
        </p:nvSpPr>
        <p:spPr>
          <a:xfrm>
            <a:off x="10216440" y="2493000"/>
            <a:ext cx="1203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学校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/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区域管理助理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card-body-学校/区域管理助理"/>
          <p:cNvSpPr/>
          <p:nvPr/>
        </p:nvSpPr>
        <p:spPr>
          <a:xfrm>
            <a:off x="9860760" y="2989440"/>
            <a:ext cx="143532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项目监测、群体分析、资源调度、决策摘要。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数据与知识闭环让每次培训都沉淀为平台资产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node-0"/>
          <p:cNvSpPr/>
          <p:nvPr/>
        </p:nvSpPr>
        <p:spPr>
          <a:xfrm>
            <a:off x="781200" y="2857680"/>
            <a:ext cx="1380600" cy="81864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node-text-0"/>
          <p:cNvSpPr/>
          <p:nvPr/>
        </p:nvSpPr>
        <p:spPr>
          <a:xfrm>
            <a:off x="895320" y="3124080"/>
            <a:ext cx="1152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培训资料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line"/>
          <p:cNvSpPr/>
          <p:nvPr/>
        </p:nvSpPr>
        <p:spPr>
          <a:xfrm>
            <a:off x="2190600" y="3267000"/>
            <a:ext cx="34272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node-1"/>
          <p:cNvSpPr/>
          <p:nvPr/>
        </p:nvSpPr>
        <p:spPr>
          <a:xfrm>
            <a:off x="2590920" y="2857680"/>
            <a:ext cx="1380600" cy="818640"/>
          </a:xfrm>
          <a:prstGeom prst="roundRect">
            <a:avLst>
              <a:gd name="adj" fmla="val 697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node-text-1"/>
          <p:cNvSpPr/>
          <p:nvPr/>
        </p:nvSpPr>
        <p:spPr>
          <a:xfrm>
            <a:off x="2705040" y="3124080"/>
            <a:ext cx="1152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知识资产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line"/>
          <p:cNvSpPr/>
          <p:nvPr/>
        </p:nvSpPr>
        <p:spPr>
          <a:xfrm>
            <a:off x="4000680" y="3267000"/>
            <a:ext cx="34272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node-2"/>
          <p:cNvSpPr/>
          <p:nvPr/>
        </p:nvSpPr>
        <p:spPr>
          <a:xfrm>
            <a:off x="4400640" y="2857680"/>
            <a:ext cx="1340280" cy="81864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node-text-2"/>
          <p:cNvSpPr/>
          <p:nvPr/>
        </p:nvSpPr>
        <p:spPr>
          <a:xfrm>
            <a:off x="4514760" y="3124080"/>
            <a:ext cx="1152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空间过程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line"/>
          <p:cNvSpPr/>
          <p:nvPr/>
        </p:nvSpPr>
        <p:spPr>
          <a:xfrm>
            <a:off x="5738400" y="3267000"/>
            <a:ext cx="34272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node-3"/>
          <p:cNvSpPr/>
          <p:nvPr/>
        </p:nvSpPr>
        <p:spPr>
          <a:xfrm>
            <a:off x="6210360" y="2857680"/>
            <a:ext cx="1380600" cy="81864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node-text-3"/>
          <p:cNvSpPr/>
          <p:nvPr/>
        </p:nvSpPr>
        <p:spPr>
          <a:xfrm>
            <a:off x="6324480" y="3124080"/>
            <a:ext cx="1152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评价证据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line"/>
          <p:cNvSpPr/>
          <p:nvPr/>
        </p:nvSpPr>
        <p:spPr>
          <a:xfrm>
            <a:off x="7620120" y="3267000"/>
            <a:ext cx="34272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node-4"/>
          <p:cNvSpPr/>
          <p:nvPr/>
        </p:nvSpPr>
        <p:spPr>
          <a:xfrm>
            <a:off x="8091720" y="2857680"/>
            <a:ext cx="1380600" cy="81864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node-text-4"/>
          <p:cNvSpPr/>
          <p:nvPr/>
        </p:nvSpPr>
        <p:spPr>
          <a:xfrm>
            <a:off x="8206200" y="3124080"/>
            <a:ext cx="1152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教师档案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line"/>
          <p:cNvSpPr/>
          <p:nvPr/>
        </p:nvSpPr>
        <p:spPr>
          <a:xfrm>
            <a:off x="9501480" y="3267000"/>
            <a:ext cx="34272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node-5"/>
          <p:cNvSpPr/>
          <p:nvPr/>
        </p:nvSpPr>
        <p:spPr>
          <a:xfrm>
            <a:off x="9973440" y="2857680"/>
            <a:ext cx="1380600" cy="818640"/>
          </a:xfrm>
          <a:prstGeom prst="roundRect">
            <a:avLst>
              <a:gd name="adj" fmla="val 697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node-text-5"/>
          <p:cNvSpPr/>
          <p:nvPr/>
        </p:nvSpPr>
        <p:spPr>
          <a:xfrm>
            <a:off x="10087560" y="3124080"/>
            <a:ext cx="1152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智能推荐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loop-text"/>
          <p:cNvSpPr/>
          <p:nvPr/>
        </p:nvSpPr>
        <p:spPr>
          <a:xfrm>
            <a:off x="2381400" y="4905360"/>
            <a:ext cx="7429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下一轮培训复用资料、空间模板、评价模型和教师画像，平台越用越懂业务。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op-note"/>
          <p:cNvSpPr/>
          <p:nvPr/>
        </p:nvSpPr>
        <p:spPr>
          <a:xfrm>
            <a:off x="1009800" y="2057400"/>
            <a:ext cx="10172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核心机制：业务资料进入资料库，活动过程进入空间，评价结果进入档案，推荐结果回到新一轮培训。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arrow"/>
          <p:cNvSpPr/>
          <p:nvPr/>
        </p:nvSpPr>
        <p:spPr>
          <a:xfrm rot="5400000">
            <a:off x="2392560" y="316944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arrow"/>
          <p:cNvSpPr/>
          <p:nvPr/>
        </p:nvSpPr>
        <p:spPr>
          <a:xfrm rot="5400000">
            <a:off x="4202280" y="317520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arrow"/>
          <p:cNvSpPr/>
          <p:nvPr/>
        </p:nvSpPr>
        <p:spPr>
          <a:xfrm rot="5400000">
            <a:off x="5993640" y="316944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arrow"/>
          <p:cNvSpPr/>
          <p:nvPr/>
        </p:nvSpPr>
        <p:spPr>
          <a:xfrm rot="5400000">
            <a:off x="7908120" y="317196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arrow"/>
          <p:cNvSpPr/>
          <p:nvPr/>
        </p:nvSpPr>
        <p:spPr>
          <a:xfrm rot="5400000">
            <a:off x="9750960" y="3169440"/>
            <a:ext cx="215640" cy="219240"/>
          </a:xfrm>
          <a:prstGeom prst="triangle">
            <a:avLst>
              <a:gd name="adj" fmla="val 50000"/>
            </a:avLst>
          </a:prstGeom>
          <a:solidFill>
            <a:srgbClr val="B8BCC4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建设路线：先建底座，再做培训场景闭环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line"/>
          <p:cNvSpPr/>
          <p:nvPr/>
        </p:nvSpPr>
        <p:spPr>
          <a:xfrm>
            <a:off x="838080" y="3143160"/>
            <a:ext cx="251424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dot-0"/>
          <p:cNvSpPr/>
          <p:nvPr/>
        </p:nvSpPr>
        <p:spPr>
          <a:xfrm>
            <a:off x="3400560" y="3040560"/>
            <a:ext cx="209160" cy="209160"/>
          </a:xfrm>
          <a:prstGeom prst="ellipse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phase-label-0"/>
          <p:cNvSpPr/>
          <p:nvPr/>
        </p:nvSpPr>
        <p:spPr>
          <a:xfrm>
            <a:off x="685800" y="2552760"/>
            <a:ext cx="1428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第一阶段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hase-head-0"/>
          <p:cNvSpPr/>
          <p:nvPr/>
        </p:nvSpPr>
        <p:spPr>
          <a:xfrm>
            <a:off x="685800" y="3505320"/>
            <a:ext cx="2238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原生底座接入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hase-body-0"/>
          <p:cNvSpPr/>
          <p:nvPr/>
        </p:nvSpPr>
        <p:spPr>
          <a:xfrm>
            <a:off x="685800" y="3943440"/>
            <a:ext cx="22381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接入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Lucky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、资料库、空间、租户、模型统计和基础权限。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line"/>
          <p:cNvSpPr/>
          <p:nvPr/>
        </p:nvSpPr>
        <p:spPr>
          <a:xfrm>
            <a:off x="3657600" y="3143160"/>
            <a:ext cx="251424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dot-1"/>
          <p:cNvSpPr/>
          <p:nvPr/>
        </p:nvSpPr>
        <p:spPr>
          <a:xfrm>
            <a:off x="612720" y="3040560"/>
            <a:ext cx="209160" cy="2091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phase-label-1"/>
          <p:cNvSpPr/>
          <p:nvPr/>
        </p:nvSpPr>
        <p:spPr>
          <a:xfrm>
            <a:off x="3505320" y="2552760"/>
            <a:ext cx="1428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第二阶段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hase-head-1"/>
          <p:cNvSpPr/>
          <p:nvPr/>
        </p:nvSpPr>
        <p:spPr>
          <a:xfrm>
            <a:off x="3505320" y="3505320"/>
            <a:ext cx="2238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培训场景模板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hase-body-1"/>
          <p:cNvSpPr/>
          <p:nvPr/>
        </p:nvSpPr>
        <p:spPr>
          <a:xfrm>
            <a:off x="3505320" y="3943440"/>
            <a:ext cx="22381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沉淀培训项目、工作坊、网络研修、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实训等标准空间模板。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line"/>
          <p:cNvSpPr/>
          <p:nvPr/>
        </p:nvSpPr>
        <p:spPr>
          <a:xfrm>
            <a:off x="6477120" y="3143160"/>
            <a:ext cx="251424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dot-2"/>
          <p:cNvSpPr/>
          <p:nvPr/>
        </p:nvSpPr>
        <p:spPr>
          <a:xfrm>
            <a:off x="6381720" y="3048120"/>
            <a:ext cx="209160" cy="2091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phase-label-2"/>
          <p:cNvSpPr/>
          <p:nvPr/>
        </p:nvSpPr>
        <p:spPr>
          <a:xfrm>
            <a:off x="6324480" y="2552760"/>
            <a:ext cx="1428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第三阶段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hase-head-2"/>
          <p:cNvSpPr/>
          <p:nvPr/>
        </p:nvSpPr>
        <p:spPr>
          <a:xfrm>
            <a:off x="6324480" y="3505320"/>
            <a:ext cx="2238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评估与档案闭环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hase-body-2"/>
          <p:cNvSpPr/>
          <p:nvPr/>
        </p:nvSpPr>
        <p:spPr>
          <a:xfrm>
            <a:off x="6324480" y="3943440"/>
            <a:ext cx="22381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完成数据归集、评价模型、报告生成、档案沉淀和画像更新。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line"/>
          <p:cNvSpPr/>
          <p:nvPr/>
        </p:nvSpPr>
        <p:spPr>
          <a:xfrm>
            <a:off x="9296280" y="3143160"/>
            <a:ext cx="251424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dot-3"/>
          <p:cNvSpPr/>
          <p:nvPr/>
        </p:nvSpPr>
        <p:spPr>
          <a:xfrm>
            <a:off x="9201240" y="3048120"/>
            <a:ext cx="209160" cy="2091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phase-label-3"/>
          <p:cNvSpPr/>
          <p:nvPr/>
        </p:nvSpPr>
        <p:spPr>
          <a:xfrm>
            <a:off x="9144000" y="2552760"/>
            <a:ext cx="1428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第四阶段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hase-head-3"/>
          <p:cNvSpPr/>
          <p:nvPr/>
        </p:nvSpPr>
        <p:spPr>
          <a:xfrm>
            <a:off x="9144000" y="3505320"/>
            <a:ext cx="2238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推荐与运营服务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hase-body-3"/>
          <p:cNvSpPr/>
          <p:nvPr/>
        </p:nvSpPr>
        <p:spPr>
          <a:xfrm>
            <a:off x="9144000" y="3943440"/>
            <a:ext cx="22381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上线课程、活动、资源、路径推荐，并形成运营看板和触达机制。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bottom"/>
          <p:cNvSpPr/>
          <p:nvPr/>
        </p:nvSpPr>
        <p:spPr>
          <a:xfrm>
            <a:off x="952560" y="5315040"/>
            <a:ext cx="10286640" cy="590040"/>
          </a:xfrm>
          <a:prstGeom prst="roundRect">
            <a:avLst>
              <a:gd name="adj" fmla="val 9677"/>
            </a:avLst>
          </a:prstGeom>
          <a:solidFill>
            <a:srgbClr val="EAF5FB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bottom-text"/>
          <p:cNvSpPr/>
          <p:nvPr/>
        </p:nvSpPr>
        <p:spPr>
          <a:xfrm>
            <a:off x="1238400" y="548640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建设原则：培训业务先跑通，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能力逐步嵌入；先形成可用闭环，再沉淀可复制模板。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555555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1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交付形态：方案、资源、服务和算力共同形成平台价值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ule"/>
          <p:cNvSpPr/>
          <p:nvPr/>
        </p:nvSpPr>
        <p:spPr>
          <a:xfrm>
            <a:off x="399960" y="1638360"/>
            <a:ext cx="11391480" cy="140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card-解决方案"/>
          <p:cNvSpPr/>
          <p:nvPr/>
        </p:nvSpPr>
        <p:spPr>
          <a:xfrm>
            <a:off x="800280" y="2133720"/>
            <a:ext cx="2190240" cy="219024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badge-01"/>
          <p:cNvSpPr/>
          <p:nvPr/>
        </p:nvSpPr>
        <p:spPr>
          <a:xfrm>
            <a:off x="1009800" y="232416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badge-text-01"/>
          <p:cNvSpPr/>
          <p:nvPr/>
        </p:nvSpPr>
        <p:spPr>
          <a:xfrm>
            <a:off x="1009800" y="23716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card-head-解决方案"/>
          <p:cNvSpPr/>
          <p:nvPr/>
        </p:nvSpPr>
        <p:spPr>
          <a:xfrm>
            <a:off x="1343520" y="2324160"/>
            <a:ext cx="1257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2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解决方案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card-body-解决方案"/>
          <p:cNvSpPr/>
          <p:nvPr/>
        </p:nvSpPr>
        <p:spPr>
          <a:xfrm>
            <a:off x="1009800" y="2990880"/>
            <a:ext cx="177120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人工智能教学平台、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智能体平台、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教师发展平台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...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card-资源包"/>
          <p:cNvSpPr/>
          <p:nvPr/>
        </p:nvSpPr>
        <p:spPr>
          <a:xfrm>
            <a:off x="3543480" y="2133720"/>
            <a:ext cx="2190240" cy="219024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badge-03"/>
          <p:cNvSpPr/>
          <p:nvPr/>
        </p:nvSpPr>
        <p:spPr>
          <a:xfrm>
            <a:off x="3753000" y="232416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badge-text-03"/>
          <p:cNvSpPr/>
          <p:nvPr/>
        </p:nvSpPr>
        <p:spPr>
          <a:xfrm>
            <a:off x="3753000" y="23716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card-head-资源包"/>
          <p:cNvSpPr/>
          <p:nvPr/>
        </p:nvSpPr>
        <p:spPr>
          <a:xfrm>
            <a:off x="4195440" y="2343240"/>
            <a:ext cx="12571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资源包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card-body-资源包"/>
          <p:cNvSpPr/>
          <p:nvPr/>
        </p:nvSpPr>
        <p:spPr>
          <a:xfrm>
            <a:off x="3753000" y="2895480"/>
            <a:ext cx="17712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沉淀课程、案例、任务单、测验、成果模板和优秀案例。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card-运营服务"/>
          <p:cNvSpPr/>
          <p:nvPr/>
        </p:nvSpPr>
        <p:spPr>
          <a:xfrm>
            <a:off x="6286680" y="2133720"/>
            <a:ext cx="2190240" cy="219024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badge-04"/>
          <p:cNvSpPr/>
          <p:nvPr/>
        </p:nvSpPr>
        <p:spPr>
          <a:xfrm>
            <a:off x="6496200" y="2324160"/>
            <a:ext cx="323640" cy="3236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badge-text-04"/>
          <p:cNvSpPr/>
          <p:nvPr/>
        </p:nvSpPr>
        <p:spPr>
          <a:xfrm>
            <a:off x="6496200" y="23716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card-head-运营服务"/>
          <p:cNvSpPr/>
          <p:nvPr/>
        </p:nvSpPr>
        <p:spPr>
          <a:xfrm>
            <a:off x="7010280" y="2343240"/>
            <a:ext cx="12571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运营服务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card-body-运营服务"/>
          <p:cNvSpPr/>
          <p:nvPr/>
        </p:nvSpPr>
        <p:spPr>
          <a:xfrm>
            <a:off x="6496200" y="2895480"/>
            <a:ext cx="17712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提供场景配置、培训辅导、数据分析、报告输出和持续优化。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card-Token 算力"/>
          <p:cNvSpPr/>
          <p:nvPr/>
        </p:nvSpPr>
        <p:spPr>
          <a:xfrm>
            <a:off x="9029880" y="2133720"/>
            <a:ext cx="2190240" cy="2190240"/>
          </a:xfrm>
          <a:prstGeom prst="roundRect">
            <a:avLst>
              <a:gd name="adj" fmla="val 2970"/>
            </a:avLst>
          </a:prstGeom>
          <a:solidFill>
            <a:srgbClr val="111111"/>
          </a:solidFill>
          <a:ln w="9525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badge-05"/>
          <p:cNvSpPr/>
          <p:nvPr/>
        </p:nvSpPr>
        <p:spPr>
          <a:xfrm>
            <a:off x="9239400" y="2324160"/>
            <a:ext cx="323640" cy="323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badge-text-05"/>
          <p:cNvSpPr/>
          <p:nvPr/>
        </p:nvSpPr>
        <p:spPr>
          <a:xfrm>
            <a:off x="9239400" y="2371680"/>
            <a:ext cx="323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04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card-head-Token 算力"/>
          <p:cNvSpPr/>
          <p:nvPr/>
        </p:nvSpPr>
        <p:spPr>
          <a:xfrm>
            <a:off x="9753480" y="2343240"/>
            <a:ext cx="12571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Token </a:t>
            </a: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算力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card-body-Token 算力"/>
          <p:cNvSpPr/>
          <p:nvPr/>
        </p:nvSpPr>
        <p:spPr>
          <a:xfrm>
            <a:off x="9239400" y="2895480"/>
            <a:ext cx="17712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以模型统计计量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调用和算力消耗，支撑套餐、预警和结算。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card-subhead-解决方案-产品"/>
          <p:cNvSpPr/>
          <p:nvPr/>
        </p:nvSpPr>
        <p:spPr>
          <a:xfrm>
            <a:off x="1343520" y="2629080"/>
            <a:ext cx="125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【产品线】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commercial-card"/>
          <p:cNvSpPr/>
          <p:nvPr/>
        </p:nvSpPr>
        <p:spPr>
          <a:xfrm>
            <a:off x="800280" y="4743360"/>
            <a:ext cx="5143320" cy="118080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commercial-title"/>
          <p:cNvSpPr/>
          <p:nvPr/>
        </p:nvSpPr>
        <p:spPr>
          <a:xfrm>
            <a:off x="1562040" y="4915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多元商业模式支撑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commercial-body"/>
          <p:cNvSpPr/>
          <p:nvPr/>
        </p:nvSpPr>
        <p:spPr>
          <a:xfrm>
            <a:off x="1562040" y="5219640"/>
            <a:ext cx="4000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支持 </a:t>
            </a:r>
            <a:r>
              <a:rPr lang="en-US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SaaS </a:t>
            </a: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订阅、项目制交付和私有化部署，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适配不同客户的付费习惯与安全合规要求。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value-depth-card"/>
          <p:cNvSpPr/>
          <p:nvPr/>
        </p:nvSpPr>
        <p:spPr>
          <a:xfrm>
            <a:off x="6248520" y="4743360"/>
            <a:ext cx="5143320" cy="118080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value-depth-title"/>
          <p:cNvSpPr/>
          <p:nvPr/>
        </p:nvSpPr>
        <p:spPr>
          <a:xfrm>
            <a:off x="7010280" y="49150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价值与深度逐级递进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value-depth-body"/>
          <p:cNvSpPr/>
          <p:nvPr/>
        </p:nvSpPr>
        <p:spPr>
          <a:xfrm>
            <a:off x="7010280" y="5219640"/>
            <a:ext cx="4000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从工具平台到业务支撑平台，再到场景化解决方案，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3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伴随客户成熟度提升实现价值共创。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5" name="Picture 22"/>
          <p:cNvPicPr/>
          <p:nvPr/>
        </p:nvPicPr>
        <p:blipFill>
          <a:blip r:embed="rId1"/>
          <a:stretch/>
        </p:blipFill>
        <p:spPr>
          <a:xfrm>
            <a:off x="1199520" y="49010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6" name="Picture 25"/>
          <p:cNvPicPr/>
          <p:nvPr/>
        </p:nvPicPr>
        <p:blipFill>
          <a:blip r:embed="rId2"/>
          <a:stretch/>
        </p:blipFill>
        <p:spPr>
          <a:xfrm>
            <a:off x="6705720" y="4900320"/>
            <a:ext cx="304560" cy="30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itle"/>
          <p:cNvSpPr/>
          <p:nvPr/>
        </p:nvSpPr>
        <p:spPr>
          <a:xfrm>
            <a:off x="407160" y="62028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附录：基于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原生底座开发模式的优势与特点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ule"/>
          <p:cNvSpPr/>
          <p:nvPr/>
        </p:nvSpPr>
        <p:spPr>
          <a:xfrm>
            <a:off x="406800" y="136332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lead-band"/>
          <p:cNvSpPr/>
          <p:nvPr/>
        </p:nvSpPr>
        <p:spPr>
          <a:xfrm>
            <a:off x="743040" y="2076480"/>
            <a:ext cx="10705680" cy="533160"/>
          </a:xfrm>
          <a:prstGeom prst="roundRect">
            <a:avLst>
              <a:gd name="adj" fmla="val 10714"/>
            </a:avLst>
          </a:prstGeom>
          <a:solidFill>
            <a:srgbClr val="EAF5FB"/>
          </a:solidFill>
          <a:ln w="10478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lead-text"/>
          <p:cNvSpPr/>
          <p:nvPr/>
        </p:nvSpPr>
        <p:spPr>
          <a:xfrm>
            <a:off x="1066680" y="2209680"/>
            <a:ext cx="1005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本小节聚焦 </a:t>
            </a:r>
            <a:r>
              <a:rPr lang="en-US" sz="1500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500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原生底座带来的开发模式变化：更快迭代、更强复用、更可验证。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oc-card-1"/>
          <p:cNvSpPr/>
          <p:nvPr/>
        </p:nvSpPr>
        <p:spPr>
          <a:xfrm>
            <a:off x="857160" y="2781360"/>
            <a:ext cx="3257280" cy="1999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oc-badge-1"/>
          <p:cNvSpPr/>
          <p:nvPr/>
        </p:nvSpPr>
        <p:spPr>
          <a:xfrm>
            <a:off x="1085760" y="3029040"/>
            <a:ext cx="399600" cy="3996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oc-badge-1-text"/>
          <p:cNvSpPr/>
          <p:nvPr/>
        </p:nvSpPr>
        <p:spPr>
          <a:xfrm>
            <a:off x="1085760" y="3086280"/>
            <a:ext cx="39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oc-title-1"/>
          <p:cNvSpPr/>
          <p:nvPr/>
        </p:nvSpPr>
        <p:spPr>
          <a:xfrm>
            <a:off x="1657440" y="2990880"/>
            <a:ext cx="2095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快速迭代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oc-body-1"/>
          <p:cNvSpPr/>
          <p:nvPr/>
        </p:nvSpPr>
        <p:spPr>
          <a:xfrm>
            <a:off x="1143000" y="3581280"/>
            <a:ext cx="26856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从需求到上线形成 </a:t>
            </a: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+ </a:t>
            </a: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敏捷闭环，缩短试错和交付周期。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oc-card-2"/>
          <p:cNvSpPr/>
          <p:nvPr/>
        </p:nvSpPr>
        <p:spPr>
          <a:xfrm>
            <a:off x="4476600" y="2781360"/>
            <a:ext cx="3257280" cy="199980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oc-badge-2"/>
          <p:cNvSpPr/>
          <p:nvPr/>
        </p:nvSpPr>
        <p:spPr>
          <a:xfrm>
            <a:off x="4705200" y="3029040"/>
            <a:ext cx="399600" cy="3996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oc-badge-2-text"/>
          <p:cNvSpPr/>
          <p:nvPr/>
        </p:nvSpPr>
        <p:spPr>
          <a:xfrm>
            <a:off x="4705200" y="3086280"/>
            <a:ext cx="39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oc-title-2"/>
          <p:cNvSpPr/>
          <p:nvPr/>
        </p:nvSpPr>
        <p:spPr>
          <a:xfrm>
            <a:off x="5276880" y="2990880"/>
            <a:ext cx="2095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三层协同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oc-body-2"/>
          <p:cNvSpPr/>
          <p:nvPr/>
        </p:nvSpPr>
        <p:spPr>
          <a:xfrm>
            <a:off x="4762440" y="3581280"/>
            <a:ext cx="26856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稳态底座、配置层和前台定开分工协作，支撑复用和灵活响应。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oc-card-3"/>
          <p:cNvSpPr/>
          <p:nvPr/>
        </p:nvSpPr>
        <p:spPr>
          <a:xfrm>
            <a:off x="8096400" y="2781360"/>
            <a:ext cx="3257280" cy="1999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oc-badge-3"/>
          <p:cNvSpPr/>
          <p:nvPr/>
        </p:nvSpPr>
        <p:spPr>
          <a:xfrm>
            <a:off x="8325000" y="3029040"/>
            <a:ext cx="399600" cy="3996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oc-badge-3-text"/>
          <p:cNvSpPr/>
          <p:nvPr/>
        </p:nvSpPr>
        <p:spPr>
          <a:xfrm>
            <a:off x="8325000" y="3086280"/>
            <a:ext cx="39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oc-title-3"/>
          <p:cNvSpPr/>
          <p:nvPr/>
        </p:nvSpPr>
        <p:spPr>
          <a:xfrm>
            <a:off x="8896320" y="2990880"/>
            <a:ext cx="2095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实践验证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oc-body-3"/>
          <p:cNvSpPr/>
          <p:nvPr/>
        </p:nvSpPr>
        <p:spPr>
          <a:xfrm>
            <a:off x="8381880" y="3581280"/>
            <a:ext cx="26856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用</a:t>
            </a:r>
            <a:r>
              <a:rPr lang="en-US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3</a:t>
            </a: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个月实践验证效率、质量和产研能力的系统提升。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oc-arrow-1"/>
          <p:cNvSpPr/>
          <p:nvPr/>
        </p:nvSpPr>
        <p:spPr>
          <a:xfrm>
            <a:off x="4079160" y="3695760"/>
            <a:ext cx="399600" cy="247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oc-arrow-2"/>
          <p:cNvSpPr/>
          <p:nvPr/>
        </p:nvSpPr>
        <p:spPr>
          <a:xfrm>
            <a:off x="7743240" y="3695760"/>
            <a:ext cx="344520" cy="247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开发新模式：拥抱 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时代的快速迭代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ule"/>
          <p:cNvSpPr/>
          <p:nvPr/>
        </p:nvSpPr>
        <p:spPr>
          <a:xfrm>
            <a:off x="399960" y="163800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29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lead-band"/>
          <p:cNvSpPr/>
          <p:nvPr/>
        </p:nvSpPr>
        <p:spPr>
          <a:xfrm>
            <a:off x="743040" y="2057400"/>
            <a:ext cx="10705680" cy="1257120"/>
          </a:xfrm>
          <a:prstGeom prst="roundRect">
            <a:avLst>
              <a:gd name="adj" fmla="val 4545"/>
            </a:avLst>
          </a:prstGeom>
          <a:solidFill>
            <a:srgbClr val="EAF5FB"/>
          </a:solidFill>
          <a:ln w="10478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lead-label"/>
          <p:cNvSpPr/>
          <p:nvPr/>
        </p:nvSpPr>
        <p:spPr>
          <a:xfrm>
            <a:off x="1047600" y="2343240"/>
            <a:ext cx="1238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核心价值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lead-copy"/>
          <p:cNvSpPr/>
          <p:nvPr/>
        </p:nvSpPr>
        <p:spPr>
          <a:xfrm>
            <a:off x="2457360" y="2171880"/>
            <a:ext cx="82864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在 </a:t>
            </a:r>
            <a:r>
              <a:rPr lang="en-US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时代，速度即竞争力。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原生开发模式把产品底座、业务模型和开发流程统一起来，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让需求、设计、代码、测试和部署形成快速闭环。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tep-card-1"/>
          <p:cNvSpPr/>
          <p:nvPr/>
        </p:nvSpPr>
        <p:spPr>
          <a:xfrm>
            <a:off x="743040" y="3943440"/>
            <a:ext cx="2190240" cy="131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tep-card-1-badge"/>
          <p:cNvSpPr/>
          <p:nvPr/>
        </p:nvSpPr>
        <p:spPr>
          <a:xfrm>
            <a:off x="952560" y="4152960"/>
            <a:ext cx="361440" cy="3614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tep-card-1-badge-text"/>
          <p:cNvSpPr/>
          <p:nvPr/>
        </p:nvSpPr>
        <p:spPr>
          <a:xfrm>
            <a:off x="952560" y="42102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tep-card-1-title"/>
          <p:cNvSpPr/>
          <p:nvPr/>
        </p:nvSpPr>
        <p:spPr>
          <a:xfrm>
            <a:off x="1467000" y="4152960"/>
            <a:ext cx="1238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业务抽象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tep-card-1-body"/>
          <p:cNvSpPr/>
          <p:nvPr/>
        </p:nvSpPr>
        <p:spPr>
          <a:xfrm>
            <a:off x="990720" y="4667400"/>
            <a:ext cx="1695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用统一模型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表达业务需求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tep-arrow-1"/>
          <p:cNvSpPr/>
          <p:nvPr/>
        </p:nvSpPr>
        <p:spPr>
          <a:xfrm>
            <a:off x="3105000" y="4514760"/>
            <a:ext cx="39960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tep-card-2"/>
          <p:cNvSpPr/>
          <p:nvPr/>
        </p:nvSpPr>
        <p:spPr>
          <a:xfrm>
            <a:off x="3505320" y="3943440"/>
            <a:ext cx="2190240" cy="1314000"/>
          </a:xfrm>
          <a:prstGeom prst="roundRect">
            <a:avLst>
              <a:gd name="adj" fmla="val 434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tep-card-2-badge"/>
          <p:cNvSpPr/>
          <p:nvPr/>
        </p:nvSpPr>
        <p:spPr>
          <a:xfrm>
            <a:off x="3714840" y="4152960"/>
            <a:ext cx="361440" cy="3614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step-card-2-badge-text"/>
          <p:cNvSpPr/>
          <p:nvPr/>
        </p:nvSpPr>
        <p:spPr>
          <a:xfrm>
            <a:off x="3714840" y="42102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tep-card-2-title"/>
          <p:cNvSpPr/>
          <p:nvPr/>
        </p:nvSpPr>
        <p:spPr>
          <a:xfrm>
            <a:off x="4229280" y="4152960"/>
            <a:ext cx="1238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生成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tep-card-2-body"/>
          <p:cNvSpPr/>
          <p:nvPr/>
        </p:nvSpPr>
        <p:spPr>
          <a:xfrm>
            <a:off x="3753000" y="4667400"/>
            <a:ext cx="1695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辅助方案、页面、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代码和测试生成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tep-arrow-2"/>
          <p:cNvSpPr/>
          <p:nvPr/>
        </p:nvSpPr>
        <p:spPr>
          <a:xfrm>
            <a:off x="5867280" y="4514760"/>
            <a:ext cx="39960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tep-card-3"/>
          <p:cNvSpPr/>
          <p:nvPr/>
        </p:nvSpPr>
        <p:spPr>
          <a:xfrm>
            <a:off x="6267600" y="3943440"/>
            <a:ext cx="2190240" cy="131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tep-card-3-badge"/>
          <p:cNvSpPr/>
          <p:nvPr/>
        </p:nvSpPr>
        <p:spPr>
          <a:xfrm>
            <a:off x="6477120" y="4152960"/>
            <a:ext cx="361440" cy="3614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step-card-3-badge-text"/>
          <p:cNvSpPr/>
          <p:nvPr/>
        </p:nvSpPr>
        <p:spPr>
          <a:xfrm>
            <a:off x="6477120" y="42102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tep-card-3-title"/>
          <p:cNvSpPr/>
          <p:nvPr/>
        </p:nvSpPr>
        <p:spPr>
          <a:xfrm>
            <a:off x="6991200" y="4152960"/>
            <a:ext cx="1238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快速验证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tep-card-3-body"/>
          <p:cNvSpPr/>
          <p:nvPr/>
        </p:nvSpPr>
        <p:spPr>
          <a:xfrm>
            <a:off x="6515280" y="4667400"/>
            <a:ext cx="1695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快速上线、试错、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反馈和迭代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tep-arrow-3"/>
          <p:cNvSpPr/>
          <p:nvPr/>
        </p:nvSpPr>
        <p:spPr>
          <a:xfrm>
            <a:off x="8629560" y="4514760"/>
            <a:ext cx="39960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tep-card-4"/>
          <p:cNvSpPr/>
          <p:nvPr/>
        </p:nvSpPr>
        <p:spPr>
          <a:xfrm>
            <a:off x="9029880" y="3943440"/>
            <a:ext cx="2190240" cy="131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tep-card-4-badge"/>
          <p:cNvSpPr/>
          <p:nvPr/>
        </p:nvSpPr>
        <p:spPr>
          <a:xfrm>
            <a:off x="9239400" y="4152960"/>
            <a:ext cx="361440" cy="3614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step-card-4-badge-text"/>
          <p:cNvSpPr/>
          <p:nvPr/>
        </p:nvSpPr>
        <p:spPr>
          <a:xfrm>
            <a:off x="9239400" y="42102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tep-card-4-title"/>
          <p:cNvSpPr/>
          <p:nvPr/>
        </p:nvSpPr>
        <p:spPr>
          <a:xfrm>
            <a:off x="9753480" y="4152960"/>
            <a:ext cx="1238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8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能力沉淀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tep-card-4-body"/>
          <p:cNvSpPr/>
          <p:nvPr/>
        </p:nvSpPr>
        <p:spPr>
          <a:xfrm>
            <a:off x="9277200" y="4667400"/>
            <a:ext cx="1695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沉淀为可复用的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产品能力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bottom-note-band"/>
          <p:cNvSpPr/>
          <p:nvPr/>
        </p:nvSpPr>
        <p:spPr>
          <a:xfrm>
            <a:off x="1238400" y="5791320"/>
            <a:ext cx="9715320" cy="399600"/>
          </a:xfrm>
          <a:prstGeom prst="roundRect">
            <a:avLst>
              <a:gd name="adj" fmla="val 14286"/>
            </a:avLst>
          </a:prstGeom>
          <a:solidFill>
            <a:srgbClr val="F4FAFF"/>
          </a:solidFill>
          <a:ln w="10478">
            <a:solidFill>
              <a:srgbClr val="D8E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bottom-note"/>
          <p:cNvSpPr/>
          <p:nvPr/>
        </p:nvSpPr>
        <p:spPr>
          <a:xfrm>
            <a:off x="1428840" y="5867280"/>
            <a:ext cx="93340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关键变化：</a:t>
            </a:r>
            <a:r>
              <a:rPr lang="en-US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不只参与单点工具，而是进入从需求到上线的完整产研链路。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产品开发模式探索：稳态、配置、定开三层协同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ule"/>
          <p:cNvSpPr/>
          <p:nvPr/>
        </p:nvSpPr>
        <p:spPr>
          <a:xfrm>
            <a:off x="399960" y="163800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30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layer-1"/>
          <p:cNvSpPr/>
          <p:nvPr/>
        </p:nvSpPr>
        <p:spPr>
          <a:xfrm>
            <a:off x="914400" y="2038320"/>
            <a:ext cx="10362960" cy="990360"/>
          </a:xfrm>
          <a:prstGeom prst="roundRect">
            <a:avLst>
              <a:gd name="adj" fmla="val 5769"/>
            </a:avLst>
          </a:prstGeom>
          <a:solidFill>
            <a:srgbClr val="EAF5FB"/>
          </a:solidFill>
          <a:ln w="12383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layer-1-badge"/>
          <p:cNvSpPr/>
          <p:nvPr/>
        </p:nvSpPr>
        <p:spPr>
          <a:xfrm>
            <a:off x="1181160" y="2333520"/>
            <a:ext cx="399600" cy="3996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layer-1-badge-text"/>
          <p:cNvSpPr/>
          <p:nvPr/>
        </p:nvSpPr>
        <p:spPr>
          <a:xfrm>
            <a:off x="1181160" y="2390760"/>
            <a:ext cx="39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layer-1-title"/>
          <p:cNvSpPr/>
          <p:nvPr/>
        </p:nvSpPr>
        <p:spPr>
          <a:xfrm>
            <a:off x="1771560" y="2266920"/>
            <a:ext cx="6857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前台 </a:t>
            </a:r>
            <a:r>
              <a:rPr lang="en-US" sz="1729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729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定制开发层：</a:t>
            </a:r>
            <a:r>
              <a:rPr lang="en-US" sz="1729" b="1" u="none" strike="noStrike">
                <a:solidFill>
                  <a:srgbClr val="0F5CC7"/>
                </a:solidFill>
                <a:effectLst/>
                <a:uFillTx/>
                <a:latin typeface="PingFang SC"/>
                <a:ea typeface="PingFang SC"/>
              </a:rPr>
              <a:t>AI Vibe Coding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layer-1-body"/>
          <p:cNvSpPr/>
          <p:nvPr/>
        </p:nvSpPr>
        <p:spPr>
          <a:xfrm>
            <a:off x="1771560" y="2610000"/>
            <a:ext cx="8667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基于稳态能力，使用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辅助生成前台代码与页面，快速响应个性化需求。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layer-2"/>
          <p:cNvSpPr/>
          <p:nvPr/>
        </p:nvSpPr>
        <p:spPr>
          <a:xfrm>
            <a:off x="914400" y="3276720"/>
            <a:ext cx="10362960" cy="9903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layer-2-badge"/>
          <p:cNvSpPr/>
          <p:nvPr/>
        </p:nvSpPr>
        <p:spPr>
          <a:xfrm>
            <a:off x="1181160" y="3571920"/>
            <a:ext cx="399600" cy="3996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layer-2-badge-text"/>
          <p:cNvSpPr/>
          <p:nvPr/>
        </p:nvSpPr>
        <p:spPr>
          <a:xfrm>
            <a:off x="1181160" y="3629160"/>
            <a:ext cx="39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layer-2-title"/>
          <p:cNvSpPr/>
          <p:nvPr/>
        </p:nvSpPr>
        <p:spPr>
          <a:xfrm>
            <a:off x="1771560" y="3505320"/>
            <a:ext cx="6857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配置层：解决方案与场景模板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layer-2-body"/>
          <p:cNvSpPr/>
          <p:nvPr/>
        </p:nvSpPr>
        <p:spPr>
          <a:xfrm>
            <a:off x="1771560" y="3848040"/>
            <a:ext cx="8667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解决方案按产品能力组合；场景模板来自空间模块，支持项目、工作坊、校本研修和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教学快速绑定。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layer-3"/>
          <p:cNvSpPr/>
          <p:nvPr/>
        </p:nvSpPr>
        <p:spPr>
          <a:xfrm>
            <a:off x="914400" y="4514760"/>
            <a:ext cx="10362960" cy="990360"/>
          </a:xfrm>
          <a:prstGeom prst="roundRect">
            <a:avLst>
              <a:gd name="adj" fmla="val 5769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layer-3-badge"/>
          <p:cNvSpPr/>
          <p:nvPr/>
        </p:nvSpPr>
        <p:spPr>
          <a:xfrm>
            <a:off x="1181160" y="4809960"/>
            <a:ext cx="399600" cy="3996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layer-3-badge-text"/>
          <p:cNvSpPr/>
          <p:nvPr/>
        </p:nvSpPr>
        <p:spPr>
          <a:xfrm>
            <a:off x="1181160" y="4867200"/>
            <a:ext cx="39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layer-3-title"/>
          <p:cNvSpPr/>
          <p:nvPr/>
        </p:nvSpPr>
        <p:spPr>
          <a:xfrm>
            <a:off x="1771560" y="4743360"/>
            <a:ext cx="6857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稳态层：</a:t>
            </a:r>
            <a:r>
              <a:rPr lang="en-US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729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原生产品底座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layer-3-body"/>
          <p:cNvSpPr/>
          <p:nvPr/>
        </p:nvSpPr>
        <p:spPr>
          <a:xfrm>
            <a:off x="1771560" y="5086440"/>
            <a:ext cx="8667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沉淀资料库、空间、智能体、模型统计与开放接口，形成安全可靠的长期底座。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bottom-note-band"/>
          <p:cNvSpPr/>
          <p:nvPr/>
        </p:nvSpPr>
        <p:spPr>
          <a:xfrm>
            <a:off x="1238400" y="5886360"/>
            <a:ext cx="9715320" cy="361440"/>
          </a:xfrm>
          <a:prstGeom prst="roundRect">
            <a:avLst>
              <a:gd name="adj" fmla="val 15789"/>
            </a:avLst>
          </a:prstGeom>
          <a:solidFill>
            <a:srgbClr val="F4FAFF"/>
          </a:solidFill>
          <a:ln w="10478">
            <a:solidFill>
              <a:srgbClr val="D8E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bottom-note"/>
          <p:cNvSpPr/>
          <p:nvPr/>
        </p:nvSpPr>
        <p:spPr>
          <a:xfrm>
            <a:off x="1428840" y="5952960"/>
            <a:ext cx="93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F83FF"/>
                </a:solidFill>
                <a:effectLst/>
                <a:uFillTx/>
                <a:latin typeface="PingFang SC"/>
                <a:ea typeface="PingFang SC"/>
              </a:rPr>
              <a:t>开发逻辑：稳态底座保持可靠，配置层负责复用组合，前台定开层面向变化快速响应。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layer-arrow-2"/>
          <p:cNvSpPr/>
          <p:nvPr/>
        </p:nvSpPr>
        <p:spPr>
          <a:xfrm rot="16200000">
            <a:off x="5886000" y="4343400"/>
            <a:ext cx="3427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layer-arrow-2"/>
          <p:cNvSpPr/>
          <p:nvPr/>
        </p:nvSpPr>
        <p:spPr>
          <a:xfrm rot="16200000">
            <a:off x="5884920" y="3035520"/>
            <a:ext cx="3427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3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个月实践验证：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+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敏捷流程带来至少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6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倍提效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ule"/>
          <p:cNvSpPr/>
          <p:nvPr/>
        </p:nvSpPr>
        <p:spPr>
          <a:xfrm>
            <a:off x="399960" y="163800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31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metric-card"/>
          <p:cNvSpPr/>
          <p:nvPr/>
        </p:nvSpPr>
        <p:spPr>
          <a:xfrm>
            <a:off x="743040" y="2114640"/>
            <a:ext cx="2857320" cy="220932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metric-title"/>
          <p:cNvSpPr/>
          <p:nvPr/>
        </p:nvSpPr>
        <p:spPr>
          <a:xfrm>
            <a:off x="1047600" y="2400480"/>
            <a:ext cx="2247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3</a:t>
            </a:r>
            <a:r>
              <a:rPr lang="zh-CN" sz="24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个月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metric-value"/>
          <p:cNvSpPr/>
          <p:nvPr/>
        </p:nvSpPr>
        <p:spPr>
          <a:xfrm>
            <a:off x="1047600" y="3009960"/>
            <a:ext cx="2247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550" b="1" u="none" strike="noStrike">
                <a:solidFill>
                  <a:srgbClr val="FF8A00"/>
                </a:solidFill>
                <a:effectLst/>
                <a:uFillTx/>
                <a:latin typeface="PingFang SC"/>
                <a:ea typeface="PingFang SC"/>
              </a:rPr>
              <a:t>至少</a:t>
            </a:r>
            <a:r>
              <a:rPr lang="en-US" sz="2550" b="1" u="none" strike="noStrike">
                <a:solidFill>
                  <a:srgbClr val="FF8A00"/>
                </a:solidFill>
                <a:effectLst/>
                <a:uFillTx/>
                <a:latin typeface="PingFang SC"/>
                <a:ea typeface="PingFang SC"/>
              </a:rPr>
              <a:t>6</a:t>
            </a:r>
            <a:r>
              <a:rPr lang="zh-CN" sz="2550" b="1" u="none" strike="noStrike">
                <a:solidFill>
                  <a:srgbClr val="FF8A00"/>
                </a:solidFill>
                <a:effectLst/>
                <a:uFillTx/>
                <a:latin typeface="PingFang SC"/>
                <a:ea typeface="PingFang SC"/>
              </a:rPr>
              <a:t>倍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metric-body"/>
          <p:cNvSpPr/>
          <p:nvPr/>
        </p:nvSpPr>
        <p:spPr>
          <a:xfrm>
            <a:off x="1047600" y="3714840"/>
            <a:ext cx="2247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研发效率综合提升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速度、质量和协作同步提升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benefit-card-1"/>
          <p:cNvSpPr/>
          <p:nvPr/>
        </p:nvSpPr>
        <p:spPr>
          <a:xfrm>
            <a:off x="3981600" y="2114640"/>
            <a:ext cx="2418840" cy="2209320"/>
          </a:xfrm>
          <a:prstGeom prst="roundRect">
            <a:avLst>
              <a:gd name="adj" fmla="val 2586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benefit-card-1-badge"/>
          <p:cNvSpPr/>
          <p:nvPr/>
        </p:nvSpPr>
        <p:spPr>
          <a:xfrm>
            <a:off x="4191120" y="2324160"/>
            <a:ext cx="361440" cy="36144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benefit-card-1-badge-text"/>
          <p:cNvSpPr/>
          <p:nvPr/>
        </p:nvSpPr>
        <p:spPr>
          <a:xfrm>
            <a:off x="4191120" y="23814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benefit-card-1-title"/>
          <p:cNvSpPr/>
          <p:nvPr/>
        </p:nvSpPr>
        <p:spPr>
          <a:xfrm>
            <a:off x="4705200" y="2324160"/>
            <a:ext cx="1466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需求闭环提速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benefit-card-1-body"/>
          <p:cNvSpPr/>
          <p:nvPr/>
        </p:nvSpPr>
        <p:spPr>
          <a:xfrm>
            <a:off x="4229280" y="2838600"/>
            <a:ext cx="192384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辅助需求理解、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方案整理、代码生成和测试验证，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缩短上线周期。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benefit-card-2"/>
          <p:cNvSpPr/>
          <p:nvPr/>
        </p:nvSpPr>
        <p:spPr>
          <a:xfrm>
            <a:off x="6705720" y="2114640"/>
            <a:ext cx="2418840" cy="2209320"/>
          </a:xfrm>
          <a:prstGeom prst="roundRect">
            <a:avLst>
              <a:gd name="adj" fmla="val 2586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benefit-card-2-badge"/>
          <p:cNvSpPr/>
          <p:nvPr/>
        </p:nvSpPr>
        <p:spPr>
          <a:xfrm>
            <a:off x="6915240" y="2324160"/>
            <a:ext cx="361440" cy="36144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benefit-card-2-badge-text"/>
          <p:cNvSpPr/>
          <p:nvPr/>
        </p:nvSpPr>
        <p:spPr>
          <a:xfrm>
            <a:off x="6915240" y="23814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benefit-card-2-title"/>
          <p:cNvSpPr/>
          <p:nvPr/>
        </p:nvSpPr>
        <p:spPr>
          <a:xfrm>
            <a:off x="7429680" y="2324160"/>
            <a:ext cx="1466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协同模式重构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benefit-card-2-body"/>
          <p:cNvSpPr/>
          <p:nvPr/>
        </p:nvSpPr>
        <p:spPr>
          <a:xfrm>
            <a:off x="6953400" y="2838600"/>
            <a:ext cx="192384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产品、设计、研发和测试从串行转向并行，人机协同贯穿全过程。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benefit-card-3"/>
          <p:cNvSpPr/>
          <p:nvPr/>
        </p:nvSpPr>
        <p:spPr>
          <a:xfrm>
            <a:off x="9429840" y="2114640"/>
            <a:ext cx="2418840" cy="2209320"/>
          </a:xfrm>
          <a:prstGeom prst="roundRect">
            <a:avLst>
              <a:gd name="adj" fmla="val 2586"/>
            </a:avLst>
          </a:prstGeom>
          <a:solidFill>
            <a:srgbClr val="EAF5FB"/>
          </a:solidFill>
          <a:ln w="10478">
            <a:solidFill>
              <a:srgbClr val="A7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benefit-card-3-badge"/>
          <p:cNvSpPr/>
          <p:nvPr/>
        </p:nvSpPr>
        <p:spPr>
          <a:xfrm>
            <a:off x="9639360" y="2324160"/>
            <a:ext cx="361440" cy="36144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benefit-card-3-badge-text"/>
          <p:cNvSpPr/>
          <p:nvPr/>
        </p:nvSpPr>
        <p:spPr>
          <a:xfrm>
            <a:off x="9639360" y="2381400"/>
            <a:ext cx="361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benefit-card-3-title"/>
          <p:cNvSpPr/>
          <p:nvPr/>
        </p:nvSpPr>
        <p:spPr>
          <a:xfrm>
            <a:off x="10153800" y="2324160"/>
            <a:ext cx="1466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全域能力升级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benefit-card-3-body"/>
          <p:cNvSpPr/>
          <p:nvPr/>
        </p:nvSpPr>
        <p:spPr>
          <a:xfrm>
            <a:off x="9677520" y="2838600"/>
            <a:ext cx="192384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团队从单一开发走向全域产研，覆盖洞察、规划、落地和运营迭代。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proof-band"/>
          <p:cNvSpPr/>
          <p:nvPr/>
        </p:nvSpPr>
        <p:spPr>
          <a:xfrm>
            <a:off x="743040" y="4876920"/>
            <a:ext cx="10705680" cy="818640"/>
          </a:xfrm>
          <a:prstGeom prst="roundRect">
            <a:avLst>
              <a:gd name="adj" fmla="val 6977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roof-text"/>
          <p:cNvSpPr/>
          <p:nvPr/>
        </p:nvSpPr>
        <p:spPr>
          <a:xfrm>
            <a:off x="1066680" y="4991040"/>
            <a:ext cx="100580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实践证明，开发模式创新不是简单工具替换，而是借助</a:t>
            </a:r>
            <a:r>
              <a:rPr lang="en-US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</a:t>
            </a: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与敏捷流程重构产品研发体系，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带来效率、质量和产研能力的系统提升。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eyebrow"/>
          <p:cNvSpPr/>
          <p:nvPr/>
        </p:nvSpPr>
        <p:spPr>
          <a:xfrm>
            <a:off x="399960" y="343080"/>
            <a:ext cx="6190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基于 </a:t>
            </a:r>
            <a:r>
              <a:rPr lang="en-US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80" b="1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原生底座的培训平台建设方案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itle"/>
          <p:cNvSpPr/>
          <p:nvPr/>
        </p:nvSpPr>
        <p:spPr>
          <a:xfrm>
            <a:off x="399960" y="781200"/>
            <a:ext cx="109533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学习公社、通答平台与 </a:t>
            </a:r>
            <a:r>
              <a:rPr lang="en-US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28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原生平台的关系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rule"/>
          <p:cNvSpPr/>
          <p:nvPr/>
        </p:nvSpPr>
        <p:spPr>
          <a:xfrm>
            <a:off x="399960" y="1638000"/>
            <a:ext cx="11391840" cy="360"/>
          </a:xfrm>
          <a:prstGeom prst="line">
            <a:avLst/>
          </a:prstGeom>
          <a:ln w="11430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tform-card-1"/>
          <p:cNvSpPr/>
          <p:nvPr/>
        </p:nvSpPr>
        <p:spPr>
          <a:xfrm>
            <a:off x="743040" y="2038320"/>
            <a:ext cx="3314520" cy="1638000"/>
          </a:xfrm>
          <a:prstGeom prst="roundRect">
            <a:avLst>
              <a:gd name="adj" fmla="val 348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tform-label-1"/>
          <p:cNvSpPr/>
          <p:nvPr/>
        </p:nvSpPr>
        <p:spPr>
          <a:xfrm>
            <a:off x="1009800" y="2247840"/>
            <a:ext cx="110448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tform-label-1-text"/>
          <p:cNvSpPr/>
          <p:nvPr/>
        </p:nvSpPr>
        <p:spPr>
          <a:xfrm>
            <a:off x="1104840" y="2286000"/>
            <a:ext cx="914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业务主阵地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tform-title-1"/>
          <p:cNvSpPr/>
          <p:nvPr/>
        </p:nvSpPr>
        <p:spPr>
          <a:xfrm>
            <a:off x="1009800" y="2647800"/>
            <a:ext cx="278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学习公社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platform-body-1"/>
          <p:cNvSpPr/>
          <p:nvPr/>
        </p:nvSpPr>
        <p:spPr>
          <a:xfrm>
            <a:off x="1009800" y="3124080"/>
            <a:ext cx="2781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面向大规模组织培训，承载网院、传统培训模式、统一标准和合规运营。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tform-card-2"/>
          <p:cNvSpPr/>
          <p:nvPr/>
        </p:nvSpPr>
        <p:spPr>
          <a:xfrm>
            <a:off x="4438800" y="2038320"/>
            <a:ext cx="3314520" cy="1638000"/>
          </a:xfrm>
          <a:prstGeom prst="roundRect">
            <a:avLst>
              <a:gd name="adj" fmla="val 348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tform-label-2"/>
          <p:cNvSpPr/>
          <p:nvPr/>
        </p:nvSpPr>
        <p:spPr>
          <a:xfrm>
            <a:off x="4705200" y="2247840"/>
            <a:ext cx="110448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platform-label-2-text"/>
          <p:cNvSpPr/>
          <p:nvPr/>
        </p:nvSpPr>
        <p:spPr>
          <a:xfrm>
            <a:off x="4800600" y="2286000"/>
            <a:ext cx="914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底座能力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tform-title-2"/>
          <p:cNvSpPr/>
          <p:nvPr/>
        </p:nvSpPr>
        <p:spPr>
          <a:xfrm>
            <a:off x="4705200" y="2647800"/>
            <a:ext cx="278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原生平台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tform-body-2"/>
          <p:cNvSpPr/>
          <p:nvPr/>
        </p:nvSpPr>
        <p:spPr>
          <a:xfrm>
            <a:off x="4705200" y="3124080"/>
            <a:ext cx="2781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沉淀资料库、空间、智能体、模型统计等可复用能力，不是孤立业务系统。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tform-card-3"/>
          <p:cNvSpPr/>
          <p:nvPr/>
        </p:nvSpPr>
        <p:spPr>
          <a:xfrm>
            <a:off x="8134200" y="2038320"/>
            <a:ext cx="3314520" cy="1638000"/>
          </a:xfrm>
          <a:prstGeom prst="roundRect">
            <a:avLst>
              <a:gd name="adj" fmla="val 3488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tform-label-3"/>
          <p:cNvSpPr/>
          <p:nvPr/>
        </p:nvSpPr>
        <p:spPr>
          <a:xfrm>
            <a:off x="8400960" y="2247840"/>
            <a:ext cx="1104480" cy="285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tform-label-3-text"/>
          <p:cNvSpPr/>
          <p:nvPr/>
        </p:nvSpPr>
        <p:spPr>
          <a:xfrm>
            <a:off x="8496360" y="2286000"/>
            <a:ext cx="914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当前承载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tform-title-3"/>
          <p:cNvSpPr/>
          <p:nvPr/>
        </p:nvSpPr>
        <p:spPr>
          <a:xfrm>
            <a:off x="8400960" y="2647800"/>
            <a:ext cx="278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通答平台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tform-body-3"/>
          <p:cNvSpPr/>
          <p:nvPr/>
        </p:nvSpPr>
        <p:spPr>
          <a:xfrm>
            <a:off x="8400960" y="3124080"/>
            <a:ext cx="2781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当前承担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原生平台的产品化落地，验证空间、智能体和解决方案交付。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current-arrow"/>
          <p:cNvSpPr/>
          <p:nvPr/>
        </p:nvSpPr>
        <p:spPr>
          <a:xfrm>
            <a:off x="7791480" y="2724120"/>
            <a:ext cx="304560" cy="190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DC8"/>
          </a:solidFill>
          <a:ln w="0">
            <a:solidFill>
              <a:srgbClr val="B7BD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current-arrow-label"/>
          <p:cNvSpPr/>
          <p:nvPr/>
        </p:nvSpPr>
        <p:spPr>
          <a:xfrm>
            <a:off x="7067520" y="2400480"/>
            <a:ext cx="97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当前承载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future-arrow-label"/>
          <p:cNvSpPr/>
          <p:nvPr/>
        </p:nvSpPr>
        <p:spPr>
          <a:xfrm>
            <a:off x="4133880" y="2400480"/>
            <a:ext cx="97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6B7280"/>
                </a:solidFill>
                <a:effectLst/>
                <a:uFillTx/>
                <a:latin typeface="PingFang SC"/>
                <a:ea typeface="PingFang SC"/>
              </a:rPr>
              <a:t>规划融合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relation-card-1"/>
          <p:cNvSpPr/>
          <p:nvPr/>
        </p:nvSpPr>
        <p:spPr>
          <a:xfrm>
            <a:off x="743040" y="4057560"/>
            <a:ext cx="5181120" cy="112356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relation-pill-1"/>
          <p:cNvSpPr/>
          <p:nvPr/>
        </p:nvSpPr>
        <p:spPr>
          <a:xfrm>
            <a:off x="1009800" y="4267080"/>
            <a:ext cx="780840" cy="28548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relation-pill-text-1"/>
          <p:cNvSpPr/>
          <p:nvPr/>
        </p:nvSpPr>
        <p:spPr>
          <a:xfrm>
            <a:off x="1009800" y="4314960"/>
            <a:ext cx="780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当前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relation-title-1"/>
          <p:cNvSpPr/>
          <p:nvPr/>
        </p:nvSpPr>
        <p:spPr>
          <a:xfrm>
            <a:off x="1962000" y="4248000"/>
            <a:ext cx="3619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原生平台 </a:t>
            </a: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=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通答平台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relation-body-1"/>
          <p:cNvSpPr/>
          <p:nvPr/>
        </p:nvSpPr>
        <p:spPr>
          <a:xfrm>
            <a:off x="1009800" y="4705200"/>
            <a:ext cx="46479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学习公社与 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原生平台协同；</a:t>
            </a: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原生能力先在通答平台产品化验证。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relation-card-2"/>
          <p:cNvSpPr/>
          <p:nvPr/>
        </p:nvSpPr>
        <p:spPr>
          <a:xfrm>
            <a:off x="6267600" y="4057560"/>
            <a:ext cx="5181120" cy="112356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relation-pill-2"/>
          <p:cNvSpPr/>
          <p:nvPr/>
        </p:nvSpPr>
        <p:spPr>
          <a:xfrm>
            <a:off x="6534000" y="4267080"/>
            <a:ext cx="780840" cy="28548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relation-pill-text-2"/>
          <p:cNvSpPr/>
          <p:nvPr/>
        </p:nvSpPr>
        <p:spPr>
          <a:xfrm>
            <a:off x="6534000" y="4314960"/>
            <a:ext cx="780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PingFang SC"/>
                <a:ea typeface="PingFang SC"/>
              </a:rPr>
              <a:t>规划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relation-title-2"/>
          <p:cNvSpPr/>
          <p:nvPr/>
        </p:nvSpPr>
        <p:spPr>
          <a:xfrm>
            <a:off x="7486560" y="4248000"/>
            <a:ext cx="3619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原生平台 </a:t>
            </a: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= </a:t>
            </a:r>
            <a:r>
              <a:rPr lang="zh-CN" sz="16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学习公社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relation-body-2"/>
          <p:cNvSpPr/>
          <p:nvPr/>
        </p:nvSpPr>
        <p:spPr>
          <a:xfrm>
            <a:off x="6534000" y="4705200"/>
            <a:ext cx="46479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B6472"/>
                </a:solidFill>
                <a:effectLst/>
                <a:uFillTx/>
                <a:latin typeface="PingFang SC"/>
                <a:ea typeface="PingFang SC"/>
              </a:rPr>
              <a:t>将通答沉淀的底座能力回流学习公社，成为培训主场景的内生能力。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bottom-note-band"/>
          <p:cNvSpPr/>
          <p:nvPr/>
        </p:nvSpPr>
        <p:spPr>
          <a:xfrm>
            <a:off x="1238400" y="5638680"/>
            <a:ext cx="9715320" cy="41868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 w="10478">
            <a:solidFill>
              <a:srgbClr val="C9C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bottom-note"/>
          <p:cNvSpPr/>
          <p:nvPr/>
        </p:nvSpPr>
        <p:spPr>
          <a:xfrm>
            <a:off x="1428840" y="5724360"/>
            <a:ext cx="93340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一句话：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AI </a:t>
            </a:r>
            <a:r>
              <a:rPr lang="zh-CN" sz="1350" b="1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原生平台是一组可复用底座能力；当前由通答平台承载验证，规划上逐步融合进学习公社。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age"/>
          <p:cNvSpPr/>
          <p:nvPr/>
        </p:nvSpPr>
        <p:spPr>
          <a:xfrm>
            <a:off x="11277720" y="6286680"/>
            <a:ext cx="514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PingFang SC"/>
                <a:ea typeface="PingFang SC"/>
              </a:rPr>
              <a:t>32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2026-07-28T11:09:12Z</dcterms:created>
  <dc:creator>Walnut Exporter</dc:creator>
  <dc:description/>
  <dc:language>zh-CN</dc:language>
  <cp:lastModifiedBy>Walnut Exporter</cp:lastModifiedBy>
  <dcterms:modified xsi:type="dcterms:W3CDTF">2026-07-28T11:09:12Z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